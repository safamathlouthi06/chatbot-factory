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80" r:id="rId10"/>
    <p:sldId id="265" r:id="rId11"/>
    <p:sldId id="264" r:id="rId12"/>
    <p:sldId id="279" r:id="rId13"/>
    <p:sldId id="281" r:id="rId14"/>
    <p:sldId id="266" r:id="rId15"/>
    <p:sldId id="275" r:id="rId16"/>
    <p:sldId id="276" r:id="rId17"/>
    <p:sldId id="277" r:id="rId18"/>
    <p:sldId id="278" r:id="rId19"/>
    <p:sldId id="282" r:id="rId20"/>
    <p:sldId id="268" r:id="rId21"/>
    <p:sldId id="269" r:id="rId22"/>
    <p:sldId id="270" r:id="rId23"/>
    <p:sldId id="271" r:id="rId24"/>
    <p:sldId id="272" r:id="rId25"/>
    <p:sldId id="283" r:id="rId26"/>
    <p:sldId id="273" r:id="rId27"/>
  </p:sldIdLst>
  <p:sldSz cx="12192000" cy="6858000"/>
  <p:notesSz cx="6858000" cy="9144000"/>
  <p:defaultTextStyle>
    <a:defPPr>
      <a:defRPr lang="fr-T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6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693FAF-AAB6-A6A1-E299-D829D0D82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68D65C-3E46-0136-8DAA-ADCEC9939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68E422-E948-8D4F-455B-56906AAA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4EA936-DE3A-AB13-ABD4-7B1060DE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84CD65-36E3-2D5A-BF4F-05F7FE03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0735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0E0685-5A76-FF13-AEB4-4E0F31A3F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4BDBCB-11D4-9060-AF95-06BC02422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D24ED8-8B5E-6648-A769-136AA3CE1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1788CF-A176-638B-021A-7E9D8D45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702B00-E90E-4513-C9DB-554697DC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83684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3C206-EFAD-E20D-E6F4-7AC6D4C6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1CF06E-C90B-97C6-AA66-EF499C5A3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C42D53-3605-D36C-8214-E5F1728B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3599A8-EE10-5986-9BA8-2604B3D1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3FDA9C-495B-3590-6713-7DEB05DA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001754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6BD7FD-8073-A145-6984-5BD99D0F8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E4B223-B7A6-5E74-11B8-939E1AA803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C5D878-8B4E-0170-DAF5-5030E7DB3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3B3652-5DA8-545D-B8D5-81B3C892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CAC93A-F7B4-8ACF-7809-83D64F5B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386DA3-D4DE-E6DD-A1AF-523026CF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015751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27EDEC-19C0-F9C5-00E7-20E3A2B1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6DD0A6-7D0F-27D2-A0CF-262BE2B68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66559F3-1E54-09E4-0874-413E4F1C1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5F4A1ED-54BB-CF58-C130-035F5BFBD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A55708F-F889-9A7D-4B7C-A553A0AFC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AE25760-9EAC-47C5-BFE1-E4AF8995B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07C3D6D-FD5A-3649-4B16-883890BB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01F59B3-303A-6736-3FB0-96F6FB5D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8528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754C25-5731-B4EA-389E-26491B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D6F6AFD-DDFB-0EEF-2B1F-C3DACF6F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6968E69-557A-8BDD-C7B7-6A2AEA39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8F2F7B-576D-523F-B987-D3BEE802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17049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B901BFA-6EB8-BC3B-66AC-0BF164EB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C984225-15C7-F99F-C70D-02827D0C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0AFC1D-4D73-8F00-0DE8-232AD6AC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03268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165DA1-8C6B-314A-A713-1C23F297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E3E58C-B0CF-4270-544A-6C286E7AC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2EFB8D-BB2F-917A-89B1-2323BADB9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3A806E-A666-267C-24E0-C92FCF42D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FA66D5-B6AC-2EF7-ED1A-5340203A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5726B6-6AD6-401A-76AE-21816BAE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90414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2EAF24-7CA5-8404-4B56-12BB4AD21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64A6C7-D01E-5A60-D211-8BF279B42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T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11ACAF9-A2D5-3586-CC52-85C7C2789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E3A8C1-F966-1130-20F4-2722A3D95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8760E6-C19B-A758-2A07-0C96348D9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14EC45-DE5E-38C6-ED80-5ED2F52A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741509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35753E-91C7-DFC7-2AD6-EB491E0A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8198C74-77F4-E925-5406-5CD0C9A45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371E7E-AED6-8BE3-C02F-BA8A35F6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E7DEE1-FE20-4CB0-59D8-05493CFF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B070C-52C7-9B7C-EF22-CF5A637F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45277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FFFAF85-A335-292D-2300-5DDB055F7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1EE1ED1-CA1F-524D-8A52-9C1929918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74A6F6-DF83-F387-216A-97DB8EE8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F87007-E12B-17D9-64CD-D06A4538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12DB36-E6BA-8825-73E8-5C11FCA5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150270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82EA718-79C3-FFF0-C1F2-34402907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ABEEA2-EDF5-1385-0797-F1EF32090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C5AF91-01AA-F7BB-4038-741D4B096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E62FC-9A4F-4019-AB33-AF19237582A7}" type="datetimeFigureOut">
              <a:rPr lang="fr-TN" smtClean="0"/>
              <a:t>07/12/2025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28915C-DFA1-16F9-E696-72E31454B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3F3E9B-8C66-F8A0-FB69-F5F2C4FE1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2AEA7-8739-48A5-AD7E-49B0F4F63700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2084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23E06-58F3-A879-828E-075995A6B9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Audit SEO : BeautyStore.tn vs Coquette.tn</a:t>
            </a:r>
            <a:endParaRPr lang="fr-TN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BF344F-26A2-4594-EC2E-CA80966683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320782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9ADA3-D6B8-1478-8E13-9D4458C9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6C18FF-DF3E-6C5E-CB3E-A38CDC10D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Présentation des Sites</a:t>
            </a:r>
          </a:p>
          <a:p>
            <a:r>
              <a:rPr lang="fr-FR" dirty="0"/>
              <a:t>Méthodologie de l’Audit</a:t>
            </a:r>
          </a:p>
          <a:p>
            <a:r>
              <a:rPr lang="fr-FR" b="1" dirty="0"/>
              <a:t>PARTIE 1 — SEO ON-PAGE</a:t>
            </a:r>
          </a:p>
          <a:p>
            <a:r>
              <a:rPr lang="fr-FR" dirty="0"/>
              <a:t>PARTIE 2 — SEO OFF-PAGE</a:t>
            </a:r>
          </a:p>
          <a:p>
            <a:r>
              <a:rPr lang="fr-FR" b="1" dirty="0"/>
              <a:t>PARTIE 3 — SEO TECHNIQUE</a:t>
            </a:r>
          </a:p>
          <a:p>
            <a:r>
              <a:rPr lang="fr-FR" b="1" dirty="0"/>
              <a:t>PARTIE 4 — UX / UI</a:t>
            </a:r>
          </a:p>
          <a:p>
            <a:r>
              <a:rPr lang="fr-FR" b="1" dirty="0"/>
              <a:t>Recommandations </a:t>
            </a:r>
          </a:p>
          <a:p>
            <a:r>
              <a:rPr lang="fr-FR" b="1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156746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12AD4A-9E63-B8A4-2475-AE77F670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des Sites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EC33BE-58BF-FD61-0C2F-4729527C0C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b="1" dirty="0"/>
              <a:t>BeautyStore.tn :</a:t>
            </a:r>
            <a:endParaRPr lang="fr-FR" dirty="0"/>
          </a:p>
          <a:p>
            <a:r>
              <a:rPr lang="fr-FR" dirty="0"/>
              <a:t>Boutique beauté &amp; parapharmacie (SVR, Uriage, Mustela…).</a:t>
            </a:r>
          </a:p>
          <a:p>
            <a:r>
              <a:rPr lang="fr-FR" dirty="0"/>
              <a:t>Large catalogue, </a:t>
            </a:r>
            <a:r>
              <a:rPr lang="fr-FR" dirty="0" err="1"/>
              <a:t>branding</a:t>
            </a:r>
            <a:r>
              <a:rPr lang="fr-FR" dirty="0"/>
              <a:t> professionnel.</a:t>
            </a:r>
          </a:p>
          <a:p>
            <a:r>
              <a:rPr lang="fr-FR" dirty="0"/>
              <a:t>UX plus moderne et structurée.</a:t>
            </a:r>
          </a:p>
          <a:p>
            <a:endParaRPr lang="fr-TN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5BCAA5-C848-9AD3-A18C-80C7A22A8F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b="1" dirty="0"/>
              <a:t>Coquette.tn :</a:t>
            </a:r>
            <a:endParaRPr lang="fr-FR" dirty="0"/>
          </a:p>
          <a:p>
            <a:r>
              <a:rPr lang="fr-FR" dirty="0"/>
              <a:t>Boutique beauté/cosmétique moyen budget.</a:t>
            </a:r>
          </a:p>
          <a:p>
            <a:r>
              <a:rPr lang="fr-FR" dirty="0"/>
              <a:t>Catalogue </a:t>
            </a:r>
            <a:r>
              <a:rPr lang="fr-FR" dirty="0" err="1"/>
              <a:t>makeup</a:t>
            </a:r>
            <a:r>
              <a:rPr lang="fr-FR" dirty="0"/>
              <a:t>/soins varié.</a:t>
            </a:r>
          </a:p>
          <a:p>
            <a:r>
              <a:rPr lang="fr-FR" dirty="0"/>
              <a:t>UX correcte mais moins optimisée.</a:t>
            </a: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6434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C47D5-550F-B68C-1C85-AB71F412D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Visuel :</a:t>
            </a:r>
            <a:r>
              <a:rPr lang="fr-FR" dirty="0"/>
              <a:t> </a:t>
            </a:r>
            <a:r>
              <a:rPr lang="fr-FR" dirty="0" err="1"/>
              <a:t>screenshot</a:t>
            </a:r>
            <a:r>
              <a:rPr lang="fr-FR" dirty="0"/>
              <a:t> de leurs </a:t>
            </a:r>
            <a:r>
              <a:rPr lang="fr-FR" dirty="0" err="1"/>
              <a:t>homepages</a:t>
            </a:r>
            <a:r>
              <a:rPr lang="fr-FR" dirty="0"/>
              <a:t>.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A2AC9D-6D54-D7EF-999E-7AF05F7DA9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ED927A-0B74-267A-5709-0F41F5E66F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7470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24AA67-7031-DADD-2C70-956B3775B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Méthodologie de l’Audit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BACB5C-0F48-C9C8-02BC-8D47A462AC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TN" dirty="0"/>
              <a:t>🔧 </a:t>
            </a:r>
            <a:r>
              <a:rPr lang="fr-FR" b="1" dirty="0"/>
              <a:t>Outils utilisés :</a:t>
            </a:r>
            <a:endParaRPr lang="fr-FR" dirty="0"/>
          </a:p>
          <a:p>
            <a:r>
              <a:rPr lang="fr-FR" dirty="0" err="1"/>
              <a:t>PageSpeed</a:t>
            </a:r>
            <a:r>
              <a:rPr lang="fr-FR" dirty="0"/>
              <a:t> Insights</a:t>
            </a:r>
          </a:p>
          <a:p>
            <a:r>
              <a:rPr lang="fr-FR" dirty="0"/>
              <a:t>OUTIREF</a:t>
            </a:r>
            <a:endParaRPr lang="fr-TN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5724A6-6501-9596-CF7D-A4A00E0BD5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📌 </a:t>
            </a:r>
            <a:r>
              <a:rPr lang="fr-FR" b="1" dirty="0"/>
              <a:t>4 axes étudiés :</a:t>
            </a:r>
            <a:endParaRPr lang="fr-FR" dirty="0"/>
          </a:p>
          <a:p>
            <a:r>
              <a:rPr lang="fr-FR" dirty="0"/>
              <a:t>SEO On-Page</a:t>
            </a:r>
          </a:p>
          <a:p>
            <a:r>
              <a:rPr lang="fr-FR" dirty="0"/>
              <a:t>SEO Off-Page</a:t>
            </a:r>
          </a:p>
          <a:p>
            <a:r>
              <a:rPr lang="fr-FR" dirty="0"/>
              <a:t>SEO Technique</a:t>
            </a:r>
          </a:p>
          <a:p>
            <a:r>
              <a:rPr lang="fr-FR" dirty="0"/>
              <a:t>UX / UI</a:t>
            </a: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1438436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96270A-9207-C541-9830-C2DDC9ADDD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PARTIE 1 — SEO ON-PAGE</a:t>
            </a:r>
            <a:endParaRPr lang="fr-TN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D2B5E0-320A-66EB-E363-E7F67A7A1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767499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9DA262-CD08-4B93-3084-D60AF35E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Beauty store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B2AE2F-D7D8-0096-57DF-1CE192AA0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b="1" dirty="0"/>
              <a:t>Balise </a:t>
            </a:r>
            <a:r>
              <a:rPr lang="fr-FR" b="1" dirty="0" err="1"/>
              <a:t>Title</a:t>
            </a:r>
            <a:endParaRPr lang="fr-FR" dirty="0"/>
          </a:p>
          <a:p>
            <a:pPr lvl="1"/>
            <a:r>
              <a:rPr lang="fr-FR" dirty="0"/>
              <a:t>Titre clair, bien ciblé sur les mots-clés principaux, longueur idéale (entre 50 et 60 caractères) pour éviter qu’il soit coupé dans Google.</a:t>
            </a:r>
          </a:p>
          <a:p>
            <a:r>
              <a:rPr lang="fr-FR" b="1" dirty="0"/>
              <a:t>Meta Description</a:t>
            </a:r>
            <a:endParaRPr lang="fr-FR" dirty="0"/>
          </a:p>
          <a:p>
            <a:pPr lvl="1"/>
            <a:r>
              <a:rPr lang="fr-FR" dirty="0"/>
              <a:t>Description engageante, entre 150 et 300 caractères, qui décrit précisément l’offre et incite au clic.</a:t>
            </a:r>
          </a:p>
          <a:p>
            <a:r>
              <a:rPr lang="fr-FR" b="1" dirty="0"/>
              <a:t>Balises Meta Keywords</a:t>
            </a:r>
            <a:endParaRPr lang="fr-FR" dirty="0"/>
          </a:p>
          <a:p>
            <a:pPr lvl="1"/>
            <a:r>
              <a:rPr lang="fr-FR" dirty="0"/>
              <a:t>Utilisation pertinente de mots-clés liés à la cosmétique, soin de la peau, parfums, etc. Même si cette balise a peu de poids, ça reste un bonus.</a:t>
            </a:r>
          </a:p>
          <a:p>
            <a:r>
              <a:rPr lang="fr-FR" b="1" dirty="0"/>
              <a:t>Structure des titres (H1, H2, H3)</a:t>
            </a:r>
            <a:endParaRPr lang="fr-FR" dirty="0"/>
          </a:p>
          <a:p>
            <a:pPr lvl="1"/>
            <a:r>
              <a:rPr lang="fr-FR" dirty="0"/>
              <a:t>Organisation parfaite avec un seul H1 par page, plusieurs H2 pour les sections, ce qui facilite la compréhension pour Google et les visiteurs.</a:t>
            </a:r>
          </a:p>
          <a:p>
            <a:r>
              <a:rPr lang="fr-FR" b="1" dirty="0"/>
              <a:t>Attributs ALT sur les images</a:t>
            </a:r>
            <a:endParaRPr lang="fr-FR" dirty="0"/>
          </a:p>
          <a:p>
            <a:pPr lvl="1"/>
            <a:r>
              <a:rPr lang="fr-FR" dirty="0"/>
              <a:t>Toutes les images ont des descriptions ALT optimisées, ce qui booste le référencement image et l’accessibilité.</a:t>
            </a:r>
          </a:p>
          <a:p>
            <a:r>
              <a:rPr lang="fr-FR" b="1" dirty="0"/>
              <a:t>URLs propres et lisibles</a:t>
            </a:r>
            <a:endParaRPr lang="fr-FR" dirty="0"/>
          </a:p>
          <a:p>
            <a:pPr lvl="1"/>
            <a:r>
              <a:rPr lang="fr-FR" dirty="0"/>
              <a:t>URLs courtes, sans caractères spéciaux ni </a:t>
            </a:r>
            <a:r>
              <a:rPr lang="fr-FR" dirty="0" err="1"/>
              <a:t>underscores</a:t>
            </a:r>
            <a:r>
              <a:rPr lang="fr-FR" dirty="0"/>
              <a:t>, intégrant les mots-clés ciblés.</a:t>
            </a:r>
          </a:p>
          <a:p>
            <a:r>
              <a:rPr lang="fr-FR" b="1" dirty="0"/>
              <a:t>Contenu de qualité</a:t>
            </a:r>
            <a:endParaRPr lang="fr-FR" dirty="0"/>
          </a:p>
          <a:p>
            <a:pPr lvl="1"/>
            <a:r>
              <a:rPr lang="fr-FR" dirty="0"/>
              <a:t>Textes uniques, riches en mots-clés, avec un bon maillage interne, et adaptés aux attentes des visiteurs (guides, descriptions produits, conseils beauté).</a:t>
            </a:r>
          </a:p>
          <a:p>
            <a:r>
              <a:rPr lang="fr-FR" b="1" dirty="0"/>
              <a:t>Balises techniques</a:t>
            </a:r>
            <a:endParaRPr lang="fr-FR" dirty="0"/>
          </a:p>
          <a:p>
            <a:pPr lvl="1"/>
            <a:r>
              <a:rPr lang="fr-FR" dirty="0"/>
              <a:t>Présence des balises </a:t>
            </a:r>
            <a:r>
              <a:rPr lang="fr-FR" dirty="0" err="1"/>
              <a:t>meta</a:t>
            </a:r>
            <a:r>
              <a:rPr lang="fr-FR" dirty="0"/>
              <a:t> Robots pour contrôler l’indexation.</a:t>
            </a:r>
          </a:p>
          <a:p>
            <a:pPr lvl="1"/>
            <a:r>
              <a:rPr lang="fr-FR" dirty="0"/>
              <a:t>Balise Canonical bien mise en place pour éviter le contenu dupliqué.</a:t>
            </a:r>
          </a:p>
          <a:p>
            <a:pPr lvl="1"/>
            <a:r>
              <a:rPr lang="fr-FR" dirty="0"/>
              <a:t>Balises </a:t>
            </a:r>
            <a:r>
              <a:rPr lang="fr-FR" dirty="0" err="1"/>
              <a:t>Hreflang</a:t>
            </a:r>
            <a:r>
              <a:rPr lang="fr-FR" dirty="0"/>
              <a:t> si le site est multilingue.</a:t>
            </a:r>
          </a:p>
        </p:txBody>
      </p:sp>
    </p:spTree>
    <p:extLst>
      <p:ext uri="{BB962C8B-B14F-4D97-AF65-F5344CB8AC3E}">
        <p14:creationId xmlns:p14="http://schemas.microsoft.com/office/powerpoint/2010/main" val="27233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8332A0-F988-02AF-9C5F-8B3CE9A9C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Coquette </a:t>
            </a:r>
            <a:endParaRPr lang="fr-T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E0D9B2-DF6B-EEF0-9C44-ECE6AC5682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369805"/>
            <a:ext cx="105918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Balise </a:t>
            </a:r>
            <a:r>
              <a:rPr kumimoji="0" lang="fr-TN" altLang="fr-TN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</a:t>
            </a: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Bonne longueur (72 caractères, 11 mots), mais attention, Google coupe à 600 pixels et ici ça dépasse un poil. Pense à alléger ou rendre plus impactant.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 Description</a:t>
            </a: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peu courte (150 caractères) → vise plutôt entre 200 et 300 caractères pour mieux convaincre et améliorer le taux de clic.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Balise Meta Keywords</a:t>
            </a: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Trop courte (13 mots), ajoute plus de mots-clés pertinents liés à la parapharmacie, cosmétique, soins naturels, produits spécifiques Tunisie... jusqu’à 20 mots pour être plus complet (même si elle a peu d’impact, ça reste utile).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 des titres (</a:t>
            </a:r>
            <a:r>
              <a:rPr kumimoji="0" lang="fr-TN" altLang="fr-TN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Hn</a:t>
            </a: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Présence d’un H1, plusieurs H2, H3 etc. C’est bien pour organiser le contenu. Attention à ne pas abuser des H2/H3 pour garder la hiérarchie claire.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Attributs ALT sur les images</a:t>
            </a: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 des images ont un attribut ALT rempli, parfait pour l’accessibilité et le SEO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</a:t>
            </a: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 propre, sans </a:t>
            </a:r>
            <a:r>
              <a:rPr kumimoji="0" lang="fr-TN" altLang="fr-T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underscore</a:t>
            </a: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ni caractères spéciaux, nickel.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Nombre de liens</a:t>
            </a: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Beaucoup de liens internes, c’est pas mal, ça facilite la navigation et répartit le jus SEO.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Contenu</a:t>
            </a: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Texte présent, mais vérifie qu’il soit bien unique et optimisé autour des mots-clés stratégiques (pas juste une liste de produits).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Balises manquantes</a:t>
            </a: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 de balise </a:t>
            </a:r>
            <a:r>
              <a:rPr kumimoji="0" lang="fr-TN" altLang="fr-T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</a:t>
            </a: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Robots (à ajouter pour mieux contrôler l’indexation).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 de balise Canonical (important pour éviter contenu dupliqué).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 de balises </a:t>
            </a:r>
            <a:r>
              <a:rPr kumimoji="0" lang="fr-TN" altLang="fr-T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Hreflang</a:t>
            </a:r>
            <a:r>
              <a:rPr kumimoji="0" lang="fr-TN" altLang="fr-T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(si site multilingue, c’est à corriger).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N" altLang="fr-T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89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AFEE3-BAE7-51A4-8BA0-294B4B81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Amelioration</a:t>
            </a:r>
            <a:r>
              <a:rPr lang="fr-FR" dirty="0"/>
              <a:t>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37FCFB-88DA-D1BD-B48B-914C81C827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Beauty store :</a:t>
            </a:r>
          </a:p>
          <a:p>
            <a:pPr marL="0" indent="0">
              <a:buNone/>
            </a:pPr>
            <a:endParaRPr lang="fr-FR" b="1" dirty="0">
              <a:solidFill>
                <a:srgbClr val="FF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Balise </a:t>
            </a:r>
            <a:r>
              <a:rPr lang="fr-TN" altLang="fr-TN" b="1" dirty="0" err="1">
                <a:latin typeface="Arial" panose="020B0604020202020204" pitchFamily="34" charset="0"/>
              </a:rPr>
              <a:t>Title</a:t>
            </a:r>
            <a:r>
              <a:rPr lang="fr-TN" altLang="fr-TN" dirty="0">
                <a:latin typeface="Arial" panose="020B0604020202020204" pitchFamily="34" charset="0"/>
              </a:rPr>
              <a:t> : Ajouter quelques mots pour atteindre 10-12 mots et maximiser le potentiel SEO sans dépasser 600 pixels.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Meta Description</a:t>
            </a:r>
            <a:r>
              <a:rPr lang="fr-TN" altLang="fr-TN" dirty="0">
                <a:latin typeface="Arial" panose="020B0604020202020204" pitchFamily="34" charset="0"/>
              </a:rPr>
              <a:t> : Rallonger la description pour atteindre 200-300 caractères, en intégrant plus de mots-clés ciblés et un appel à l’action clair.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Meta Keywords</a:t>
            </a:r>
            <a:r>
              <a:rPr lang="fr-TN" altLang="fr-TN" dirty="0">
                <a:latin typeface="Arial" panose="020B0604020202020204" pitchFamily="34" charset="0"/>
              </a:rPr>
              <a:t> : Allonger la liste pour couvrir plus de termes liés à la cosmétique et au maquillage (20 mots minimum).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Balise Robots</a:t>
            </a:r>
            <a:r>
              <a:rPr lang="fr-TN" altLang="fr-TN" dirty="0">
                <a:latin typeface="Arial" panose="020B0604020202020204" pitchFamily="34" charset="0"/>
              </a:rPr>
              <a:t> : Ajouter une balise </a:t>
            </a:r>
            <a:r>
              <a:rPr lang="fr-TN" altLang="fr-TN" dirty="0" err="1">
                <a:latin typeface="Arial" panose="020B0604020202020204" pitchFamily="34" charset="0"/>
              </a:rPr>
              <a:t>meta</a:t>
            </a:r>
            <a:r>
              <a:rPr lang="fr-TN" altLang="fr-TN" dirty="0">
                <a:latin typeface="Arial" panose="020B0604020202020204" pitchFamily="34" charset="0"/>
              </a:rPr>
              <a:t> robots pour mieux contrôler l’indexation.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Balises </a:t>
            </a:r>
            <a:r>
              <a:rPr lang="fr-TN" altLang="fr-TN" b="1" dirty="0" err="1">
                <a:latin typeface="Arial" panose="020B0604020202020204" pitchFamily="34" charset="0"/>
              </a:rPr>
              <a:t>Hreflang</a:t>
            </a:r>
            <a:r>
              <a:rPr lang="fr-TN" altLang="fr-TN" dirty="0">
                <a:latin typeface="Arial" panose="020B0604020202020204" pitchFamily="34" charset="0"/>
              </a:rPr>
              <a:t> : Si site multilingue, implémenter </a:t>
            </a:r>
            <a:r>
              <a:rPr lang="fr-TN" altLang="fr-TN" dirty="0" err="1">
                <a:latin typeface="Arial" panose="020B0604020202020204" pitchFamily="34" charset="0"/>
              </a:rPr>
              <a:t>hreflang</a:t>
            </a:r>
            <a:r>
              <a:rPr lang="fr-TN" altLang="fr-TN" dirty="0">
                <a:latin typeface="Arial" panose="020B0604020202020204" pitchFamily="34" charset="0"/>
              </a:rPr>
              <a:t> pour éviter les contenus dupliqués et mieux cibler les langues/régions.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Optimisation des images</a:t>
            </a:r>
            <a:r>
              <a:rPr lang="fr-TN" altLang="fr-TN" dirty="0">
                <a:latin typeface="Arial" panose="020B0604020202020204" pitchFamily="34" charset="0"/>
              </a:rPr>
              <a:t> : Remplir les attributs ALT manquants sur 25 images pour améliorer le référencement image et l’accessibilité.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Améliorer le maillage interne</a:t>
            </a:r>
            <a:r>
              <a:rPr lang="fr-TN" altLang="fr-TN" dirty="0">
                <a:latin typeface="Arial" panose="020B0604020202020204" pitchFamily="34" charset="0"/>
              </a:rPr>
              <a:t> : Mieux structurer les liens internes pour renforcer l’autorité des pages clés.</a:t>
            </a:r>
          </a:p>
          <a:p>
            <a:endParaRPr lang="fr-TN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4EF1281-21A2-486C-A74F-59F9D34345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Coquette</a:t>
            </a:r>
            <a:r>
              <a:rPr lang="fr-FR" dirty="0"/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Balise </a:t>
            </a:r>
            <a:r>
              <a:rPr lang="fr-TN" altLang="fr-TN" b="1" dirty="0" err="1">
                <a:latin typeface="Arial" panose="020B0604020202020204" pitchFamily="34" charset="0"/>
              </a:rPr>
              <a:t>Title</a:t>
            </a:r>
            <a:r>
              <a:rPr lang="fr-TN" altLang="fr-TN" dirty="0">
                <a:latin typeface="Arial" panose="020B0604020202020204" pitchFamily="34" charset="0"/>
              </a:rPr>
              <a:t> : Réduire légèrement la longueur pour éviter le titre coupé dans Google, ou reformuler pour un meilleur impact SEO.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Meta Description</a:t>
            </a:r>
            <a:r>
              <a:rPr lang="fr-TN" altLang="fr-TN" dirty="0">
                <a:latin typeface="Arial" panose="020B0604020202020204" pitchFamily="34" charset="0"/>
              </a:rPr>
              <a:t> : Allonger la description à 200-300 caractères avec un message plus engageant et des mots-clés pertinents.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Meta Keywords</a:t>
            </a:r>
            <a:r>
              <a:rPr lang="fr-TN" altLang="fr-TN" dirty="0">
                <a:latin typeface="Arial" panose="020B0604020202020204" pitchFamily="34" charset="0"/>
              </a:rPr>
              <a:t> : Enrichir la liste pour atteindre au moins 20 mots-clés, incluant des expressions spécifiques à la parapharmacie et cosmétiques en Tunisie.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Ajouter la balise Robots</a:t>
            </a:r>
            <a:r>
              <a:rPr lang="fr-TN" altLang="fr-TN" dirty="0">
                <a:latin typeface="Arial" panose="020B0604020202020204" pitchFamily="34" charset="0"/>
              </a:rPr>
              <a:t> : Contrôler plus finement l’indexation des pages.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Mettre en place la balise Canonical</a:t>
            </a:r>
            <a:r>
              <a:rPr lang="fr-TN" altLang="fr-TN" dirty="0">
                <a:latin typeface="Arial" panose="020B0604020202020204" pitchFamily="34" charset="0"/>
              </a:rPr>
              <a:t> : Pour éviter les problèmes de contenu dupliqué.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Implémenter </a:t>
            </a:r>
            <a:r>
              <a:rPr lang="fr-TN" altLang="fr-TN" b="1" dirty="0" err="1">
                <a:latin typeface="Arial" panose="020B0604020202020204" pitchFamily="34" charset="0"/>
              </a:rPr>
              <a:t>Hreflang</a:t>
            </a:r>
            <a:r>
              <a:rPr lang="fr-TN" altLang="fr-TN" dirty="0">
                <a:latin typeface="Arial" panose="020B0604020202020204" pitchFamily="34" charset="0"/>
              </a:rPr>
              <a:t> : Si multilingue, pour cibler les bonnes audiences.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Optimisation des images</a:t>
            </a:r>
            <a:r>
              <a:rPr lang="fr-TN" altLang="fr-TN" dirty="0">
                <a:latin typeface="Arial" panose="020B0604020202020204" pitchFamily="34" charset="0"/>
              </a:rPr>
              <a:t> : Attributs ALT sont OK, donc continuer dans cette lancée.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Optimiser le maillage interne</a:t>
            </a:r>
            <a:r>
              <a:rPr lang="fr-TN" altLang="fr-TN" dirty="0">
                <a:latin typeface="Arial" panose="020B0604020202020204" pitchFamily="34" charset="0"/>
              </a:rPr>
              <a:t> : Structurer les liens internes pour guider Google vers les pages stratégiques.</a:t>
            </a: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96403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5AA92-94C7-F796-6E1F-A499A5463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DFD53-F606-0B2C-6BC6-9257EE44C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PARTIE 2 — SEO OFF-PAGE</a:t>
            </a:r>
            <a:endParaRPr lang="fr-TN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2741A5-8C0C-80EE-13B8-AA794F1C02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028386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5F4E65-C60A-62E0-764B-EDD2931C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Beauty store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9B4B52-2457-F29F-D931-0C67041B0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b="1" dirty="0" err="1"/>
              <a:t>Backlinks</a:t>
            </a:r>
            <a:r>
              <a:rPr lang="fr-FR" b="1" dirty="0"/>
              <a:t> de qualité</a:t>
            </a:r>
            <a:endParaRPr lang="fr-FR" dirty="0"/>
          </a:p>
          <a:p>
            <a:pPr lvl="1"/>
            <a:r>
              <a:rPr lang="fr-FR" dirty="0"/>
              <a:t>Nombre conséquent de liens entrants provenant de sites de beauté, blogs influents, et plateformes spécialisées. Ces </a:t>
            </a:r>
            <a:r>
              <a:rPr lang="fr-FR" dirty="0" err="1"/>
              <a:t>backlinks</a:t>
            </a:r>
            <a:r>
              <a:rPr lang="fr-FR" dirty="0"/>
              <a:t> améliorent la crédibilité et le positionnement du site.</a:t>
            </a:r>
          </a:p>
          <a:p>
            <a:r>
              <a:rPr lang="fr-FR" b="1" dirty="0"/>
              <a:t>Réseaux sociaux actifs</a:t>
            </a:r>
            <a:endParaRPr lang="fr-FR" dirty="0"/>
          </a:p>
          <a:p>
            <a:pPr lvl="1"/>
            <a:r>
              <a:rPr lang="fr-FR" dirty="0"/>
              <a:t>Présence forte sur Instagram, Facebook, Pinterest, avec des campagnes régulières qui génèrent du trafic et favorisent le partage.</a:t>
            </a:r>
          </a:p>
          <a:p>
            <a:r>
              <a:rPr lang="fr-FR" b="1" dirty="0"/>
              <a:t>Collaborations avec influenceurs</a:t>
            </a:r>
            <a:endParaRPr lang="fr-FR" dirty="0"/>
          </a:p>
          <a:p>
            <a:pPr lvl="1"/>
            <a:r>
              <a:rPr lang="fr-FR" dirty="0"/>
              <a:t>Partenariats avec des influenceurs beauté pour des revues produits et </a:t>
            </a:r>
            <a:r>
              <a:rPr lang="fr-FR" dirty="0" err="1"/>
              <a:t>posts</a:t>
            </a:r>
            <a:r>
              <a:rPr lang="fr-FR" dirty="0"/>
              <a:t> sponsorisés, ce qui crée des liens et de la notoriété.</a:t>
            </a:r>
          </a:p>
          <a:p>
            <a:r>
              <a:rPr lang="fr-FR" b="1" dirty="0"/>
              <a:t>Avis et témoignages clients</a:t>
            </a:r>
            <a:endParaRPr lang="fr-FR" dirty="0"/>
          </a:p>
          <a:p>
            <a:pPr lvl="1"/>
            <a:r>
              <a:rPr lang="fr-FR" dirty="0"/>
              <a:t>Multiplication des avis positifs sur Google et plateformes tierces, améliorant la confiance et le référencement local.</a:t>
            </a:r>
          </a:p>
          <a:p>
            <a:r>
              <a:rPr lang="fr-FR" b="1" dirty="0"/>
              <a:t>Contenu externe / Guest </a:t>
            </a:r>
            <a:r>
              <a:rPr lang="fr-FR" b="1" dirty="0" err="1"/>
              <a:t>posts</a:t>
            </a:r>
            <a:endParaRPr lang="fr-FR" dirty="0"/>
          </a:p>
          <a:p>
            <a:pPr lvl="1"/>
            <a:r>
              <a:rPr lang="fr-FR" dirty="0"/>
              <a:t>Articles invités sur des blogs beauté, communiqués de presse, et participation à des forums spécialisés pour augmenter la visibilité et créer des </a:t>
            </a:r>
            <a:r>
              <a:rPr lang="fr-FR" dirty="0" err="1"/>
              <a:t>backlinks</a:t>
            </a:r>
            <a:r>
              <a:rPr lang="fr-FR" dirty="0"/>
              <a:t> naturels.</a:t>
            </a:r>
          </a:p>
        </p:txBody>
      </p:sp>
    </p:spTree>
    <p:extLst>
      <p:ext uri="{BB962C8B-B14F-4D97-AF65-F5344CB8AC3E}">
        <p14:creationId xmlns:p14="http://schemas.microsoft.com/office/powerpoint/2010/main" val="3693882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0A47BB-65B2-9F98-6287-753742CA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Coquette </a:t>
            </a:r>
            <a:endParaRPr lang="fr-T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6DE875-0548-848C-6D6E-E732B99B4F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Backlinks</a:t>
            </a:r>
            <a:endParaRPr kumimoji="0" lang="fr-TN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Seulement 3 </a:t>
            </a:r>
            <a:r>
              <a:rPr kumimoji="0" lang="fr-TN" altLang="fr-T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backlinks</a:t>
            </a: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c’est vraiment faible. Il faut chercher à gagner des liens de qualité, pertinents et naturels depuis des blogs, forums, sites spécialisés beauté ou santé.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Présence sociale</a:t>
            </a:r>
            <a:endParaRPr kumimoji="0" lang="fr-TN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 les réseaux sociaux (Instagram, Facebook, </a:t>
            </a:r>
            <a:r>
              <a:rPr kumimoji="0" lang="fr-TN" altLang="fr-T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TikTok</a:t>
            </a: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pour booster la notoriété et générer du trafic.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Partenariats / Influenceurs</a:t>
            </a:r>
            <a:endParaRPr kumimoji="0" lang="fr-TN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Collabore avec des influenceurs tunisiens ou francophones dans la beauté pour obtenir des mentions et </a:t>
            </a:r>
            <a:r>
              <a:rPr kumimoji="0" lang="fr-TN" altLang="fr-T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backlinks</a:t>
            </a: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Avis clients</a:t>
            </a:r>
            <a:endParaRPr kumimoji="0" lang="fr-TN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les avis positifs en ligne (Google, plateformes spécialisées) pour améliorer la confiance et le référencement local.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Contenu externe</a:t>
            </a:r>
            <a:endParaRPr kumimoji="0" lang="fr-TN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 des articles invités ou communique via des sites partenaires pour augmenter la visibilité.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TN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683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F5A1E-168A-7916-754E-76202687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Amelioration</a:t>
            </a:r>
            <a:r>
              <a:rPr lang="fr-FR" dirty="0"/>
              <a:t>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AD7300-DC9C-8458-C026-031B7D7C3E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dirty="0">
                <a:solidFill>
                  <a:srgbClr val="FF0000"/>
                </a:solidFill>
              </a:rPr>
              <a:t>Beauty store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Augmenter les </a:t>
            </a:r>
            <a:r>
              <a:rPr lang="fr-TN" altLang="fr-TN" b="1" dirty="0" err="1">
                <a:latin typeface="Arial" panose="020B0604020202020204" pitchFamily="34" charset="0"/>
              </a:rPr>
              <a:t>backlinks</a:t>
            </a:r>
            <a:r>
              <a:rPr lang="fr-TN" altLang="fr-TN" dirty="0">
                <a:latin typeface="Arial" panose="020B0604020202020204" pitchFamily="34" charset="0"/>
              </a:rPr>
              <a:t> : Travailler à obtenir plus de liens de qualité vers le site (blogs beauté, sites d’influence).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Développer la présence sociale</a:t>
            </a:r>
            <a:r>
              <a:rPr lang="fr-TN" altLang="fr-TN" dirty="0">
                <a:latin typeface="Arial" panose="020B0604020202020204" pitchFamily="34" charset="0"/>
              </a:rPr>
              <a:t> : Renforcer la visibilité sur les réseaux sociaux et encourager le partage pour générer du trafic et des </a:t>
            </a:r>
            <a:r>
              <a:rPr lang="fr-TN" altLang="fr-TN" dirty="0" err="1">
                <a:latin typeface="Arial" panose="020B0604020202020204" pitchFamily="34" charset="0"/>
              </a:rPr>
              <a:t>backlinks</a:t>
            </a:r>
            <a:r>
              <a:rPr lang="fr-TN" altLang="fr-TN" dirty="0">
                <a:latin typeface="Arial" panose="020B0604020202020204" pitchFamily="34" charset="0"/>
              </a:rPr>
              <a:t> naturels.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Collecte d’avis clients</a:t>
            </a:r>
            <a:r>
              <a:rPr lang="fr-TN" altLang="fr-TN" dirty="0">
                <a:latin typeface="Arial" panose="020B0604020202020204" pitchFamily="34" charset="0"/>
              </a:rPr>
              <a:t> : Stimuler plus d’avis positifs pour booster la confiance et le SEO local.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Collabs influenceurs</a:t>
            </a:r>
            <a:r>
              <a:rPr lang="fr-TN" altLang="fr-TN" dirty="0">
                <a:latin typeface="Arial" panose="020B0604020202020204" pitchFamily="34" charset="0"/>
              </a:rPr>
              <a:t> : Intensifier les partenariats avec influenceurs pour créer des liens externes et du contenu viral.</a:t>
            </a:r>
          </a:p>
          <a:p>
            <a:endParaRPr lang="fr-TN" dirty="0">
              <a:solidFill>
                <a:srgbClr val="FF0000"/>
              </a:solidFill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52AEB8-DC3F-D69F-2C02-C4FE41C600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dirty="0">
                <a:solidFill>
                  <a:srgbClr val="FF0000"/>
                </a:solidFill>
              </a:rPr>
              <a:t>Coquette</a:t>
            </a:r>
            <a:r>
              <a:rPr lang="fr-FR" dirty="0"/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Renforcer les </a:t>
            </a:r>
            <a:r>
              <a:rPr lang="fr-TN" altLang="fr-TN" b="1" dirty="0" err="1">
                <a:latin typeface="Arial" panose="020B0604020202020204" pitchFamily="34" charset="0"/>
              </a:rPr>
              <a:t>backlinks</a:t>
            </a:r>
            <a:r>
              <a:rPr lang="fr-TN" altLang="fr-TN" dirty="0">
                <a:latin typeface="Arial" panose="020B0604020202020204" pitchFamily="34" charset="0"/>
              </a:rPr>
              <a:t> : Le site a très peu de </a:t>
            </a:r>
            <a:r>
              <a:rPr lang="fr-TN" altLang="fr-TN" dirty="0" err="1">
                <a:latin typeface="Arial" panose="020B0604020202020204" pitchFamily="34" charset="0"/>
              </a:rPr>
              <a:t>backlinks</a:t>
            </a:r>
            <a:r>
              <a:rPr lang="fr-TN" altLang="fr-TN" dirty="0">
                <a:latin typeface="Arial" panose="020B0604020202020204" pitchFamily="34" charset="0"/>
              </a:rPr>
              <a:t> (3), donc une grosse marge de progression ici pour gagner en autorité.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Développer la présence sociale</a:t>
            </a:r>
            <a:r>
              <a:rPr lang="fr-TN" altLang="fr-TN" dirty="0">
                <a:latin typeface="Arial" panose="020B0604020202020204" pitchFamily="34" charset="0"/>
              </a:rPr>
              <a:t> : Créer ou améliorer la stratégie sur les réseaux sociaux pour plus d’engagement.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Stratégie d’influence</a:t>
            </a:r>
            <a:r>
              <a:rPr lang="fr-TN" altLang="fr-TN" dirty="0">
                <a:latin typeface="Arial" panose="020B0604020202020204" pitchFamily="34" charset="0"/>
              </a:rPr>
              <a:t> : Collaborer avec des influenceurs locaux pour accroître la notoriété et générer des liens.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Encourager les avis clients</a:t>
            </a:r>
            <a:r>
              <a:rPr lang="fr-TN" altLang="fr-TN" dirty="0">
                <a:latin typeface="Arial" panose="020B0604020202020204" pitchFamily="34" charset="0"/>
              </a:rPr>
              <a:t> : Plus d’avis positifs sur Google et autres plateformes pour renforcer la confiance.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Guest blogging et partenariats</a:t>
            </a:r>
            <a:r>
              <a:rPr lang="fr-TN" altLang="fr-TN" dirty="0">
                <a:latin typeface="Arial" panose="020B0604020202020204" pitchFamily="34" charset="0"/>
              </a:rPr>
              <a:t> : Rédiger des articles invités sur des sites spécialisés en santé/beauté pour gagner en visibilité et </a:t>
            </a:r>
            <a:r>
              <a:rPr lang="fr-TN" altLang="fr-TN" dirty="0" err="1">
                <a:latin typeface="Arial" panose="020B0604020202020204" pitchFamily="34" charset="0"/>
              </a:rPr>
              <a:t>backlinks</a:t>
            </a:r>
            <a:r>
              <a:rPr lang="fr-TN" altLang="fr-TN" dirty="0">
                <a:latin typeface="Arial" panose="020B0604020202020204" pitchFamily="34" charset="0"/>
              </a:rPr>
              <a:t>.</a:t>
            </a: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4273828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909C1-13E6-0D0C-506A-74E24A87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49260D-5A7D-724D-C0C8-25A233558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811" y="1122363"/>
            <a:ext cx="9978189" cy="2387600"/>
          </a:xfrm>
        </p:spPr>
        <p:txBody>
          <a:bodyPr/>
          <a:lstStyle/>
          <a:p>
            <a:r>
              <a:rPr lang="fr-FR" dirty="0"/>
              <a:t>PARTIE 3 — SEO TECHNIQUE</a:t>
            </a:r>
            <a:endParaRPr lang="fr-TN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7A8A40-39C4-5817-F54C-BEAAC8744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606794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39EE0-8775-3736-E8FF-6D2071B7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115"/>
          </a:xfrm>
        </p:spPr>
        <p:txBody>
          <a:bodyPr/>
          <a:lstStyle/>
          <a:p>
            <a:r>
              <a:rPr lang="fr-FR" dirty="0"/>
              <a:t>Beauty store : mobile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2F14FC-9978-D71D-8208-8E5151144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235" y="1570982"/>
            <a:ext cx="5181600" cy="4351338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Conclusion Performance Mobile Beautystore.tn</a:t>
            </a:r>
          </a:p>
          <a:p>
            <a:r>
              <a:rPr lang="fr-FR" dirty="0"/>
              <a:t>Score mobile faible : </a:t>
            </a:r>
            <a:r>
              <a:rPr lang="fr-FR" b="1" dirty="0"/>
              <a:t>31/100</a:t>
            </a:r>
            <a:r>
              <a:rPr lang="fr-FR" dirty="0"/>
              <a:t> (</a:t>
            </a:r>
            <a:r>
              <a:rPr lang="fr-FR" dirty="0" err="1"/>
              <a:t>PageSpeed</a:t>
            </a:r>
            <a:r>
              <a:rPr lang="fr-FR" dirty="0"/>
              <a:t> Insights).</a:t>
            </a:r>
          </a:p>
          <a:p>
            <a:r>
              <a:rPr lang="fr-FR" dirty="0"/>
              <a:t>LCP trop long à </a:t>
            </a:r>
            <a:r>
              <a:rPr lang="fr-FR" b="1" dirty="0"/>
              <a:t>3,4 s</a:t>
            </a:r>
            <a:r>
              <a:rPr lang="fr-FR" dirty="0"/>
              <a:t>, trop lent pour l’utilisateur.</a:t>
            </a:r>
          </a:p>
          <a:p>
            <a:r>
              <a:rPr lang="fr-FR" dirty="0"/>
              <a:t>Décalages visuels importants (CLS = 0,51), mauvaise expérience.</a:t>
            </a:r>
          </a:p>
          <a:p>
            <a:r>
              <a:rPr lang="fr-FR" dirty="0"/>
              <a:t>Problèmes clés : images lourdes, trop de JavaScript, </a:t>
            </a:r>
            <a:r>
              <a:rPr lang="fr-FR" dirty="0" err="1"/>
              <a:t>layout</a:t>
            </a:r>
            <a:r>
              <a:rPr lang="fr-FR" dirty="0"/>
              <a:t> instable.</a:t>
            </a:r>
          </a:p>
          <a:p>
            <a:r>
              <a:rPr lang="fr-FR" b="1" dirty="0"/>
              <a:t>À corriger rapidement pour booster la vitesse, la stabilité et retenir les visiteurs !</a:t>
            </a:r>
            <a:endParaRPr lang="fr-FR" dirty="0"/>
          </a:p>
          <a:p>
            <a:endParaRPr lang="fr-TN" dirty="0"/>
          </a:p>
        </p:txBody>
      </p:sp>
      <p:pic>
        <p:nvPicPr>
          <p:cNvPr id="5" name="Espace réservé du contenu 4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A69D817C-B2C6-2ACE-45B3-71F507F7BD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2711" y="1570982"/>
            <a:ext cx="51166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55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61F72B-5EAD-1ACF-0728-E82BBEA5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Beauty store : web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411FFE-C8CF-06D1-C8DB-4DFFA95FBE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/>
              <a:t>Performance Desktop Beautystore.tn</a:t>
            </a:r>
          </a:p>
          <a:p>
            <a:r>
              <a:rPr lang="fr-FR" dirty="0"/>
              <a:t>Score desktop correct : </a:t>
            </a:r>
            <a:r>
              <a:rPr lang="fr-FR" b="1" dirty="0"/>
              <a:t>57/100</a:t>
            </a:r>
            <a:r>
              <a:rPr lang="fr-FR" dirty="0"/>
              <a:t> (</a:t>
            </a:r>
            <a:r>
              <a:rPr lang="fr-FR" dirty="0" err="1"/>
              <a:t>PageSpeed</a:t>
            </a:r>
            <a:r>
              <a:rPr lang="fr-FR" dirty="0"/>
              <a:t> Insights).</a:t>
            </a:r>
          </a:p>
          <a:p>
            <a:r>
              <a:rPr lang="fr-FR" dirty="0"/>
              <a:t>LCP à </a:t>
            </a:r>
            <a:r>
              <a:rPr lang="fr-FR" b="1" dirty="0"/>
              <a:t>2,4 s</a:t>
            </a:r>
            <a:r>
              <a:rPr lang="fr-FR" dirty="0"/>
              <a:t>, améliorable mais déjà plus fluide que sur mobile.</a:t>
            </a:r>
          </a:p>
          <a:p>
            <a:r>
              <a:rPr lang="fr-FR" dirty="0"/>
              <a:t>Très bon CLS (0,00) → stabilité visuelle top.</a:t>
            </a:r>
          </a:p>
          <a:p>
            <a:r>
              <a:rPr lang="fr-FR" dirty="0"/>
              <a:t>Points à améliorer : compression images, réduction JS, optimisation du rendu.</a:t>
            </a:r>
          </a:p>
          <a:p>
            <a:r>
              <a:rPr lang="fr-FR" b="1" dirty="0"/>
              <a:t>Beaucoup mieux sur desktop, mais encore du taf pour atteindre l’excellence.</a:t>
            </a:r>
            <a:endParaRPr lang="fr-FR" dirty="0"/>
          </a:p>
          <a:p>
            <a:endParaRPr lang="fr-TN" dirty="0"/>
          </a:p>
        </p:txBody>
      </p:sp>
      <p:pic>
        <p:nvPicPr>
          <p:cNvPr id="7" name="Espace réservé du contenu 6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B570D793-E211-5B88-4382-9810BAD0C3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38233"/>
            <a:ext cx="5181600" cy="432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25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B01F7-D1BE-A66E-AD3C-9632DC57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Coquette : mobile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E5253A-94F2-9A05-ED43-F4BFF7CF92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b="1" dirty="0"/>
              <a:t>Performance Mobile Coquette.tn</a:t>
            </a:r>
          </a:p>
          <a:p>
            <a:r>
              <a:rPr lang="fr-FR" dirty="0"/>
              <a:t>Score correct à </a:t>
            </a:r>
            <a:r>
              <a:rPr lang="fr-FR" b="1" dirty="0"/>
              <a:t>62/100</a:t>
            </a:r>
            <a:r>
              <a:rPr lang="fr-FR" dirty="0"/>
              <a:t>, LCP à </a:t>
            </a:r>
            <a:r>
              <a:rPr lang="fr-FR" b="1" dirty="0"/>
              <a:t>2,2 s</a:t>
            </a:r>
            <a:r>
              <a:rPr lang="fr-FR" dirty="0"/>
              <a:t> (pas mal mais peut mieux faire).</a:t>
            </a:r>
          </a:p>
          <a:p>
            <a:r>
              <a:rPr lang="fr-FR" dirty="0"/>
              <a:t>Interaction fluide (INP à 134 ms), aucun décalage visuel (CLS = 0).</a:t>
            </a:r>
          </a:p>
          <a:p>
            <a:r>
              <a:rPr lang="fr-FR" dirty="0"/>
              <a:t>Bon équilibre entre accessibilité (88%), bonnes pratiques (100%) et SEO (62%).</a:t>
            </a:r>
          </a:p>
          <a:p>
            <a:r>
              <a:rPr lang="fr-FR" dirty="0"/>
              <a:t>À optimiser : compression d’images, réduction des requêtes bloquantes, nettoyage CSS/JS inutilisés.</a:t>
            </a:r>
          </a:p>
          <a:p>
            <a:r>
              <a:rPr lang="fr-FR" b="1" dirty="0"/>
              <a:t>L’expérience mobile est globalement bonne mais peut être boostée pour un chargement plus rapide et une meilleure fluidité.</a:t>
            </a:r>
            <a:endParaRPr lang="fr-FR" dirty="0"/>
          </a:p>
          <a:p>
            <a:endParaRPr lang="fr-TN" dirty="0"/>
          </a:p>
        </p:txBody>
      </p:sp>
      <p:pic>
        <p:nvPicPr>
          <p:cNvPr id="5" name="Espace réservé du contenu 4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ABC77AC6-E139-D501-0F51-EE8C441FA9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0999" y="1825625"/>
            <a:ext cx="51440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1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DF879-FD42-E16F-6774-BEE93B38A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Coquette : web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6CD8B3-F0CF-B830-777A-D73BE12847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/>
              <a:t>Performance Desktop Coquette.tn</a:t>
            </a:r>
          </a:p>
          <a:p>
            <a:r>
              <a:rPr lang="fr-FR" dirty="0"/>
              <a:t>Très bon score global </a:t>
            </a:r>
            <a:r>
              <a:rPr lang="fr-FR" b="1" dirty="0"/>
              <a:t>97/100</a:t>
            </a:r>
            <a:r>
              <a:rPr lang="fr-FR" dirty="0"/>
              <a:t> en performance, LCP rapide à </a:t>
            </a:r>
            <a:r>
              <a:rPr lang="fr-FR" b="1" dirty="0"/>
              <a:t>1,6 s</a:t>
            </a:r>
            <a:r>
              <a:rPr lang="fr-FR" dirty="0"/>
              <a:t>.</a:t>
            </a:r>
          </a:p>
          <a:p>
            <a:r>
              <a:rPr lang="fr-FR" dirty="0"/>
              <a:t>Temps de réponse serveur (TTFB) très rapide à </a:t>
            </a:r>
            <a:r>
              <a:rPr lang="fr-FR" b="1" dirty="0"/>
              <a:t>0,8 s</a:t>
            </a:r>
            <a:r>
              <a:rPr lang="fr-FR" dirty="0"/>
              <a:t>.</a:t>
            </a:r>
          </a:p>
          <a:p>
            <a:r>
              <a:rPr lang="fr-FR" dirty="0"/>
              <a:t>Accessibilité au top (100%), bonnes pratiques et SEO parfaits (100% et 97%).</a:t>
            </a:r>
          </a:p>
          <a:p>
            <a:r>
              <a:rPr lang="fr-FR" dirty="0"/>
              <a:t>Quelques pistes d’amélioration : réduire les ressources JavaScript inutilisées et optimiser les CSS.</a:t>
            </a:r>
          </a:p>
          <a:p>
            <a:r>
              <a:rPr lang="fr-FR" b="1" dirty="0"/>
              <a:t>L’expérience desktop est excellente, fluide et rapide, avec peu de freins techniques.</a:t>
            </a:r>
            <a:endParaRPr lang="fr-FR" dirty="0"/>
          </a:p>
          <a:p>
            <a:endParaRPr lang="fr-TN" dirty="0"/>
          </a:p>
        </p:txBody>
      </p:sp>
      <p:pic>
        <p:nvPicPr>
          <p:cNvPr id="7" name="Espace réservé du contenu 6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2646BC06-D1B6-0D91-8298-27E9B89DC1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37815" y="1825625"/>
            <a:ext cx="50503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43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675C1F-8A40-A185-9C52-DD3D82DFB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Amelioration</a:t>
            </a:r>
            <a:r>
              <a:rPr lang="fr-FR" dirty="0"/>
              <a:t> 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1146FC-1947-E901-C43F-E19119240D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dirty="0">
                <a:solidFill>
                  <a:srgbClr val="FF0000"/>
                </a:solidFill>
              </a:rPr>
              <a:t>Beauty store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HTTPS &amp; Redirections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Assurer que toutes les URL HTTP redirigent bien vers HTTPS (test des chaînes et éviter les boucles).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Vérifier que la redirection 301 vers la version sécurisée fonctionne parfaitement.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Balise Canonical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Ajouter une balise canonical sur chaque page pour éviter le contenu dupliqué (absente actuellement).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Balise Robots.txt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Implémenter un fichier robots.txt bien configuré pour contrôler l’indexation des pages inutiles.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Données structurées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Ajouter des données structurées Schema.org (produits, avis, organisation) pour améliorer l’affichage dans Google (</a:t>
            </a:r>
            <a:r>
              <a:rPr lang="fr-TN" altLang="fr-TN" dirty="0" err="1">
                <a:latin typeface="Arial" panose="020B0604020202020204" pitchFamily="34" charset="0"/>
              </a:rPr>
              <a:t>rich</a:t>
            </a:r>
            <a:r>
              <a:rPr lang="fr-TN" altLang="fr-TN" dirty="0">
                <a:latin typeface="Arial" panose="020B0604020202020204" pitchFamily="34" charset="0"/>
              </a:rPr>
              <a:t> </a:t>
            </a:r>
            <a:r>
              <a:rPr lang="fr-TN" altLang="fr-TN" dirty="0" err="1">
                <a:latin typeface="Arial" panose="020B0604020202020204" pitchFamily="34" charset="0"/>
              </a:rPr>
              <a:t>snippets</a:t>
            </a:r>
            <a:r>
              <a:rPr lang="fr-TN" altLang="fr-TN" dirty="0">
                <a:latin typeface="Arial" panose="020B0604020202020204" pitchFamily="34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Performance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Optimiser la vitesse de chargement (réduction du poids des images, compression CSS/JS, </a:t>
            </a:r>
            <a:r>
              <a:rPr lang="fr-TN" altLang="fr-TN" dirty="0" err="1">
                <a:latin typeface="Arial" panose="020B0604020202020204" pitchFamily="34" charset="0"/>
              </a:rPr>
              <a:t>lazy</a:t>
            </a:r>
            <a:r>
              <a:rPr lang="fr-TN" altLang="fr-TN" dirty="0">
                <a:latin typeface="Arial" panose="020B0604020202020204" pitchFamily="34" charset="0"/>
              </a:rPr>
              <a:t> </a:t>
            </a:r>
            <a:r>
              <a:rPr lang="fr-TN" altLang="fr-TN" dirty="0" err="1">
                <a:latin typeface="Arial" panose="020B0604020202020204" pitchFamily="34" charset="0"/>
              </a:rPr>
              <a:t>loading</a:t>
            </a:r>
            <a:r>
              <a:rPr lang="fr-TN" altLang="fr-TN" dirty="0">
                <a:latin typeface="Arial" panose="020B0604020202020204" pitchFamily="34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Tester la vitesse mobile et desktop avec </a:t>
            </a:r>
            <a:r>
              <a:rPr lang="fr-TN" altLang="fr-TN" dirty="0" err="1">
                <a:latin typeface="Arial" panose="020B0604020202020204" pitchFamily="34" charset="0"/>
              </a:rPr>
              <a:t>PageSpeed</a:t>
            </a:r>
            <a:r>
              <a:rPr lang="fr-TN" altLang="fr-TN" dirty="0">
                <a:latin typeface="Arial" panose="020B0604020202020204" pitchFamily="34" charset="0"/>
              </a:rPr>
              <a:t> Insights et corriger les problèmes.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Mobile-</a:t>
            </a:r>
            <a:r>
              <a:rPr lang="fr-TN" altLang="fr-TN" b="1" dirty="0" err="1">
                <a:latin typeface="Arial" panose="020B0604020202020204" pitchFamily="34" charset="0"/>
              </a:rPr>
              <a:t>friendly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Vérifier la compatibilité mobile et responsive, assurer une navigation fluide sur smartphones.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Gestion des erreurs 404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Mettre en place des pages 404 personnalisées et s’assurer que les erreurs sont suivies dans Google </a:t>
            </a:r>
            <a:r>
              <a:rPr lang="fr-TN" altLang="fr-TN" dirty="0" err="1">
                <a:latin typeface="Arial" panose="020B0604020202020204" pitchFamily="34" charset="0"/>
              </a:rPr>
              <a:t>Search</a:t>
            </a:r>
            <a:r>
              <a:rPr lang="fr-TN" altLang="fr-TN" dirty="0">
                <a:latin typeface="Arial" panose="020B0604020202020204" pitchFamily="34" charset="0"/>
              </a:rPr>
              <a:t> Console.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 err="1">
                <a:latin typeface="Arial" panose="020B0604020202020204" pitchFamily="34" charset="0"/>
              </a:rPr>
              <a:t>Sitemap</a:t>
            </a:r>
            <a:r>
              <a:rPr lang="fr-TN" altLang="fr-TN" b="1" dirty="0">
                <a:latin typeface="Arial" panose="020B0604020202020204" pitchFamily="34" charset="0"/>
              </a:rPr>
              <a:t> XML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Soumettre un </a:t>
            </a:r>
            <a:r>
              <a:rPr lang="fr-TN" altLang="fr-TN" dirty="0" err="1">
                <a:latin typeface="Arial" panose="020B0604020202020204" pitchFamily="34" charset="0"/>
              </a:rPr>
              <a:t>sitemap</a:t>
            </a:r>
            <a:r>
              <a:rPr lang="fr-TN" altLang="fr-TN" dirty="0">
                <a:latin typeface="Arial" panose="020B0604020202020204" pitchFamily="34" charset="0"/>
              </a:rPr>
              <a:t> XML à Google </a:t>
            </a:r>
            <a:r>
              <a:rPr lang="fr-TN" altLang="fr-TN" dirty="0" err="1">
                <a:latin typeface="Arial" panose="020B0604020202020204" pitchFamily="34" charset="0"/>
              </a:rPr>
              <a:t>Search</a:t>
            </a:r>
            <a:r>
              <a:rPr lang="fr-TN" altLang="fr-TN" dirty="0">
                <a:latin typeface="Arial" panose="020B0604020202020204" pitchFamily="34" charset="0"/>
              </a:rPr>
              <a:t> Console et s’assurer qu’il est à jour.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b="1" dirty="0">
                <a:latin typeface="Arial" panose="020B0604020202020204" pitchFamily="34" charset="0"/>
              </a:rPr>
              <a:t>URLs propres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dirty="0">
                <a:latin typeface="Arial" panose="020B0604020202020204" pitchFamily="34" charset="0"/>
              </a:rPr>
              <a:t>Vérifier que les URLs sont optimales, sans paramètres inutiles ni </a:t>
            </a:r>
            <a:r>
              <a:rPr lang="fr-TN" altLang="fr-TN" dirty="0" err="1">
                <a:latin typeface="Arial" panose="020B0604020202020204" pitchFamily="34" charset="0"/>
              </a:rPr>
              <a:t>underscores</a:t>
            </a:r>
            <a:endParaRPr lang="fr-TN" altLang="fr-T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TN" altLang="fr-TN" dirty="0">
              <a:latin typeface="Arial" panose="020B0604020202020204" pitchFamily="34" charset="0"/>
            </a:endParaRPr>
          </a:p>
          <a:p>
            <a:endParaRPr lang="fr-TN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31A0149-6DC8-8F3F-1FAE-E53655B18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43880" cy="4351338"/>
          </a:xfrm>
        </p:spPr>
        <p:txBody>
          <a:bodyPr>
            <a:no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Coquette</a:t>
            </a:r>
            <a:r>
              <a:rPr lang="fr-FR" sz="1200" dirty="0"/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b="1" dirty="0">
                <a:latin typeface="Arial" panose="020B0604020202020204" pitchFamily="34" charset="0"/>
              </a:rPr>
              <a:t>Balise Canonical &amp; </a:t>
            </a:r>
            <a:r>
              <a:rPr lang="fr-TN" altLang="fr-TN" sz="1200" b="1" dirty="0" err="1">
                <a:latin typeface="Arial" panose="020B0604020202020204" pitchFamily="34" charset="0"/>
              </a:rPr>
              <a:t>Hreflang</a:t>
            </a:r>
            <a:endParaRPr lang="fr-TN" altLang="fr-TN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Ajouter la balise canonical sur toutes les pages (absente actuellement).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Implémenter les balises </a:t>
            </a:r>
            <a:r>
              <a:rPr lang="fr-TN" altLang="fr-TN" sz="1200" dirty="0" err="1">
                <a:latin typeface="Arial" panose="020B0604020202020204" pitchFamily="34" charset="0"/>
              </a:rPr>
              <a:t>hreflang</a:t>
            </a:r>
            <a:r>
              <a:rPr lang="fr-TN" altLang="fr-TN" sz="1200" dirty="0">
                <a:latin typeface="Arial" panose="020B0604020202020204" pitchFamily="34" charset="0"/>
              </a:rPr>
              <a:t> si le site est multilingue pour cibler les bonnes audiences.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b="1" dirty="0">
                <a:latin typeface="Arial" panose="020B0604020202020204" pitchFamily="34" charset="0"/>
              </a:rPr>
              <a:t>Balise Robots</a:t>
            </a:r>
            <a:endParaRPr lang="fr-TN" altLang="fr-TN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Ajouter une balise </a:t>
            </a:r>
            <a:r>
              <a:rPr lang="fr-TN" altLang="fr-TN" sz="1200" dirty="0" err="1">
                <a:latin typeface="Arial" panose="020B0604020202020204" pitchFamily="34" charset="0"/>
              </a:rPr>
              <a:t>meta</a:t>
            </a:r>
            <a:r>
              <a:rPr lang="fr-TN" altLang="fr-TN" sz="1200" dirty="0">
                <a:latin typeface="Arial" panose="020B0604020202020204" pitchFamily="34" charset="0"/>
              </a:rPr>
              <a:t> robots pour mieux contrôler l’indexation.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b="1" dirty="0">
                <a:latin typeface="Arial" panose="020B0604020202020204" pitchFamily="34" charset="0"/>
              </a:rPr>
              <a:t>HTTPS &amp; Redirections</a:t>
            </a:r>
            <a:endParaRPr lang="fr-TN" altLang="fr-TN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Vérifier que les redirections 301 sont optimales et sans chaîne de redirection.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b="1" dirty="0">
                <a:latin typeface="Arial" panose="020B0604020202020204" pitchFamily="34" charset="0"/>
              </a:rPr>
              <a:t>Données structurées</a:t>
            </a:r>
            <a:endParaRPr lang="fr-TN" altLang="fr-TN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Implémenter Schema.org pour produits, avis, organisation, etc.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b="1" dirty="0">
                <a:latin typeface="Arial" panose="020B0604020202020204" pitchFamily="34" charset="0"/>
              </a:rPr>
              <a:t>Performance</a:t>
            </a:r>
            <a:endParaRPr lang="fr-TN" altLang="fr-TN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Optimiser les images et fichiers CSS/JS pour accélérer le chargement.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Tester la vitesse sur mobile et desktop et corriger les ralentissements.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b="1" dirty="0">
                <a:latin typeface="Arial" panose="020B0604020202020204" pitchFamily="34" charset="0"/>
              </a:rPr>
              <a:t>Mobile </a:t>
            </a:r>
            <a:r>
              <a:rPr lang="fr-TN" altLang="fr-TN" sz="1200" b="1" dirty="0" err="1">
                <a:latin typeface="Arial" panose="020B0604020202020204" pitchFamily="34" charset="0"/>
              </a:rPr>
              <a:t>Friendly</a:t>
            </a:r>
            <a:endParaRPr lang="fr-TN" altLang="fr-TN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S’assurer que le site est bien responsive et agréable sur mobile.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b="1" dirty="0">
                <a:latin typeface="Arial" panose="020B0604020202020204" pitchFamily="34" charset="0"/>
              </a:rPr>
              <a:t>Gestion des erreurs</a:t>
            </a:r>
            <a:endParaRPr lang="fr-TN" altLang="fr-TN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Corriger les éventuelles erreurs 404 avec des pages personnalisées.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b="1" dirty="0" err="1">
                <a:latin typeface="Arial" panose="020B0604020202020204" pitchFamily="34" charset="0"/>
              </a:rPr>
              <a:t>Sitemap</a:t>
            </a:r>
            <a:r>
              <a:rPr lang="fr-TN" altLang="fr-TN" sz="1200" b="1" dirty="0">
                <a:latin typeface="Arial" panose="020B0604020202020204" pitchFamily="34" charset="0"/>
              </a:rPr>
              <a:t> XML &amp; Robots.txt</a:t>
            </a:r>
            <a:endParaRPr lang="fr-TN" altLang="fr-TN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Créer et soumettre un </a:t>
            </a:r>
            <a:r>
              <a:rPr lang="fr-TN" altLang="fr-TN" sz="1200" dirty="0" err="1">
                <a:latin typeface="Arial" panose="020B0604020202020204" pitchFamily="34" charset="0"/>
              </a:rPr>
              <a:t>sitemap</a:t>
            </a:r>
            <a:r>
              <a:rPr lang="fr-TN" altLang="fr-TN" sz="1200" dirty="0">
                <a:latin typeface="Arial" panose="020B0604020202020204" pitchFamily="34" charset="0"/>
              </a:rPr>
              <a:t> XML.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Mettre en place un fichier robots.txt correctement configuré.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b="1" dirty="0">
                <a:latin typeface="Arial" panose="020B0604020202020204" pitchFamily="34" charset="0"/>
              </a:rPr>
              <a:t>URL &amp; Structure</a:t>
            </a:r>
            <a:endParaRPr lang="fr-TN" altLang="fr-TN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Vérifier la propreté des URLs (éviter les caractères spéciaux, </a:t>
            </a:r>
            <a:r>
              <a:rPr lang="fr-TN" altLang="fr-TN" sz="1200" dirty="0" err="1">
                <a:latin typeface="Arial" panose="020B0604020202020204" pitchFamily="34" charset="0"/>
              </a:rPr>
              <a:t>underscores</a:t>
            </a:r>
            <a:r>
              <a:rPr lang="fr-TN" altLang="fr-TN" sz="1200" dirty="0">
                <a:latin typeface="Arial" panose="020B0604020202020204" pitchFamily="34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TN" altLang="fr-TN" sz="1200" dirty="0">
                <a:latin typeface="Arial" panose="020B0604020202020204" pitchFamily="34" charset="0"/>
              </a:rPr>
              <a:t>Améliorer le maillage interne pour faciliter le crawl.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TN" altLang="fr-TN" sz="1200" dirty="0">
              <a:latin typeface="Arial" panose="020B0604020202020204" pitchFamily="34" charset="0"/>
            </a:endParaRPr>
          </a:p>
          <a:p>
            <a:endParaRPr lang="fr-TN" sz="1200" dirty="0"/>
          </a:p>
        </p:txBody>
      </p:sp>
    </p:spTree>
    <p:extLst>
      <p:ext uri="{BB962C8B-B14F-4D97-AF65-F5344CB8AC3E}">
        <p14:creationId xmlns:p14="http://schemas.microsoft.com/office/powerpoint/2010/main" val="2688064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594B-4D22-2624-1B3A-690E45DC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20FDF-C0BB-FA94-95C3-8B33AF4E4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811" y="1122363"/>
            <a:ext cx="9978189" cy="2387600"/>
          </a:xfrm>
        </p:spPr>
        <p:txBody>
          <a:bodyPr/>
          <a:lstStyle/>
          <a:p>
            <a:r>
              <a:rPr lang="fr-FR" b="1" dirty="0"/>
              <a:t>PARTIE 4 — UX / UI</a:t>
            </a:r>
            <a:endParaRPr lang="fr-TN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7234736-4668-4F8A-F2C8-E44F4A8B0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01042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90F62-6EEB-FD4C-6B8B-A465CE32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BeautyStore</a:t>
            </a:r>
            <a:r>
              <a:rPr lang="fr-FR" b="1" dirty="0"/>
              <a:t>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AF64A2-B4A8-2DE7-8A32-3576C5E40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b="1" dirty="0"/>
              <a:t>Design trop chargé</a:t>
            </a:r>
            <a:br>
              <a:rPr lang="fr-FR" dirty="0"/>
            </a:br>
            <a:r>
              <a:rPr lang="fr-FR" dirty="0"/>
              <a:t>Le site affiche beaucoup d’éléments (ex : 14+ titres H1, nombreux produits en vrac). Faut aérer, simplifier la page d’accueil pour pas perdre l’utilisateur.</a:t>
            </a:r>
          </a:p>
          <a:p>
            <a:r>
              <a:rPr lang="fr-FR" b="1" dirty="0"/>
              <a:t>Navigation confuse</a:t>
            </a:r>
            <a:br>
              <a:rPr lang="fr-FR" dirty="0"/>
            </a:br>
            <a:r>
              <a:rPr lang="fr-FR" dirty="0"/>
              <a:t>Trop de liens internes (422 liens) sur la page principale, ça peut embrouiller. Faut organiser le menu et les filtres pour guider efficacement l’utilisateur.</a:t>
            </a:r>
          </a:p>
          <a:p>
            <a:r>
              <a:rPr lang="fr-FR" b="1" dirty="0"/>
              <a:t>Temps de chargement</a:t>
            </a:r>
            <a:br>
              <a:rPr lang="fr-FR" dirty="0"/>
            </a:br>
            <a:r>
              <a:rPr lang="fr-FR" dirty="0"/>
              <a:t>Beaucoup d’images (115), certaines sans alt (25) — ça impacte la vitesse. Faut compresser images et optimiser le </a:t>
            </a:r>
            <a:r>
              <a:rPr lang="fr-FR" dirty="0" err="1"/>
              <a:t>lazy</a:t>
            </a:r>
            <a:r>
              <a:rPr lang="fr-FR" dirty="0"/>
              <a:t> </a:t>
            </a:r>
            <a:r>
              <a:rPr lang="fr-FR" dirty="0" err="1"/>
              <a:t>loading</a:t>
            </a:r>
            <a:r>
              <a:rPr lang="fr-FR" dirty="0"/>
              <a:t>.</a:t>
            </a:r>
          </a:p>
          <a:p>
            <a:r>
              <a:rPr lang="fr-FR" b="1" dirty="0"/>
              <a:t>Responsive à vérifier</a:t>
            </a:r>
            <a:br>
              <a:rPr lang="fr-FR" dirty="0"/>
            </a:br>
            <a:r>
              <a:rPr lang="fr-FR" dirty="0"/>
              <a:t>Pas d’info directe, mais avec autant d’éléments, mieux vaut vérifier que ça reste fluide sur mobile.</a:t>
            </a:r>
          </a:p>
          <a:p>
            <a:r>
              <a:rPr lang="fr-FR" b="1" dirty="0"/>
              <a:t>Pages produits</a:t>
            </a:r>
            <a:br>
              <a:rPr lang="fr-FR" dirty="0"/>
            </a:br>
            <a:r>
              <a:rPr lang="fr-FR" dirty="0"/>
              <a:t>Manque potentiellement d’éléments interactifs : zoom sur les images, avis clients visibles, call-to-action bien mis en valeur.</a:t>
            </a:r>
          </a:p>
          <a:p>
            <a:r>
              <a:rPr lang="fr-FR" b="1" dirty="0"/>
              <a:t>Processus d’achat simplifié</a:t>
            </a:r>
            <a:br>
              <a:rPr lang="fr-FR" dirty="0"/>
            </a:br>
            <a:r>
              <a:rPr lang="fr-FR" dirty="0"/>
              <a:t>S’assurer que le tunnel d’achat est rapide et sans distraction inutile.</a:t>
            </a:r>
          </a:p>
          <a:p>
            <a:r>
              <a:rPr lang="fr-FR" b="1" dirty="0"/>
              <a:t>Accessibilité faible</a:t>
            </a:r>
            <a:br>
              <a:rPr lang="fr-FR" dirty="0"/>
            </a:br>
            <a:r>
              <a:rPr lang="fr-FR" dirty="0"/>
              <a:t>Avec tous ces titres H1 en pagaille, ça nuit à la lecture par les lecteurs d’écran et au SEO.</a:t>
            </a:r>
          </a:p>
          <a:p>
            <a:r>
              <a:rPr lang="fr-FR" b="1" dirty="0"/>
              <a:t>Feedback utilisateur</a:t>
            </a:r>
            <a:br>
              <a:rPr lang="fr-FR" dirty="0"/>
            </a:br>
            <a:r>
              <a:rPr lang="fr-FR" dirty="0"/>
              <a:t>Ajouter des confirmations d’action claires (ajout au panier, erreurs), pour que l’utilisateur ne soit jamais perdu.</a:t>
            </a:r>
          </a:p>
        </p:txBody>
      </p:sp>
    </p:spTree>
    <p:extLst>
      <p:ext uri="{BB962C8B-B14F-4D97-AF65-F5344CB8AC3E}">
        <p14:creationId xmlns:p14="http://schemas.microsoft.com/office/powerpoint/2010/main" val="3859691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DA06CC-2EB0-3820-D75C-726E6D5F3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Coquette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091318-936E-3056-6B74-E178AECFD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b="1" dirty="0"/>
              <a:t>Titre trop long dans le header</a:t>
            </a:r>
            <a:br>
              <a:rPr lang="fr-FR" dirty="0"/>
            </a:br>
            <a:r>
              <a:rPr lang="fr-FR" dirty="0"/>
              <a:t>Le titre est un peu découpé dans Google, mieux vaut raccourcir et rendre plus impactant.</a:t>
            </a:r>
          </a:p>
          <a:p>
            <a:r>
              <a:rPr lang="fr-FR" b="1" dirty="0"/>
              <a:t>Meta description trop courte</a:t>
            </a:r>
            <a:br>
              <a:rPr lang="fr-FR" dirty="0"/>
            </a:br>
            <a:r>
              <a:rPr lang="fr-FR" dirty="0"/>
              <a:t>Même en UX, une description bien détaillée rassure l’utilisateur quand il voit le site dans les résultats.</a:t>
            </a:r>
          </a:p>
          <a:p>
            <a:r>
              <a:rPr lang="fr-FR" b="1" dirty="0"/>
              <a:t>Navigation et structure</a:t>
            </a:r>
            <a:br>
              <a:rPr lang="fr-FR" dirty="0"/>
            </a:br>
            <a:r>
              <a:rPr lang="fr-FR" dirty="0"/>
              <a:t>Beaucoup de titres H2 mais pas assez d’organisation claire des sections. Faut mieux hiérarchiser pour guider la lecture.</a:t>
            </a:r>
          </a:p>
          <a:p>
            <a:r>
              <a:rPr lang="fr-FR" b="1" dirty="0"/>
              <a:t>Images bien optimisées</a:t>
            </a:r>
            <a:br>
              <a:rPr lang="fr-FR" dirty="0"/>
            </a:br>
            <a:r>
              <a:rPr lang="fr-FR" dirty="0"/>
              <a:t>Bon point : toutes les images ont un alt, mais seulement 57 au total, peut-être peu pour un e-commerce. Ajouter des visuels engageants.</a:t>
            </a:r>
          </a:p>
          <a:p>
            <a:r>
              <a:rPr lang="fr-FR" b="1" dirty="0"/>
              <a:t>Nombre élevé de liens internes</a:t>
            </a:r>
            <a:br>
              <a:rPr lang="fr-FR" dirty="0"/>
            </a:br>
            <a:r>
              <a:rPr lang="fr-FR" dirty="0"/>
              <a:t>731 liens internes, ça peut embrouiller aussi — simplifier le menu et réduire les liens superflus.</a:t>
            </a:r>
          </a:p>
          <a:p>
            <a:r>
              <a:rPr lang="fr-FR" b="1" dirty="0"/>
              <a:t>Mobile-</a:t>
            </a:r>
            <a:r>
              <a:rPr lang="fr-FR" b="1" dirty="0" err="1"/>
              <a:t>friendly</a:t>
            </a:r>
            <a:br>
              <a:rPr lang="fr-FR" dirty="0"/>
            </a:br>
            <a:r>
              <a:rPr lang="fr-FR" dirty="0"/>
              <a:t>Même remarque que pour </a:t>
            </a:r>
            <a:r>
              <a:rPr lang="fr-FR" dirty="0" err="1"/>
              <a:t>BeautyStore</a:t>
            </a:r>
            <a:r>
              <a:rPr lang="fr-FR" dirty="0"/>
              <a:t>, tester et optimiser la navigation tactile.</a:t>
            </a:r>
          </a:p>
          <a:p>
            <a:r>
              <a:rPr lang="fr-FR" b="1" dirty="0"/>
              <a:t>Processus d’achat fluide</a:t>
            </a:r>
            <a:br>
              <a:rPr lang="fr-FR" dirty="0"/>
            </a:br>
            <a:r>
              <a:rPr lang="fr-FR" dirty="0"/>
              <a:t>Faut que le panier soit visible, accessible, sans étapes compliquées.</a:t>
            </a:r>
          </a:p>
          <a:p>
            <a:r>
              <a:rPr lang="fr-FR" b="1" dirty="0"/>
              <a:t>Confiance et rassurance</a:t>
            </a:r>
            <a:br>
              <a:rPr lang="fr-FR" dirty="0"/>
            </a:br>
            <a:r>
              <a:rPr lang="fr-FR" dirty="0"/>
              <a:t>Ajouter des éléments visuels (badges sécurité, garanties) pour booster la crédibilité.</a:t>
            </a:r>
          </a:p>
        </p:txBody>
      </p:sp>
    </p:spTree>
    <p:extLst>
      <p:ext uri="{BB962C8B-B14F-4D97-AF65-F5344CB8AC3E}">
        <p14:creationId xmlns:p14="http://schemas.microsoft.com/office/powerpoint/2010/main" val="1798342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753560-3E65-25C4-A6EE-19EA9132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 pour </a:t>
            </a:r>
            <a:r>
              <a:rPr lang="fr-FR" dirty="0" err="1"/>
              <a:t>BeautyStore</a:t>
            </a: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C64483-E7CF-F339-505A-75DDE713F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Objectifs : Optimiser un site déjà solide</a:t>
            </a:r>
            <a:endParaRPr lang="fr-FR" dirty="0"/>
          </a:p>
          <a:p>
            <a:r>
              <a:rPr lang="fr-FR" dirty="0"/>
              <a:t>Mettre des ALT textes sur toutes les images.</a:t>
            </a:r>
          </a:p>
          <a:p>
            <a:r>
              <a:rPr lang="fr-FR" dirty="0"/>
              <a:t>Ajouter un blog beauté / parapharmacie.</a:t>
            </a:r>
          </a:p>
          <a:p>
            <a:r>
              <a:rPr lang="fr-FR" dirty="0"/>
              <a:t>Optimiser les titres &amp; descriptions trop longs.</a:t>
            </a:r>
          </a:p>
          <a:p>
            <a:r>
              <a:rPr lang="fr-FR" dirty="0"/>
              <a:t>Compresser toutes les images (</a:t>
            </a:r>
            <a:r>
              <a:rPr lang="fr-FR" dirty="0" err="1"/>
              <a:t>WebP</a:t>
            </a:r>
            <a:r>
              <a:rPr lang="fr-FR" dirty="0"/>
              <a:t>).</a:t>
            </a:r>
          </a:p>
          <a:p>
            <a:r>
              <a:rPr lang="fr-FR" dirty="0"/>
              <a:t>Ajouter des liens internes contextuels.</a:t>
            </a:r>
          </a:p>
          <a:p>
            <a:r>
              <a:rPr lang="fr-FR" dirty="0"/>
              <a:t>Améliorer le filtre produit.</a:t>
            </a: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4079036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7BA372-AEAA-889B-6187-8884C20C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Recommandations pour Coquette</a:t>
            </a:r>
            <a:br>
              <a:rPr lang="fr-FR" b="1" dirty="0"/>
            </a:br>
            <a:endParaRPr lang="fr-T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1A2F20-D265-9F4F-E95D-43981B7EA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Objectifs : Rattraper le retard</a:t>
            </a:r>
            <a:endParaRPr lang="fr-FR" dirty="0"/>
          </a:p>
          <a:p>
            <a:r>
              <a:rPr lang="fr-FR" dirty="0"/>
              <a:t>Réécrire les descriptions produits + les enrichir.</a:t>
            </a:r>
          </a:p>
          <a:p>
            <a:r>
              <a:rPr lang="fr-FR" dirty="0"/>
              <a:t>Corriger la structure H1/H2/H3.</a:t>
            </a:r>
          </a:p>
          <a:p>
            <a:r>
              <a:rPr lang="fr-FR" dirty="0"/>
              <a:t>Implémenter un </a:t>
            </a:r>
            <a:r>
              <a:rPr lang="fr-FR" dirty="0" err="1"/>
              <a:t>sitemap</a:t>
            </a:r>
            <a:r>
              <a:rPr lang="fr-FR" dirty="0"/>
              <a:t> + robots.txt propre.</a:t>
            </a:r>
          </a:p>
          <a:p>
            <a:r>
              <a:rPr lang="fr-FR" dirty="0"/>
              <a:t>Optimiser la vitesse mobile (</a:t>
            </a:r>
            <a:r>
              <a:rPr lang="fr-FR" dirty="0" err="1"/>
              <a:t>lazy-loading</a:t>
            </a:r>
            <a:r>
              <a:rPr lang="fr-FR" dirty="0"/>
              <a:t>, compression image).</a:t>
            </a:r>
          </a:p>
          <a:p>
            <a:r>
              <a:rPr lang="fr-FR" dirty="0"/>
              <a:t>Améliorer la navigation &amp; design mobile.</a:t>
            </a:r>
          </a:p>
          <a:p>
            <a:r>
              <a:rPr lang="fr-FR" dirty="0"/>
              <a:t>Lancer une stratégie </a:t>
            </a:r>
            <a:r>
              <a:rPr lang="fr-FR" dirty="0" err="1"/>
              <a:t>backlinks</a:t>
            </a:r>
            <a:r>
              <a:rPr lang="fr-FR" dirty="0"/>
              <a:t> avec blogs beauté tunisiens.</a:t>
            </a:r>
          </a:p>
          <a:p>
            <a:r>
              <a:rPr lang="fr-FR" dirty="0"/>
              <a:t>Ajouter des avis clients pour plus de confiance.</a:t>
            </a:r>
          </a:p>
          <a:p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837677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939C241-354A-6F88-FC4E-44FA4354A0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018105"/>
              </p:ext>
            </p:extLst>
          </p:nvPr>
        </p:nvGraphicFramePr>
        <p:xfrm>
          <a:off x="1449342" y="1242086"/>
          <a:ext cx="9293316" cy="4373827"/>
        </p:xfrm>
        <a:graphic>
          <a:graphicData uri="http://schemas.openxmlformats.org/drawingml/2006/table">
            <a:tbl>
              <a:tblPr/>
              <a:tblGrid>
                <a:gridCol w="2323329">
                  <a:extLst>
                    <a:ext uri="{9D8B030D-6E8A-4147-A177-3AD203B41FA5}">
                      <a16:colId xmlns:a16="http://schemas.microsoft.com/office/drawing/2014/main" val="1200662741"/>
                    </a:ext>
                  </a:extLst>
                </a:gridCol>
                <a:gridCol w="2323329">
                  <a:extLst>
                    <a:ext uri="{9D8B030D-6E8A-4147-A177-3AD203B41FA5}">
                      <a16:colId xmlns:a16="http://schemas.microsoft.com/office/drawing/2014/main" val="71916492"/>
                    </a:ext>
                  </a:extLst>
                </a:gridCol>
                <a:gridCol w="2323329">
                  <a:extLst>
                    <a:ext uri="{9D8B030D-6E8A-4147-A177-3AD203B41FA5}">
                      <a16:colId xmlns:a16="http://schemas.microsoft.com/office/drawing/2014/main" val="2511662263"/>
                    </a:ext>
                  </a:extLst>
                </a:gridCol>
                <a:gridCol w="2323329">
                  <a:extLst>
                    <a:ext uri="{9D8B030D-6E8A-4147-A177-3AD203B41FA5}">
                      <a16:colId xmlns:a16="http://schemas.microsoft.com/office/drawing/2014/main" val="3700552279"/>
                    </a:ext>
                  </a:extLst>
                </a:gridCol>
              </a:tblGrid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Critère</a:t>
                      </a:r>
                      <a:endParaRPr lang="fr-FR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BeautyStore.tn</a:t>
                      </a:r>
                      <a:endParaRPr lang="fr-FR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Coquette.tn</a:t>
                      </a:r>
                      <a:endParaRPr lang="fr-FR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Améliorations clés</a:t>
                      </a:r>
                      <a:endParaRPr lang="fr-FR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6952"/>
                  </a:ext>
                </a:extLst>
              </a:tr>
              <a:tr h="1333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/>
                        <a:t>SEO On-page</a:t>
                      </a:r>
                      <a:endParaRPr lang="fr-FR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- Bon titre, description un peu courte- Beaucoup de balises H1 (trop)- Nombreuses images avec attribut ALT partiels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- Titre correct mais trop long (coupé)- Meta description trop courte- Balises Keywords à rallonger- Bon remplissage ALT images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- Allonger descriptions- Corriger usage H1- Optimiser mots-clés et attributs ALT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119279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SEO Off-page</a:t>
                      </a:r>
                      <a:endParaRPr lang="fr-FR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- 150 backlinks- Bon Trust Flow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- Seulement 3 </a:t>
                      </a:r>
                      <a:r>
                        <a:rPr lang="fr-FR" sz="1400" dirty="0" err="1"/>
                        <a:t>backlinks</a:t>
                      </a:r>
                      <a:r>
                        <a:rPr lang="fr-FR" sz="1400" dirty="0"/>
                        <a:t>- Faible autorité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- Renforcer netlinking- Travailler partenariats et citations locales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905192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SEO Technique</a:t>
                      </a:r>
                      <a:endParaRPr lang="fr-FR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- Bonne URL, pas de underscores- Balise canonical présente- Redirection 301 bien gérée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- URL propre- Pas de balise canonical- Redirections 301 OK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- Ajouter balises canonical (Coquette)- Optimiser robots.txt et sitemap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868976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/>
                        <a:t>UX/UI</a:t>
                      </a:r>
                      <a:endParaRPr lang="fr-FR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- Interface chargée, trop d’infos- Manque de clarté dans navigation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- Interface plus épurée- Manque de structuration- Moins d’éléments rassurants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- Simplifier l’interface (</a:t>
                      </a:r>
                      <a:r>
                        <a:rPr lang="fr-FR" sz="1400" dirty="0" err="1"/>
                        <a:t>BeautyStore</a:t>
                      </a:r>
                      <a:r>
                        <a:rPr lang="fr-FR" sz="1400" dirty="0"/>
                        <a:t>)- Améliorer navigation et éléments de confiance (Coquette)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08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951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B9A03A-FD44-A1F9-E8DD-CEFA712C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  <a:endParaRPr lang="fr-T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DE207B-9859-1E9A-DA61-1496366AB5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5"/>
            <a:ext cx="103573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BeautyStore</a:t>
            </a: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site plus professionnel, mieux structuré.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Coquette → gros potentiel mais nécessite un travail global.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L’audit montre des opportunités SEO claires pour les deux enseignes.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TN" altLang="fr-T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recommandations proposées permettront d’améliorer visibilité, ventes et expérience utilisateur.</a:t>
            </a:r>
            <a:endParaRPr kumimoji="0" lang="fr-FR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T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TN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TN" altLang="fr-T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4610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2774</Words>
  <Application>Microsoft Office PowerPoint</Application>
  <PresentationFormat>Grand écran</PresentationFormat>
  <Paragraphs>262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Thème Office</vt:lpstr>
      <vt:lpstr>Audit SEO : BeautyStore.tn vs Coquette.tn</vt:lpstr>
      <vt:lpstr>Plan </vt:lpstr>
      <vt:lpstr>Présentation des Sites</vt:lpstr>
      <vt:lpstr>Visuel : screenshot de leurs homepages.</vt:lpstr>
      <vt:lpstr>Méthodologie de l’Audit</vt:lpstr>
      <vt:lpstr>PARTIE 1 — SEO ON-PAGE</vt:lpstr>
      <vt:lpstr>Beauty store </vt:lpstr>
      <vt:lpstr>Coquette </vt:lpstr>
      <vt:lpstr>Amelioration </vt:lpstr>
      <vt:lpstr>PARTIE 2 — SEO OFF-PAGE</vt:lpstr>
      <vt:lpstr>Beauty store </vt:lpstr>
      <vt:lpstr>Coquette </vt:lpstr>
      <vt:lpstr>Amelioration </vt:lpstr>
      <vt:lpstr>PARTIE 3 — SEO TECHNIQUE</vt:lpstr>
      <vt:lpstr>Beauty store : mobile</vt:lpstr>
      <vt:lpstr>Beauty store : web</vt:lpstr>
      <vt:lpstr>Coquette : mobile</vt:lpstr>
      <vt:lpstr>Coquette : web</vt:lpstr>
      <vt:lpstr>Amelioration </vt:lpstr>
      <vt:lpstr>PARTIE 4 — UX / UI</vt:lpstr>
      <vt:lpstr>BeautyStore :</vt:lpstr>
      <vt:lpstr>Coquette</vt:lpstr>
      <vt:lpstr>Recommandations pour BeautyStore</vt:lpstr>
      <vt:lpstr>Recommandations pour Coquette 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safa mathlouthi</dc:creator>
  <cp:lastModifiedBy>safa mathlouthi</cp:lastModifiedBy>
  <cp:revision>4</cp:revision>
  <dcterms:created xsi:type="dcterms:W3CDTF">2025-12-07T18:42:42Z</dcterms:created>
  <dcterms:modified xsi:type="dcterms:W3CDTF">2025-12-08T11:29:19Z</dcterms:modified>
</cp:coreProperties>
</file>