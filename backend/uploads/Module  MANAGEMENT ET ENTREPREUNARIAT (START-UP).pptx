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s/slide25.xml" ContentType="application/vnd.openxmlformats-officedocument.presentationml.slide+xml"/>
  <Override PartName="/ppt/slides/slide72.xml" ContentType="application/vnd.openxmlformats-officedocument.presentationml.slide+xml"/>
  <Override PartName="/ppt/slides/slide207.xml" ContentType="application/vnd.openxmlformats-officedocument.presentationml.slide+xml"/>
  <Override PartName="/ppt/slideLayouts/slideLayout2.xml" ContentType="application/vnd.openxmlformats-officedocument.presentationml.slideLayout+xml"/>
  <Override PartName="/ppt/diagrams/layout9.xml" ContentType="application/vnd.openxmlformats-officedocument.drawingml.diagramLayout+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69.xml" ContentType="application/vnd.openxmlformats-officedocument.presentationml.slide+xml"/>
  <Override PartName="/ppt/tableStyles.xml" ContentType="application/vnd.openxmlformats-officedocument.presentationml.tableStyles+xml"/>
  <Override PartName="/ppt/slides/slide147.xml" ContentType="application/vnd.openxmlformats-officedocument.presentationml.slide+xml"/>
  <Override PartName="/ppt/slides/slide158.xml" ContentType="application/vnd.openxmlformats-officedocument.presentationml.slide+xml"/>
  <Override PartName="/ppt/slides/slide194.xml" ContentType="application/vnd.openxmlformats-officedocument.presentationml.slide+xml"/>
  <Override PartName="/ppt/slides/slide210.xml" ContentType="application/vnd.openxmlformats-officedocument.presentationml.slide+xml"/>
  <Override PartName="/ppt/slides/slide99.xml" ContentType="application/vnd.openxmlformats-officedocument.presentationml.slide+xml"/>
  <Override PartName="/ppt/slides/slide136.xml" ContentType="application/vnd.openxmlformats-officedocument.presentationml.slide+xml"/>
  <Override PartName="/ppt/slides/slide183.xml" ContentType="application/vnd.openxmlformats-officedocument.presentationml.slide+xml"/>
  <Override PartName="/ppt/diagrams/layout1.xml" ContentType="application/vnd.openxmlformats-officedocument.drawingml.diagramLayout+xml"/>
  <Override PartName="/ppt/diagrams/data2.xml" ContentType="application/vnd.openxmlformats-officedocument.drawingml.diagramData+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slides/slide172.xml" ContentType="application/vnd.openxmlformats-officedocument.presentationml.slide+xml"/>
  <Override PartName="/ppt/diagrams/colors4.xml" ContentType="application/vnd.openxmlformats-officedocument.drawingml.diagramColors+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55.xml" ContentType="application/vnd.openxmlformats-officedocument.presentationml.slide+xml"/>
  <Override PartName="/ppt/theme/theme2.xml" ContentType="application/vnd.openxmlformats-officedocument.theme+xml"/>
  <Override PartName="/ppt/diagrams/quickStyle3.xml" ContentType="application/vnd.openxmlformats-officedocument.drawingml.diagramStyl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Default Extension="emf" ContentType="image/x-emf"/>
  <Override PartName="/ppt/presentation.xml" ContentType="application/vnd.openxmlformats-officedocument.presentationml.presentation.main+xml"/>
  <Override PartName="/ppt/slides/slide22.xml" ContentType="application/vnd.openxmlformats-officedocument.presentationml.slide+xml"/>
  <Override PartName="/ppt/slides/slide199.xml" ContentType="application/vnd.openxmlformats-officedocument.presentationml.slide+xml"/>
  <Override PartName="/ppt/slides/slide204.xml" ContentType="application/vnd.openxmlformats-officedocument.presentationml.slide+xml"/>
  <Override PartName="/ppt/diagrams/layout6.xml" ContentType="application/vnd.openxmlformats-officedocument.drawingml.diagramLayout+xml"/>
  <Override PartName="/docProps/app.xml" ContentType="application/vnd.openxmlformats-officedocument.extended-properties+xml"/>
  <Override PartName="/ppt/slides/slide11.xml" ContentType="application/vnd.openxmlformats-officedocument.presentationml.slide+xml"/>
  <Override PartName="/ppt/slides/slide188.xml" ContentType="application/vnd.openxmlformats-officedocument.presentationml.slide+xml"/>
  <Override PartName="/ppt/diagrams/data7.xml" ContentType="application/vnd.openxmlformats-officedocument.drawingml.diagramData+xml"/>
  <Override PartName="/ppt/diagrams/colors9.xml" ContentType="application/vnd.openxmlformats-officedocument.drawingml.diagramColors+xml"/>
  <Override PartName="/ppt/slides/slide119.xml" ContentType="application/vnd.openxmlformats-officedocument.presentationml.slide+xml"/>
  <Override PartName="/ppt/slides/slide166.xml" ContentType="application/vnd.openxmlformats-officedocument.presentationml.slide+xml"/>
  <Override PartName="/ppt/slides/slide177.xml" ContentType="application/vnd.openxmlformats-officedocument.presentationml.slide+xml"/>
  <Override PartName="/ppt/slideLayouts/slideLayout10.xml" ContentType="application/vnd.openxmlformats-officedocument.presentationml.slideLayout+xml"/>
  <Override PartName="/ppt/slides/slide108.xml" ContentType="application/vnd.openxmlformats-officedocument.presentationml.slide+xml"/>
  <Override PartName="/ppt/slides/slide155.xml" ContentType="application/vnd.openxmlformats-officedocument.presentationml.slide+xml"/>
  <Override PartName="/ppt/diagrams/quickStyle8.xml" ContentType="application/vnd.openxmlformats-officedocument.drawingml.diagramStyl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slides/slide144.xml" ContentType="application/vnd.openxmlformats-officedocument.presentationml.slide+xml"/>
  <Override PartName="/ppt/slides/slide162.xml" ContentType="application/vnd.openxmlformats-officedocument.presentationml.slide+xml"/>
  <Override PartName="/ppt/slides/slide191.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51.xml" ContentType="application/vnd.openxmlformats-officedocument.presentationml.slide+xml"/>
  <Override PartName="/ppt/slides/slide180.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s/slide209.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89.xml" ContentType="application/vnd.openxmlformats-officedocument.presentationml.slide+xml"/>
  <Override PartName="/ppt/slides/slide205.xml" ContentType="application/vnd.openxmlformats-officedocument.presentationml.slide+xml"/>
  <Override PartName="/ppt/diagrams/layout7.xml" ContentType="application/vnd.openxmlformats-officedocument.drawingml.diagramLayout+xml"/>
  <Override PartName="/ppt/diagrams/data8.xml" ContentType="application/vnd.openxmlformats-officedocument.drawingml.diagramData+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s/slide178.xml" ContentType="application/vnd.openxmlformats-officedocument.presentationml.slide+xml"/>
  <Override PartName="/ppt/slides/slide196.xml" ContentType="application/vnd.openxmlformats-officedocument.presentationml.slide+xml"/>
  <Override PartName="/ppt/slides/slide212.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167.xml" ContentType="application/vnd.openxmlformats-officedocument.presentationml.slide+xml"/>
  <Override PartName="/ppt/slides/slide185.xml" ContentType="application/vnd.openxmlformats-officedocument.presentationml.slide+xml"/>
  <Override PartName="/ppt/slides/slide201.xml" ContentType="application/vnd.openxmlformats-officedocument.presentationml.slide+xml"/>
  <Override PartName="/ppt/diagrams/layout3.xml" ContentType="application/vnd.openxmlformats-officedocument.drawingml.diagramLayout+xml"/>
  <Override PartName="/ppt/diagrams/data4.xml" ContentType="application/vnd.openxmlformats-officedocument.drawingml.diagramData+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74.xml" ContentType="application/vnd.openxmlformats-officedocument.presentationml.slide+xml"/>
  <Override PartName="/ppt/slides/slide192.xml" ContentType="application/vnd.openxmlformats-officedocument.presentationml.slide+xml"/>
  <Override PartName="/ppt/diagrams/colors6.xml" ContentType="application/vnd.openxmlformats-officedocument.drawingml.diagramColors+xml"/>
  <Override PartName="/ppt/diagrams/quickStyle9.xml" ContentType="application/vnd.openxmlformats-officedocument.drawingml.diagramStyl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s/slide163.xml" ContentType="application/vnd.openxmlformats-officedocument.presentationml.slide+xml"/>
  <Override PartName="/ppt/slides/slide181.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slides/slide170.xml" ContentType="application/vnd.openxmlformats-officedocument.presentationml.slide+xml"/>
  <Override PartName="/ppt/notesSlides/notesSlide1.xml" ContentType="application/vnd.openxmlformats-officedocument.presentationml.notesSlide+xml"/>
  <Override PartName="/ppt/diagrams/colors2.xml" ContentType="application/vnd.openxmlformats-officedocument.drawingml.diagramColors+xml"/>
  <Override PartName="/ppt/diagrams/quickStyle5.xml" ContentType="application/vnd.openxmlformats-officedocument.drawingml.diagramStyl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s/slide206.xml" ContentType="application/vnd.openxmlformats-officedocument.presentationml.slide+xml"/>
  <Default Extension="jpeg" ContentType="image/jpeg"/>
  <Override PartName="/ppt/diagrams/quickStyle1.xml" ContentType="application/vnd.openxmlformats-officedocument.drawingml.diagramStyle+xml"/>
  <Override PartName="/ppt/diagrams/layout8.xml" ContentType="application/vnd.openxmlformats-officedocument.drawingml.diagramLayout+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s/slide213.xml" ContentType="application/vnd.openxmlformats-officedocument.presentationml.slide+xml"/>
  <Override PartName="/ppt/slideLayouts/slideLayout1.xml" ContentType="application/vnd.openxmlformats-officedocument.presentationml.slideLayout+xml"/>
  <Default Extension="wav" ContentType="audio/wav"/>
  <Override PartName="/ppt/diagrams/data9.xml" ContentType="application/vnd.openxmlformats-officedocument.drawingml.diagramData+xml"/>
  <Override PartName="/ppt/slides/slide20.xml" ContentType="application/vnd.openxmlformats-officedocument.presentationml.slide+xml"/>
  <Override PartName="/ppt/slides/slide168.xml" ContentType="application/vnd.openxmlformats-officedocument.presentationml.slide+xml"/>
  <Override PartName="/ppt/slides/slide179.xml" ContentType="application/vnd.openxmlformats-officedocument.presentationml.slide+xml"/>
  <Override PartName="/ppt/slides/slide197.xml" ContentType="application/vnd.openxmlformats-officedocument.presentationml.slide+xml"/>
  <Override PartName="/ppt/slides/slide202.xml" ContentType="application/vnd.openxmlformats-officedocument.presentationml.slide+xml"/>
  <Override PartName="/ppt/diagrams/layout4.xml" ContentType="application/vnd.openxmlformats-officedocument.drawingml.diagramLayout+xml"/>
  <Override PartName="/ppt/slides/slide139.xml" ContentType="application/vnd.openxmlformats-officedocument.presentationml.slide+xml"/>
  <Override PartName="/ppt/slides/slide157.xml" ContentType="application/vnd.openxmlformats-officedocument.presentationml.slide+xml"/>
  <Override PartName="/ppt/slides/slide186.xml" ContentType="application/vnd.openxmlformats-officedocument.presentationml.slide+xml"/>
  <Override PartName="/ppt/diagrams/data5.xml" ContentType="application/vnd.openxmlformats-officedocument.drawingml.diagramData+xml"/>
  <Override PartName="/ppt/diagrams/colors7.xml" ContentType="application/vnd.openxmlformats-officedocument.drawingml.diagramColors+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slides/slide193.xml" ContentType="application/vnd.openxmlformats-officedocument.presentationml.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slides/slide171.xml" ContentType="application/vnd.openxmlformats-officedocument.presentationml.slide+xml"/>
  <Override PartName="/ppt/slides/slide182.xml" ContentType="application/vnd.openxmlformats-officedocument.presentationml.slide+xml"/>
  <Override PartName="/ppt/diagrams/data1.xml" ContentType="application/vnd.openxmlformats-officedocument.drawingml.diagramData+xml"/>
  <Override PartName="/ppt/diagrams/colors3.xml" ContentType="application/vnd.openxmlformats-officedocument.drawingml.diagramColors+xml"/>
  <Override PartName="/ppt/diagrams/quickStyle6.xml" ContentType="application/vnd.openxmlformats-officedocument.drawingml.diagramStyl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s/slide32.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slides/slide187.xml" ContentType="application/vnd.openxmlformats-officedocument.presentationml.slide+xml"/>
  <Override PartName="/ppt/slides/slide198.xml" ContentType="application/vnd.openxmlformats-officedocument.presentationml.slide+xml"/>
  <Override PartName="/ppt/slides/slide203.xml" ContentType="application/vnd.openxmlformats-officedocument.presentationml.slide+xml"/>
  <Override PartName="/ppt/diagrams/layout5.xml" ContentType="application/vnd.openxmlformats-officedocument.drawingml.diagramLayout+xml"/>
  <Override PartName="/ppt/diagrams/data6.xml" ContentType="application/vnd.openxmlformats-officedocument.drawingml.diagramData+xml"/>
  <Override PartName="/ppt/slides/slide129.xml" ContentType="application/vnd.openxmlformats-officedocument.presentationml.slide+xml"/>
  <Override PartName="/ppt/slides/slide176.xml" ContentType="application/vnd.openxmlformats-officedocument.presentationml.slide+xml"/>
  <Override PartName="/ppt/diagrams/colors8.xml" ContentType="application/vnd.openxmlformats-officedocument.drawingml.diagramColors+xml"/>
  <Override PartName="/ppt/slides/slide118.xml" ContentType="application/vnd.openxmlformats-officedocument.presentationml.slide+xml"/>
  <Override PartName="/ppt/slides/slide165.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90.xml" ContentType="application/vnd.openxmlformats-officedocument.presentationml.slide+xml"/>
  <Override PartName="/ppt/viewProps.xml" ContentType="application/vnd.openxmlformats-officedocument.presentationml.viewProps+xml"/>
  <Override PartName="/ppt/diagrams/quickStyle7.xml" ContentType="application/vnd.openxmlformats-officedocument.drawingml.diagramStyle+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slides/slide208.xml" ContentType="application/vnd.openxmlformats-officedocument.presentationml.slide+xml"/>
  <Override PartName="/ppt/presProps.xml" ContentType="application/vnd.openxmlformats-officedocument.presentationml.presProps+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slides/slide51.xml" ContentType="application/vnd.openxmlformats-officedocument.presentationml.slide+xml"/>
  <Override PartName="/ppt/slides/slide40.xml" ContentType="application/vnd.openxmlformats-officedocument.presentationml.slide+xml"/>
  <Override PartName="/ppt/slides/slide159.xml" ContentType="application/vnd.openxmlformats-officedocument.presentationml.slide+xml"/>
  <Override PartName="/ppt/slides/slide211.xml" ContentType="application/vnd.openxmlformats-officedocument.presentationml.slide+xml"/>
  <Override PartName="/ppt/slides/slide148.xml" ContentType="application/vnd.openxmlformats-officedocument.presentationml.slide+xml"/>
  <Override PartName="/ppt/slides/slide195.xml" ContentType="application/vnd.openxmlformats-officedocument.presentationml.slide+xml"/>
  <Override PartName="/ppt/slides/slide200.xml" ContentType="application/vnd.openxmlformats-officedocument.presentationml.slide+xml"/>
  <Override PartName="/ppt/diagrams/layout2.xml" ContentType="application/vnd.openxmlformats-officedocument.drawingml.diagramLayout+xml"/>
  <Default Extension="gif" ContentType="image/gif"/>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73.xml" ContentType="application/vnd.openxmlformats-officedocument.presentationml.slide+xml"/>
  <Override PartName="/ppt/slides/slide184.xml" ContentType="application/vnd.openxmlformats-officedocument.presentationml.slide+xml"/>
  <Override PartName="/ppt/diagrams/data3.xml" ContentType="application/vnd.openxmlformats-officedocument.drawingml.diagramData+xml"/>
  <Override PartName="/ppt/diagrams/colors5.xml" ContentType="application/vnd.openxmlformats-officedocument.drawingml.diagramCol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5"/>
  </p:notesMasterIdLst>
  <p:sldIdLst>
    <p:sldId id="335" r:id="rId2"/>
    <p:sldId id="334" r:id="rId3"/>
    <p:sldId id="333" r:id="rId4"/>
    <p:sldId id="484" r:id="rId5"/>
    <p:sldId id="337" r:id="rId6"/>
    <p:sldId id="339" r:id="rId7"/>
    <p:sldId id="340" r:id="rId8"/>
    <p:sldId id="345" r:id="rId9"/>
    <p:sldId id="341" r:id="rId10"/>
    <p:sldId id="347" r:id="rId11"/>
    <p:sldId id="352" r:id="rId12"/>
    <p:sldId id="353" r:id="rId13"/>
    <p:sldId id="354" r:id="rId14"/>
    <p:sldId id="360" r:id="rId15"/>
    <p:sldId id="549" r:id="rId16"/>
    <p:sldId id="547" r:id="rId17"/>
    <p:sldId id="599" r:id="rId18"/>
    <p:sldId id="600" r:id="rId19"/>
    <p:sldId id="601" r:id="rId20"/>
    <p:sldId id="602" r:id="rId21"/>
    <p:sldId id="603" r:id="rId22"/>
    <p:sldId id="606" r:id="rId23"/>
    <p:sldId id="607" r:id="rId24"/>
    <p:sldId id="608" r:id="rId25"/>
    <p:sldId id="609" r:id="rId26"/>
    <p:sldId id="610" r:id="rId27"/>
    <p:sldId id="605" r:id="rId28"/>
    <p:sldId id="555" r:id="rId29"/>
    <p:sldId id="556" r:id="rId30"/>
    <p:sldId id="563" r:id="rId31"/>
    <p:sldId id="564" r:id="rId32"/>
    <p:sldId id="644" r:id="rId33"/>
    <p:sldId id="565" r:id="rId34"/>
    <p:sldId id="566" r:id="rId35"/>
    <p:sldId id="567" r:id="rId36"/>
    <p:sldId id="568" r:id="rId37"/>
    <p:sldId id="570" r:id="rId38"/>
    <p:sldId id="571" r:id="rId39"/>
    <p:sldId id="572" r:id="rId40"/>
    <p:sldId id="611" r:id="rId41"/>
    <p:sldId id="612" r:id="rId42"/>
    <p:sldId id="645" r:id="rId43"/>
    <p:sldId id="613" r:id="rId44"/>
    <p:sldId id="614" r:id="rId45"/>
    <p:sldId id="615" r:id="rId46"/>
    <p:sldId id="616" r:id="rId47"/>
    <p:sldId id="617" r:id="rId48"/>
    <p:sldId id="618" r:id="rId49"/>
    <p:sldId id="619" r:id="rId50"/>
    <p:sldId id="620" r:id="rId51"/>
    <p:sldId id="573" r:id="rId52"/>
    <p:sldId id="624" r:id="rId53"/>
    <p:sldId id="625" r:id="rId54"/>
    <p:sldId id="626" r:id="rId55"/>
    <p:sldId id="646" r:id="rId56"/>
    <p:sldId id="647" r:id="rId57"/>
    <p:sldId id="648" r:id="rId58"/>
    <p:sldId id="649" r:id="rId59"/>
    <p:sldId id="650" r:id="rId60"/>
    <p:sldId id="651" r:id="rId61"/>
    <p:sldId id="652" r:id="rId62"/>
    <p:sldId id="653" r:id="rId63"/>
    <p:sldId id="654" r:id="rId64"/>
    <p:sldId id="655" r:id="rId65"/>
    <p:sldId id="548" r:id="rId66"/>
    <p:sldId id="628" r:id="rId67"/>
    <p:sldId id="629" r:id="rId68"/>
    <p:sldId id="630" r:id="rId69"/>
    <p:sldId id="631" r:id="rId70"/>
    <p:sldId id="632" r:id="rId71"/>
    <p:sldId id="633" r:id="rId72"/>
    <p:sldId id="634" r:id="rId73"/>
    <p:sldId id="635" r:id="rId74"/>
    <p:sldId id="636" r:id="rId75"/>
    <p:sldId id="637" r:id="rId76"/>
    <p:sldId id="638" r:id="rId77"/>
    <p:sldId id="639" r:id="rId78"/>
    <p:sldId id="640" r:id="rId79"/>
    <p:sldId id="641" r:id="rId80"/>
    <p:sldId id="642" r:id="rId81"/>
    <p:sldId id="643" r:id="rId82"/>
    <p:sldId id="627" r:id="rId83"/>
    <p:sldId id="362" r:id="rId84"/>
    <p:sldId id="363" r:id="rId85"/>
    <p:sldId id="364" r:id="rId86"/>
    <p:sldId id="365" r:id="rId87"/>
    <p:sldId id="414" r:id="rId88"/>
    <p:sldId id="366" r:id="rId89"/>
    <p:sldId id="367" r:id="rId90"/>
    <p:sldId id="380" r:id="rId91"/>
    <p:sldId id="398" r:id="rId92"/>
    <p:sldId id="427" r:id="rId93"/>
    <p:sldId id="431" r:id="rId94"/>
    <p:sldId id="430" r:id="rId95"/>
    <p:sldId id="429" r:id="rId96"/>
    <p:sldId id="428" r:id="rId97"/>
    <p:sldId id="432" r:id="rId98"/>
    <p:sldId id="433" r:id="rId99"/>
    <p:sldId id="434" r:id="rId100"/>
    <p:sldId id="375" r:id="rId101"/>
    <p:sldId id="391" r:id="rId102"/>
    <p:sldId id="415" r:id="rId103"/>
    <p:sldId id="416" r:id="rId104"/>
    <p:sldId id="417" r:id="rId105"/>
    <p:sldId id="472" r:id="rId106"/>
    <p:sldId id="473" r:id="rId107"/>
    <p:sldId id="418" r:id="rId108"/>
    <p:sldId id="419" r:id="rId109"/>
    <p:sldId id="420" r:id="rId110"/>
    <p:sldId id="421" r:id="rId111"/>
    <p:sldId id="423" r:id="rId112"/>
    <p:sldId id="424" r:id="rId113"/>
    <p:sldId id="425" r:id="rId114"/>
    <p:sldId id="426" r:id="rId115"/>
    <p:sldId id="689" r:id="rId116"/>
    <p:sldId id="404" r:id="rId117"/>
    <p:sldId id="403" r:id="rId118"/>
    <p:sldId id="394" r:id="rId119"/>
    <p:sldId id="406" r:id="rId120"/>
    <p:sldId id="407" r:id="rId121"/>
    <p:sldId id="408" r:id="rId122"/>
    <p:sldId id="409" r:id="rId123"/>
    <p:sldId id="411" r:id="rId124"/>
    <p:sldId id="412" r:id="rId125"/>
    <p:sldId id="413" r:id="rId126"/>
    <p:sldId id="435" r:id="rId127"/>
    <p:sldId id="439" r:id="rId128"/>
    <p:sldId id="438" r:id="rId129"/>
    <p:sldId id="437" r:id="rId130"/>
    <p:sldId id="436" r:id="rId131"/>
    <p:sldId id="440" r:id="rId132"/>
    <p:sldId id="441" r:id="rId133"/>
    <p:sldId id="442" r:id="rId134"/>
    <p:sldId id="443" r:id="rId135"/>
    <p:sldId id="449" r:id="rId136"/>
    <p:sldId id="451" r:id="rId137"/>
    <p:sldId id="444" r:id="rId138"/>
    <p:sldId id="445" r:id="rId139"/>
    <p:sldId id="446" r:id="rId140"/>
    <p:sldId id="453" r:id="rId141"/>
    <p:sldId id="452" r:id="rId142"/>
    <p:sldId id="448" r:id="rId143"/>
    <p:sldId id="458" r:id="rId144"/>
    <p:sldId id="459" r:id="rId145"/>
    <p:sldId id="457" r:id="rId146"/>
    <p:sldId id="455" r:id="rId147"/>
    <p:sldId id="454" r:id="rId148"/>
    <p:sldId id="460" r:id="rId149"/>
    <p:sldId id="461" r:id="rId150"/>
    <p:sldId id="462" r:id="rId151"/>
    <p:sldId id="466" r:id="rId152"/>
    <p:sldId id="465" r:id="rId153"/>
    <p:sldId id="464" r:id="rId154"/>
    <p:sldId id="467" r:id="rId155"/>
    <p:sldId id="475" r:id="rId156"/>
    <p:sldId id="469" r:id="rId157"/>
    <p:sldId id="474" r:id="rId158"/>
    <p:sldId id="463" r:id="rId159"/>
    <p:sldId id="477" r:id="rId160"/>
    <p:sldId id="479" r:id="rId161"/>
    <p:sldId id="478" r:id="rId162"/>
    <p:sldId id="480" r:id="rId163"/>
    <p:sldId id="476" r:id="rId164"/>
    <p:sldId id="483" r:id="rId165"/>
    <p:sldId id="482" r:id="rId166"/>
    <p:sldId id="528" r:id="rId167"/>
    <p:sldId id="527" r:id="rId168"/>
    <p:sldId id="530" r:id="rId169"/>
    <p:sldId id="531" r:id="rId170"/>
    <p:sldId id="532" r:id="rId171"/>
    <p:sldId id="533" r:id="rId172"/>
    <p:sldId id="534" r:id="rId173"/>
    <p:sldId id="535" r:id="rId174"/>
    <p:sldId id="536" r:id="rId175"/>
    <p:sldId id="537" r:id="rId176"/>
    <p:sldId id="538" r:id="rId177"/>
    <p:sldId id="539" r:id="rId178"/>
    <p:sldId id="540" r:id="rId179"/>
    <p:sldId id="541" r:id="rId180"/>
    <p:sldId id="542" r:id="rId181"/>
    <p:sldId id="543" r:id="rId182"/>
    <p:sldId id="544" r:id="rId183"/>
    <p:sldId id="545" r:id="rId184"/>
    <p:sldId id="481" r:id="rId185"/>
    <p:sldId id="485" r:id="rId186"/>
    <p:sldId id="660" r:id="rId187"/>
    <p:sldId id="663" r:id="rId188"/>
    <p:sldId id="662" r:id="rId189"/>
    <p:sldId id="666" r:id="rId190"/>
    <p:sldId id="665" r:id="rId191"/>
    <p:sldId id="664" r:id="rId192"/>
    <p:sldId id="667" r:id="rId193"/>
    <p:sldId id="671" r:id="rId194"/>
    <p:sldId id="670" r:id="rId195"/>
    <p:sldId id="669" r:id="rId196"/>
    <p:sldId id="674" r:id="rId197"/>
    <p:sldId id="673" r:id="rId198"/>
    <p:sldId id="678" r:id="rId199"/>
    <p:sldId id="677" r:id="rId200"/>
    <p:sldId id="676" r:id="rId201"/>
    <p:sldId id="675" r:id="rId202"/>
    <p:sldId id="682" r:id="rId203"/>
    <p:sldId id="681" r:id="rId204"/>
    <p:sldId id="680" r:id="rId205"/>
    <p:sldId id="679" r:id="rId206"/>
    <p:sldId id="684" r:id="rId207"/>
    <p:sldId id="683" r:id="rId208"/>
    <p:sldId id="686" r:id="rId209"/>
    <p:sldId id="685" r:id="rId210"/>
    <p:sldId id="687" r:id="rId211"/>
    <p:sldId id="688" r:id="rId212"/>
    <p:sldId id="656" r:id="rId213"/>
    <p:sldId id="657" r:id="rId2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8000"/>
    <a:srgbClr val="990033"/>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056" autoAdjust="0"/>
    <p:restoredTop sz="94638" autoAdjust="0"/>
  </p:normalViewPr>
  <p:slideViewPr>
    <p:cSldViewPr snapToGrid="0">
      <p:cViewPr>
        <p:scale>
          <a:sx n="100" d="100"/>
          <a:sy n="100" d="100"/>
        </p:scale>
        <p:origin x="-90" y="288"/>
      </p:cViewPr>
      <p:guideLst>
        <p:guide orient="horz" pos="2160"/>
        <p:guide pos="3840"/>
      </p:guideLst>
    </p:cSldViewPr>
  </p:slideViewPr>
  <p:notesTextViewPr>
    <p:cViewPr>
      <p:scale>
        <a:sx n="3" d="2"/>
        <a:sy n="3" d="2"/>
      </p:scale>
      <p:origin x="0" y="0"/>
    </p:cViewPr>
  </p:notesTextViewPr>
  <p:gridSpacing cx="73736200" cy="7373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16" Type="http://schemas.openxmlformats.org/officeDocument/2006/relationships/presProps" Target="presProps.xml"/><Relationship Id="rId211" Type="http://schemas.openxmlformats.org/officeDocument/2006/relationships/slide" Target="slides/slide210.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6" Type="http://schemas.openxmlformats.org/officeDocument/2006/relationships/slide" Target="slides/slide205.xml"/><Relationship Id="rId201" Type="http://schemas.openxmlformats.org/officeDocument/2006/relationships/slide" Target="slides/slide200.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tableStyles" Target="tableStyles.xml"/><Relationship Id="rId3" Type="http://schemas.openxmlformats.org/officeDocument/2006/relationships/slide" Target="slides/slide2.xml"/><Relationship Id="rId214" Type="http://schemas.openxmlformats.org/officeDocument/2006/relationships/slide" Target="slides/slide213.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notesMaster" Target="notesMasters/notesMaster1.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1F15DC-5406-4B0C-9AFE-4302DF4DC8FE}"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fr-FR"/>
        </a:p>
      </dgm:t>
    </dgm:pt>
    <dgm:pt modelId="{D081CD7E-E7F9-44A5-ADD2-E0C24DE9A188}">
      <dgm:prSet phldrT="[Texte]" custT="1"/>
      <dgm:spPr/>
      <dgm:t>
        <a:bodyPr/>
        <a:lstStyle/>
        <a:p>
          <a:pPr algn="l"/>
          <a:r>
            <a:rPr lang="fr-FR" sz="1800" b="1">
              <a:latin typeface="Arial" pitchFamily="34" charset="0"/>
              <a:cs typeface="Arial" pitchFamily="34" charset="0"/>
            </a:rPr>
            <a:t>B- LES VALEURS</a:t>
          </a:r>
        </a:p>
      </dgm:t>
    </dgm:pt>
    <dgm:pt modelId="{50E4F26E-8644-4397-94A1-E26A3ADCA5F6}" type="parTrans" cxnId="{EEFAF0E0-0025-4775-9CF6-C72886833A80}">
      <dgm:prSet/>
      <dgm:spPr/>
      <dgm:t>
        <a:bodyPr/>
        <a:lstStyle/>
        <a:p>
          <a:endParaRPr lang="fr-FR"/>
        </a:p>
      </dgm:t>
    </dgm:pt>
    <dgm:pt modelId="{00A9D6B6-CB67-41B2-A923-EC736E561A7B}" type="sibTrans" cxnId="{EEFAF0E0-0025-4775-9CF6-C72886833A80}">
      <dgm:prSet/>
      <dgm:spPr/>
      <dgm:t>
        <a:bodyPr/>
        <a:lstStyle/>
        <a:p>
          <a:endParaRPr lang="fr-FR"/>
        </a:p>
      </dgm:t>
    </dgm:pt>
    <dgm:pt modelId="{F6760A86-F190-4FA7-B7BB-161350B7867C}">
      <dgm:prSet phldrT="[Texte]" custT="1"/>
      <dgm:spPr/>
      <dgm:t>
        <a:bodyPr/>
        <a:lstStyle/>
        <a:p>
          <a:pPr algn="just"/>
          <a:r>
            <a:rPr lang="fr-FR" sz="1000" b="1" dirty="0">
              <a:solidFill>
                <a:srgbClr val="3B3835"/>
              </a:solidFill>
              <a:latin typeface="Source Sans Pro"/>
            </a:rPr>
            <a:t>la confiance en soi </a:t>
          </a:r>
          <a:r>
            <a:rPr lang="fr-FR" sz="1000" dirty="0">
              <a:solidFill>
                <a:srgbClr val="3B3835"/>
              </a:solidFill>
              <a:latin typeface="Source Sans Pro"/>
            </a:rPr>
            <a:t>(se sentir capable de  d’entreprendre, de mener à terme son projet</a:t>
          </a:r>
          <a:endParaRPr lang="fr-FR" sz="1000"/>
        </a:p>
      </dgm:t>
    </dgm:pt>
    <dgm:pt modelId="{30368662-2E02-481F-9C80-C6DB902CB725}" type="parTrans" cxnId="{34854AF6-0A54-4C7D-B4C0-74B40264865B}">
      <dgm:prSet/>
      <dgm:spPr/>
      <dgm:t>
        <a:bodyPr/>
        <a:lstStyle/>
        <a:p>
          <a:endParaRPr lang="fr-FR"/>
        </a:p>
      </dgm:t>
    </dgm:pt>
    <dgm:pt modelId="{BABDCE8A-1986-4A5D-8C92-34DEAA70E4F6}" type="sibTrans" cxnId="{34854AF6-0A54-4C7D-B4C0-74B40264865B}">
      <dgm:prSet/>
      <dgm:spPr/>
      <dgm:t>
        <a:bodyPr/>
        <a:lstStyle/>
        <a:p>
          <a:endParaRPr lang="fr-FR"/>
        </a:p>
      </dgm:t>
    </dgm:pt>
    <dgm:pt modelId="{6FEF7108-A125-40B6-85AC-A7AB6B329224}">
      <dgm:prSet custT="1"/>
      <dgm:spPr/>
      <dgm:t>
        <a:bodyPr/>
        <a:lstStyle/>
        <a:p>
          <a:pPr algn="just"/>
          <a:r>
            <a:rPr lang="fr-FR" sz="1000" b="1" dirty="0">
              <a:solidFill>
                <a:srgbClr val="3B3835"/>
              </a:solidFill>
              <a:latin typeface="Source Sans Pro"/>
            </a:rPr>
            <a:t>l’esprit d’équipe </a:t>
          </a:r>
          <a:r>
            <a:rPr lang="fr-FR" sz="1000" dirty="0">
              <a:solidFill>
                <a:srgbClr val="3B3835"/>
              </a:solidFill>
              <a:latin typeface="Source Sans Pro"/>
            </a:rPr>
            <a:t>(travailler et coopérer avec les autres tout en étant respectueux </a:t>
          </a:r>
        </a:p>
      </dgm:t>
    </dgm:pt>
    <dgm:pt modelId="{884E092D-3FB4-4D3B-A9AD-FED8FAC51999}" type="parTrans" cxnId="{B17EB4BF-B8DE-4E95-8E03-951179A008A2}">
      <dgm:prSet/>
      <dgm:spPr/>
      <dgm:t>
        <a:bodyPr/>
        <a:lstStyle/>
        <a:p>
          <a:endParaRPr lang="fr-FR"/>
        </a:p>
      </dgm:t>
    </dgm:pt>
    <dgm:pt modelId="{7B3DD4E5-34D3-4679-9DF4-D52341CDCE3C}" type="sibTrans" cxnId="{B17EB4BF-B8DE-4E95-8E03-951179A008A2}">
      <dgm:prSet/>
      <dgm:spPr/>
      <dgm:t>
        <a:bodyPr/>
        <a:lstStyle/>
        <a:p>
          <a:endParaRPr lang="fr-FR"/>
        </a:p>
      </dgm:t>
    </dgm:pt>
    <dgm:pt modelId="{E6E5BFF1-263A-466A-ADAB-E36FF75B8FD2}">
      <dgm:prSet custT="1"/>
      <dgm:spPr/>
      <dgm:t>
        <a:bodyPr/>
        <a:lstStyle/>
        <a:p>
          <a:pPr algn="just"/>
          <a:r>
            <a:rPr lang="fr-FR" sz="1000" b="1" dirty="0">
              <a:solidFill>
                <a:srgbClr val="3B3835"/>
              </a:solidFill>
              <a:latin typeface="Source Sans Pro"/>
            </a:rPr>
            <a:t>la motivation</a:t>
          </a:r>
          <a:r>
            <a:rPr lang="fr-FR" sz="1000" dirty="0">
              <a:solidFill>
                <a:srgbClr val="3B3835"/>
              </a:solidFill>
              <a:latin typeface="Source Sans Pro"/>
            </a:rPr>
            <a:t> (avoir des raisons d’apprendre et de relever des défis</a:t>
          </a:r>
          <a:r>
            <a:rPr lang="fr-FR" sz="1000" dirty="0" smtClean="0">
              <a:solidFill>
                <a:srgbClr val="3B3835"/>
              </a:solidFill>
              <a:latin typeface="Source Sans Pro"/>
            </a:rPr>
            <a:t>)</a:t>
          </a:r>
          <a:endParaRPr lang="fr-FR" sz="1000" dirty="0">
            <a:solidFill>
              <a:srgbClr val="3B3835"/>
            </a:solidFill>
            <a:latin typeface="Source Sans Pro"/>
          </a:endParaRPr>
        </a:p>
      </dgm:t>
    </dgm:pt>
    <dgm:pt modelId="{A1CE1086-D326-4954-9141-FA2910A049DB}" type="parTrans" cxnId="{ACE2187F-A032-4EE3-B193-6E8E49021574}">
      <dgm:prSet/>
      <dgm:spPr/>
      <dgm:t>
        <a:bodyPr/>
        <a:lstStyle/>
        <a:p>
          <a:endParaRPr lang="fr-FR"/>
        </a:p>
      </dgm:t>
    </dgm:pt>
    <dgm:pt modelId="{FBB2C66B-968B-43E3-A733-EC0A0BA29ECA}" type="sibTrans" cxnId="{ACE2187F-A032-4EE3-B193-6E8E49021574}">
      <dgm:prSet/>
      <dgm:spPr/>
      <dgm:t>
        <a:bodyPr/>
        <a:lstStyle/>
        <a:p>
          <a:endParaRPr lang="fr-FR"/>
        </a:p>
      </dgm:t>
    </dgm:pt>
    <dgm:pt modelId="{31D18A38-065B-4534-BF1B-61A8D22B7F67}">
      <dgm:prSet custT="1"/>
      <dgm:spPr/>
      <dgm:t>
        <a:bodyPr/>
        <a:lstStyle/>
        <a:p>
          <a:pPr algn="just"/>
          <a:r>
            <a:rPr lang="fr-FR" sz="1000" b="1" dirty="0">
              <a:solidFill>
                <a:srgbClr val="3B3835"/>
              </a:solidFill>
              <a:latin typeface="Source Sans Pro"/>
            </a:rPr>
            <a:t>le sens des responsabilités </a:t>
          </a:r>
          <a:r>
            <a:rPr lang="fr-FR" sz="1000" dirty="0">
              <a:solidFill>
                <a:srgbClr val="3B3835"/>
              </a:solidFill>
              <a:latin typeface="Source Sans Pro"/>
            </a:rPr>
            <a:t>(respecter ses engagements</a:t>
          </a:r>
        </a:p>
      </dgm:t>
    </dgm:pt>
    <dgm:pt modelId="{334168C7-62F8-4D28-9C0A-E39880ED3324}" type="parTrans" cxnId="{BFBF435A-8D18-4C2D-B7AB-050E1FE72E79}">
      <dgm:prSet/>
      <dgm:spPr/>
      <dgm:t>
        <a:bodyPr/>
        <a:lstStyle/>
        <a:p>
          <a:endParaRPr lang="fr-FR"/>
        </a:p>
      </dgm:t>
    </dgm:pt>
    <dgm:pt modelId="{5CC286BC-DDB3-47B6-878D-30A898E0C3FF}" type="sibTrans" cxnId="{BFBF435A-8D18-4C2D-B7AB-050E1FE72E79}">
      <dgm:prSet/>
      <dgm:spPr/>
      <dgm:t>
        <a:bodyPr/>
        <a:lstStyle/>
        <a:p>
          <a:endParaRPr lang="fr-FR"/>
        </a:p>
      </dgm:t>
    </dgm:pt>
    <dgm:pt modelId="{E3A5D70D-3744-427A-9DF1-60404EB76610}">
      <dgm:prSet custT="1"/>
      <dgm:spPr/>
      <dgm:t>
        <a:bodyPr/>
        <a:lstStyle/>
        <a:p>
          <a:pPr algn="just"/>
          <a:r>
            <a:rPr lang="fr-FR" sz="1000" b="1" dirty="0">
              <a:solidFill>
                <a:srgbClr val="3B3835"/>
              </a:solidFill>
              <a:latin typeface="Source Sans Pro"/>
            </a:rPr>
            <a:t>la solidarité </a:t>
          </a:r>
          <a:r>
            <a:rPr lang="fr-FR" sz="1000" dirty="0">
              <a:solidFill>
                <a:srgbClr val="3B3835"/>
              </a:solidFill>
              <a:latin typeface="Source Sans Pro"/>
            </a:rPr>
            <a:t>(se sentir responsable des choix et des décisions du groupe dans l’atteinte d’un but commun</a:t>
          </a:r>
          <a:r>
            <a:rPr lang="fr-FR" sz="1000" dirty="0" smtClean="0">
              <a:solidFill>
                <a:srgbClr val="3B3835"/>
              </a:solidFill>
              <a:latin typeface="Source Sans Pro"/>
            </a:rPr>
            <a:t>)</a:t>
          </a:r>
        </a:p>
      </dgm:t>
    </dgm:pt>
    <dgm:pt modelId="{B8295270-3E4A-47B8-98DA-72540AFE97A8}" type="parTrans" cxnId="{08B72303-61BF-4259-9F34-EAF3F7803B52}">
      <dgm:prSet/>
      <dgm:spPr/>
      <dgm:t>
        <a:bodyPr/>
        <a:lstStyle/>
        <a:p>
          <a:endParaRPr lang="fr-FR"/>
        </a:p>
      </dgm:t>
    </dgm:pt>
    <dgm:pt modelId="{875FAC3E-8BBA-4FA9-95E8-100E8358ED50}" type="sibTrans" cxnId="{08B72303-61BF-4259-9F34-EAF3F7803B52}">
      <dgm:prSet/>
      <dgm:spPr/>
      <dgm:t>
        <a:bodyPr/>
        <a:lstStyle/>
        <a:p>
          <a:endParaRPr lang="fr-FR"/>
        </a:p>
      </dgm:t>
    </dgm:pt>
    <dgm:pt modelId="{ED23C384-BBDB-4CA9-9ADB-680C60BE0BF7}">
      <dgm:prSet custT="1"/>
      <dgm:spPr/>
      <dgm:t>
        <a:bodyPr/>
        <a:lstStyle/>
        <a:p>
          <a:pPr algn="just"/>
          <a:r>
            <a:rPr lang="fr-FR" sz="1000" b="1" dirty="0">
              <a:solidFill>
                <a:srgbClr val="3B3835"/>
              </a:solidFill>
              <a:latin typeface="Source Sans Pro"/>
            </a:rPr>
            <a:t> L'effort, l'organisation, l'initiative et la créativité</a:t>
          </a:r>
          <a:endParaRPr lang="fr-FR" sz="1000" dirty="0">
            <a:solidFill>
              <a:srgbClr val="3B3835"/>
            </a:solidFill>
            <a:latin typeface="Source Sans Pro"/>
          </a:endParaRPr>
        </a:p>
      </dgm:t>
    </dgm:pt>
    <dgm:pt modelId="{86F5AC7A-E2A7-4DF6-96C4-7377D7648A4E}" type="parTrans" cxnId="{B41F08F3-32C7-4CC8-85B5-BF0471810305}">
      <dgm:prSet/>
      <dgm:spPr/>
      <dgm:t>
        <a:bodyPr/>
        <a:lstStyle/>
        <a:p>
          <a:endParaRPr lang="fr-FR"/>
        </a:p>
      </dgm:t>
    </dgm:pt>
    <dgm:pt modelId="{93D8CA55-2D5D-4BCF-92F7-3DB6AC09F0DA}" type="sibTrans" cxnId="{B41F08F3-32C7-4CC8-85B5-BF0471810305}">
      <dgm:prSet/>
      <dgm:spPr/>
      <dgm:t>
        <a:bodyPr/>
        <a:lstStyle/>
        <a:p>
          <a:endParaRPr lang="fr-FR"/>
        </a:p>
      </dgm:t>
    </dgm:pt>
    <dgm:pt modelId="{08E979A6-66C2-4EC9-8C51-BBDA9216057C}">
      <dgm:prSet custT="1"/>
      <dgm:spPr/>
      <dgm:t>
        <a:bodyPr/>
        <a:lstStyle/>
        <a:p>
          <a:pPr algn="just"/>
          <a:r>
            <a:rPr lang="fr-FR" sz="1000" b="1" dirty="0">
              <a:solidFill>
                <a:srgbClr val="3B3835"/>
              </a:solidFill>
              <a:latin typeface="Source Sans Pro"/>
            </a:rPr>
            <a:t> La détermination et la persévérence </a:t>
          </a:r>
          <a:endParaRPr lang="fr-FR" sz="1000" dirty="0">
            <a:solidFill>
              <a:srgbClr val="3B3835"/>
            </a:solidFill>
            <a:latin typeface="Source Sans Pro"/>
          </a:endParaRPr>
        </a:p>
      </dgm:t>
    </dgm:pt>
    <dgm:pt modelId="{E1BF72DD-6D8A-451F-8872-064ECB9395FE}" type="parTrans" cxnId="{2270F6FB-E6EC-4042-A013-D8A582A94DDB}">
      <dgm:prSet/>
      <dgm:spPr/>
      <dgm:t>
        <a:bodyPr/>
        <a:lstStyle/>
        <a:p>
          <a:endParaRPr lang="fr-FR"/>
        </a:p>
      </dgm:t>
    </dgm:pt>
    <dgm:pt modelId="{029E551F-0B1F-444F-B61C-35150998BCBA}" type="sibTrans" cxnId="{2270F6FB-E6EC-4042-A013-D8A582A94DDB}">
      <dgm:prSet/>
      <dgm:spPr/>
      <dgm:t>
        <a:bodyPr/>
        <a:lstStyle/>
        <a:p>
          <a:endParaRPr lang="fr-FR"/>
        </a:p>
      </dgm:t>
    </dgm:pt>
    <dgm:pt modelId="{95C46ACA-4055-435F-81A7-8948A324BAEE}">
      <dgm:prSet custT="1"/>
      <dgm:spPr/>
      <dgm:t>
        <a:bodyPr/>
        <a:lstStyle/>
        <a:p>
          <a:pPr algn="l"/>
          <a:r>
            <a:rPr lang="fr-FR" sz="1800" b="1" dirty="0" smtClean="0">
              <a:solidFill>
                <a:schemeClr val="bg1"/>
              </a:solidFill>
              <a:latin typeface="Arial" pitchFamily="34" charset="0"/>
              <a:cs typeface="Arial" pitchFamily="34" charset="0"/>
            </a:rPr>
            <a:t>A- LES RAISONS</a:t>
          </a:r>
          <a:endParaRPr lang="fr-FR" sz="1800" b="1">
            <a:solidFill>
              <a:schemeClr val="bg1"/>
            </a:solidFill>
            <a:latin typeface="Arial" pitchFamily="34" charset="0"/>
            <a:cs typeface="Arial" pitchFamily="34" charset="0"/>
          </a:endParaRPr>
        </a:p>
      </dgm:t>
    </dgm:pt>
    <dgm:pt modelId="{4A24129B-EB86-427D-817B-E97DEF6CF8E5}" type="parTrans" cxnId="{23166BD1-4661-4C93-AAE9-8BB2648C0838}">
      <dgm:prSet/>
      <dgm:spPr/>
      <dgm:t>
        <a:bodyPr/>
        <a:lstStyle/>
        <a:p>
          <a:endParaRPr lang="fr-FR"/>
        </a:p>
      </dgm:t>
    </dgm:pt>
    <dgm:pt modelId="{B6035E2B-0EDD-4C5B-A681-DF9309400E72}" type="sibTrans" cxnId="{23166BD1-4661-4C93-AAE9-8BB2648C0838}">
      <dgm:prSet/>
      <dgm:spPr/>
      <dgm:t>
        <a:bodyPr/>
        <a:lstStyle/>
        <a:p>
          <a:endParaRPr lang="fr-FR"/>
        </a:p>
      </dgm:t>
    </dgm:pt>
    <dgm:pt modelId="{7384B39C-29F6-489B-8F06-DC4599F16C6D}">
      <dgm:prSet custT="1"/>
      <dgm:spPr/>
      <dgm:t>
        <a:bodyPr/>
        <a:lstStyle/>
        <a:p>
          <a:r>
            <a:rPr lang="fr-FR" sz="1100" dirty="0" smtClean="0">
              <a:solidFill>
                <a:srgbClr val="3B3835"/>
              </a:solidFill>
              <a:latin typeface="Source Sans Pro"/>
            </a:rPr>
            <a:t>Faire </a:t>
          </a:r>
          <a:r>
            <a:rPr lang="fr-FR" sz="1100" dirty="0">
              <a:solidFill>
                <a:srgbClr val="3B3835"/>
              </a:solidFill>
              <a:latin typeface="Source Sans Pro"/>
            </a:rPr>
            <a:t>de l’entrepreneuriat un choix de carrière désirable. </a:t>
          </a:r>
          <a:endParaRPr lang="fr-FR" sz="1100" dirty="0" smtClean="0">
            <a:solidFill>
              <a:srgbClr val="3B3835"/>
            </a:solidFill>
            <a:latin typeface="Source Sans Pro"/>
          </a:endParaRPr>
        </a:p>
      </dgm:t>
    </dgm:pt>
    <dgm:pt modelId="{8FA66C10-A893-40F4-B892-E6B04BB019A5}" type="parTrans" cxnId="{2D07338A-90C0-41A3-8BFA-35AAD9E30542}">
      <dgm:prSet/>
      <dgm:spPr/>
      <dgm:t>
        <a:bodyPr/>
        <a:lstStyle/>
        <a:p>
          <a:endParaRPr lang="fr-FR"/>
        </a:p>
      </dgm:t>
    </dgm:pt>
    <dgm:pt modelId="{81F3B2AC-06D7-4C1D-91FC-E770E02EEDDA}" type="sibTrans" cxnId="{2D07338A-90C0-41A3-8BFA-35AAD9E30542}">
      <dgm:prSet/>
      <dgm:spPr/>
      <dgm:t>
        <a:bodyPr/>
        <a:lstStyle/>
        <a:p>
          <a:endParaRPr lang="fr-FR"/>
        </a:p>
      </dgm:t>
    </dgm:pt>
    <dgm:pt modelId="{28A415CE-EDF9-46B8-ADE7-BCBFCBB65E58}">
      <dgm:prSet custT="1"/>
      <dgm:spPr/>
      <dgm:t>
        <a:bodyPr/>
        <a:lstStyle/>
        <a:p>
          <a:r>
            <a:rPr lang="fr-FR" sz="1100" dirty="0" smtClean="0">
              <a:solidFill>
                <a:srgbClr val="3B3835"/>
              </a:solidFill>
              <a:latin typeface="Source Sans Pro"/>
            </a:rPr>
            <a:t>Contrebalancer </a:t>
          </a:r>
          <a:r>
            <a:rPr lang="fr-FR" sz="1100" dirty="0">
              <a:solidFill>
                <a:srgbClr val="3B3835"/>
              </a:solidFill>
              <a:latin typeface="Source Sans Pro"/>
            </a:rPr>
            <a:t>l’information déjà abondante en matière d’employabilité</a:t>
          </a:r>
          <a:r>
            <a:rPr lang="fr-FR" sz="1100" dirty="0" smtClean="0">
              <a:solidFill>
                <a:srgbClr val="3B3835"/>
              </a:solidFill>
              <a:latin typeface="Source Sans Pro"/>
            </a:rPr>
            <a:t>.</a:t>
          </a:r>
        </a:p>
      </dgm:t>
    </dgm:pt>
    <dgm:pt modelId="{7B30B180-2481-490D-9C80-05008FFEADE3}" type="parTrans" cxnId="{D8038F8A-9612-4721-87E4-91300E503D59}">
      <dgm:prSet/>
      <dgm:spPr/>
      <dgm:t>
        <a:bodyPr/>
        <a:lstStyle/>
        <a:p>
          <a:endParaRPr lang="fr-FR"/>
        </a:p>
      </dgm:t>
    </dgm:pt>
    <dgm:pt modelId="{5A32F6F5-9100-4256-BC96-4CEBA213CA1C}" type="sibTrans" cxnId="{D8038F8A-9612-4721-87E4-91300E503D59}">
      <dgm:prSet/>
      <dgm:spPr/>
      <dgm:t>
        <a:bodyPr/>
        <a:lstStyle/>
        <a:p>
          <a:endParaRPr lang="fr-FR"/>
        </a:p>
      </dgm:t>
    </dgm:pt>
    <dgm:pt modelId="{349CB025-BD09-4FBC-BF57-D02D871D974B}">
      <dgm:prSet custT="1"/>
      <dgm:spPr/>
      <dgm:t>
        <a:bodyPr/>
        <a:lstStyle/>
        <a:p>
          <a:r>
            <a:rPr lang="fr-FR" sz="1100" dirty="0" smtClean="0">
              <a:solidFill>
                <a:srgbClr val="3B3835"/>
              </a:solidFill>
              <a:latin typeface="Source Sans Pro"/>
            </a:rPr>
            <a:t>Valoriser </a:t>
          </a:r>
          <a:r>
            <a:rPr lang="fr-FR" sz="1100" dirty="0">
              <a:solidFill>
                <a:srgbClr val="3B3835"/>
              </a:solidFill>
              <a:latin typeface="Source Sans Pro"/>
            </a:rPr>
            <a:t>la richesse et son rôle dans le développement économique et social</a:t>
          </a:r>
          <a:r>
            <a:rPr lang="fr-FR" sz="1100" dirty="0" smtClean="0">
              <a:solidFill>
                <a:srgbClr val="3B3835"/>
              </a:solidFill>
              <a:latin typeface="Source Sans Pro"/>
            </a:rPr>
            <a:t>.</a:t>
          </a:r>
        </a:p>
      </dgm:t>
    </dgm:pt>
    <dgm:pt modelId="{3F2206D8-2BF1-417B-A9A6-0967916F2AF7}" type="parTrans" cxnId="{165733DD-FC58-4FDF-B73F-CAEFF0FAFA37}">
      <dgm:prSet/>
      <dgm:spPr/>
      <dgm:t>
        <a:bodyPr/>
        <a:lstStyle/>
        <a:p>
          <a:endParaRPr lang="fr-FR"/>
        </a:p>
      </dgm:t>
    </dgm:pt>
    <dgm:pt modelId="{B0093410-ECE6-48A5-BA3A-014FBC7A02BF}" type="sibTrans" cxnId="{165733DD-FC58-4FDF-B73F-CAEFF0FAFA37}">
      <dgm:prSet/>
      <dgm:spPr/>
      <dgm:t>
        <a:bodyPr/>
        <a:lstStyle/>
        <a:p>
          <a:endParaRPr lang="fr-FR"/>
        </a:p>
      </dgm:t>
    </dgm:pt>
    <dgm:pt modelId="{D3CC8474-7A1F-45AD-8A90-7F47CC7DB87C}">
      <dgm:prSet custT="1"/>
      <dgm:spPr/>
      <dgm:t>
        <a:bodyPr/>
        <a:lstStyle/>
        <a:p>
          <a:endParaRPr lang="fr-FR" sz="1100" dirty="0" smtClean="0">
            <a:solidFill>
              <a:srgbClr val="3B3835"/>
            </a:solidFill>
            <a:latin typeface="Source Sans Pro"/>
          </a:endParaRPr>
        </a:p>
      </dgm:t>
    </dgm:pt>
    <dgm:pt modelId="{23EF61F5-1348-4FA9-926D-8651766CA892}" type="parTrans" cxnId="{7E52249A-B073-433B-BABF-93B6543EFD08}">
      <dgm:prSet/>
      <dgm:spPr/>
      <dgm:t>
        <a:bodyPr/>
        <a:lstStyle/>
        <a:p>
          <a:endParaRPr lang="fr-FR"/>
        </a:p>
      </dgm:t>
    </dgm:pt>
    <dgm:pt modelId="{89FB932E-842D-42A2-AECA-92CEC7085B99}" type="sibTrans" cxnId="{7E52249A-B073-433B-BABF-93B6543EFD08}">
      <dgm:prSet/>
      <dgm:spPr/>
      <dgm:t>
        <a:bodyPr/>
        <a:lstStyle/>
        <a:p>
          <a:endParaRPr lang="fr-FR"/>
        </a:p>
      </dgm:t>
    </dgm:pt>
    <dgm:pt modelId="{7382C0B7-2751-49F7-AA79-EEEA88258B31}">
      <dgm:prSet custT="1"/>
      <dgm:spPr/>
      <dgm:t>
        <a:bodyPr/>
        <a:lstStyle/>
        <a:p>
          <a:endParaRPr lang="fr-FR" sz="1100" dirty="0" smtClean="0">
            <a:solidFill>
              <a:srgbClr val="3B3835"/>
            </a:solidFill>
            <a:latin typeface="Source Sans Pro"/>
          </a:endParaRPr>
        </a:p>
      </dgm:t>
    </dgm:pt>
    <dgm:pt modelId="{B12FE163-8CD8-413E-B3B3-CFE72CACF22D}" type="parTrans" cxnId="{4B37D35E-9B1A-4826-AE96-31DA037948B5}">
      <dgm:prSet/>
      <dgm:spPr/>
      <dgm:t>
        <a:bodyPr/>
        <a:lstStyle/>
        <a:p>
          <a:endParaRPr lang="fr-FR"/>
        </a:p>
      </dgm:t>
    </dgm:pt>
    <dgm:pt modelId="{24D0D709-F506-424B-B37B-14F0BBD21DFD}" type="sibTrans" cxnId="{4B37D35E-9B1A-4826-AE96-31DA037948B5}">
      <dgm:prSet/>
      <dgm:spPr/>
      <dgm:t>
        <a:bodyPr/>
        <a:lstStyle/>
        <a:p>
          <a:endParaRPr lang="fr-FR"/>
        </a:p>
      </dgm:t>
    </dgm:pt>
    <dgm:pt modelId="{56F1E531-31B5-4EDE-BEF4-7B0EB99751F9}">
      <dgm:prSet custT="1"/>
      <dgm:spPr/>
      <dgm:t>
        <a:bodyPr/>
        <a:lstStyle/>
        <a:p>
          <a:r>
            <a:rPr lang="fr-FR" sz="1100" dirty="0" smtClean="0">
              <a:solidFill>
                <a:srgbClr val="3B3835"/>
              </a:solidFill>
              <a:latin typeface="Source Sans Pro"/>
            </a:rPr>
            <a:t>Stimuler </a:t>
          </a:r>
          <a:r>
            <a:rPr lang="fr-FR" sz="1100" dirty="0">
              <a:solidFill>
                <a:srgbClr val="3B3835"/>
              </a:solidFill>
              <a:latin typeface="Source Sans Pro"/>
            </a:rPr>
            <a:t>la compétitivité, l’innovation, la productivité et la croissance économique</a:t>
          </a:r>
          <a:r>
            <a:rPr lang="fr-FR" sz="1100" dirty="0" smtClean="0">
              <a:solidFill>
                <a:srgbClr val="3B3835"/>
              </a:solidFill>
              <a:latin typeface="Source Sans Pro"/>
            </a:rPr>
            <a:t>.</a:t>
          </a:r>
        </a:p>
      </dgm:t>
    </dgm:pt>
    <dgm:pt modelId="{2F2815B2-FC32-4EB4-9A10-98B3FCD78FB1}" type="parTrans" cxnId="{34DDECBD-CAD4-4959-BBE2-DD1B0400E211}">
      <dgm:prSet/>
      <dgm:spPr/>
      <dgm:t>
        <a:bodyPr/>
        <a:lstStyle/>
        <a:p>
          <a:endParaRPr lang="fr-FR"/>
        </a:p>
      </dgm:t>
    </dgm:pt>
    <dgm:pt modelId="{320B4525-C61B-4ECB-B34A-2A14AA74F6C6}" type="sibTrans" cxnId="{34DDECBD-CAD4-4959-BBE2-DD1B0400E211}">
      <dgm:prSet/>
      <dgm:spPr/>
      <dgm:t>
        <a:bodyPr/>
        <a:lstStyle/>
        <a:p>
          <a:endParaRPr lang="fr-FR"/>
        </a:p>
      </dgm:t>
    </dgm:pt>
    <dgm:pt modelId="{99150ECD-6FFB-447F-B1FA-956CDE233319}">
      <dgm:prSet custT="1"/>
      <dgm:spPr/>
      <dgm:t>
        <a:bodyPr/>
        <a:lstStyle/>
        <a:p>
          <a:endParaRPr lang="fr-FR" sz="1100" dirty="0" smtClean="0">
            <a:solidFill>
              <a:srgbClr val="3B3835"/>
            </a:solidFill>
            <a:latin typeface="Source Sans Pro"/>
          </a:endParaRPr>
        </a:p>
      </dgm:t>
    </dgm:pt>
    <dgm:pt modelId="{5A09DBF8-D769-4F36-9CA8-2275B619AAE1}" type="parTrans" cxnId="{1DC38C61-130D-453A-870C-FB468A5D0D11}">
      <dgm:prSet/>
      <dgm:spPr/>
      <dgm:t>
        <a:bodyPr/>
        <a:lstStyle/>
        <a:p>
          <a:endParaRPr lang="fr-FR"/>
        </a:p>
      </dgm:t>
    </dgm:pt>
    <dgm:pt modelId="{C7A706AB-916D-4DD7-8944-EB52C8ADC308}" type="sibTrans" cxnId="{1DC38C61-130D-453A-870C-FB468A5D0D11}">
      <dgm:prSet/>
      <dgm:spPr/>
      <dgm:t>
        <a:bodyPr/>
        <a:lstStyle/>
        <a:p>
          <a:endParaRPr lang="fr-FR"/>
        </a:p>
      </dgm:t>
    </dgm:pt>
    <dgm:pt modelId="{86564592-CD37-4D90-9D84-73F5C15FCDB6}" type="pres">
      <dgm:prSet presAssocID="{841F15DC-5406-4B0C-9AFE-4302DF4DC8FE}" presName="Name0" presStyleCnt="0">
        <dgm:presLayoutVars>
          <dgm:dir/>
          <dgm:animLvl val="lvl"/>
          <dgm:resizeHandles/>
        </dgm:presLayoutVars>
      </dgm:prSet>
      <dgm:spPr/>
      <dgm:t>
        <a:bodyPr/>
        <a:lstStyle/>
        <a:p>
          <a:endParaRPr lang="fr-FR"/>
        </a:p>
      </dgm:t>
    </dgm:pt>
    <dgm:pt modelId="{2D2634B4-00EF-4440-B6D7-77C115A1BEAD}" type="pres">
      <dgm:prSet presAssocID="{95C46ACA-4055-435F-81A7-8948A324BAEE}" presName="linNode" presStyleCnt="0"/>
      <dgm:spPr/>
    </dgm:pt>
    <dgm:pt modelId="{886E2568-6917-4520-BBB9-DEA86192513D}" type="pres">
      <dgm:prSet presAssocID="{95C46ACA-4055-435F-81A7-8948A324BAEE}" presName="parentShp" presStyleLbl="node1" presStyleIdx="0" presStyleCnt="2">
        <dgm:presLayoutVars>
          <dgm:bulletEnabled val="1"/>
        </dgm:presLayoutVars>
      </dgm:prSet>
      <dgm:spPr/>
      <dgm:t>
        <a:bodyPr/>
        <a:lstStyle/>
        <a:p>
          <a:endParaRPr lang="fr-FR"/>
        </a:p>
      </dgm:t>
    </dgm:pt>
    <dgm:pt modelId="{D5C91F90-3FF3-41E6-BFCF-5BA7AC6520BA}" type="pres">
      <dgm:prSet presAssocID="{95C46ACA-4055-435F-81A7-8948A324BAEE}" presName="childShp" presStyleLbl="bgAccFollowNode1" presStyleIdx="0" presStyleCnt="2">
        <dgm:presLayoutVars>
          <dgm:bulletEnabled val="1"/>
        </dgm:presLayoutVars>
      </dgm:prSet>
      <dgm:spPr/>
      <dgm:t>
        <a:bodyPr/>
        <a:lstStyle/>
        <a:p>
          <a:endParaRPr lang="fr-FR"/>
        </a:p>
      </dgm:t>
    </dgm:pt>
    <dgm:pt modelId="{449DF68B-9E60-4811-A4D9-E5B14A14D6E5}" type="pres">
      <dgm:prSet presAssocID="{B6035E2B-0EDD-4C5B-A681-DF9309400E72}" presName="spacing" presStyleCnt="0"/>
      <dgm:spPr/>
    </dgm:pt>
    <dgm:pt modelId="{C4CC24BD-5D0E-42EC-9937-9F2073D3E09C}" type="pres">
      <dgm:prSet presAssocID="{D081CD7E-E7F9-44A5-ADD2-E0C24DE9A188}" presName="linNode" presStyleCnt="0"/>
      <dgm:spPr/>
    </dgm:pt>
    <dgm:pt modelId="{46AE3087-FF1E-47CF-9363-D3A3939D3E45}" type="pres">
      <dgm:prSet presAssocID="{D081CD7E-E7F9-44A5-ADD2-E0C24DE9A188}" presName="parentShp" presStyleLbl="node1" presStyleIdx="1" presStyleCnt="2">
        <dgm:presLayoutVars>
          <dgm:bulletEnabled val="1"/>
        </dgm:presLayoutVars>
      </dgm:prSet>
      <dgm:spPr/>
      <dgm:t>
        <a:bodyPr/>
        <a:lstStyle/>
        <a:p>
          <a:endParaRPr lang="fr-FR"/>
        </a:p>
      </dgm:t>
    </dgm:pt>
    <dgm:pt modelId="{5B999710-8280-44F5-9B73-FCB514609F88}" type="pres">
      <dgm:prSet presAssocID="{D081CD7E-E7F9-44A5-ADD2-E0C24DE9A188}" presName="childShp" presStyleLbl="bgAccFollowNode1" presStyleIdx="1" presStyleCnt="2" custLinFactNeighborX="0">
        <dgm:presLayoutVars>
          <dgm:bulletEnabled val="1"/>
        </dgm:presLayoutVars>
      </dgm:prSet>
      <dgm:spPr/>
      <dgm:t>
        <a:bodyPr/>
        <a:lstStyle/>
        <a:p>
          <a:endParaRPr lang="fr-FR"/>
        </a:p>
      </dgm:t>
    </dgm:pt>
  </dgm:ptLst>
  <dgm:cxnLst>
    <dgm:cxn modelId="{B9F768A4-79F7-4FE0-90B3-BC1BC2FE8BE3}" type="presOf" srcId="{E3A5D70D-3744-427A-9DF1-60404EB76610}" destId="{5B999710-8280-44F5-9B73-FCB514609F88}" srcOrd="0" destOrd="4" presId="urn:microsoft.com/office/officeart/2005/8/layout/vList6"/>
    <dgm:cxn modelId="{D0A0D025-6B97-4E9E-AD2D-20E93A2A1EA2}" type="presOf" srcId="{D081CD7E-E7F9-44A5-ADD2-E0C24DE9A188}" destId="{46AE3087-FF1E-47CF-9363-D3A3939D3E45}" srcOrd="0" destOrd="0" presId="urn:microsoft.com/office/officeart/2005/8/layout/vList6"/>
    <dgm:cxn modelId="{8DCC14E5-FB47-44F5-9FF1-493770D10E55}" type="presOf" srcId="{56F1E531-31B5-4EDE-BEF4-7B0EB99751F9}" destId="{D5C91F90-3FF3-41E6-BFCF-5BA7AC6520BA}" srcOrd="0" destOrd="0" presId="urn:microsoft.com/office/officeart/2005/8/layout/vList6"/>
    <dgm:cxn modelId="{0236BFF6-DE75-42A3-BB11-05A5F27A01E4}" type="presOf" srcId="{F6760A86-F190-4FA7-B7BB-161350B7867C}" destId="{5B999710-8280-44F5-9B73-FCB514609F88}" srcOrd="0" destOrd="0" presId="urn:microsoft.com/office/officeart/2005/8/layout/vList6"/>
    <dgm:cxn modelId="{08B72303-61BF-4259-9F34-EAF3F7803B52}" srcId="{D081CD7E-E7F9-44A5-ADD2-E0C24DE9A188}" destId="{E3A5D70D-3744-427A-9DF1-60404EB76610}" srcOrd="4" destOrd="0" parTransId="{B8295270-3E4A-47B8-98DA-72540AFE97A8}" sibTransId="{875FAC3E-8BBA-4FA9-95E8-100E8358ED50}"/>
    <dgm:cxn modelId="{4B37D35E-9B1A-4826-AE96-31DA037948B5}" srcId="{D3CC8474-7A1F-45AD-8A90-7F47CC7DB87C}" destId="{7382C0B7-2751-49F7-AA79-EEEA88258B31}" srcOrd="1" destOrd="0" parTransId="{B12FE163-8CD8-413E-B3B3-CFE72CACF22D}" sibTransId="{24D0D709-F506-424B-B37B-14F0BBD21DFD}"/>
    <dgm:cxn modelId="{EE3815E8-597A-4D31-86CF-E51D99485B18}" type="presOf" srcId="{7382C0B7-2751-49F7-AA79-EEEA88258B31}" destId="{D5C91F90-3FF3-41E6-BFCF-5BA7AC6520BA}" srcOrd="0" destOrd="5" presId="urn:microsoft.com/office/officeart/2005/8/layout/vList6"/>
    <dgm:cxn modelId="{F20B634C-25B9-4A2C-BF5D-80AACE4772F3}" type="presOf" srcId="{6FEF7108-A125-40B6-85AC-A7AB6B329224}" destId="{5B999710-8280-44F5-9B73-FCB514609F88}" srcOrd="0" destOrd="1" presId="urn:microsoft.com/office/officeart/2005/8/layout/vList6"/>
    <dgm:cxn modelId="{ACE2187F-A032-4EE3-B193-6E8E49021574}" srcId="{D081CD7E-E7F9-44A5-ADD2-E0C24DE9A188}" destId="{E6E5BFF1-263A-466A-ADAB-E36FF75B8FD2}" srcOrd="2" destOrd="0" parTransId="{A1CE1086-D326-4954-9141-FA2910A049DB}" sibTransId="{FBB2C66B-968B-43E3-A733-EC0A0BA29ECA}"/>
    <dgm:cxn modelId="{CF7B5335-A474-4D94-9125-6FCE37F5A993}" type="presOf" srcId="{349CB025-BD09-4FBC-BF57-D02D871D974B}" destId="{D5C91F90-3FF3-41E6-BFCF-5BA7AC6520BA}" srcOrd="0" destOrd="6" presId="urn:microsoft.com/office/officeart/2005/8/layout/vList6"/>
    <dgm:cxn modelId="{7ADE57FA-2255-4D07-A155-520DECA6FD58}" type="presOf" srcId="{D3CC8474-7A1F-45AD-8A90-7F47CC7DB87C}" destId="{D5C91F90-3FF3-41E6-BFCF-5BA7AC6520BA}" srcOrd="0" destOrd="3" presId="urn:microsoft.com/office/officeart/2005/8/layout/vList6"/>
    <dgm:cxn modelId="{EB7A4D61-F3D3-44E5-A701-09BEF50CF1E5}" type="presOf" srcId="{E6E5BFF1-263A-466A-ADAB-E36FF75B8FD2}" destId="{5B999710-8280-44F5-9B73-FCB514609F88}" srcOrd="0" destOrd="2" presId="urn:microsoft.com/office/officeart/2005/8/layout/vList6"/>
    <dgm:cxn modelId="{5AB4CF73-1C54-47DE-AA2E-FD6615B84DED}" type="presOf" srcId="{7384B39C-29F6-489B-8F06-DC4599F16C6D}" destId="{D5C91F90-3FF3-41E6-BFCF-5BA7AC6520BA}" srcOrd="0" destOrd="2" presId="urn:microsoft.com/office/officeart/2005/8/layout/vList6"/>
    <dgm:cxn modelId="{1DC38C61-130D-453A-870C-FB468A5D0D11}" srcId="{95C46ACA-4055-435F-81A7-8948A324BAEE}" destId="{99150ECD-6FFB-447F-B1FA-956CDE233319}" srcOrd="1" destOrd="0" parTransId="{5A09DBF8-D769-4F36-9CA8-2275B619AAE1}" sibTransId="{C7A706AB-916D-4DD7-8944-EB52C8ADC308}"/>
    <dgm:cxn modelId="{2D07338A-90C0-41A3-8BFA-35AAD9E30542}" srcId="{95C46ACA-4055-435F-81A7-8948A324BAEE}" destId="{7384B39C-29F6-489B-8F06-DC4599F16C6D}" srcOrd="2" destOrd="0" parTransId="{8FA66C10-A893-40F4-B892-E6B04BB019A5}" sibTransId="{81F3B2AC-06D7-4C1D-91FC-E770E02EEDDA}"/>
    <dgm:cxn modelId="{34DDECBD-CAD4-4959-BBE2-DD1B0400E211}" srcId="{95C46ACA-4055-435F-81A7-8948A324BAEE}" destId="{56F1E531-31B5-4EDE-BEF4-7B0EB99751F9}" srcOrd="0" destOrd="0" parTransId="{2F2815B2-FC32-4EB4-9A10-98B3FCD78FB1}" sibTransId="{320B4525-C61B-4ECB-B34A-2A14AA74F6C6}"/>
    <dgm:cxn modelId="{23166BD1-4661-4C93-AAE9-8BB2648C0838}" srcId="{841F15DC-5406-4B0C-9AFE-4302DF4DC8FE}" destId="{95C46ACA-4055-435F-81A7-8948A324BAEE}" srcOrd="0" destOrd="0" parTransId="{4A24129B-EB86-427D-817B-E97DEF6CF8E5}" sibTransId="{B6035E2B-0EDD-4C5B-A681-DF9309400E72}"/>
    <dgm:cxn modelId="{2270F6FB-E6EC-4042-A013-D8A582A94DDB}" srcId="{D081CD7E-E7F9-44A5-ADD2-E0C24DE9A188}" destId="{08E979A6-66C2-4EC9-8C51-BBDA9216057C}" srcOrd="6" destOrd="0" parTransId="{E1BF72DD-6D8A-451F-8872-064ECB9395FE}" sibTransId="{029E551F-0B1F-444F-B61C-35150998BCBA}"/>
    <dgm:cxn modelId="{165733DD-FC58-4FDF-B73F-CAEFF0FAFA37}" srcId="{D3CC8474-7A1F-45AD-8A90-7F47CC7DB87C}" destId="{349CB025-BD09-4FBC-BF57-D02D871D974B}" srcOrd="2" destOrd="0" parTransId="{3F2206D8-2BF1-417B-A9A6-0967916F2AF7}" sibTransId="{B0093410-ECE6-48A5-BA3A-014FBC7A02BF}"/>
    <dgm:cxn modelId="{EEFAF0E0-0025-4775-9CF6-C72886833A80}" srcId="{841F15DC-5406-4B0C-9AFE-4302DF4DC8FE}" destId="{D081CD7E-E7F9-44A5-ADD2-E0C24DE9A188}" srcOrd="1" destOrd="0" parTransId="{50E4F26E-8644-4397-94A1-E26A3ADCA5F6}" sibTransId="{00A9D6B6-CB67-41B2-A923-EC736E561A7B}"/>
    <dgm:cxn modelId="{5A56C47A-96C5-4A5E-8B5E-8B6D846C8260}" type="presOf" srcId="{31D18A38-065B-4534-BF1B-61A8D22B7F67}" destId="{5B999710-8280-44F5-9B73-FCB514609F88}" srcOrd="0" destOrd="3" presId="urn:microsoft.com/office/officeart/2005/8/layout/vList6"/>
    <dgm:cxn modelId="{61712509-4C09-4C91-8E72-1D22D3860ACB}" type="presOf" srcId="{ED23C384-BBDB-4CA9-9ADB-680C60BE0BF7}" destId="{5B999710-8280-44F5-9B73-FCB514609F88}" srcOrd="0" destOrd="5" presId="urn:microsoft.com/office/officeart/2005/8/layout/vList6"/>
    <dgm:cxn modelId="{7E52249A-B073-433B-BABF-93B6543EFD08}" srcId="{95C46ACA-4055-435F-81A7-8948A324BAEE}" destId="{D3CC8474-7A1F-45AD-8A90-7F47CC7DB87C}" srcOrd="3" destOrd="0" parTransId="{23EF61F5-1348-4FA9-926D-8651766CA892}" sibTransId="{89FB932E-842D-42A2-AECA-92CEC7085B99}"/>
    <dgm:cxn modelId="{B41F08F3-32C7-4CC8-85B5-BF0471810305}" srcId="{D081CD7E-E7F9-44A5-ADD2-E0C24DE9A188}" destId="{ED23C384-BBDB-4CA9-9ADB-680C60BE0BF7}" srcOrd="5" destOrd="0" parTransId="{86F5AC7A-E2A7-4DF6-96C4-7377D7648A4E}" sibTransId="{93D8CA55-2D5D-4BCF-92F7-3DB6AC09F0DA}"/>
    <dgm:cxn modelId="{34854AF6-0A54-4C7D-B4C0-74B40264865B}" srcId="{D081CD7E-E7F9-44A5-ADD2-E0C24DE9A188}" destId="{F6760A86-F190-4FA7-B7BB-161350B7867C}" srcOrd="0" destOrd="0" parTransId="{30368662-2E02-481F-9C80-C6DB902CB725}" sibTransId="{BABDCE8A-1986-4A5D-8C92-34DEAA70E4F6}"/>
    <dgm:cxn modelId="{B5923A9F-0F3B-47C3-97C2-9B5643FEDAF0}" type="presOf" srcId="{841F15DC-5406-4B0C-9AFE-4302DF4DC8FE}" destId="{86564592-CD37-4D90-9D84-73F5C15FCDB6}" srcOrd="0" destOrd="0" presId="urn:microsoft.com/office/officeart/2005/8/layout/vList6"/>
    <dgm:cxn modelId="{35F9B824-253C-4CA2-9DFF-B80DE619DD18}" type="presOf" srcId="{28A415CE-EDF9-46B8-ADE7-BCBFCBB65E58}" destId="{D5C91F90-3FF3-41E6-BFCF-5BA7AC6520BA}" srcOrd="0" destOrd="4" presId="urn:microsoft.com/office/officeart/2005/8/layout/vList6"/>
    <dgm:cxn modelId="{22FCD8AB-3EF4-4FC3-AA77-9F02C869764E}" type="presOf" srcId="{95C46ACA-4055-435F-81A7-8948A324BAEE}" destId="{886E2568-6917-4520-BBB9-DEA86192513D}" srcOrd="0" destOrd="0" presId="urn:microsoft.com/office/officeart/2005/8/layout/vList6"/>
    <dgm:cxn modelId="{E163DC4C-4782-4D30-A7DF-0920497CD4CB}" type="presOf" srcId="{08E979A6-66C2-4EC9-8C51-BBDA9216057C}" destId="{5B999710-8280-44F5-9B73-FCB514609F88}" srcOrd="0" destOrd="6" presId="urn:microsoft.com/office/officeart/2005/8/layout/vList6"/>
    <dgm:cxn modelId="{C088F750-2CC7-4042-8C93-C89388F1E5FA}" type="presOf" srcId="{99150ECD-6FFB-447F-B1FA-956CDE233319}" destId="{D5C91F90-3FF3-41E6-BFCF-5BA7AC6520BA}" srcOrd="0" destOrd="1" presId="urn:microsoft.com/office/officeart/2005/8/layout/vList6"/>
    <dgm:cxn modelId="{D8038F8A-9612-4721-87E4-91300E503D59}" srcId="{D3CC8474-7A1F-45AD-8A90-7F47CC7DB87C}" destId="{28A415CE-EDF9-46B8-ADE7-BCBFCBB65E58}" srcOrd="0" destOrd="0" parTransId="{7B30B180-2481-490D-9C80-05008FFEADE3}" sibTransId="{5A32F6F5-9100-4256-BC96-4CEBA213CA1C}"/>
    <dgm:cxn modelId="{BFBF435A-8D18-4C2D-B7AB-050E1FE72E79}" srcId="{D081CD7E-E7F9-44A5-ADD2-E0C24DE9A188}" destId="{31D18A38-065B-4534-BF1B-61A8D22B7F67}" srcOrd="3" destOrd="0" parTransId="{334168C7-62F8-4D28-9C0A-E39880ED3324}" sibTransId="{5CC286BC-DDB3-47B6-878D-30A898E0C3FF}"/>
    <dgm:cxn modelId="{B17EB4BF-B8DE-4E95-8E03-951179A008A2}" srcId="{D081CD7E-E7F9-44A5-ADD2-E0C24DE9A188}" destId="{6FEF7108-A125-40B6-85AC-A7AB6B329224}" srcOrd="1" destOrd="0" parTransId="{884E092D-3FB4-4D3B-A9AD-FED8FAC51999}" sibTransId="{7B3DD4E5-34D3-4679-9DF4-D52341CDCE3C}"/>
    <dgm:cxn modelId="{635D3A68-435A-4C41-B87F-43FF05F11B82}" type="presParOf" srcId="{86564592-CD37-4D90-9D84-73F5C15FCDB6}" destId="{2D2634B4-00EF-4440-B6D7-77C115A1BEAD}" srcOrd="0" destOrd="0" presId="urn:microsoft.com/office/officeart/2005/8/layout/vList6"/>
    <dgm:cxn modelId="{6C6A3D78-DA82-4791-8D1D-1CB09CD80E0B}" type="presParOf" srcId="{2D2634B4-00EF-4440-B6D7-77C115A1BEAD}" destId="{886E2568-6917-4520-BBB9-DEA86192513D}" srcOrd="0" destOrd="0" presId="urn:microsoft.com/office/officeart/2005/8/layout/vList6"/>
    <dgm:cxn modelId="{47019506-5E9B-4EAA-B1D1-D43C3E7A0A5A}" type="presParOf" srcId="{2D2634B4-00EF-4440-B6D7-77C115A1BEAD}" destId="{D5C91F90-3FF3-41E6-BFCF-5BA7AC6520BA}" srcOrd="1" destOrd="0" presId="urn:microsoft.com/office/officeart/2005/8/layout/vList6"/>
    <dgm:cxn modelId="{C616E7A2-CCDC-4310-8C0F-7C2AE9B86BD3}" type="presParOf" srcId="{86564592-CD37-4D90-9D84-73F5C15FCDB6}" destId="{449DF68B-9E60-4811-A4D9-E5B14A14D6E5}" srcOrd="1" destOrd="0" presId="urn:microsoft.com/office/officeart/2005/8/layout/vList6"/>
    <dgm:cxn modelId="{C9FF21A0-8503-442B-B7DD-3E0986EAE9DF}" type="presParOf" srcId="{86564592-CD37-4D90-9D84-73F5C15FCDB6}" destId="{C4CC24BD-5D0E-42EC-9937-9F2073D3E09C}" srcOrd="2" destOrd="0" presId="urn:microsoft.com/office/officeart/2005/8/layout/vList6"/>
    <dgm:cxn modelId="{6132DB23-C704-4B97-B2BF-4EC5D187929E}" type="presParOf" srcId="{C4CC24BD-5D0E-42EC-9937-9F2073D3E09C}" destId="{46AE3087-FF1E-47CF-9363-D3A3939D3E45}" srcOrd="0" destOrd="0" presId="urn:microsoft.com/office/officeart/2005/8/layout/vList6"/>
    <dgm:cxn modelId="{26D23172-0E95-4B26-9026-799526AF36C2}" type="presParOf" srcId="{C4CC24BD-5D0E-42EC-9937-9F2073D3E09C}" destId="{5B999710-8280-44F5-9B73-FCB514609F88}" srcOrd="1" destOrd="0" presId="urn:microsoft.com/office/officeart/2005/8/layout/vList6"/>
  </dgm:cxnLst>
  <dgm:bg/>
  <dgm:whole/>
</dgm:dataModel>
</file>

<file path=ppt/diagrams/data2.xml><?xml version="1.0" encoding="utf-8"?>
<dgm:dataModel xmlns:dgm="http://schemas.openxmlformats.org/drawingml/2006/diagram" xmlns:a="http://schemas.openxmlformats.org/drawingml/2006/main">
  <dgm:ptLst>
    <dgm:pt modelId="{4BE6C95E-EF51-4055-81C2-955E93434EC9}" type="doc">
      <dgm:prSet loTypeId="urn:microsoft.com/office/officeart/2005/8/layout/hList3" loCatId="list" qsTypeId="urn:microsoft.com/office/officeart/2005/8/quickstyle/simple1" qsCatId="simple" csTypeId="urn:microsoft.com/office/officeart/2005/8/colors/accent1_2" csCatId="accent1" phldr="1"/>
      <dgm:spPr/>
      <dgm:t>
        <a:bodyPr/>
        <a:lstStyle/>
        <a:p>
          <a:endParaRPr lang="fr-FR"/>
        </a:p>
      </dgm:t>
    </dgm:pt>
    <dgm:pt modelId="{46E2A7E3-01EF-45F6-9ED8-750C3BF25E90}">
      <dgm:prSet phldrT="[Texte]" custT="1"/>
      <dgm:spPr/>
      <dgm:t>
        <a:bodyPr/>
        <a:lstStyle/>
        <a:p>
          <a:r>
            <a:rPr lang="fr-FR" sz="1600" b="1">
              <a:solidFill>
                <a:schemeClr val="bg1"/>
              </a:solidFill>
            </a:rPr>
            <a:t>Création d'Entreprise par : FRANCHISE - ESSAIMAGE - REPRISE</a:t>
          </a:r>
        </a:p>
      </dgm:t>
    </dgm:pt>
    <dgm:pt modelId="{8741C222-C69F-4F9A-9035-5845015F8595}" type="parTrans" cxnId="{6EF0E373-69FB-4066-8B7D-4A2B84021376}">
      <dgm:prSet/>
      <dgm:spPr/>
      <dgm:t>
        <a:bodyPr/>
        <a:lstStyle/>
        <a:p>
          <a:endParaRPr lang="fr-FR"/>
        </a:p>
      </dgm:t>
    </dgm:pt>
    <dgm:pt modelId="{34911D8A-B800-4B21-8318-A3A8901E6D66}" type="sibTrans" cxnId="{6EF0E373-69FB-4066-8B7D-4A2B84021376}">
      <dgm:prSet/>
      <dgm:spPr/>
      <dgm:t>
        <a:bodyPr/>
        <a:lstStyle/>
        <a:p>
          <a:endParaRPr lang="fr-FR"/>
        </a:p>
      </dgm:t>
    </dgm:pt>
    <dgm:pt modelId="{62760D58-B5DE-4003-A022-442677229822}">
      <dgm:prSet/>
      <dgm:spPr/>
      <dgm:t>
        <a:bodyPr/>
        <a:lstStyle/>
        <a:p>
          <a:endParaRPr lang="fr-FR"/>
        </a:p>
      </dgm:t>
    </dgm:pt>
    <dgm:pt modelId="{6D2B6697-3889-467B-8001-B6B3310B3D56}" type="parTrans" cxnId="{F96318C1-1D8B-4847-8055-4D0AD8FCDBA6}">
      <dgm:prSet/>
      <dgm:spPr/>
      <dgm:t>
        <a:bodyPr/>
        <a:lstStyle/>
        <a:p>
          <a:endParaRPr lang="fr-FR"/>
        </a:p>
      </dgm:t>
    </dgm:pt>
    <dgm:pt modelId="{04C7989E-04ED-4AEF-A8A2-F777FD1990FF}" type="sibTrans" cxnId="{F96318C1-1D8B-4847-8055-4D0AD8FCDBA6}">
      <dgm:prSet/>
      <dgm:spPr/>
      <dgm:t>
        <a:bodyPr/>
        <a:lstStyle/>
        <a:p>
          <a:endParaRPr lang="fr-FR"/>
        </a:p>
      </dgm:t>
    </dgm:pt>
    <dgm:pt modelId="{29DE4D9A-EC0A-4ECB-AC32-0CCCE7195F2B}">
      <dgm:prSet/>
      <dgm:spPr/>
      <dgm:t>
        <a:bodyPr/>
        <a:lstStyle/>
        <a:p>
          <a:endParaRPr lang="fr-FR"/>
        </a:p>
      </dgm:t>
    </dgm:pt>
    <dgm:pt modelId="{096AA6F3-B780-439C-8AF2-20733DCB38DB}" type="parTrans" cxnId="{BE846A85-DB05-4D52-876F-9B4E46B1D0C2}">
      <dgm:prSet/>
      <dgm:spPr/>
      <dgm:t>
        <a:bodyPr/>
        <a:lstStyle/>
        <a:p>
          <a:endParaRPr lang="fr-FR"/>
        </a:p>
      </dgm:t>
    </dgm:pt>
    <dgm:pt modelId="{D3A32369-0D74-4AB0-9FAE-B0DC354A8086}" type="sibTrans" cxnId="{BE846A85-DB05-4D52-876F-9B4E46B1D0C2}">
      <dgm:prSet/>
      <dgm:spPr/>
      <dgm:t>
        <a:bodyPr/>
        <a:lstStyle/>
        <a:p>
          <a:endParaRPr lang="fr-FR"/>
        </a:p>
      </dgm:t>
    </dgm:pt>
    <dgm:pt modelId="{CBF66834-39B2-418A-BF57-C885A668F2B0}">
      <dgm:prSet custT="1"/>
      <dgm:spPr/>
      <dgm:t>
        <a:bodyPr/>
        <a:lstStyle/>
        <a:p>
          <a:pPr algn="ctr"/>
          <a:r>
            <a:rPr lang="fr-FR" sz="1400" b="1" dirty="0">
              <a:solidFill>
                <a:schemeClr val="bg1"/>
              </a:solidFill>
              <a:latin typeface="Arial" pitchFamily="34" charset="0"/>
              <a:cs typeface="Arial" pitchFamily="34" charset="0"/>
            </a:rPr>
            <a:t>Création d'entreprise </a:t>
          </a:r>
          <a:r>
            <a:rPr lang="fr-FR" sz="1400" b="1" dirty="0" smtClean="0">
              <a:solidFill>
                <a:schemeClr val="bg1"/>
              </a:solidFill>
              <a:latin typeface="Arial" pitchFamily="34" charset="0"/>
              <a:cs typeface="Arial" pitchFamily="34" charset="0"/>
            </a:rPr>
            <a:t>en </a:t>
          </a:r>
        </a:p>
        <a:p>
          <a:pPr algn="ctr"/>
          <a:r>
            <a:rPr lang="fr-FR" sz="1400" b="1" dirty="0" smtClean="0">
              <a:solidFill>
                <a:schemeClr val="bg1"/>
              </a:solidFill>
              <a:latin typeface="Arial" pitchFamily="34" charset="0"/>
              <a:cs typeface="Arial" pitchFamily="34" charset="0"/>
            </a:rPr>
            <a:t>NEX-NILO</a:t>
          </a:r>
          <a:endParaRPr lang="fr-FR" sz="1400" b="1" dirty="0">
            <a:solidFill>
              <a:schemeClr val="bg1"/>
            </a:solidFill>
            <a:latin typeface="Arial" pitchFamily="34" charset="0"/>
            <a:cs typeface="Arial" pitchFamily="34" charset="0"/>
          </a:endParaRPr>
        </a:p>
        <a:p>
          <a:pPr algn="just"/>
          <a:endParaRPr lang="fr-FR" sz="1400" dirty="0">
            <a:solidFill>
              <a:schemeClr val="bg1"/>
            </a:solidFill>
            <a:latin typeface="Arial" pitchFamily="34" charset="0"/>
            <a:cs typeface="Arial" pitchFamily="34" charset="0"/>
          </a:endParaRPr>
        </a:p>
        <a:p>
          <a:pPr algn="just"/>
          <a:r>
            <a:rPr lang="fr-FR" sz="1500" b="0" i="0" dirty="0" smtClean="0">
              <a:latin typeface="Arial" pitchFamily="34" charset="0"/>
              <a:cs typeface="Arial" pitchFamily="34" charset="0"/>
            </a:rPr>
            <a:t>Une entreprise en ex-nihilo est une entreprise qui est créée à partir de rien, sans capital préalable ou actifs existants. Ce processus implique souvent une innovation, une recherche de marché et un investissement créatif pour transformer une idée en une entité commerciale fonctionnelle.</a:t>
          </a:r>
          <a:endParaRPr lang="fr-FR" sz="1500" dirty="0">
            <a:latin typeface="Arial" pitchFamily="34" charset="0"/>
            <a:cs typeface="Arial" pitchFamily="34" charset="0"/>
          </a:endParaRPr>
        </a:p>
      </dgm:t>
    </dgm:pt>
    <dgm:pt modelId="{61CB7449-E45D-4EF1-A408-1B00AA7141E8}" type="parTrans" cxnId="{5BA3912E-B19E-4EF1-9571-607AE35880C5}">
      <dgm:prSet/>
      <dgm:spPr/>
      <dgm:t>
        <a:bodyPr/>
        <a:lstStyle/>
        <a:p>
          <a:endParaRPr lang="fr-FR"/>
        </a:p>
      </dgm:t>
    </dgm:pt>
    <dgm:pt modelId="{99797253-99BE-44CE-B650-7E9D9798A4B3}" type="sibTrans" cxnId="{5BA3912E-B19E-4EF1-9571-607AE35880C5}">
      <dgm:prSet/>
      <dgm:spPr/>
      <dgm:t>
        <a:bodyPr/>
        <a:lstStyle/>
        <a:p>
          <a:endParaRPr lang="fr-FR"/>
        </a:p>
      </dgm:t>
    </dgm:pt>
    <dgm:pt modelId="{DD8530E9-4269-4D49-A7EB-7AD1DF6D2717}">
      <dgm:prSet custT="1"/>
      <dgm:spPr/>
      <dgm:t>
        <a:bodyPr/>
        <a:lstStyle/>
        <a:p>
          <a:pPr algn="ctr"/>
          <a:r>
            <a:rPr lang="fr-FR" sz="1400" b="1" dirty="0">
              <a:solidFill>
                <a:schemeClr val="bg1"/>
              </a:solidFill>
              <a:latin typeface="Arial" pitchFamily="34" charset="0"/>
              <a:cs typeface="Arial" pitchFamily="34" charset="0"/>
            </a:rPr>
            <a:t>création d'entreprise par ESSAIMAGE</a:t>
          </a:r>
        </a:p>
        <a:p>
          <a:pPr algn="ctr"/>
          <a:endParaRPr lang="fr-FR" sz="1400" b="1" dirty="0">
            <a:solidFill>
              <a:schemeClr val="bg1"/>
            </a:solidFill>
            <a:latin typeface="Arial" pitchFamily="34" charset="0"/>
            <a:cs typeface="Arial" pitchFamily="34" charset="0"/>
          </a:endParaRPr>
        </a:p>
        <a:p>
          <a:pPr algn="ctr"/>
          <a:endParaRPr lang="fr-FR" sz="1400" b="1" dirty="0">
            <a:solidFill>
              <a:schemeClr val="bg1"/>
            </a:solidFill>
            <a:latin typeface="Arial" pitchFamily="34" charset="0"/>
            <a:cs typeface="Arial" pitchFamily="34" charset="0"/>
          </a:endParaRPr>
        </a:p>
        <a:p>
          <a:pPr algn="just"/>
          <a:r>
            <a:rPr lang="fr-FR" sz="1400" dirty="0">
              <a:solidFill>
                <a:schemeClr val="bg1"/>
              </a:solidFill>
              <a:latin typeface="Arial" pitchFamily="34" charset="0"/>
              <a:cs typeface="Arial" pitchFamily="34" charset="0"/>
            </a:rPr>
            <a:t>Il est question d’entrepreneuriat par essaimage lorsqu’un employeur aide ses employés à entreprendre. Parmi toutes les formes d’entrepreneuriat, la création d’entreprise par essaimage est celle qui est la plus profitable pour un salarié. Il peut bénéficier d’un suivi d’expert et d’une collaboration profitable</a:t>
          </a:r>
          <a:r>
            <a:rPr lang="fr-FR" sz="1400" dirty="0" smtClean="0">
              <a:solidFill>
                <a:schemeClr val="bg1"/>
              </a:solidFill>
              <a:latin typeface="Arial" pitchFamily="34" charset="0"/>
              <a:cs typeface="Arial" pitchFamily="34" charset="0"/>
            </a:rPr>
            <a:t>.</a:t>
          </a:r>
          <a:endParaRPr lang="fr-FR" sz="1400" dirty="0">
            <a:solidFill>
              <a:schemeClr val="bg1"/>
            </a:solidFill>
            <a:latin typeface="Arial" pitchFamily="34" charset="0"/>
            <a:cs typeface="Arial" pitchFamily="34" charset="0"/>
          </a:endParaRPr>
        </a:p>
      </dgm:t>
    </dgm:pt>
    <dgm:pt modelId="{AD5CECEE-3ECC-495F-BD44-CA587949B68C}" type="parTrans" cxnId="{817DD4F2-D4F7-4D06-96F9-3D30B29BFCB5}">
      <dgm:prSet/>
      <dgm:spPr/>
      <dgm:t>
        <a:bodyPr/>
        <a:lstStyle/>
        <a:p>
          <a:endParaRPr lang="fr-FR"/>
        </a:p>
      </dgm:t>
    </dgm:pt>
    <dgm:pt modelId="{14F16BA8-01D9-45FC-8D7D-9E30A27E21CD}" type="sibTrans" cxnId="{817DD4F2-D4F7-4D06-96F9-3D30B29BFCB5}">
      <dgm:prSet/>
      <dgm:spPr/>
      <dgm:t>
        <a:bodyPr/>
        <a:lstStyle/>
        <a:p>
          <a:endParaRPr lang="fr-FR"/>
        </a:p>
      </dgm:t>
    </dgm:pt>
    <dgm:pt modelId="{29BB6485-6372-4D2F-A87A-313E3991CF0E}">
      <dgm:prSet custT="1"/>
      <dgm:spPr/>
      <dgm:t>
        <a:bodyPr/>
        <a:lstStyle/>
        <a:p>
          <a:pPr algn="ctr"/>
          <a:r>
            <a:rPr lang="fr-FR" sz="1400" b="1" dirty="0" smtClean="0">
              <a:solidFill>
                <a:schemeClr val="bg1"/>
              </a:solidFill>
              <a:latin typeface="Arial" pitchFamily="34" charset="0"/>
              <a:cs typeface="Arial" pitchFamily="34" charset="0"/>
            </a:rPr>
            <a:t>Création d'entreprise par  REPRISE </a:t>
          </a:r>
        </a:p>
        <a:p>
          <a:pPr algn="just"/>
          <a:r>
            <a:rPr lang="fr-FR" sz="1400" dirty="0" smtClean="0">
              <a:solidFill>
                <a:schemeClr val="bg1"/>
              </a:solidFill>
              <a:latin typeface="Arial" pitchFamily="34" charset="0"/>
              <a:cs typeface="Arial" pitchFamily="34" charset="0"/>
            </a:rPr>
            <a:t>Il est question d’un rachat d’entreprise déjà existant. De ce fait, le repreneur pourra décider s’il veut relancer l’activité en cours ou bien créer une nouvelle société. L’avantage majeur de reprendre une entreprise réside dans le fait que la relation avec les autres acteurs (clients, fournisseurs, etc.) peuvent continuer si aucun souci de ce côté n’est constaté. </a:t>
          </a:r>
          <a:endParaRPr lang="fr-FR" sz="900" dirty="0" smtClean="0">
            <a:solidFill>
              <a:srgbClr val="1E1E1E"/>
            </a:solidFill>
            <a:latin typeface="Roboto"/>
          </a:endParaRPr>
        </a:p>
      </dgm:t>
    </dgm:pt>
    <dgm:pt modelId="{3C17086B-ED7F-439A-923F-E1E9BEDA457F}" type="parTrans" cxnId="{0B51C8B7-59FA-4EAB-BDEC-0BDA696DAEB4}">
      <dgm:prSet/>
      <dgm:spPr/>
      <dgm:t>
        <a:bodyPr/>
        <a:lstStyle/>
        <a:p>
          <a:endParaRPr lang="fr-FR"/>
        </a:p>
      </dgm:t>
    </dgm:pt>
    <dgm:pt modelId="{8529B6D1-2599-434D-B1A5-BD005410CFE4}" type="sibTrans" cxnId="{0B51C8B7-59FA-4EAB-BDEC-0BDA696DAEB4}">
      <dgm:prSet/>
      <dgm:spPr/>
      <dgm:t>
        <a:bodyPr/>
        <a:lstStyle/>
        <a:p>
          <a:endParaRPr lang="fr-FR"/>
        </a:p>
      </dgm:t>
    </dgm:pt>
    <dgm:pt modelId="{B22713AE-77A1-491D-85B0-B9CCCA432351}">
      <dgm:prSet/>
      <dgm:spPr/>
      <dgm:t>
        <a:bodyPr/>
        <a:lstStyle/>
        <a:p>
          <a:r>
            <a:rPr lang="fr-FR" b="1" dirty="0">
              <a:solidFill>
                <a:schemeClr val="bg1"/>
              </a:solidFill>
              <a:latin typeface="Arial" pitchFamily="34" charset="0"/>
              <a:cs typeface="Arial" pitchFamily="34" charset="0"/>
            </a:rPr>
            <a:t>Création d'entreprise par FRANCHISE</a:t>
          </a:r>
        </a:p>
        <a:p>
          <a:endParaRPr lang="fr-FR" dirty="0">
            <a:solidFill>
              <a:schemeClr val="bg1"/>
            </a:solidFill>
            <a:latin typeface="Arial" pitchFamily="34" charset="0"/>
            <a:cs typeface="Arial" pitchFamily="34" charset="0"/>
          </a:endParaRPr>
        </a:p>
        <a:p>
          <a:r>
            <a:rPr lang="fr-FR" dirty="0">
              <a:solidFill>
                <a:schemeClr val="bg1"/>
              </a:solidFill>
              <a:latin typeface="Arial" pitchFamily="34" charset="0"/>
              <a:cs typeface="Arial" pitchFamily="34" charset="0"/>
            </a:rPr>
            <a:t>Dans cette forme d’entrepreneuriat, deux parties sont concernées : le franchiseur et le franchisé. C’est un système dans lequel le franchiseur accorde le droit au franchisé d’exploiter sa marque. Cette méthode est surtout utilisée dans la commercialisation de produit ou de service et dans la reprise d’un concept</a:t>
          </a:r>
          <a:r>
            <a:rPr lang="fr-FR" dirty="0">
              <a:solidFill>
                <a:srgbClr val="3B3835"/>
              </a:solidFill>
              <a:latin typeface="Arial" pitchFamily="34" charset="0"/>
              <a:cs typeface="Arial" pitchFamily="34" charset="0"/>
            </a:rPr>
            <a:t>.</a:t>
          </a:r>
          <a:endParaRPr lang="fr-FR" dirty="0">
            <a:latin typeface="Arial" pitchFamily="34" charset="0"/>
            <a:cs typeface="Arial" pitchFamily="34" charset="0"/>
          </a:endParaRPr>
        </a:p>
      </dgm:t>
    </dgm:pt>
    <dgm:pt modelId="{0F051D32-4FD9-476D-BE21-09A7F917FD7D}" type="parTrans" cxnId="{B3AA6862-7680-4222-9DE5-2C4376E07E40}">
      <dgm:prSet/>
      <dgm:spPr/>
      <dgm:t>
        <a:bodyPr/>
        <a:lstStyle/>
        <a:p>
          <a:endParaRPr lang="fr-FR"/>
        </a:p>
      </dgm:t>
    </dgm:pt>
    <dgm:pt modelId="{E032FA70-961D-4887-B414-1DF303B3B977}" type="sibTrans" cxnId="{B3AA6862-7680-4222-9DE5-2C4376E07E40}">
      <dgm:prSet/>
      <dgm:spPr/>
      <dgm:t>
        <a:bodyPr/>
        <a:lstStyle/>
        <a:p>
          <a:endParaRPr lang="fr-FR"/>
        </a:p>
      </dgm:t>
    </dgm:pt>
    <dgm:pt modelId="{5049E4E5-DB18-465E-943A-CF17751EBDDC}" type="pres">
      <dgm:prSet presAssocID="{4BE6C95E-EF51-4055-81C2-955E93434EC9}" presName="composite" presStyleCnt="0">
        <dgm:presLayoutVars>
          <dgm:chMax val="1"/>
          <dgm:dir/>
          <dgm:resizeHandles val="exact"/>
        </dgm:presLayoutVars>
      </dgm:prSet>
      <dgm:spPr/>
      <dgm:t>
        <a:bodyPr/>
        <a:lstStyle/>
        <a:p>
          <a:endParaRPr lang="fr-FR"/>
        </a:p>
      </dgm:t>
    </dgm:pt>
    <dgm:pt modelId="{4FCFE707-687F-4489-AC42-AB298E80C7D4}" type="pres">
      <dgm:prSet presAssocID="{46E2A7E3-01EF-45F6-9ED8-750C3BF25E90}" presName="roof" presStyleLbl="dkBgShp" presStyleIdx="0" presStyleCnt="2"/>
      <dgm:spPr/>
      <dgm:t>
        <a:bodyPr/>
        <a:lstStyle/>
        <a:p>
          <a:endParaRPr lang="fr-FR"/>
        </a:p>
      </dgm:t>
    </dgm:pt>
    <dgm:pt modelId="{8D4D215F-8613-4899-BE47-21C9CD4FF6F3}" type="pres">
      <dgm:prSet presAssocID="{46E2A7E3-01EF-45F6-9ED8-750C3BF25E90}" presName="pillars" presStyleCnt="0"/>
      <dgm:spPr/>
    </dgm:pt>
    <dgm:pt modelId="{BE2AC1CA-DEAF-492C-9DDC-2402E872ED93}" type="pres">
      <dgm:prSet presAssocID="{46E2A7E3-01EF-45F6-9ED8-750C3BF25E90}" presName="pillar1" presStyleLbl="node1" presStyleIdx="0" presStyleCnt="4">
        <dgm:presLayoutVars>
          <dgm:bulletEnabled val="1"/>
        </dgm:presLayoutVars>
      </dgm:prSet>
      <dgm:spPr/>
      <dgm:t>
        <a:bodyPr/>
        <a:lstStyle/>
        <a:p>
          <a:endParaRPr lang="fr-FR"/>
        </a:p>
      </dgm:t>
    </dgm:pt>
    <dgm:pt modelId="{1E83F207-DE28-4F16-8CD1-4831D2E7E87E}" type="pres">
      <dgm:prSet presAssocID="{B22713AE-77A1-491D-85B0-B9CCCA432351}" presName="pillarX" presStyleLbl="node1" presStyleIdx="1" presStyleCnt="4">
        <dgm:presLayoutVars>
          <dgm:bulletEnabled val="1"/>
        </dgm:presLayoutVars>
      </dgm:prSet>
      <dgm:spPr/>
      <dgm:t>
        <a:bodyPr/>
        <a:lstStyle/>
        <a:p>
          <a:endParaRPr lang="fr-FR"/>
        </a:p>
      </dgm:t>
    </dgm:pt>
    <dgm:pt modelId="{01B2D2F7-38C8-4FAD-AA87-FAF8FBB20E7F}" type="pres">
      <dgm:prSet presAssocID="{DD8530E9-4269-4D49-A7EB-7AD1DF6D2717}" presName="pillarX" presStyleLbl="node1" presStyleIdx="2" presStyleCnt="4">
        <dgm:presLayoutVars>
          <dgm:bulletEnabled val="1"/>
        </dgm:presLayoutVars>
      </dgm:prSet>
      <dgm:spPr/>
      <dgm:t>
        <a:bodyPr/>
        <a:lstStyle/>
        <a:p>
          <a:endParaRPr lang="fr-FR"/>
        </a:p>
      </dgm:t>
    </dgm:pt>
    <dgm:pt modelId="{31EF6779-78F3-4BF6-BB1D-FCE180F17B7F}" type="pres">
      <dgm:prSet presAssocID="{29BB6485-6372-4D2F-A87A-313E3991CF0E}" presName="pillarX" presStyleLbl="node1" presStyleIdx="3" presStyleCnt="4">
        <dgm:presLayoutVars>
          <dgm:bulletEnabled val="1"/>
        </dgm:presLayoutVars>
      </dgm:prSet>
      <dgm:spPr/>
      <dgm:t>
        <a:bodyPr/>
        <a:lstStyle/>
        <a:p>
          <a:endParaRPr lang="fr-FR"/>
        </a:p>
      </dgm:t>
    </dgm:pt>
    <dgm:pt modelId="{CB2DD58C-FB17-4AE0-B8EE-9A89829E2B52}" type="pres">
      <dgm:prSet presAssocID="{46E2A7E3-01EF-45F6-9ED8-750C3BF25E90}" presName="base" presStyleLbl="dkBgShp" presStyleIdx="1" presStyleCnt="2"/>
      <dgm:spPr/>
    </dgm:pt>
  </dgm:ptLst>
  <dgm:cxnLst>
    <dgm:cxn modelId="{BE846A85-DB05-4D52-876F-9B4E46B1D0C2}" srcId="{4BE6C95E-EF51-4055-81C2-955E93434EC9}" destId="{29DE4D9A-EC0A-4ECB-AC32-0CCCE7195F2B}" srcOrd="1" destOrd="0" parTransId="{096AA6F3-B780-439C-8AF2-20733DCB38DB}" sibTransId="{D3A32369-0D74-4AB0-9FAE-B0DC354A8086}"/>
    <dgm:cxn modelId="{87818951-1480-4E41-B92B-B85A5353CBFF}" type="presOf" srcId="{CBF66834-39B2-418A-BF57-C885A668F2B0}" destId="{BE2AC1CA-DEAF-492C-9DDC-2402E872ED93}" srcOrd="0" destOrd="0" presId="urn:microsoft.com/office/officeart/2005/8/layout/hList3"/>
    <dgm:cxn modelId="{65A45946-8B7F-4CA2-BC0E-A2125E75AEF8}" type="presOf" srcId="{46E2A7E3-01EF-45F6-9ED8-750C3BF25E90}" destId="{4FCFE707-687F-4489-AC42-AB298E80C7D4}" srcOrd="0" destOrd="0" presId="urn:microsoft.com/office/officeart/2005/8/layout/hList3"/>
    <dgm:cxn modelId="{B3AA6862-7680-4222-9DE5-2C4376E07E40}" srcId="{46E2A7E3-01EF-45F6-9ED8-750C3BF25E90}" destId="{B22713AE-77A1-491D-85B0-B9CCCA432351}" srcOrd="1" destOrd="0" parTransId="{0F051D32-4FD9-476D-BE21-09A7F917FD7D}" sibTransId="{E032FA70-961D-4887-B414-1DF303B3B977}"/>
    <dgm:cxn modelId="{5BA3912E-B19E-4EF1-9571-607AE35880C5}" srcId="{46E2A7E3-01EF-45F6-9ED8-750C3BF25E90}" destId="{CBF66834-39B2-418A-BF57-C885A668F2B0}" srcOrd="0" destOrd="0" parTransId="{61CB7449-E45D-4EF1-A408-1B00AA7141E8}" sibTransId="{99797253-99BE-44CE-B650-7E9D9798A4B3}"/>
    <dgm:cxn modelId="{817DD4F2-D4F7-4D06-96F9-3D30B29BFCB5}" srcId="{46E2A7E3-01EF-45F6-9ED8-750C3BF25E90}" destId="{DD8530E9-4269-4D49-A7EB-7AD1DF6D2717}" srcOrd="2" destOrd="0" parTransId="{AD5CECEE-3ECC-495F-BD44-CA587949B68C}" sibTransId="{14F16BA8-01D9-45FC-8D7D-9E30A27E21CD}"/>
    <dgm:cxn modelId="{F96318C1-1D8B-4847-8055-4D0AD8FCDBA6}" srcId="{4BE6C95E-EF51-4055-81C2-955E93434EC9}" destId="{62760D58-B5DE-4003-A022-442677229822}" srcOrd="2" destOrd="0" parTransId="{6D2B6697-3889-467B-8001-B6B3310B3D56}" sibTransId="{04C7989E-04ED-4AEF-A8A2-F777FD1990FF}"/>
    <dgm:cxn modelId="{0B51C8B7-59FA-4EAB-BDEC-0BDA696DAEB4}" srcId="{46E2A7E3-01EF-45F6-9ED8-750C3BF25E90}" destId="{29BB6485-6372-4D2F-A87A-313E3991CF0E}" srcOrd="3" destOrd="0" parTransId="{3C17086B-ED7F-439A-923F-E1E9BEDA457F}" sibTransId="{8529B6D1-2599-434D-B1A5-BD005410CFE4}"/>
    <dgm:cxn modelId="{6EF0E373-69FB-4066-8B7D-4A2B84021376}" srcId="{4BE6C95E-EF51-4055-81C2-955E93434EC9}" destId="{46E2A7E3-01EF-45F6-9ED8-750C3BF25E90}" srcOrd="0" destOrd="0" parTransId="{8741C222-C69F-4F9A-9035-5845015F8595}" sibTransId="{34911D8A-B800-4B21-8318-A3A8901E6D66}"/>
    <dgm:cxn modelId="{61FBF651-7227-4C84-95A9-757D72CBA1AD}" type="presOf" srcId="{29BB6485-6372-4D2F-A87A-313E3991CF0E}" destId="{31EF6779-78F3-4BF6-BB1D-FCE180F17B7F}" srcOrd="0" destOrd="0" presId="urn:microsoft.com/office/officeart/2005/8/layout/hList3"/>
    <dgm:cxn modelId="{8EF4AEFA-C1D4-402C-9346-118ACD7B3C2B}" type="presOf" srcId="{4BE6C95E-EF51-4055-81C2-955E93434EC9}" destId="{5049E4E5-DB18-465E-943A-CF17751EBDDC}" srcOrd="0" destOrd="0" presId="urn:microsoft.com/office/officeart/2005/8/layout/hList3"/>
    <dgm:cxn modelId="{E25256BE-240A-43E4-A8A3-C0ECBE6D1D2B}" type="presOf" srcId="{DD8530E9-4269-4D49-A7EB-7AD1DF6D2717}" destId="{01B2D2F7-38C8-4FAD-AA87-FAF8FBB20E7F}" srcOrd="0" destOrd="0" presId="urn:microsoft.com/office/officeart/2005/8/layout/hList3"/>
    <dgm:cxn modelId="{C678DA1A-B50F-466B-A74C-0A10681E6C4C}" type="presOf" srcId="{B22713AE-77A1-491D-85B0-B9CCCA432351}" destId="{1E83F207-DE28-4F16-8CD1-4831D2E7E87E}" srcOrd="0" destOrd="0" presId="urn:microsoft.com/office/officeart/2005/8/layout/hList3"/>
    <dgm:cxn modelId="{EDFFFD7E-16B1-4478-B70E-66CF164FFD09}" type="presParOf" srcId="{5049E4E5-DB18-465E-943A-CF17751EBDDC}" destId="{4FCFE707-687F-4489-AC42-AB298E80C7D4}" srcOrd="0" destOrd="0" presId="urn:microsoft.com/office/officeart/2005/8/layout/hList3"/>
    <dgm:cxn modelId="{3B224CEE-C19F-4448-9924-A2909CFCE252}" type="presParOf" srcId="{5049E4E5-DB18-465E-943A-CF17751EBDDC}" destId="{8D4D215F-8613-4899-BE47-21C9CD4FF6F3}" srcOrd="1" destOrd="0" presId="urn:microsoft.com/office/officeart/2005/8/layout/hList3"/>
    <dgm:cxn modelId="{4377A408-A274-47D2-A366-CBF9ACDDFA94}" type="presParOf" srcId="{8D4D215F-8613-4899-BE47-21C9CD4FF6F3}" destId="{BE2AC1CA-DEAF-492C-9DDC-2402E872ED93}" srcOrd="0" destOrd="0" presId="urn:microsoft.com/office/officeart/2005/8/layout/hList3"/>
    <dgm:cxn modelId="{85DED4BC-062F-40FC-83B6-F37E4A12BAD3}" type="presParOf" srcId="{8D4D215F-8613-4899-BE47-21C9CD4FF6F3}" destId="{1E83F207-DE28-4F16-8CD1-4831D2E7E87E}" srcOrd="1" destOrd="0" presId="urn:microsoft.com/office/officeart/2005/8/layout/hList3"/>
    <dgm:cxn modelId="{E819558E-07E4-41E9-A497-9F65D0E9434D}" type="presParOf" srcId="{8D4D215F-8613-4899-BE47-21C9CD4FF6F3}" destId="{01B2D2F7-38C8-4FAD-AA87-FAF8FBB20E7F}" srcOrd="2" destOrd="0" presId="urn:microsoft.com/office/officeart/2005/8/layout/hList3"/>
    <dgm:cxn modelId="{FAD50167-20DC-4CC9-B292-C4D60AEA5F34}" type="presParOf" srcId="{8D4D215F-8613-4899-BE47-21C9CD4FF6F3}" destId="{31EF6779-78F3-4BF6-BB1D-FCE180F17B7F}" srcOrd="3" destOrd="0" presId="urn:microsoft.com/office/officeart/2005/8/layout/hList3"/>
    <dgm:cxn modelId="{4BA15602-A4A5-45AF-80B2-9EE085717204}" type="presParOf" srcId="{5049E4E5-DB18-465E-943A-CF17751EBDDC}" destId="{CB2DD58C-FB17-4AE0-B8EE-9A89829E2B52}" srcOrd="2" destOrd="0" presId="urn:microsoft.com/office/officeart/2005/8/layout/hList3"/>
  </dgm:cxnLst>
  <dgm:bg/>
  <dgm:whole/>
</dgm:dataModel>
</file>

<file path=ppt/diagrams/data3.xml><?xml version="1.0" encoding="utf-8"?>
<dgm:dataModel xmlns:dgm="http://schemas.openxmlformats.org/drawingml/2006/diagram" xmlns:a="http://schemas.openxmlformats.org/drawingml/2006/main">
  <dgm:ptLst>
    <dgm:pt modelId="{4BE6C95E-EF51-4055-81C2-955E93434EC9}" type="doc">
      <dgm:prSet loTypeId="urn:microsoft.com/office/officeart/2005/8/layout/hList3" loCatId="list" qsTypeId="urn:microsoft.com/office/officeart/2005/8/quickstyle/simple1" qsCatId="simple" csTypeId="urn:microsoft.com/office/officeart/2005/8/colors/accent1_2" csCatId="accent1" phldr="1"/>
      <dgm:spPr/>
      <dgm:t>
        <a:bodyPr/>
        <a:lstStyle/>
        <a:p>
          <a:endParaRPr lang="fr-FR"/>
        </a:p>
      </dgm:t>
    </dgm:pt>
    <dgm:pt modelId="{46E2A7E3-01EF-45F6-9ED8-750C3BF25E90}">
      <dgm:prSet phldrT="[Texte]" custT="1">
        <dgm:style>
          <a:lnRef idx="3">
            <a:schemeClr val="lt1"/>
          </a:lnRef>
          <a:fillRef idx="1">
            <a:schemeClr val="accent6"/>
          </a:fillRef>
          <a:effectRef idx="1">
            <a:schemeClr val="accent6"/>
          </a:effectRef>
          <a:fontRef idx="minor">
            <a:schemeClr val="lt1"/>
          </a:fontRef>
        </dgm:style>
      </dgm:prSet>
      <dgm:spPr/>
      <dgm:t>
        <a:bodyPr/>
        <a:lstStyle/>
        <a:p>
          <a:pPr algn="just"/>
          <a:r>
            <a:rPr lang="fr-FR" sz="1400" dirty="0" smtClean="0">
              <a:solidFill>
                <a:schemeClr val="dk1"/>
              </a:solidFill>
              <a:latin typeface="Arial" pitchFamily="34" charset="0"/>
              <a:ea typeface="Times New Roman" pitchFamily="18" charset="0"/>
              <a:cs typeface="Arial" pitchFamily="34" charset="0"/>
            </a:rPr>
            <a:t>Créer une entreprise n'est pas une tâche facile. Cela nécessite beaucoup de détermination, de persévérance et de talents uniques. Si vous êtes sur le point de devenir un créateur d'entreprise, il est important de savoir quelles sont les qualités que vous devriez avoir pour maximiser vos chances de succès. Voici les qualités les plus importantes que devrait avoir un créateur d'entreprise :</a:t>
          </a:r>
          <a:endParaRPr lang="fr-FR" sz="1400" b="1" dirty="0">
            <a:solidFill>
              <a:schemeClr val="bg1"/>
            </a:solidFill>
          </a:endParaRPr>
        </a:p>
      </dgm:t>
    </dgm:pt>
    <dgm:pt modelId="{8741C222-C69F-4F9A-9035-5845015F8595}" type="parTrans" cxnId="{6EF0E373-69FB-4066-8B7D-4A2B84021376}">
      <dgm:prSet/>
      <dgm:spPr/>
      <dgm:t>
        <a:bodyPr/>
        <a:lstStyle/>
        <a:p>
          <a:endParaRPr lang="fr-FR"/>
        </a:p>
      </dgm:t>
    </dgm:pt>
    <dgm:pt modelId="{34911D8A-B800-4B21-8318-A3A8901E6D66}" type="sibTrans" cxnId="{6EF0E373-69FB-4066-8B7D-4A2B84021376}">
      <dgm:prSet/>
      <dgm:spPr/>
      <dgm:t>
        <a:bodyPr/>
        <a:lstStyle/>
        <a:p>
          <a:endParaRPr lang="fr-FR"/>
        </a:p>
      </dgm:t>
    </dgm:pt>
    <dgm:pt modelId="{62760D58-B5DE-4003-A022-442677229822}">
      <dgm:prSet/>
      <dgm:spPr/>
      <dgm:t>
        <a:bodyPr/>
        <a:lstStyle/>
        <a:p>
          <a:endParaRPr lang="fr-FR"/>
        </a:p>
      </dgm:t>
    </dgm:pt>
    <dgm:pt modelId="{6D2B6697-3889-467B-8001-B6B3310B3D56}" type="parTrans" cxnId="{F96318C1-1D8B-4847-8055-4D0AD8FCDBA6}">
      <dgm:prSet/>
      <dgm:spPr/>
      <dgm:t>
        <a:bodyPr/>
        <a:lstStyle/>
        <a:p>
          <a:endParaRPr lang="fr-FR"/>
        </a:p>
      </dgm:t>
    </dgm:pt>
    <dgm:pt modelId="{04C7989E-04ED-4AEF-A8A2-F777FD1990FF}" type="sibTrans" cxnId="{F96318C1-1D8B-4847-8055-4D0AD8FCDBA6}">
      <dgm:prSet/>
      <dgm:spPr/>
      <dgm:t>
        <a:bodyPr/>
        <a:lstStyle/>
        <a:p>
          <a:endParaRPr lang="fr-FR"/>
        </a:p>
      </dgm:t>
    </dgm:pt>
    <dgm:pt modelId="{29DE4D9A-EC0A-4ECB-AC32-0CCCE7195F2B}">
      <dgm:prSet/>
      <dgm:spPr/>
      <dgm:t>
        <a:bodyPr/>
        <a:lstStyle/>
        <a:p>
          <a:endParaRPr lang="fr-FR"/>
        </a:p>
      </dgm:t>
    </dgm:pt>
    <dgm:pt modelId="{096AA6F3-B780-439C-8AF2-20733DCB38DB}" type="parTrans" cxnId="{BE846A85-DB05-4D52-876F-9B4E46B1D0C2}">
      <dgm:prSet/>
      <dgm:spPr/>
      <dgm:t>
        <a:bodyPr/>
        <a:lstStyle/>
        <a:p>
          <a:endParaRPr lang="fr-FR"/>
        </a:p>
      </dgm:t>
    </dgm:pt>
    <dgm:pt modelId="{D3A32369-0D74-4AB0-9FAE-B0DC354A8086}" type="sibTrans" cxnId="{BE846A85-DB05-4D52-876F-9B4E46B1D0C2}">
      <dgm:prSet/>
      <dgm:spPr/>
      <dgm:t>
        <a:bodyPr/>
        <a:lstStyle/>
        <a:p>
          <a:endParaRPr lang="fr-FR"/>
        </a:p>
      </dgm:t>
    </dgm:pt>
    <dgm:pt modelId="{CBF66834-39B2-418A-BF57-C885A668F2B0}">
      <dgm:prSet custT="1">
        <dgm:style>
          <a:lnRef idx="1">
            <a:schemeClr val="accent6"/>
          </a:lnRef>
          <a:fillRef idx="2">
            <a:schemeClr val="accent6"/>
          </a:fillRef>
          <a:effectRef idx="1">
            <a:schemeClr val="accent6"/>
          </a:effectRef>
          <a:fontRef idx="minor">
            <a:schemeClr val="dk1"/>
          </a:fontRef>
        </dgm:style>
      </dgm:prSet>
      <dgm:spPr/>
      <dgm:t>
        <a:bodyPr/>
        <a:lstStyle/>
        <a:p>
          <a:pPr algn="just"/>
          <a:endParaRPr lang="fr-FR" sz="1200" dirty="0">
            <a:solidFill>
              <a:schemeClr val="bg1"/>
            </a:solidFill>
            <a:latin typeface="Source Sans Pro"/>
          </a:endParaRPr>
        </a:p>
        <a:p>
          <a:pPr algn="ctr"/>
          <a:r>
            <a:rPr lang="fr-FR" sz="1600" b="1" dirty="0" smtClean="0">
              <a:solidFill>
                <a:schemeClr val="tx1"/>
              </a:solidFill>
              <a:latin typeface="Arial" pitchFamily="34" charset="0"/>
              <a:ea typeface="Times New Roman" pitchFamily="18" charset="0"/>
              <a:cs typeface="Arial" pitchFamily="34" charset="0"/>
            </a:rPr>
            <a:t>Les Qualités</a:t>
          </a:r>
          <a:r>
            <a:rPr lang="fr-FR" sz="1600" dirty="0" smtClean="0">
              <a:solidFill>
                <a:schemeClr val="tx1"/>
              </a:solidFill>
              <a:latin typeface="Arial" pitchFamily="34" charset="0"/>
              <a:ea typeface="Times New Roman" pitchFamily="18" charset="0"/>
              <a:cs typeface="Arial" pitchFamily="34" charset="0"/>
            </a:rPr>
            <a:t> </a:t>
          </a:r>
          <a:endParaRPr lang="fr-FR" sz="1200" dirty="0" smtClean="0">
            <a:solidFill>
              <a:schemeClr val="dk1"/>
            </a:solidFill>
            <a:latin typeface="Arial" pitchFamily="34" charset="0"/>
            <a:ea typeface="Times New Roman" pitchFamily="18" charset="0"/>
            <a:cs typeface="Arial" pitchFamily="34" charset="0"/>
          </a:endParaRPr>
        </a:p>
        <a:p>
          <a:pPr algn="just"/>
          <a:r>
            <a:rPr lang="fr-FR" sz="1200" b="1" dirty="0" smtClean="0">
              <a:solidFill>
                <a:schemeClr val="dk1"/>
              </a:solidFill>
              <a:latin typeface="Arial" pitchFamily="34" charset="0"/>
              <a:ea typeface="Times New Roman" pitchFamily="18" charset="0"/>
              <a:cs typeface="Arial" pitchFamily="34" charset="0"/>
            </a:rPr>
            <a:t>La détermination‍ : </a:t>
          </a:r>
          <a:r>
            <a:rPr lang="fr-FR" sz="1200" dirty="0" smtClean="0">
              <a:solidFill>
                <a:schemeClr val="dk1"/>
              </a:solidFill>
              <a:latin typeface="Arial" pitchFamily="34" charset="0"/>
              <a:ea typeface="Times New Roman" pitchFamily="18" charset="0"/>
              <a:cs typeface="Arial" pitchFamily="34" charset="0"/>
            </a:rPr>
            <a:t>La détermination est la clé du succès en tant que créateur d'entreprise. Vous devez être prêt à faire face à tous les défis qui se dresseront sur votre chemin et à persévérer jusqu'à ce que vous atteigniez vos objectifs.</a:t>
          </a:r>
        </a:p>
        <a:p>
          <a:pPr algn="just"/>
          <a:r>
            <a:rPr lang="fr-FR" sz="1200" b="1" dirty="0" smtClean="0">
              <a:latin typeface="Arial" pitchFamily="34" charset="0"/>
              <a:ea typeface="Times New Roman" pitchFamily="18" charset="0"/>
              <a:cs typeface="Arial" pitchFamily="34" charset="0"/>
            </a:rPr>
            <a:t>La </a:t>
          </a:r>
          <a:r>
            <a:rPr lang="fr-FR" sz="1200" b="1" dirty="0" smtClean="0">
              <a:solidFill>
                <a:schemeClr val="dk1"/>
              </a:solidFill>
              <a:latin typeface="Arial" pitchFamily="34" charset="0"/>
              <a:ea typeface="Times New Roman" pitchFamily="18" charset="0"/>
              <a:cs typeface="Arial" pitchFamily="34" charset="0"/>
            </a:rPr>
            <a:t> créativité‍ : </a:t>
          </a:r>
          <a:r>
            <a:rPr lang="fr-FR" sz="1200" dirty="0" smtClean="0">
              <a:solidFill>
                <a:schemeClr val="dk1"/>
              </a:solidFill>
              <a:latin typeface="Arial" pitchFamily="34" charset="0"/>
              <a:ea typeface="Times New Roman" pitchFamily="18" charset="0"/>
              <a:cs typeface="Arial" pitchFamily="34" charset="0"/>
            </a:rPr>
            <a:t>La créativité est un atout précieux pour tout créateur d'entreprise. Vous devez être capable de penser en dehors des sentiers battus pour trouver des solutions innovantes aux problèmes que vous rencontrerez.‍</a:t>
          </a:r>
        </a:p>
        <a:p>
          <a:pPr algn="just"/>
          <a:r>
            <a:rPr lang="fr-FR" sz="1200" b="1" dirty="0" smtClean="0">
              <a:solidFill>
                <a:schemeClr val="dk1"/>
              </a:solidFill>
              <a:latin typeface="Arial" pitchFamily="34" charset="0"/>
              <a:ea typeface="Times New Roman" pitchFamily="18" charset="0"/>
              <a:cs typeface="Arial" pitchFamily="34" charset="0"/>
            </a:rPr>
            <a:t>Le leadership‍ : </a:t>
          </a:r>
          <a:r>
            <a:rPr lang="fr-FR" sz="1200" dirty="0" smtClean="0">
              <a:solidFill>
                <a:schemeClr val="dk1"/>
              </a:solidFill>
              <a:latin typeface="Arial" pitchFamily="34" charset="0"/>
              <a:ea typeface="Times New Roman" pitchFamily="18" charset="0"/>
              <a:cs typeface="Arial" pitchFamily="34" charset="0"/>
            </a:rPr>
            <a:t>Les créateurs d'entreprise doivent avoir des compétences de leadership solides pour diriger leur équipe et atteindre leurs objectifs. Vous devez être capable de motiver votre personnel et de les diriger vers la réussite.</a:t>
          </a:r>
        </a:p>
        <a:p>
          <a:pPr algn="just"/>
          <a:r>
            <a:rPr lang="fr-FR" sz="1200" b="1" dirty="0" smtClean="0">
              <a:solidFill>
                <a:schemeClr val="dk1"/>
              </a:solidFill>
              <a:latin typeface="Arial" pitchFamily="34" charset="0"/>
              <a:ea typeface="Times New Roman" pitchFamily="18" charset="0"/>
              <a:cs typeface="Arial" pitchFamily="34" charset="0"/>
            </a:rPr>
            <a:t>De bonnes compétences en communication : </a:t>
          </a:r>
          <a:r>
            <a:rPr lang="fr-FR" sz="1200" dirty="0" smtClean="0">
              <a:solidFill>
                <a:schemeClr val="dk1"/>
              </a:solidFill>
              <a:latin typeface="Arial" pitchFamily="34" charset="0"/>
              <a:ea typeface="Times New Roman" pitchFamily="18" charset="0"/>
              <a:cs typeface="Arial" pitchFamily="34" charset="0"/>
            </a:rPr>
            <a:t>Les compétences en communication sont essentielles pour tout créateur d'entreprise. Vous devez être capable de communiquer clairement avec votre personnel, vos clients et vos partenaires commerciaux pour construire des relations solides.</a:t>
          </a:r>
        </a:p>
        <a:p>
          <a:pPr algn="just"/>
          <a:r>
            <a:rPr lang="fr-FR" sz="1200" b="1" dirty="0" smtClean="0">
              <a:solidFill>
                <a:schemeClr val="dk1"/>
              </a:solidFill>
              <a:latin typeface="Arial" pitchFamily="34" charset="0"/>
              <a:ea typeface="Times New Roman" pitchFamily="18" charset="0"/>
              <a:cs typeface="Arial" pitchFamily="34" charset="0"/>
            </a:rPr>
            <a:t>La passion : </a:t>
          </a:r>
          <a:r>
            <a:rPr lang="fr-FR" sz="1200" dirty="0" smtClean="0">
              <a:solidFill>
                <a:schemeClr val="dk1"/>
              </a:solidFill>
              <a:latin typeface="Arial" pitchFamily="34" charset="0"/>
              <a:ea typeface="Times New Roman" pitchFamily="18" charset="0"/>
              <a:cs typeface="Arial" pitchFamily="34" charset="0"/>
            </a:rPr>
            <a:t>Enfin, la passion est l'ingrédient clé du succès en tant que créateur d'entreprise. Si vous n'êtes pas passionné par ce que vous faites, il sera difficile de maintenir votre détermination et votre persévérance au fil du temps</a:t>
          </a:r>
          <a:endParaRPr lang="fr-FR" sz="900" dirty="0"/>
        </a:p>
      </dgm:t>
    </dgm:pt>
    <dgm:pt modelId="{61CB7449-E45D-4EF1-A408-1B00AA7141E8}" type="parTrans" cxnId="{5BA3912E-B19E-4EF1-9571-607AE35880C5}">
      <dgm:prSet/>
      <dgm:spPr/>
      <dgm:t>
        <a:bodyPr/>
        <a:lstStyle/>
        <a:p>
          <a:endParaRPr lang="fr-FR"/>
        </a:p>
      </dgm:t>
    </dgm:pt>
    <dgm:pt modelId="{99797253-99BE-44CE-B650-7E9D9798A4B3}" type="sibTrans" cxnId="{5BA3912E-B19E-4EF1-9571-607AE35880C5}">
      <dgm:prSet/>
      <dgm:spPr/>
      <dgm:t>
        <a:bodyPr/>
        <a:lstStyle/>
        <a:p>
          <a:endParaRPr lang="fr-FR"/>
        </a:p>
      </dgm:t>
    </dgm:pt>
    <dgm:pt modelId="{DD8530E9-4269-4D49-A7EB-7AD1DF6D2717}">
      <dgm:prSet custT="1">
        <dgm:style>
          <a:lnRef idx="1">
            <a:schemeClr val="accent6"/>
          </a:lnRef>
          <a:fillRef idx="2">
            <a:schemeClr val="accent6"/>
          </a:fillRef>
          <a:effectRef idx="1">
            <a:schemeClr val="accent6"/>
          </a:effectRef>
          <a:fontRef idx="minor">
            <a:schemeClr val="dk1"/>
          </a:fontRef>
        </dgm:style>
      </dgm:prSet>
      <dgm:spPr/>
      <dgm:t>
        <a:bodyPr/>
        <a:lstStyle/>
        <a:p>
          <a:pPr algn="ctr"/>
          <a:endParaRPr lang="fr-FR" sz="1200" dirty="0" smtClean="0">
            <a:solidFill>
              <a:schemeClr val="dk1"/>
            </a:solidFill>
            <a:latin typeface="Arial" pitchFamily="34" charset="0"/>
            <a:ea typeface="Times New Roman" pitchFamily="18" charset="0"/>
            <a:cs typeface="Arial" pitchFamily="34" charset="0"/>
          </a:endParaRPr>
        </a:p>
        <a:p>
          <a:pPr algn="ctr"/>
          <a:r>
            <a:rPr lang="fr-FR" sz="1600" b="1" dirty="0" smtClean="0">
              <a:solidFill>
                <a:schemeClr val="dk1"/>
              </a:solidFill>
              <a:latin typeface="Arial" pitchFamily="34" charset="0"/>
              <a:ea typeface="Times New Roman" pitchFamily="18" charset="0"/>
              <a:cs typeface="Arial" pitchFamily="34" charset="0"/>
            </a:rPr>
            <a:t>Les Défauts‍</a:t>
          </a:r>
          <a:r>
            <a:rPr lang="fr-FR" sz="1200" dirty="0" smtClean="0">
              <a:solidFill>
                <a:schemeClr val="dk1"/>
              </a:solidFill>
              <a:latin typeface="Arial" pitchFamily="34" charset="0"/>
              <a:ea typeface="Times New Roman" pitchFamily="18" charset="0"/>
              <a:cs typeface="Arial" pitchFamily="34" charset="0"/>
            </a:rPr>
            <a:t>‍</a:t>
          </a:r>
        </a:p>
        <a:p>
          <a:pPr algn="just"/>
          <a:r>
            <a:rPr lang="fr-FR" sz="1200" b="1" dirty="0" smtClean="0">
              <a:solidFill>
                <a:schemeClr val="dk1"/>
              </a:solidFill>
              <a:latin typeface="Arial" pitchFamily="34" charset="0"/>
              <a:ea typeface="Times New Roman" pitchFamily="18" charset="0"/>
              <a:cs typeface="Arial" pitchFamily="34" charset="0"/>
            </a:rPr>
            <a:t>Manque de patience : </a:t>
          </a:r>
          <a:r>
            <a:rPr lang="fr-FR" sz="1200" dirty="0" smtClean="0">
              <a:solidFill>
                <a:schemeClr val="dk1"/>
              </a:solidFill>
              <a:latin typeface="Arial" pitchFamily="34" charset="0"/>
              <a:ea typeface="Times New Roman" pitchFamily="18" charset="0"/>
              <a:cs typeface="Arial" pitchFamily="34" charset="0"/>
            </a:rPr>
            <a:t>La création d'une entreprise peut être un processus long et difficile. Les créateurs d'entreprise doivent être patients et savoir qu'il faudra du temps pour atteindre leurs objectifs.‍</a:t>
          </a:r>
        </a:p>
        <a:p>
          <a:pPr algn="just"/>
          <a:r>
            <a:rPr lang="fr-FR" sz="1200" b="1" dirty="0" smtClean="0">
              <a:solidFill>
                <a:schemeClr val="dk1"/>
              </a:solidFill>
              <a:latin typeface="Arial" pitchFamily="34" charset="0"/>
              <a:ea typeface="Times New Roman" pitchFamily="18" charset="0"/>
              <a:cs typeface="Arial" pitchFamily="34" charset="0"/>
            </a:rPr>
            <a:t>Manque de planification : </a:t>
          </a:r>
          <a:r>
            <a:rPr lang="fr-FR" sz="1200" dirty="0" smtClean="0">
              <a:solidFill>
                <a:schemeClr val="dk1"/>
              </a:solidFill>
              <a:latin typeface="Arial" pitchFamily="34" charset="0"/>
              <a:ea typeface="Times New Roman" pitchFamily="18" charset="0"/>
              <a:cs typeface="Arial" pitchFamily="34" charset="0"/>
            </a:rPr>
            <a:t>La planification est essentielle pour le succès d'une entreprise. Les créateurs d'entreprise doivent élaborer un plan détaillé pour leur entreprise et suivre ce plan de manière cohérente</a:t>
          </a:r>
        </a:p>
        <a:p>
          <a:pPr algn="just"/>
          <a:r>
            <a:rPr lang="fr-FR" sz="1200" b="1" dirty="0" smtClean="0">
              <a:solidFill>
                <a:schemeClr val="dk1"/>
              </a:solidFill>
              <a:latin typeface="Arial" pitchFamily="34" charset="0"/>
              <a:ea typeface="Times New Roman" pitchFamily="18" charset="0"/>
              <a:cs typeface="Arial" pitchFamily="34" charset="0"/>
            </a:rPr>
            <a:t>Peur de l'échec</a:t>
          </a:r>
          <a:r>
            <a:rPr lang="fr-FR" sz="1200" dirty="0" smtClean="0">
              <a:solidFill>
                <a:schemeClr val="dk1"/>
              </a:solidFill>
              <a:latin typeface="Arial" pitchFamily="34" charset="0"/>
              <a:ea typeface="Times New Roman" pitchFamily="18" charset="0"/>
              <a:cs typeface="Arial" pitchFamily="34" charset="0"/>
            </a:rPr>
            <a:t>‍ : La peur de l'échec peut empêcher les créateurs d'entreprise de prendre des risques nécessaires pour faire progresser leur entreprise.</a:t>
          </a:r>
        </a:p>
        <a:p>
          <a:pPr algn="just"/>
          <a:r>
            <a:rPr lang="fr-FR" sz="1200" dirty="0" smtClean="0">
              <a:solidFill>
                <a:schemeClr val="dk1"/>
              </a:solidFill>
              <a:latin typeface="Arial" pitchFamily="34" charset="0"/>
              <a:ea typeface="Times New Roman" pitchFamily="18" charset="0"/>
              <a:cs typeface="Arial" pitchFamily="34" charset="0"/>
            </a:rPr>
            <a:t>‍</a:t>
          </a:r>
        </a:p>
        <a:p>
          <a:pPr algn="just"/>
          <a:r>
            <a:rPr lang="fr-FR" sz="1200" b="1" dirty="0" smtClean="0">
              <a:solidFill>
                <a:schemeClr val="dk1"/>
              </a:solidFill>
              <a:latin typeface="Arial" pitchFamily="34" charset="0"/>
              <a:ea typeface="Times New Roman" pitchFamily="18" charset="0"/>
              <a:cs typeface="Arial" pitchFamily="34" charset="0"/>
            </a:rPr>
            <a:t>Difficulté à déléguer : </a:t>
          </a:r>
          <a:r>
            <a:rPr lang="fr-FR" sz="1200" dirty="0" smtClean="0">
              <a:solidFill>
                <a:schemeClr val="dk1"/>
              </a:solidFill>
              <a:latin typeface="Arial" pitchFamily="34" charset="0"/>
              <a:ea typeface="Times New Roman" pitchFamily="18" charset="0"/>
              <a:cs typeface="Arial" pitchFamily="34" charset="0"/>
            </a:rPr>
            <a:t>Les créateurs d'entreprise doivent être capables de déléguer des tâches à leur personnel pour pouvoir se concentrer sur les aspects les plus importants de leur entreprise. Il est important de construire une équipe de confiance et de savoir quand déléguer des responsabilités.</a:t>
          </a:r>
        </a:p>
        <a:p>
          <a:pPr algn="just"/>
          <a:r>
            <a:rPr lang="fr-FR" sz="1200" b="1" dirty="0" smtClean="0"/>
            <a:t>‍T</a:t>
          </a:r>
          <a:r>
            <a:rPr lang="fr-FR" sz="1200" b="1" dirty="0" smtClean="0">
              <a:solidFill>
                <a:schemeClr val="dk1"/>
              </a:solidFill>
              <a:latin typeface="Arial" pitchFamily="34" charset="0"/>
              <a:ea typeface="Times New Roman" pitchFamily="18" charset="0"/>
              <a:cs typeface="Arial" pitchFamily="34" charset="0"/>
            </a:rPr>
            <a:t>rop d'optimisme : </a:t>
          </a:r>
          <a:r>
            <a:rPr lang="fr-FR" sz="1200" dirty="0" smtClean="0">
              <a:solidFill>
                <a:schemeClr val="dk1"/>
              </a:solidFill>
              <a:latin typeface="Arial" pitchFamily="34" charset="0"/>
              <a:ea typeface="Times New Roman" pitchFamily="18" charset="0"/>
              <a:cs typeface="Arial" pitchFamily="34" charset="0"/>
            </a:rPr>
            <a:t>Il est important d'être réaliste dans vos attentes et de prendre des décisions basées sur des données objectives prudentes.</a:t>
          </a:r>
          <a:r>
            <a:rPr lang="fr-FR" sz="1200" dirty="0" smtClean="0"/>
            <a:t>.</a:t>
          </a:r>
          <a:r>
            <a:rPr lang="fr-FR" sz="1200" dirty="0" smtClean="0">
              <a:solidFill>
                <a:schemeClr val="bg1"/>
              </a:solidFill>
              <a:latin typeface="Source Sans Pro"/>
            </a:rPr>
            <a:t>.</a:t>
          </a:r>
          <a:endParaRPr lang="fr-FR" sz="1200" dirty="0">
            <a:solidFill>
              <a:schemeClr val="bg1"/>
            </a:solidFill>
            <a:latin typeface="Source Sans Pro"/>
          </a:endParaRPr>
        </a:p>
      </dgm:t>
    </dgm:pt>
    <dgm:pt modelId="{AD5CECEE-3ECC-495F-BD44-CA587949B68C}" type="parTrans" cxnId="{817DD4F2-D4F7-4D06-96F9-3D30B29BFCB5}">
      <dgm:prSet/>
      <dgm:spPr/>
      <dgm:t>
        <a:bodyPr/>
        <a:lstStyle/>
        <a:p>
          <a:endParaRPr lang="fr-FR"/>
        </a:p>
      </dgm:t>
    </dgm:pt>
    <dgm:pt modelId="{14F16BA8-01D9-45FC-8D7D-9E30A27E21CD}" type="sibTrans" cxnId="{817DD4F2-D4F7-4D06-96F9-3D30B29BFCB5}">
      <dgm:prSet/>
      <dgm:spPr/>
      <dgm:t>
        <a:bodyPr/>
        <a:lstStyle/>
        <a:p>
          <a:endParaRPr lang="fr-FR"/>
        </a:p>
      </dgm:t>
    </dgm:pt>
    <dgm:pt modelId="{5049E4E5-DB18-465E-943A-CF17751EBDDC}" type="pres">
      <dgm:prSet presAssocID="{4BE6C95E-EF51-4055-81C2-955E93434EC9}" presName="composite" presStyleCnt="0">
        <dgm:presLayoutVars>
          <dgm:chMax val="1"/>
          <dgm:dir/>
          <dgm:resizeHandles val="exact"/>
        </dgm:presLayoutVars>
      </dgm:prSet>
      <dgm:spPr/>
      <dgm:t>
        <a:bodyPr/>
        <a:lstStyle/>
        <a:p>
          <a:endParaRPr lang="fr-FR"/>
        </a:p>
      </dgm:t>
    </dgm:pt>
    <dgm:pt modelId="{4FCFE707-687F-4489-AC42-AB298E80C7D4}" type="pres">
      <dgm:prSet presAssocID="{46E2A7E3-01EF-45F6-9ED8-750C3BF25E90}" presName="roof" presStyleLbl="dkBgShp" presStyleIdx="0" presStyleCnt="2"/>
      <dgm:spPr/>
      <dgm:t>
        <a:bodyPr/>
        <a:lstStyle/>
        <a:p>
          <a:endParaRPr lang="fr-FR"/>
        </a:p>
      </dgm:t>
    </dgm:pt>
    <dgm:pt modelId="{8D4D215F-8613-4899-BE47-21C9CD4FF6F3}" type="pres">
      <dgm:prSet presAssocID="{46E2A7E3-01EF-45F6-9ED8-750C3BF25E90}" presName="pillars" presStyleCnt="0"/>
      <dgm:spPr/>
    </dgm:pt>
    <dgm:pt modelId="{BE2AC1CA-DEAF-492C-9DDC-2402E872ED93}" type="pres">
      <dgm:prSet presAssocID="{46E2A7E3-01EF-45F6-9ED8-750C3BF25E90}" presName="pillar1" presStyleLbl="node1" presStyleIdx="0" presStyleCnt="2" custScaleY="119418">
        <dgm:presLayoutVars>
          <dgm:bulletEnabled val="1"/>
        </dgm:presLayoutVars>
      </dgm:prSet>
      <dgm:spPr/>
      <dgm:t>
        <a:bodyPr/>
        <a:lstStyle/>
        <a:p>
          <a:endParaRPr lang="fr-FR"/>
        </a:p>
      </dgm:t>
    </dgm:pt>
    <dgm:pt modelId="{01B2D2F7-38C8-4FAD-AA87-FAF8FBB20E7F}" type="pres">
      <dgm:prSet presAssocID="{DD8530E9-4269-4D49-A7EB-7AD1DF6D2717}" presName="pillarX" presStyleLbl="node1" presStyleIdx="1" presStyleCnt="2" custScaleY="119519">
        <dgm:presLayoutVars>
          <dgm:bulletEnabled val="1"/>
        </dgm:presLayoutVars>
      </dgm:prSet>
      <dgm:spPr/>
      <dgm:t>
        <a:bodyPr/>
        <a:lstStyle/>
        <a:p>
          <a:endParaRPr lang="fr-FR"/>
        </a:p>
      </dgm:t>
    </dgm:pt>
    <dgm:pt modelId="{CB2DD58C-FB17-4AE0-B8EE-9A89829E2B52}" type="pres">
      <dgm:prSet presAssocID="{46E2A7E3-01EF-45F6-9ED8-750C3BF25E90}" presName="base" presStyleLbl="dkBgShp" presStyleIdx="1" presStyleCnt="2" custLinFactNeighborY="2737"/>
      <dgm:spPr/>
    </dgm:pt>
  </dgm:ptLst>
  <dgm:cxnLst>
    <dgm:cxn modelId="{D7EF0BF5-13C3-4B8A-8488-37D858760870}" type="presOf" srcId="{46E2A7E3-01EF-45F6-9ED8-750C3BF25E90}" destId="{4FCFE707-687F-4489-AC42-AB298E80C7D4}" srcOrd="0" destOrd="0" presId="urn:microsoft.com/office/officeart/2005/8/layout/hList3"/>
    <dgm:cxn modelId="{2090642F-AD2A-4F46-9E17-EACAFC5CE62F}" type="presOf" srcId="{CBF66834-39B2-418A-BF57-C885A668F2B0}" destId="{BE2AC1CA-DEAF-492C-9DDC-2402E872ED93}" srcOrd="0" destOrd="0" presId="urn:microsoft.com/office/officeart/2005/8/layout/hList3"/>
    <dgm:cxn modelId="{BE846A85-DB05-4D52-876F-9B4E46B1D0C2}" srcId="{4BE6C95E-EF51-4055-81C2-955E93434EC9}" destId="{29DE4D9A-EC0A-4ECB-AC32-0CCCE7195F2B}" srcOrd="1" destOrd="0" parTransId="{096AA6F3-B780-439C-8AF2-20733DCB38DB}" sibTransId="{D3A32369-0D74-4AB0-9FAE-B0DC354A8086}"/>
    <dgm:cxn modelId="{5BA3912E-B19E-4EF1-9571-607AE35880C5}" srcId="{46E2A7E3-01EF-45F6-9ED8-750C3BF25E90}" destId="{CBF66834-39B2-418A-BF57-C885A668F2B0}" srcOrd="0" destOrd="0" parTransId="{61CB7449-E45D-4EF1-A408-1B00AA7141E8}" sibTransId="{99797253-99BE-44CE-B650-7E9D9798A4B3}"/>
    <dgm:cxn modelId="{817DD4F2-D4F7-4D06-96F9-3D30B29BFCB5}" srcId="{46E2A7E3-01EF-45F6-9ED8-750C3BF25E90}" destId="{DD8530E9-4269-4D49-A7EB-7AD1DF6D2717}" srcOrd="1" destOrd="0" parTransId="{AD5CECEE-3ECC-495F-BD44-CA587949B68C}" sibTransId="{14F16BA8-01D9-45FC-8D7D-9E30A27E21CD}"/>
    <dgm:cxn modelId="{F96318C1-1D8B-4847-8055-4D0AD8FCDBA6}" srcId="{4BE6C95E-EF51-4055-81C2-955E93434EC9}" destId="{62760D58-B5DE-4003-A022-442677229822}" srcOrd="2" destOrd="0" parTransId="{6D2B6697-3889-467B-8001-B6B3310B3D56}" sibTransId="{04C7989E-04ED-4AEF-A8A2-F777FD1990FF}"/>
    <dgm:cxn modelId="{6EF0E373-69FB-4066-8B7D-4A2B84021376}" srcId="{4BE6C95E-EF51-4055-81C2-955E93434EC9}" destId="{46E2A7E3-01EF-45F6-9ED8-750C3BF25E90}" srcOrd="0" destOrd="0" parTransId="{8741C222-C69F-4F9A-9035-5845015F8595}" sibTransId="{34911D8A-B800-4B21-8318-A3A8901E6D66}"/>
    <dgm:cxn modelId="{10D3C079-75EE-48DF-8464-97D6CFE2EC2B}" type="presOf" srcId="{4BE6C95E-EF51-4055-81C2-955E93434EC9}" destId="{5049E4E5-DB18-465E-943A-CF17751EBDDC}" srcOrd="0" destOrd="0" presId="urn:microsoft.com/office/officeart/2005/8/layout/hList3"/>
    <dgm:cxn modelId="{1B14B3E3-47AB-4EAE-A076-9791A6DF6EDE}" type="presOf" srcId="{DD8530E9-4269-4D49-A7EB-7AD1DF6D2717}" destId="{01B2D2F7-38C8-4FAD-AA87-FAF8FBB20E7F}" srcOrd="0" destOrd="0" presId="urn:microsoft.com/office/officeart/2005/8/layout/hList3"/>
    <dgm:cxn modelId="{EFC6BCB7-0047-4617-8B7B-AF2F8803335A}" type="presParOf" srcId="{5049E4E5-DB18-465E-943A-CF17751EBDDC}" destId="{4FCFE707-687F-4489-AC42-AB298E80C7D4}" srcOrd="0" destOrd="0" presId="urn:microsoft.com/office/officeart/2005/8/layout/hList3"/>
    <dgm:cxn modelId="{DFC85AF3-03E0-455A-A366-5099CBF4AF6B}" type="presParOf" srcId="{5049E4E5-DB18-465E-943A-CF17751EBDDC}" destId="{8D4D215F-8613-4899-BE47-21C9CD4FF6F3}" srcOrd="1" destOrd="0" presId="urn:microsoft.com/office/officeart/2005/8/layout/hList3"/>
    <dgm:cxn modelId="{23832E02-2F26-4686-9A6F-238BF4BBCF36}" type="presParOf" srcId="{8D4D215F-8613-4899-BE47-21C9CD4FF6F3}" destId="{BE2AC1CA-DEAF-492C-9DDC-2402E872ED93}" srcOrd="0" destOrd="0" presId="urn:microsoft.com/office/officeart/2005/8/layout/hList3"/>
    <dgm:cxn modelId="{85311BA5-32E0-4E54-AE42-2FC708555EAF}" type="presParOf" srcId="{8D4D215F-8613-4899-BE47-21C9CD4FF6F3}" destId="{01B2D2F7-38C8-4FAD-AA87-FAF8FBB20E7F}" srcOrd="1" destOrd="0" presId="urn:microsoft.com/office/officeart/2005/8/layout/hList3"/>
    <dgm:cxn modelId="{86B2E20D-6977-4BF4-96B6-6F4D41F0E0D4}" type="presParOf" srcId="{5049E4E5-DB18-465E-943A-CF17751EBDDC}" destId="{CB2DD58C-FB17-4AE0-B8EE-9A89829E2B52}" srcOrd="2" destOrd="0" presId="urn:microsoft.com/office/officeart/2005/8/layout/hList3"/>
  </dgm:cxnLst>
  <dgm:bg/>
  <dgm:whole/>
</dgm:dataModel>
</file>

<file path=ppt/diagrams/data4.xml><?xml version="1.0" encoding="utf-8"?>
<dgm:dataModel xmlns:dgm="http://schemas.openxmlformats.org/drawingml/2006/diagram" xmlns:a="http://schemas.openxmlformats.org/drawingml/2006/main">
  <dgm:ptLst>
    <dgm:pt modelId="{17C1AD4B-0729-4D8B-A725-7C3C2C86B8B2}"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fr-FR"/>
        </a:p>
      </dgm:t>
    </dgm:pt>
    <dgm:pt modelId="{FD54CDD6-2046-45C1-ACD7-5F3A10FE06AB}">
      <dgm:prSet phldrT="[Texte]" custT="1"/>
      <dgm:spPr/>
      <dgm:t>
        <a:bodyPr/>
        <a:lstStyle/>
        <a:p>
          <a:r>
            <a:rPr lang="fr-FR" sz="1400" b="1" dirty="0" smtClean="0"/>
            <a:t>imagination</a:t>
          </a:r>
        </a:p>
        <a:p>
          <a:r>
            <a:rPr lang="fr-FR" sz="1300" dirty="0" smtClean="0"/>
            <a:t>Une forte capacité à imaginer des scénarios, des solutions et des idées nouvelles est un trait clé de la </a:t>
          </a:r>
          <a:r>
            <a:rPr lang="fr-FR" sz="1300" dirty="0" err="1" smtClean="0"/>
            <a:t>créativitéé</a:t>
          </a:r>
          <a:endParaRPr lang="fr-FR" sz="1300" dirty="0"/>
        </a:p>
      </dgm:t>
    </dgm:pt>
    <dgm:pt modelId="{24183F9C-F2B3-48DE-B52D-8EBDFDCEF59F}" type="parTrans" cxnId="{CEBAFB7E-C580-4148-9CD8-A3D60B1B2837}">
      <dgm:prSet/>
      <dgm:spPr/>
      <dgm:t>
        <a:bodyPr/>
        <a:lstStyle/>
        <a:p>
          <a:endParaRPr lang="fr-FR"/>
        </a:p>
      </dgm:t>
    </dgm:pt>
    <dgm:pt modelId="{0197AC55-0CB0-4F13-96AF-D1884F751965}" type="sibTrans" cxnId="{CEBAFB7E-C580-4148-9CD8-A3D60B1B2837}">
      <dgm:prSet/>
      <dgm:spPr/>
      <dgm:t>
        <a:bodyPr/>
        <a:lstStyle/>
        <a:p>
          <a:endParaRPr lang="fr-FR"/>
        </a:p>
      </dgm:t>
    </dgm:pt>
    <dgm:pt modelId="{34824370-7802-48B3-80F5-CBD781551374}">
      <dgm:prSet phldrT="[Texte]" custT="1"/>
      <dgm:spPr/>
      <dgm:t>
        <a:bodyPr/>
        <a:lstStyle/>
        <a:p>
          <a:pPr algn="ctr"/>
          <a:r>
            <a:rPr lang="fr-FR" sz="1400" b="1" dirty="0" smtClean="0"/>
            <a:t>Persévérance</a:t>
          </a:r>
        </a:p>
        <a:p>
          <a:pPr algn="l"/>
          <a:r>
            <a:rPr lang="fr-FR" sz="1300" dirty="0" smtClean="0"/>
            <a:t>La créativité nécessite souvent de surmonter des obstacles et des échecs. Les individus créatifs montrent souvent une grande détermination</a:t>
          </a:r>
          <a:endParaRPr lang="fr-FR" sz="1300" dirty="0"/>
        </a:p>
      </dgm:t>
    </dgm:pt>
    <dgm:pt modelId="{F3102521-F517-4D92-9686-A69FF01F5DD5}" type="parTrans" cxnId="{6984FC60-85EF-45E0-AEEF-2BB0B7B538A6}">
      <dgm:prSet/>
      <dgm:spPr/>
      <dgm:t>
        <a:bodyPr/>
        <a:lstStyle/>
        <a:p>
          <a:endParaRPr lang="fr-FR"/>
        </a:p>
      </dgm:t>
    </dgm:pt>
    <dgm:pt modelId="{375061D6-617E-4B15-8F3F-E77549F4C676}" type="sibTrans" cxnId="{6984FC60-85EF-45E0-AEEF-2BB0B7B538A6}">
      <dgm:prSet/>
      <dgm:spPr/>
      <dgm:t>
        <a:bodyPr/>
        <a:lstStyle/>
        <a:p>
          <a:endParaRPr lang="fr-FR"/>
        </a:p>
      </dgm:t>
    </dgm:pt>
    <dgm:pt modelId="{8C7BFFC3-4E36-4769-B9B3-2AAA1023EFAE}">
      <dgm:prSet phldrT="[Texte]" custT="1"/>
      <dgm:spPr/>
      <dgm:t>
        <a:bodyPr/>
        <a:lstStyle/>
        <a:p>
          <a:r>
            <a:rPr lang="fr-FR" sz="1400" b="1" dirty="0" smtClean="0"/>
            <a:t>Esprit critique </a:t>
          </a:r>
        </a:p>
        <a:p>
          <a:r>
            <a:rPr lang="fr-FR" sz="1300" dirty="0" smtClean="0"/>
            <a:t>Bien que la créativité implique souvent de penser en dehors des sentiers battus, les créatifs doivent également être capables d'évaluer</a:t>
          </a:r>
          <a:endParaRPr lang="fr-FR" sz="1300" dirty="0"/>
        </a:p>
      </dgm:t>
    </dgm:pt>
    <dgm:pt modelId="{237CE5F8-2429-489F-9239-57BD4FF563A3}" type="parTrans" cxnId="{EC232128-5C91-4E78-8F3B-C8E128C3A679}">
      <dgm:prSet/>
      <dgm:spPr/>
      <dgm:t>
        <a:bodyPr/>
        <a:lstStyle/>
        <a:p>
          <a:endParaRPr lang="fr-FR"/>
        </a:p>
      </dgm:t>
    </dgm:pt>
    <dgm:pt modelId="{A19A082B-7127-4285-8C8C-DB2796B0656E}" type="sibTrans" cxnId="{EC232128-5C91-4E78-8F3B-C8E128C3A679}">
      <dgm:prSet/>
      <dgm:spPr/>
      <dgm:t>
        <a:bodyPr/>
        <a:lstStyle/>
        <a:p>
          <a:endParaRPr lang="fr-FR"/>
        </a:p>
      </dgm:t>
    </dgm:pt>
    <dgm:pt modelId="{E6D50E96-2872-4B5F-8D0F-F6AE8625FA0C}">
      <dgm:prSet phldrT="[Texte]" custT="1"/>
      <dgm:spPr/>
      <dgm:t>
        <a:bodyPr/>
        <a:lstStyle/>
        <a:p>
          <a:pPr algn="ctr"/>
          <a:r>
            <a:rPr lang="fr-FR" sz="1400" b="1" dirty="0" smtClean="0"/>
            <a:t>Confiance en soi</a:t>
          </a:r>
        </a:p>
        <a:p>
          <a:pPr algn="ctr"/>
          <a:r>
            <a:rPr lang="fr-FR" sz="1400" dirty="0" smtClean="0"/>
            <a:t> Une certaine assurance peut encourager l'expérimentation et la prise de risques, éléments essentiels à la créativité.</a:t>
          </a:r>
          <a:endParaRPr lang="fr-FR" sz="1300" dirty="0"/>
        </a:p>
      </dgm:t>
    </dgm:pt>
    <dgm:pt modelId="{9693572D-CC8F-4587-8E0C-904A2B6B2594}" type="sibTrans" cxnId="{D03980ED-94C0-48CA-9402-822FCD3F9314}">
      <dgm:prSet/>
      <dgm:spPr/>
      <dgm:t>
        <a:bodyPr/>
        <a:lstStyle/>
        <a:p>
          <a:endParaRPr lang="fr-FR"/>
        </a:p>
      </dgm:t>
    </dgm:pt>
    <dgm:pt modelId="{EA900285-08A2-43C0-8814-B88B1951F87D}" type="parTrans" cxnId="{D03980ED-94C0-48CA-9402-822FCD3F9314}">
      <dgm:prSet/>
      <dgm:spPr/>
      <dgm:t>
        <a:bodyPr/>
        <a:lstStyle/>
        <a:p>
          <a:endParaRPr lang="fr-FR"/>
        </a:p>
      </dgm:t>
    </dgm:pt>
    <dgm:pt modelId="{96F196EF-34C6-4805-84C8-F0F4163073A0}">
      <dgm:prSet phldrT="[Texte]" custT="1"/>
      <dgm:spPr/>
      <dgm:t>
        <a:bodyPr/>
        <a:lstStyle/>
        <a:p>
          <a:r>
            <a:rPr lang="fr-FR" sz="1400" b="1" dirty="0" smtClean="0"/>
            <a:t>Passion et enthousiasme</a:t>
          </a:r>
        </a:p>
        <a:p>
          <a:r>
            <a:rPr lang="fr-FR" sz="1300" dirty="0" smtClean="0"/>
            <a:t> Une forte passion pour leur domaine d'intérêt et un enthousiasme contagieux peuvent également caractériser les individus créatifs,</a:t>
          </a:r>
          <a:endParaRPr lang="fr-FR" sz="1300" dirty="0"/>
        </a:p>
      </dgm:t>
    </dgm:pt>
    <dgm:pt modelId="{9BC8FE2A-CEBB-4BD4-BA99-9CE9B49DA0A1}" type="parTrans" cxnId="{3537535E-AD59-404E-ACA0-072D978A1F9B}">
      <dgm:prSet/>
      <dgm:spPr/>
      <dgm:t>
        <a:bodyPr/>
        <a:lstStyle/>
        <a:p>
          <a:endParaRPr lang="fr-FR"/>
        </a:p>
      </dgm:t>
    </dgm:pt>
    <dgm:pt modelId="{C0570C00-FD0E-4279-B988-3BAD16A8A328}" type="sibTrans" cxnId="{3537535E-AD59-404E-ACA0-072D978A1F9B}">
      <dgm:prSet/>
      <dgm:spPr/>
      <dgm:t>
        <a:bodyPr/>
        <a:lstStyle/>
        <a:p>
          <a:endParaRPr lang="fr-FR"/>
        </a:p>
      </dgm:t>
    </dgm:pt>
    <dgm:pt modelId="{9763487B-118E-48CF-B7D7-87DA2FB4F064}">
      <dgm:prSet phldrT="[Texte]"/>
      <dgm:spPr/>
      <dgm:t>
        <a:bodyPr/>
        <a:lstStyle/>
        <a:p>
          <a:r>
            <a:rPr lang="fr-FR" b="1" dirty="0" smtClean="0"/>
            <a:t>Ouverture d'esprit </a:t>
          </a:r>
        </a:p>
        <a:p>
          <a:r>
            <a:rPr lang="fr-FR" dirty="0" smtClean="0"/>
            <a:t> Les personnes créatives sont généralement ouvertes à de nouvelles expériences, idées et perspectives. Elles aiment explorer des concepts</a:t>
          </a:r>
          <a:endParaRPr lang="fr-FR" dirty="0"/>
        </a:p>
      </dgm:t>
    </dgm:pt>
    <dgm:pt modelId="{8DE108D9-2AC7-435F-AC40-9FC7F6B44427}" type="parTrans" cxnId="{07893024-DC90-4668-A861-72913A168CC2}">
      <dgm:prSet/>
      <dgm:spPr/>
      <dgm:t>
        <a:bodyPr/>
        <a:lstStyle/>
        <a:p>
          <a:endParaRPr lang="fr-FR"/>
        </a:p>
      </dgm:t>
    </dgm:pt>
    <dgm:pt modelId="{75DC4AE5-C7F3-4EB6-B97B-06857ED936E2}" type="sibTrans" cxnId="{07893024-DC90-4668-A861-72913A168CC2}">
      <dgm:prSet/>
      <dgm:spPr/>
      <dgm:t>
        <a:bodyPr/>
        <a:lstStyle/>
        <a:p>
          <a:endParaRPr lang="fr-FR"/>
        </a:p>
      </dgm:t>
    </dgm:pt>
    <dgm:pt modelId="{8C3FA4F4-5BFE-4B52-B635-19213BD0679F}" type="pres">
      <dgm:prSet presAssocID="{17C1AD4B-0729-4D8B-A725-7C3C2C86B8B2}" presName="Name0" presStyleCnt="0">
        <dgm:presLayoutVars>
          <dgm:dir/>
          <dgm:resizeHandles val="exact"/>
        </dgm:presLayoutVars>
      </dgm:prSet>
      <dgm:spPr/>
      <dgm:t>
        <a:bodyPr/>
        <a:lstStyle/>
        <a:p>
          <a:endParaRPr lang="fr-FR"/>
        </a:p>
      </dgm:t>
    </dgm:pt>
    <dgm:pt modelId="{8C9366DF-EE87-44D9-87D3-3D099386611A}" type="pres">
      <dgm:prSet presAssocID="{E6D50E96-2872-4B5F-8D0F-F6AE8625FA0C}" presName="node" presStyleLbl="node1" presStyleIdx="0" presStyleCnt="6" custLinFactX="-6" custLinFactNeighborX="-100000" custLinFactNeighborY="233">
        <dgm:presLayoutVars>
          <dgm:bulletEnabled val="1"/>
        </dgm:presLayoutVars>
      </dgm:prSet>
      <dgm:spPr/>
      <dgm:t>
        <a:bodyPr/>
        <a:lstStyle/>
        <a:p>
          <a:endParaRPr lang="fr-FR"/>
        </a:p>
      </dgm:t>
    </dgm:pt>
    <dgm:pt modelId="{D32E4F6C-CACA-4CF2-B0AD-BD313CBBFAA9}" type="pres">
      <dgm:prSet presAssocID="{9693572D-CC8F-4587-8E0C-904A2B6B2594}" presName="sibTrans" presStyleCnt="0"/>
      <dgm:spPr/>
    </dgm:pt>
    <dgm:pt modelId="{1EC0A236-15C2-4E02-A710-31B1980E9BC8}" type="pres">
      <dgm:prSet presAssocID="{9763487B-118E-48CF-B7D7-87DA2FB4F064}" presName="node" presStyleLbl="node1" presStyleIdx="1" presStyleCnt="6" custLinFactX="-6" custLinFactNeighborX="-100000" custLinFactNeighborY="233">
        <dgm:presLayoutVars>
          <dgm:bulletEnabled val="1"/>
        </dgm:presLayoutVars>
      </dgm:prSet>
      <dgm:spPr/>
      <dgm:t>
        <a:bodyPr/>
        <a:lstStyle/>
        <a:p>
          <a:endParaRPr lang="fr-FR"/>
        </a:p>
      </dgm:t>
    </dgm:pt>
    <dgm:pt modelId="{64361CFC-48C1-4494-9DBC-D2036018BF3B}" type="pres">
      <dgm:prSet presAssocID="{75DC4AE5-C7F3-4EB6-B97B-06857ED936E2}" presName="sibTrans" presStyleCnt="0"/>
      <dgm:spPr/>
    </dgm:pt>
    <dgm:pt modelId="{971B69C2-7448-4547-A3D0-AB0C12B087F6}" type="pres">
      <dgm:prSet presAssocID="{FD54CDD6-2046-45C1-ACD7-5F3A10FE06AB}" presName="node" presStyleLbl="node1" presStyleIdx="2" presStyleCnt="6">
        <dgm:presLayoutVars>
          <dgm:bulletEnabled val="1"/>
        </dgm:presLayoutVars>
      </dgm:prSet>
      <dgm:spPr/>
      <dgm:t>
        <a:bodyPr/>
        <a:lstStyle/>
        <a:p>
          <a:endParaRPr lang="fr-FR"/>
        </a:p>
      </dgm:t>
    </dgm:pt>
    <dgm:pt modelId="{55503737-9085-49A6-9880-23253367A2AD}" type="pres">
      <dgm:prSet presAssocID="{0197AC55-0CB0-4F13-96AF-D1884F751965}" presName="sibTrans" presStyleCnt="0"/>
      <dgm:spPr/>
    </dgm:pt>
    <dgm:pt modelId="{37BFA9BB-276B-4861-B165-32A45C24383B}" type="pres">
      <dgm:prSet presAssocID="{34824370-7802-48B3-80F5-CBD781551374}" presName="node" presStyleLbl="node1" presStyleIdx="3" presStyleCnt="6">
        <dgm:presLayoutVars>
          <dgm:bulletEnabled val="1"/>
        </dgm:presLayoutVars>
      </dgm:prSet>
      <dgm:spPr/>
      <dgm:t>
        <a:bodyPr/>
        <a:lstStyle/>
        <a:p>
          <a:endParaRPr lang="fr-FR"/>
        </a:p>
      </dgm:t>
    </dgm:pt>
    <dgm:pt modelId="{0B944FC5-1033-489D-A342-18E8422D7ABF}" type="pres">
      <dgm:prSet presAssocID="{375061D6-617E-4B15-8F3F-E77549F4C676}" presName="sibTrans" presStyleCnt="0"/>
      <dgm:spPr/>
    </dgm:pt>
    <dgm:pt modelId="{C0A1DC9F-9D04-45BC-9F46-0C006FBF946D}" type="pres">
      <dgm:prSet presAssocID="{8C7BFFC3-4E36-4769-B9B3-2AAA1023EFAE}" presName="node" presStyleLbl="node1" presStyleIdx="4" presStyleCnt="6">
        <dgm:presLayoutVars>
          <dgm:bulletEnabled val="1"/>
        </dgm:presLayoutVars>
      </dgm:prSet>
      <dgm:spPr/>
      <dgm:t>
        <a:bodyPr/>
        <a:lstStyle/>
        <a:p>
          <a:endParaRPr lang="fr-FR"/>
        </a:p>
      </dgm:t>
    </dgm:pt>
    <dgm:pt modelId="{E88127E0-2BFE-425A-86EF-3A6B90B5CDF6}" type="pres">
      <dgm:prSet presAssocID="{A19A082B-7127-4285-8C8C-DB2796B0656E}" presName="sibTrans" presStyleCnt="0"/>
      <dgm:spPr/>
    </dgm:pt>
    <dgm:pt modelId="{A98CE990-26BA-4031-9FB9-30BD12EF4241}" type="pres">
      <dgm:prSet presAssocID="{96F196EF-34C6-4805-84C8-F0F4163073A0}" presName="node" presStyleLbl="node1" presStyleIdx="5" presStyleCnt="6">
        <dgm:presLayoutVars>
          <dgm:bulletEnabled val="1"/>
        </dgm:presLayoutVars>
      </dgm:prSet>
      <dgm:spPr/>
      <dgm:t>
        <a:bodyPr/>
        <a:lstStyle/>
        <a:p>
          <a:endParaRPr lang="fr-FR"/>
        </a:p>
      </dgm:t>
    </dgm:pt>
  </dgm:ptLst>
  <dgm:cxnLst>
    <dgm:cxn modelId="{B7276865-6E66-4B80-B802-363E6EBF2B0D}" type="presOf" srcId="{34824370-7802-48B3-80F5-CBD781551374}" destId="{37BFA9BB-276B-4861-B165-32A45C24383B}" srcOrd="0" destOrd="0" presId="urn:microsoft.com/office/officeart/2005/8/layout/hList6"/>
    <dgm:cxn modelId="{F1F63DD2-CB30-49EA-830A-774E05CFDAD1}" type="presOf" srcId="{17C1AD4B-0729-4D8B-A725-7C3C2C86B8B2}" destId="{8C3FA4F4-5BFE-4B52-B635-19213BD0679F}" srcOrd="0" destOrd="0" presId="urn:microsoft.com/office/officeart/2005/8/layout/hList6"/>
    <dgm:cxn modelId="{86D2E34C-BA9F-4771-A77F-B7ACF7513B40}" type="presOf" srcId="{9763487B-118E-48CF-B7D7-87DA2FB4F064}" destId="{1EC0A236-15C2-4E02-A710-31B1980E9BC8}" srcOrd="0" destOrd="0" presId="urn:microsoft.com/office/officeart/2005/8/layout/hList6"/>
    <dgm:cxn modelId="{D03980ED-94C0-48CA-9402-822FCD3F9314}" srcId="{17C1AD4B-0729-4D8B-A725-7C3C2C86B8B2}" destId="{E6D50E96-2872-4B5F-8D0F-F6AE8625FA0C}" srcOrd="0" destOrd="0" parTransId="{EA900285-08A2-43C0-8814-B88B1951F87D}" sibTransId="{9693572D-CC8F-4587-8E0C-904A2B6B2594}"/>
    <dgm:cxn modelId="{3537535E-AD59-404E-ACA0-072D978A1F9B}" srcId="{17C1AD4B-0729-4D8B-A725-7C3C2C86B8B2}" destId="{96F196EF-34C6-4805-84C8-F0F4163073A0}" srcOrd="5" destOrd="0" parTransId="{9BC8FE2A-CEBB-4BD4-BA99-9CE9B49DA0A1}" sibTransId="{C0570C00-FD0E-4279-B988-3BAD16A8A328}"/>
    <dgm:cxn modelId="{07893024-DC90-4668-A861-72913A168CC2}" srcId="{17C1AD4B-0729-4D8B-A725-7C3C2C86B8B2}" destId="{9763487B-118E-48CF-B7D7-87DA2FB4F064}" srcOrd="1" destOrd="0" parTransId="{8DE108D9-2AC7-435F-AC40-9FC7F6B44427}" sibTransId="{75DC4AE5-C7F3-4EB6-B97B-06857ED936E2}"/>
    <dgm:cxn modelId="{EC232128-5C91-4E78-8F3B-C8E128C3A679}" srcId="{17C1AD4B-0729-4D8B-A725-7C3C2C86B8B2}" destId="{8C7BFFC3-4E36-4769-B9B3-2AAA1023EFAE}" srcOrd="4" destOrd="0" parTransId="{237CE5F8-2429-489F-9239-57BD4FF563A3}" sibTransId="{A19A082B-7127-4285-8C8C-DB2796B0656E}"/>
    <dgm:cxn modelId="{4D8A288E-E6E8-4968-83AF-6787954EA611}" type="presOf" srcId="{E6D50E96-2872-4B5F-8D0F-F6AE8625FA0C}" destId="{8C9366DF-EE87-44D9-87D3-3D099386611A}" srcOrd="0" destOrd="0" presId="urn:microsoft.com/office/officeart/2005/8/layout/hList6"/>
    <dgm:cxn modelId="{CEBAFB7E-C580-4148-9CD8-A3D60B1B2837}" srcId="{17C1AD4B-0729-4D8B-A725-7C3C2C86B8B2}" destId="{FD54CDD6-2046-45C1-ACD7-5F3A10FE06AB}" srcOrd="2" destOrd="0" parTransId="{24183F9C-F2B3-48DE-B52D-8EBDFDCEF59F}" sibTransId="{0197AC55-0CB0-4F13-96AF-D1884F751965}"/>
    <dgm:cxn modelId="{A8E0C6BB-0520-40D8-B56A-F25C46C41C23}" type="presOf" srcId="{96F196EF-34C6-4805-84C8-F0F4163073A0}" destId="{A98CE990-26BA-4031-9FB9-30BD12EF4241}" srcOrd="0" destOrd="0" presId="urn:microsoft.com/office/officeart/2005/8/layout/hList6"/>
    <dgm:cxn modelId="{511E7906-C0E8-4E98-B92B-51B11C2B0D36}" type="presOf" srcId="{FD54CDD6-2046-45C1-ACD7-5F3A10FE06AB}" destId="{971B69C2-7448-4547-A3D0-AB0C12B087F6}" srcOrd="0" destOrd="0" presId="urn:microsoft.com/office/officeart/2005/8/layout/hList6"/>
    <dgm:cxn modelId="{810C9227-23E7-44AF-99C5-56D323B60AA0}" type="presOf" srcId="{8C7BFFC3-4E36-4769-B9B3-2AAA1023EFAE}" destId="{C0A1DC9F-9D04-45BC-9F46-0C006FBF946D}" srcOrd="0" destOrd="0" presId="urn:microsoft.com/office/officeart/2005/8/layout/hList6"/>
    <dgm:cxn modelId="{6984FC60-85EF-45E0-AEEF-2BB0B7B538A6}" srcId="{17C1AD4B-0729-4D8B-A725-7C3C2C86B8B2}" destId="{34824370-7802-48B3-80F5-CBD781551374}" srcOrd="3" destOrd="0" parTransId="{F3102521-F517-4D92-9686-A69FF01F5DD5}" sibTransId="{375061D6-617E-4B15-8F3F-E77549F4C676}"/>
    <dgm:cxn modelId="{1BB1001F-3B6E-4D1A-85D2-014835F1AA46}" type="presParOf" srcId="{8C3FA4F4-5BFE-4B52-B635-19213BD0679F}" destId="{8C9366DF-EE87-44D9-87D3-3D099386611A}" srcOrd="0" destOrd="0" presId="urn:microsoft.com/office/officeart/2005/8/layout/hList6"/>
    <dgm:cxn modelId="{7EDFD204-7300-4DAE-A88E-3799781E2BE5}" type="presParOf" srcId="{8C3FA4F4-5BFE-4B52-B635-19213BD0679F}" destId="{D32E4F6C-CACA-4CF2-B0AD-BD313CBBFAA9}" srcOrd="1" destOrd="0" presId="urn:microsoft.com/office/officeart/2005/8/layout/hList6"/>
    <dgm:cxn modelId="{461BF5CD-C2B7-4FB9-8CC9-3DD965CBB145}" type="presParOf" srcId="{8C3FA4F4-5BFE-4B52-B635-19213BD0679F}" destId="{1EC0A236-15C2-4E02-A710-31B1980E9BC8}" srcOrd="2" destOrd="0" presId="urn:microsoft.com/office/officeart/2005/8/layout/hList6"/>
    <dgm:cxn modelId="{7E9DC436-383C-4893-A95F-75A7D136D645}" type="presParOf" srcId="{8C3FA4F4-5BFE-4B52-B635-19213BD0679F}" destId="{64361CFC-48C1-4494-9DBC-D2036018BF3B}" srcOrd="3" destOrd="0" presId="urn:microsoft.com/office/officeart/2005/8/layout/hList6"/>
    <dgm:cxn modelId="{C892A26C-C290-4F4E-9F18-AAAB090595F4}" type="presParOf" srcId="{8C3FA4F4-5BFE-4B52-B635-19213BD0679F}" destId="{971B69C2-7448-4547-A3D0-AB0C12B087F6}" srcOrd="4" destOrd="0" presId="urn:microsoft.com/office/officeart/2005/8/layout/hList6"/>
    <dgm:cxn modelId="{0D2E76EA-738A-4AA0-B884-1930B2E81DEB}" type="presParOf" srcId="{8C3FA4F4-5BFE-4B52-B635-19213BD0679F}" destId="{55503737-9085-49A6-9880-23253367A2AD}" srcOrd="5" destOrd="0" presId="urn:microsoft.com/office/officeart/2005/8/layout/hList6"/>
    <dgm:cxn modelId="{E0649D6A-3C1A-4E1C-8B0A-FBFAAF25A8D1}" type="presParOf" srcId="{8C3FA4F4-5BFE-4B52-B635-19213BD0679F}" destId="{37BFA9BB-276B-4861-B165-32A45C24383B}" srcOrd="6" destOrd="0" presId="urn:microsoft.com/office/officeart/2005/8/layout/hList6"/>
    <dgm:cxn modelId="{ECCC0BA4-3076-4D50-9391-9B780D88EBD8}" type="presParOf" srcId="{8C3FA4F4-5BFE-4B52-B635-19213BD0679F}" destId="{0B944FC5-1033-489D-A342-18E8422D7ABF}" srcOrd="7" destOrd="0" presId="urn:microsoft.com/office/officeart/2005/8/layout/hList6"/>
    <dgm:cxn modelId="{DC2840CE-C362-4770-AE2A-3D21EA2C623E}" type="presParOf" srcId="{8C3FA4F4-5BFE-4B52-B635-19213BD0679F}" destId="{C0A1DC9F-9D04-45BC-9F46-0C006FBF946D}" srcOrd="8" destOrd="0" presId="urn:microsoft.com/office/officeart/2005/8/layout/hList6"/>
    <dgm:cxn modelId="{627D648C-F577-463C-A262-2C2F46B7E0F8}" type="presParOf" srcId="{8C3FA4F4-5BFE-4B52-B635-19213BD0679F}" destId="{E88127E0-2BFE-425A-86EF-3A6B90B5CDF6}" srcOrd="9" destOrd="0" presId="urn:microsoft.com/office/officeart/2005/8/layout/hList6"/>
    <dgm:cxn modelId="{9081954E-7EAE-4A87-89A4-522FB360BCD8}" type="presParOf" srcId="{8C3FA4F4-5BFE-4B52-B635-19213BD0679F}" destId="{A98CE990-26BA-4031-9FB9-30BD12EF4241}" srcOrd="10" destOrd="0" presId="urn:microsoft.com/office/officeart/2005/8/layout/hList6"/>
  </dgm:cxnLst>
  <dgm:bg/>
  <dgm:whole/>
</dgm:dataModel>
</file>

<file path=ppt/diagrams/data5.xml><?xml version="1.0" encoding="utf-8"?>
<dgm:dataModel xmlns:dgm="http://schemas.openxmlformats.org/drawingml/2006/diagram" xmlns:a="http://schemas.openxmlformats.org/drawingml/2006/main">
  <dgm:ptLst>
    <dgm:pt modelId="{A45C6887-A8A6-471E-962C-82E53D4112F0}"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endParaRPr lang="fr-FR"/>
        </a:p>
      </dgm:t>
    </dgm:pt>
    <dgm:pt modelId="{8DE1C14C-C356-406C-8DAD-BC0E43EC40EA}">
      <dgm:prSet phldrT="[Texte]" custT="1"/>
      <dgm:spPr/>
      <dgm:t>
        <a:bodyPr/>
        <a:lstStyle/>
        <a:p>
          <a:r>
            <a:rPr lang="fr-FR" sz="1400" b="1" dirty="0"/>
            <a:t>INNOVATION ADJASANTE</a:t>
          </a:r>
        </a:p>
        <a:p>
          <a:r>
            <a:rPr lang="fr-FR" sz="1400" b="1" dirty="0"/>
            <a:t>Amélioration d’un produit </a:t>
          </a:r>
        </a:p>
        <a:p>
          <a:r>
            <a:rPr lang="fr-FR" sz="1400" b="1" dirty="0"/>
            <a:t>existant pour lui procurer </a:t>
          </a:r>
        </a:p>
        <a:p>
          <a:r>
            <a:rPr lang="fr-FR" sz="1400" b="1" dirty="0"/>
            <a:t>un avantage concurrentiel.</a:t>
          </a:r>
        </a:p>
      </dgm:t>
    </dgm:pt>
    <dgm:pt modelId="{907BEAD7-AAE5-445D-9F30-21085A873CAD}" type="parTrans" cxnId="{301A0E30-5267-4E66-840C-35AF1656C2F8}">
      <dgm:prSet/>
      <dgm:spPr/>
      <dgm:t>
        <a:bodyPr/>
        <a:lstStyle/>
        <a:p>
          <a:endParaRPr lang="fr-FR"/>
        </a:p>
      </dgm:t>
    </dgm:pt>
    <dgm:pt modelId="{946C98E2-BAB8-4482-AD46-CE74EB85EE0E}" type="sibTrans" cxnId="{301A0E30-5267-4E66-840C-35AF1656C2F8}">
      <dgm:prSet/>
      <dgm:spPr/>
      <dgm:t>
        <a:bodyPr/>
        <a:lstStyle/>
        <a:p>
          <a:endParaRPr lang="fr-FR"/>
        </a:p>
      </dgm:t>
    </dgm:pt>
    <dgm:pt modelId="{53B2B409-7692-4826-A3D0-53E824D6123C}">
      <dgm:prSet phldrT="[Texte]" custT="1"/>
      <dgm:spPr/>
      <dgm:t>
        <a:bodyPr/>
        <a:lstStyle/>
        <a:p>
          <a:r>
            <a:rPr lang="fr-FR" sz="1400" b="1" dirty="0"/>
            <a:t>INNOVATION RADICALE</a:t>
          </a:r>
        </a:p>
        <a:p>
          <a:r>
            <a:rPr lang="fr-FR" sz="1400" b="1" dirty="0"/>
            <a:t>commercialisation</a:t>
          </a:r>
        </a:p>
        <a:p>
          <a:r>
            <a:rPr lang="fr-FR" sz="1400" b="1" dirty="0"/>
            <a:t>d’un tout nouveau</a:t>
          </a:r>
        </a:p>
        <a:p>
          <a:r>
            <a:rPr lang="fr-FR" sz="1400" b="1" dirty="0"/>
            <a:t>produit, service ou </a:t>
          </a:r>
          <a:r>
            <a:rPr lang="fr-FR" sz="1400" b="1" dirty="0" smtClean="0"/>
            <a:t>processus.</a:t>
          </a:r>
          <a:endParaRPr lang="fr-FR" sz="1400" b="1" dirty="0"/>
        </a:p>
        <a:p>
          <a:r>
            <a:rPr lang="fr-FR" sz="1400" b="1" dirty="0"/>
            <a:t>L’innovation crée de nouveaux usages.</a:t>
          </a:r>
        </a:p>
      </dgm:t>
    </dgm:pt>
    <dgm:pt modelId="{1E99D38A-68D4-4AE5-A943-2038A349FE58}" type="parTrans" cxnId="{6D9C61C2-3E12-49DD-9DC8-8907788D7F36}">
      <dgm:prSet/>
      <dgm:spPr/>
      <dgm:t>
        <a:bodyPr/>
        <a:lstStyle/>
        <a:p>
          <a:endParaRPr lang="fr-FR"/>
        </a:p>
      </dgm:t>
    </dgm:pt>
    <dgm:pt modelId="{ED059248-CC0C-436C-9DEB-EF48E69B83DC}" type="sibTrans" cxnId="{6D9C61C2-3E12-49DD-9DC8-8907788D7F36}">
      <dgm:prSet/>
      <dgm:spPr/>
      <dgm:t>
        <a:bodyPr/>
        <a:lstStyle/>
        <a:p>
          <a:endParaRPr lang="fr-FR"/>
        </a:p>
      </dgm:t>
    </dgm:pt>
    <dgm:pt modelId="{58F69E3B-5FC5-4F0A-B16B-38AC043005B5}">
      <dgm:prSet phldrT="[Texte]" custT="1"/>
      <dgm:spPr/>
      <dgm:t>
        <a:bodyPr/>
        <a:lstStyle/>
        <a:p>
          <a:r>
            <a:rPr lang="fr-FR" sz="1400" b="1" dirty="0"/>
            <a:t>INNOVATION INCREMENTALE</a:t>
          </a:r>
        </a:p>
        <a:p>
          <a:r>
            <a:rPr lang="fr-FR" sz="1400" b="1" dirty="0"/>
            <a:t>Amélioration d’un produit</a:t>
          </a:r>
        </a:p>
        <a:p>
          <a:r>
            <a:rPr lang="fr-FR" sz="1400" b="1" dirty="0"/>
            <a:t>existant sur le marché</a:t>
          </a:r>
        </a:p>
        <a:p>
          <a:r>
            <a:rPr lang="fr-FR" sz="1400" b="1" dirty="0"/>
            <a:t>par l’ajout de nouvelles</a:t>
          </a:r>
        </a:p>
        <a:p>
          <a:r>
            <a:rPr lang="fr-FR" sz="1400" b="1" dirty="0"/>
            <a:t>fonctionnalités.</a:t>
          </a:r>
        </a:p>
      </dgm:t>
    </dgm:pt>
    <dgm:pt modelId="{B27D08F2-AEDC-4C91-A0E7-B1A0BCBF7586}" type="parTrans" cxnId="{711D8159-B600-44EF-893F-0D91B19FCF52}">
      <dgm:prSet/>
      <dgm:spPr/>
      <dgm:t>
        <a:bodyPr/>
        <a:lstStyle/>
        <a:p>
          <a:endParaRPr lang="fr-FR"/>
        </a:p>
      </dgm:t>
    </dgm:pt>
    <dgm:pt modelId="{53CF07D2-97D5-4D35-B770-2BE00A2E62B8}" type="sibTrans" cxnId="{711D8159-B600-44EF-893F-0D91B19FCF52}">
      <dgm:prSet/>
      <dgm:spPr/>
      <dgm:t>
        <a:bodyPr/>
        <a:lstStyle/>
        <a:p>
          <a:endParaRPr lang="fr-FR"/>
        </a:p>
      </dgm:t>
    </dgm:pt>
    <dgm:pt modelId="{88334769-C7B0-4B1C-939E-F00B73A49A03}">
      <dgm:prSet phldrT="[Texte]" custT="1"/>
      <dgm:spPr/>
      <dgm:t>
        <a:bodyPr/>
        <a:lstStyle/>
        <a:p>
          <a:r>
            <a:rPr lang="fr-FR" sz="1400" b="1" dirty="0"/>
            <a:t>INNOVATION DISTRUPTIVE</a:t>
          </a:r>
        </a:p>
        <a:p>
          <a:r>
            <a:rPr lang="fr-FR" sz="1400" b="1" dirty="0"/>
            <a:t>Proposition d’un produit </a:t>
          </a:r>
          <a:r>
            <a:rPr lang="fr-FR" sz="1400" b="1" dirty="0" smtClean="0"/>
            <a:t>ou service </a:t>
          </a:r>
          <a:r>
            <a:rPr lang="fr-FR" sz="1400" dirty="0" smtClean="0">
              <a:latin typeface="Arial" pitchFamily="34" charset="0"/>
              <a:cs typeface="Arial" pitchFamily="34" charset="0"/>
            </a:rPr>
            <a:t>innovant qui bouleverse complètement un marché </a:t>
          </a:r>
          <a:r>
            <a:rPr lang="fr-FR" sz="1400" b="1" dirty="0" smtClean="0"/>
            <a:t>Cela </a:t>
          </a:r>
          <a:r>
            <a:rPr lang="fr-FR" sz="1400" b="1" dirty="0"/>
            <a:t>provoque une rupture</a:t>
          </a:r>
        </a:p>
        <a:p>
          <a:r>
            <a:rPr lang="fr-FR" sz="1400" b="1" dirty="0"/>
            <a:t>dans l’ancien modèle d’affaires</a:t>
          </a:r>
        </a:p>
      </dgm:t>
    </dgm:pt>
    <dgm:pt modelId="{D6D1D74B-3DF8-45AB-A5A4-ACBE81CAD748}" type="parTrans" cxnId="{B244D5DE-162D-45F4-9239-F187E614961A}">
      <dgm:prSet/>
      <dgm:spPr/>
      <dgm:t>
        <a:bodyPr/>
        <a:lstStyle/>
        <a:p>
          <a:endParaRPr lang="fr-FR"/>
        </a:p>
      </dgm:t>
    </dgm:pt>
    <dgm:pt modelId="{19EEB95D-E44E-4E6A-96F4-280624F8090F}" type="sibTrans" cxnId="{B244D5DE-162D-45F4-9239-F187E614961A}">
      <dgm:prSet/>
      <dgm:spPr/>
      <dgm:t>
        <a:bodyPr/>
        <a:lstStyle/>
        <a:p>
          <a:endParaRPr lang="fr-FR"/>
        </a:p>
      </dgm:t>
    </dgm:pt>
    <dgm:pt modelId="{E5F2868F-736D-4218-B320-DDDFF1B85245}" type="pres">
      <dgm:prSet presAssocID="{A45C6887-A8A6-471E-962C-82E53D4112F0}" presName="matrix" presStyleCnt="0">
        <dgm:presLayoutVars>
          <dgm:chMax val="1"/>
          <dgm:dir/>
          <dgm:resizeHandles val="exact"/>
        </dgm:presLayoutVars>
      </dgm:prSet>
      <dgm:spPr/>
      <dgm:t>
        <a:bodyPr/>
        <a:lstStyle/>
        <a:p>
          <a:endParaRPr lang="fr-FR"/>
        </a:p>
      </dgm:t>
    </dgm:pt>
    <dgm:pt modelId="{B2812278-20E7-4266-930C-02D6FB660EFB}" type="pres">
      <dgm:prSet presAssocID="{A45C6887-A8A6-471E-962C-82E53D4112F0}" presName="axisShape" presStyleLbl="bgShp" presStyleIdx="0" presStyleCnt="1"/>
      <dgm:spPr/>
    </dgm:pt>
    <dgm:pt modelId="{BA85860E-E5A7-42D7-8711-298756FB31A6}" type="pres">
      <dgm:prSet presAssocID="{A45C6887-A8A6-471E-962C-82E53D4112F0}" presName="rect1" presStyleLbl="node1" presStyleIdx="0" presStyleCnt="4" custScaleX="187687" custLinFactX="77988" custLinFactY="-625" custLinFactNeighborX="100000" custLinFactNeighborY="-100000">
        <dgm:presLayoutVars>
          <dgm:chMax val="0"/>
          <dgm:chPref val="0"/>
          <dgm:bulletEnabled val="1"/>
        </dgm:presLayoutVars>
      </dgm:prSet>
      <dgm:spPr/>
      <dgm:t>
        <a:bodyPr/>
        <a:lstStyle/>
        <a:p>
          <a:endParaRPr lang="fr-FR"/>
        </a:p>
      </dgm:t>
    </dgm:pt>
    <dgm:pt modelId="{BAB07689-D933-4F6E-9A1F-1E3E2544373C}" type="pres">
      <dgm:prSet presAssocID="{A45C6887-A8A6-471E-962C-82E53D4112F0}" presName="rect2" presStyleLbl="node1" presStyleIdx="1" presStyleCnt="4" custScaleX="186622" custScaleY="100202" custLinFactY="23118" custLinFactNeighborX="68471" custLinFactNeighborY="100000">
        <dgm:presLayoutVars>
          <dgm:chMax val="0"/>
          <dgm:chPref val="0"/>
          <dgm:bulletEnabled val="1"/>
        </dgm:presLayoutVars>
      </dgm:prSet>
      <dgm:spPr/>
      <dgm:t>
        <a:bodyPr/>
        <a:lstStyle/>
        <a:p>
          <a:endParaRPr lang="fr-FR"/>
        </a:p>
      </dgm:t>
    </dgm:pt>
    <dgm:pt modelId="{A491644D-74CD-404C-A0BB-DB72F15E2FB4}" type="pres">
      <dgm:prSet presAssocID="{A45C6887-A8A6-471E-962C-82E53D4112F0}" presName="rect3" presStyleLbl="node1" presStyleIdx="2" presStyleCnt="4" custScaleX="183950" custLinFactY="-29076" custLinFactNeighborX="-65217" custLinFactNeighborY="-100000">
        <dgm:presLayoutVars>
          <dgm:chMax val="0"/>
          <dgm:chPref val="0"/>
          <dgm:bulletEnabled val="1"/>
        </dgm:presLayoutVars>
      </dgm:prSet>
      <dgm:spPr/>
      <dgm:t>
        <a:bodyPr/>
        <a:lstStyle/>
        <a:p>
          <a:endParaRPr lang="fr-FR"/>
        </a:p>
      </dgm:t>
    </dgm:pt>
    <dgm:pt modelId="{03EC5A8F-EAF1-4B39-A28A-C37FB0EFBC5C}" type="pres">
      <dgm:prSet presAssocID="{A45C6887-A8A6-471E-962C-82E53D4112F0}" presName="rect4" presStyleLbl="node1" presStyleIdx="3" presStyleCnt="4" custScaleX="192100" custLinFactX="-89178" custLinFactNeighborX="-100000" custLinFactNeighborY="6735">
        <dgm:presLayoutVars>
          <dgm:chMax val="0"/>
          <dgm:chPref val="0"/>
          <dgm:bulletEnabled val="1"/>
        </dgm:presLayoutVars>
      </dgm:prSet>
      <dgm:spPr/>
      <dgm:t>
        <a:bodyPr/>
        <a:lstStyle/>
        <a:p>
          <a:endParaRPr lang="fr-FR"/>
        </a:p>
      </dgm:t>
    </dgm:pt>
  </dgm:ptLst>
  <dgm:cxnLst>
    <dgm:cxn modelId="{B244D5DE-162D-45F4-9239-F187E614961A}" srcId="{A45C6887-A8A6-471E-962C-82E53D4112F0}" destId="{88334769-C7B0-4B1C-939E-F00B73A49A03}" srcOrd="3" destOrd="0" parTransId="{D6D1D74B-3DF8-45AB-A5A4-ACBE81CAD748}" sibTransId="{19EEB95D-E44E-4E6A-96F4-280624F8090F}"/>
    <dgm:cxn modelId="{93879D1B-6005-4B89-A728-2D6AE7E11C4D}" type="presOf" srcId="{53B2B409-7692-4826-A3D0-53E824D6123C}" destId="{BAB07689-D933-4F6E-9A1F-1E3E2544373C}" srcOrd="0" destOrd="0" presId="urn:microsoft.com/office/officeart/2005/8/layout/matrix2"/>
    <dgm:cxn modelId="{6D9C61C2-3E12-49DD-9DC8-8907788D7F36}" srcId="{A45C6887-A8A6-471E-962C-82E53D4112F0}" destId="{53B2B409-7692-4826-A3D0-53E824D6123C}" srcOrd="1" destOrd="0" parTransId="{1E99D38A-68D4-4AE5-A943-2038A349FE58}" sibTransId="{ED059248-CC0C-436C-9DEB-EF48E69B83DC}"/>
    <dgm:cxn modelId="{40A8DD66-65CD-4876-A9B4-442661793FCD}" type="presOf" srcId="{8DE1C14C-C356-406C-8DAD-BC0E43EC40EA}" destId="{BA85860E-E5A7-42D7-8711-298756FB31A6}" srcOrd="0" destOrd="0" presId="urn:microsoft.com/office/officeart/2005/8/layout/matrix2"/>
    <dgm:cxn modelId="{18468323-7900-4040-AC03-2A11F56C483F}" type="presOf" srcId="{A45C6887-A8A6-471E-962C-82E53D4112F0}" destId="{E5F2868F-736D-4218-B320-DDDFF1B85245}" srcOrd="0" destOrd="0" presId="urn:microsoft.com/office/officeart/2005/8/layout/matrix2"/>
    <dgm:cxn modelId="{301A0E30-5267-4E66-840C-35AF1656C2F8}" srcId="{A45C6887-A8A6-471E-962C-82E53D4112F0}" destId="{8DE1C14C-C356-406C-8DAD-BC0E43EC40EA}" srcOrd="0" destOrd="0" parTransId="{907BEAD7-AAE5-445D-9F30-21085A873CAD}" sibTransId="{946C98E2-BAB8-4482-AD46-CE74EB85EE0E}"/>
    <dgm:cxn modelId="{670C29DF-2A9C-4E4A-B13B-44FB6FEB9470}" type="presOf" srcId="{58F69E3B-5FC5-4F0A-B16B-38AC043005B5}" destId="{A491644D-74CD-404C-A0BB-DB72F15E2FB4}" srcOrd="0" destOrd="0" presId="urn:microsoft.com/office/officeart/2005/8/layout/matrix2"/>
    <dgm:cxn modelId="{711D8159-B600-44EF-893F-0D91B19FCF52}" srcId="{A45C6887-A8A6-471E-962C-82E53D4112F0}" destId="{58F69E3B-5FC5-4F0A-B16B-38AC043005B5}" srcOrd="2" destOrd="0" parTransId="{B27D08F2-AEDC-4C91-A0E7-B1A0BCBF7586}" sibTransId="{53CF07D2-97D5-4D35-B770-2BE00A2E62B8}"/>
    <dgm:cxn modelId="{6FFBD1CD-59C2-4C63-9159-0B4C5C096915}" type="presOf" srcId="{88334769-C7B0-4B1C-939E-F00B73A49A03}" destId="{03EC5A8F-EAF1-4B39-A28A-C37FB0EFBC5C}" srcOrd="0" destOrd="0" presId="urn:microsoft.com/office/officeart/2005/8/layout/matrix2"/>
    <dgm:cxn modelId="{85904F7D-3A70-415E-B1D0-168F172153EA}" type="presParOf" srcId="{E5F2868F-736D-4218-B320-DDDFF1B85245}" destId="{B2812278-20E7-4266-930C-02D6FB660EFB}" srcOrd="0" destOrd="0" presId="urn:microsoft.com/office/officeart/2005/8/layout/matrix2"/>
    <dgm:cxn modelId="{D5F8C90E-CE0C-44DA-9668-9FC43AD601FC}" type="presParOf" srcId="{E5F2868F-736D-4218-B320-DDDFF1B85245}" destId="{BA85860E-E5A7-42D7-8711-298756FB31A6}" srcOrd="1" destOrd="0" presId="urn:microsoft.com/office/officeart/2005/8/layout/matrix2"/>
    <dgm:cxn modelId="{B0804D58-F0CA-4E9B-8D82-55CCBBFBA5D9}" type="presParOf" srcId="{E5F2868F-736D-4218-B320-DDDFF1B85245}" destId="{BAB07689-D933-4F6E-9A1F-1E3E2544373C}" srcOrd="2" destOrd="0" presId="urn:microsoft.com/office/officeart/2005/8/layout/matrix2"/>
    <dgm:cxn modelId="{682B2B2D-5BB3-48F0-AD80-EADD674A1CF0}" type="presParOf" srcId="{E5F2868F-736D-4218-B320-DDDFF1B85245}" destId="{A491644D-74CD-404C-A0BB-DB72F15E2FB4}" srcOrd="3" destOrd="0" presId="urn:microsoft.com/office/officeart/2005/8/layout/matrix2"/>
    <dgm:cxn modelId="{C0DD0FE2-0063-4C5E-A3D7-3C836EAFB832}" type="presParOf" srcId="{E5F2868F-736D-4218-B320-DDDFF1B85245}" destId="{03EC5A8F-EAF1-4B39-A28A-C37FB0EFBC5C}" srcOrd="4" destOrd="0" presId="urn:microsoft.com/office/officeart/2005/8/layout/matrix2"/>
  </dgm:cxnLst>
  <dgm:bg/>
  <dgm:whole/>
</dgm:dataModel>
</file>

<file path=ppt/diagrams/data6.xml><?xml version="1.0" encoding="utf-8"?>
<dgm:dataModel xmlns:dgm="http://schemas.openxmlformats.org/drawingml/2006/diagram" xmlns:a="http://schemas.openxmlformats.org/drawingml/2006/main">
  <dgm:ptLst>
    <dgm:pt modelId="{3823286F-7E7D-459C-AEA1-0E3A17D764F1}" type="doc">
      <dgm:prSet loTypeId="urn:microsoft.com/office/officeart/2005/8/layout/hProcess9" loCatId="process" qsTypeId="urn:microsoft.com/office/officeart/2005/8/quickstyle/simple1" qsCatId="simple" csTypeId="urn:microsoft.com/office/officeart/2005/8/colors/accent1_2" csCatId="accent1" phldr="1"/>
      <dgm:spPr/>
    </dgm:pt>
    <dgm:pt modelId="{8C250268-1860-4032-9840-23DBDF18955F}">
      <dgm:prSet phldrT="[Texte]" custT="1"/>
      <dgm:spPr/>
      <dgm:t>
        <a:bodyPr/>
        <a:lstStyle/>
        <a:p>
          <a:r>
            <a:rPr lang="fr-FR" sz="1400" dirty="0"/>
            <a:t>Connaissance et intellige</a:t>
          </a:r>
          <a:r>
            <a:rPr lang="fr-FR" sz="1200" dirty="0"/>
            <a:t>nce</a:t>
          </a:r>
        </a:p>
      </dgm:t>
    </dgm:pt>
    <dgm:pt modelId="{336EDA92-271E-46C3-A44F-B38ADB6EBDB6}" type="parTrans" cxnId="{78C3F683-4388-45F3-9935-7F161039B109}">
      <dgm:prSet/>
      <dgm:spPr/>
      <dgm:t>
        <a:bodyPr/>
        <a:lstStyle/>
        <a:p>
          <a:endParaRPr lang="fr-FR"/>
        </a:p>
      </dgm:t>
    </dgm:pt>
    <dgm:pt modelId="{8C3505CB-0094-4633-892E-630B29B43CBC}" type="sibTrans" cxnId="{78C3F683-4388-45F3-9935-7F161039B109}">
      <dgm:prSet/>
      <dgm:spPr/>
      <dgm:t>
        <a:bodyPr/>
        <a:lstStyle/>
        <a:p>
          <a:endParaRPr lang="fr-FR"/>
        </a:p>
      </dgm:t>
    </dgm:pt>
    <dgm:pt modelId="{341165F7-E8DF-4F65-AA83-D3D570EE19EA}">
      <dgm:prSet phldrT="[Texte]" custT="1"/>
      <dgm:spPr/>
      <dgm:t>
        <a:bodyPr/>
        <a:lstStyle/>
        <a:p>
          <a:r>
            <a:rPr lang="fr-FR" sz="1400" b="1" dirty="0"/>
            <a:t>Créativité</a:t>
          </a:r>
          <a:endParaRPr lang="fr-FR" sz="1400" dirty="0"/>
        </a:p>
      </dgm:t>
    </dgm:pt>
    <dgm:pt modelId="{DDC7400F-9DB9-4DD9-AB35-0CAB008F3591}" type="parTrans" cxnId="{31752A15-4F9E-40BA-A3D7-B0B541B7C463}">
      <dgm:prSet/>
      <dgm:spPr/>
      <dgm:t>
        <a:bodyPr/>
        <a:lstStyle/>
        <a:p>
          <a:endParaRPr lang="fr-FR"/>
        </a:p>
      </dgm:t>
    </dgm:pt>
    <dgm:pt modelId="{543C4A08-91F4-421F-8321-164930DEB155}" type="sibTrans" cxnId="{31752A15-4F9E-40BA-A3D7-B0B541B7C463}">
      <dgm:prSet/>
      <dgm:spPr/>
      <dgm:t>
        <a:bodyPr/>
        <a:lstStyle/>
        <a:p>
          <a:endParaRPr lang="fr-FR"/>
        </a:p>
      </dgm:t>
    </dgm:pt>
    <dgm:pt modelId="{D2B05EDF-965E-4E4C-9C24-3C45324B13FF}">
      <dgm:prSet phldrT="[Texte]" custT="1"/>
      <dgm:spPr/>
      <dgm:t>
        <a:bodyPr/>
        <a:lstStyle/>
        <a:p>
          <a:r>
            <a:rPr lang="fr-FR" sz="1400" b="1" dirty="0"/>
            <a:t>Trouver un marché au concept</a:t>
          </a:r>
          <a:endParaRPr lang="fr-FR" sz="1400" dirty="0"/>
        </a:p>
        <a:p>
          <a:endParaRPr lang="fr-FR" sz="1600" dirty="0"/>
        </a:p>
      </dgm:t>
    </dgm:pt>
    <dgm:pt modelId="{68C17721-AD90-406E-9BFE-535611F81BCB}" type="parTrans" cxnId="{CD7365D2-C96F-4E86-A498-2B5DA08F812F}">
      <dgm:prSet/>
      <dgm:spPr/>
      <dgm:t>
        <a:bodyPr/>
        <a:lstStyle/>
        <a:p>
          <a:endParaRPr lang="fr-FR"/>
        </a:p>
      </dgm:t>
    </dgm:pt>
    <dgm:pt modelId="{810B5823-E474-4700-A6A3-E0D6972C6946}" type="sibTrans" cxnId="{CD7365D2-C96F-4E86-A498-2B5DA08F812F}">
      <dgm:prSet/>
      <dgm:spPr/>
      <dgm:t>
        <a:bodyPr/>
        <a:lstStyle/>
        <a:p>
          <a:endParaRPr lang="fr-FR"/>
        </a:p>
      </dgm:t>
    </dgm:pt>
    <dgm:pt modelId="{056E7DF4-97D6-44B4-97A3-7B281B618E7D}">
      <dgm:prSet custT="1"/>
      <dgm:spPr/>
      <dgm:t>
        <a:bodyPr/>
        <a:lstStyle/>
        <a:p>
          <a:r>
            <a:rPr lang="fr-FR" sz="1400" b="1" dirty="0"/>
            <a:t>Une invention</a:t>
          </a:r>
          <a:endParaRPr lang="fr-FR" sz="1400" dirty="0"/>
        </a:p>
      </dgm:t>
    </dgm:pt>
    <dgm:pt modelId="{E8730E2F-E2FE-4E35-AE2E-6F383C0EC40B}" type="parTrans" cxnId="{474FC508-AE92-40F3-92C8-112588546D6B}">
      <dgm:prSet/>
      <dgm:spPr/>
      <dgm:t>
        <a:bodyPr/>
        <a:lstStyle/>
        <a:p>
          <a:endParaRPr lang="fr-FR"/>
        </a:p>
      </dgm:t>
    </dgm:pt>
    <dgm:pt modelId="{A92AC01F-981A-4572-8744-DD11AF8C025E}" type="sibTrans" cxnId="{474FC508-AE92-40F3-92C8-112588546D6B}">
      <dgm:prSet/>
      <dgm:spPr/>
      <dgm:t>
        <a:bodyPr/>
        <a:lstStyle/>
        <a:p>
          <a:endParaRPr lang="fr-FR"/>
        </a:p>
      </dgm:t>
    </dgm:pt>
    <dgm:pt modelId="{8F38ACA3-D6CB-43A6-B7D4-E54B8E202603}" type="pres">
      <dgm:prSet presAssocID="{3823286F-7E7D-459C-AEA1-0E3A17D764F1}" presName="CompostProcess" presStyleCnt="0">
        <dgm:presLayoutVars>
          <dgm:dir/>
          <dgm:resizeHandles val="exact"/>
        </dgm:presLayoutVars>
      </dgm:prSet>
      <dgm:spPr/>
    </dgm:pt>
    <dgm:pt modelId="{97E23DB8-6EDA-4C6A-8389-DE05B29F314E}" type="pres">
      <dgm:prSet presAssocID="{3823286F-7E7D-459C-AEA1-0E3A17D764F1}" presName="arrow" presStyleLbl="bgShp" presStyleIdx="0" presStyleCnt="1" custScaleX="117647"/>
      <dgm:spPr/>
    </dgm:pt>
    <dgm:pt modelId="{EAB076B0-3AEB-4FD5-B2D6-AF2446711AF7}" type="pres">
      <dgm:prSet presAssocID="{3823286F-7E7D-459C-AEA1-0E3A17D764F1}" presName="linearProcess" presStyleCnt="0"/>
      <dgm:spPr/>
    </dgm:pt>
    <dgm:pt modelId="{4816A61E-ABC0-411D-BA41-DFDE9AE83A4A}" type="pres">
      <dgm:prSet presAssocID="{8C250268-1860-4032-9840-23DBDF18955F}" presName="textNode" presStyleLbl="node1" presStyleIdx="0" presStyleCnt="4" custScaleX="53773" custLinFactX="-32421" custLinFactNeighborX="-100000" custLinFactNeighborY="-2232">
        <dgm:presLayoutVars>
          <dgm:bulletEnabled val="1"/>
        </dgm:presLayoutVars>
      </dgm:prSet>
      <dgm:spPr/>
      <dgm:t>
        <a:bodyPr/>
        <a:lstStyle/>
        <a:p>
          <a:endParaRPr lang="fr-FR"/>
        </a:p>
      </dgm:t>
    </dgm:pt>
    <dgm:pt modelId="{F1237292-C090-4F83-A9CA-68D683F0795F}" type="pres">
      <dgm:prSet presAssocID="{8C3505CB-0094-4633-892E-630B29B43CBC}" presName="sibTrans" presStyleCnt="0"/>
      <dgm:spPr/>
    </dgm:pt>
    <dgm:pt modelId="{7BF80398-CBBF-4C86-8A01-5DCE66999B0A}" type="pres">
      <dgm:prSet presAssocID="{341165F7-E8DF-4F65-AA83-D3D570EE19EA}" presName="textNode" presStyleLbl="node1" presStyleIdx="1" presStyleCnt="4" custScaleX="42700" custLinFactNeighborX="-60663" custLinFactNeighborY="744">
        <dgm:presLayoutVars>
          <dgm:bulletEnabled val="1"/>
        </dgm:presLayoutVars>
      </dgm:prSet>
      <dgm:spPr/>
      <dgm:t>
        <a:bodyPr/>
        <a:lstStyle/>
        <a:p>
          <a:endParaRPr lang="fr-FR"/>
        </a:p>
      </dgm:t>
    </dgm:pt>
    <dgm:pt modelId="{44C190D7-739F-4680-825E-58ABF37DBB0C}" type="pres">
      <dgm:prSet presAssocID="{543C4A08-91F4-421F-8321-164930DEB155}" presName="sibTrans" presStyleCnt="0"/>
      <dgm:spPr/>
    </dgm:pt>
    <dgm:pt modelId="{D3E9FDE8-F2E3-4B03-B025-EC5658093AE5}" type="pres">
      <dgm:prSet presAssocID="{D2B05EDF-965E-4E4C-9C24-3C45324B13FF}" presName="textNode" presStyleLbl="node1" presStyleIdx="2" presStyleCnt="4" custScaleX="49504" custLinFactX="18613" custLinFactNeighborX="100000" custLinFactNeighborY="0">
        <dgm:presLayoutVars>
          <dgm:bulletEnabled val="1"/>
        </dgm:presLayoutVars>
      </dgm:prSet>
      <dgm:spPr/>
      <dgm:t>
        <a:bodyPr/>
        <a:lstStyle/>
        <a:p>
          <a:endParaRPr lang="fr-FR"/>
        </a:p>
      </dgm:t>
    </dgm:pt>
    <dgm:pt modelId="{149EEC33-29CE-485E-8509-6997682A706E}" type="pres">
      <dgm:prSet presAssocID="{810B5823-E474-4700-A6A3-E0D6972C6946}" presName="sibTrans" presStyleCnt="0"/>
      <dgm:spPr/>
    </dgm:pt>
    <dgm:pt modelId="{41F28EFF-ACD2-4EBE-B57E-C31453BB37D3}" type="pres">
      <dgm:prSet presAssocID="{056E7DF4-97D6-44B4-97A3-7B281B618E7D}" presName="textNode" presStyleLbl="node1" presStyleIdx="3" presStyleCnt="4" custScaleX="35863" custLinFactX="-64275" custLinFactNeighborX="-100000" custLinFactNeighborY="-1488">
        <dgm:presLayoutVars>
          <dgm:bulletEnabled val="1"/>
        </dgm:presLayoutVars>
      </dgm:prSet>
      <dgm:spPr/>
      <dgm:t>
        <a:bodyPr/>
        <a:lstStyle/>
        <a:p>
          <a:endParaRPr lang="fr-FR"/>
        </a:p>
      </dgm:t>
    </dgm:pt>
  </dgm:ptLst>
  <dgm:cxnLst>
    <dgm:cxn modelId="{953AACA2-6F87-4F4D-9577-5FFA50CC6917}" type="presOf" srcId="{D2B05EDF-965E-4E4C-9C24-3C45324B13FF}" destId="{D3E9FDE8-F2E3-4B03-B025-EC5658093AE5}" srcOrd="0" destOrd="0" presId="urn:microsoft.com/office/officeart/2005/8/layout/hProcess9"/>
    <dgm:cxn modelId="{474FC508-AE92-40F3-92C8-112588546D6B}" srcId="{3823286F-7E7D-459C-AEA1-0E3A17D764F1}" destId="{056E7DF4-97D6-44B4-97A3-7B281B618E7D}" srcOrd="3" destOrd="0" parTransId="{E8730E2F-E2FE-4E35-AE2E-6F383C0EC40B}" sibTransId="{A92AC01F-981A-4572-8744-DD11AF8C025E}"/>
    <dgm:cxn modelId="{A1228EC6-06A1-4B70-A519-4AFF390917A9}" type="presOf" srcId="{341165F7-E8DF-4F65-AA83-D3D570EE19EA}" destId="{7BF80398-CBBF-4C86-8A01-5DCE66999B0A}" srcOrd="0" destOrd="0" presId="urn:microsoft.com/office/officeart/2005/8/layout/hProcess9"/>
    <dgm:cxn modelId="{89FEE399-BC36-4651-99E2-BD30829FB476}" type="presOf" srcId="{056E7DF4-97D6-44B4-97A3-7B281B618E7D}" destId="{41F28EFF-ACD2-4EBE-B57E-C31453BB37D3}" srcOrd="0" destOrd="0" presId="urn:microsoft.com/office/officeart/2005/8/layout/hProcess9"/>
    <dgm:cxn modelId="{52275478-C440-4061-B26A-1A2F3B553989}" type="presOf" srcId="{3823286F-7E7D-459C-AEA1-0E3A17D764F1}" destId="{8F38ACA3-D6CB-43A6-B7D4-E54B8E202603}" srcOrd="0" destOrd="0" presId="urn:microsoft.com/office/officeart/2005/8/layout/hProcess9"/>
    <dgm:cxn modelId="{31752A15-4F9E-40BA-A3D7-B0B541B7C463}" srcId="{3823286F-7E7D-459C-AEA1-0E3A17D764F1}" destId="{341165F7-E8DF-4F65-AA83-D3D570EE19EA}" srcOrd="1" destOrd="0" parTransId="{DDC7400F-9DB9-4DD9-AB35-0CAB008F3591}" sibTransId="{543C4A08-91F4-421F-8321-164930DEB155}"/>
    <dgm:cxn modelId="{BF7C31AF-37BF-4D21-8FD4-FECED8B4CA91}" type="presOf" srcId="{8C250268-1860-4032-9840-23DBDF18955F}" destId="{4816A61E-ABC0-411D-BA41-DFDE9AE83A4A}" srcOrd="0" destOrd="0" presId="urn:microsoft.com/office/officeart/2005/8/layout/hProcess9"/>
    <dgm:cxn modelId="{78C3F683-4388-45F3-9935-7F161039B109}" srcId="{3823286F-7E7D-459C-AEA1-0E3A17D764F1}" destId="{8C250268-1860-4032-9840-23DBDF18955F}" srcOrd="0" destOrd="0" parTransId="{336EDA92-271E-46C3-A44F-B38ADB6EBDB6}" sibTransId="{8C3505CB-0094-4633-892E-630B29B43CBC}"/>
    <dgm:cxn modelId="{CD7365D2-C96F-4E86-A498-2B5DA08F812F}" srcId="{3823286F-7E7D-459C-AEA1-0E3A17D764F1}" destId="{D2B05EDF-965E-4E4C-9C24-3C45324B13FF}" srcOrd="2" destOrd="0" parTransId="{68C17721-AD90-406E-9BFE-535611F81BCB}" sibTransId="{810B5823-E474-4700-A6A3-E0D6972C6946}"/>
    <dgm:cxn modelId="{E20AA6B4-0BBD-4C15-8511-5552428BEED7}" type="presParOf" srcId="{8F38ACA3-D6CB-43A6-B7D4-E54B8E202603}" destId="{97E23DB8-6EDA-4C6A-8389-DE05B29F314E}" srcOrd="0" destOrd="0" presId="urn:microsoft.com/office/officeart/2005/8/layout/hProcess9"/>
    <dgm:cxn modelId="{F85E4CA1-B457-4C25-AD4D-3121598B79F7}" type="presParOf" srcId="{8F38ACA3-D6CB-43A6-B7D4-E54B8E202603}" destId="{EAB076B0-3AEB-4FD5-B2D6-AF2446711AF7}" srcOrd="1" destOrd="0" presId="urn:microsoft.com/office/officeart/2005/8/layout/hProcess9"/>
    <dgm:cxn modelId="{7F6D1457-0BAE-471C-A3B3-8339B82F1A5B}" type="presParOf" srcId="{EAB076B0-3AEB-4FD5-B2D6-AF2446711AF7}" destId="{4816A61E-ABC0-411D-BA41-DFDE9AE83A4A}" srcOrd="0" destOrd="0" presId="urn:microsoft.com/office/officeart/2005/8/layout/hProcess9"/>
    <dgm:cxn modelId="{E15606D1-FFBE-49D8-BA29-5F1B8701D16C}" type="presParOf" srcId="{EAB076B0-3AEB-4FD5-B2D6-AF2446711AF7}" destId="{F1237292-C090-4F83-A9CA-68D683F0795F}" srcOrd="1" destOrd="0" presId="urn:microsoft.com/office/officeart/2005/8/layout/hProcess9"/>
    <dgm:cxn modelId="{383577F7-7E83-4610-861B-69B372A3E616}" type="presParOf" srcId="{EAB076B0-3AEB-4FD5-B2D6-AF2446711AF7}" destId="{7BF80398-CBBF-4C86-8A01-5DCE66999B0A}" srcOrd="2" destOrd="0" presId="urn:microsoft.com/office/officeart/2005/8/layout/hProcess9"/>
    <dgm:cxn modelId="{71A61818-554A-4E7A-8AC0-C7E1D76DFFAC}" type="presParOf" srcId="{EAB076B0-3AEB-4FD5-B2D6-AF2446711AF7}" destId="{44C190D7-739F-4680-825E-58ABF37DBB0C}" srcOrd="3" destOrd="0" presId="urn:microsoft.com/office/officeart/2005/8/layout/hProcess9"/>
    <dgm:cxn modelId="{C75652FD-399A-4626-B211-B50B245E8D7E}" type="presParOf" srcId="{EAB076B0-3AEB-4FD5-B2D6-AF2446711AF7}" destId="{D3E9FDE8-F2E3-4B03-B025-EC5658093AE5}" srcOrd="4" destOrd="0" presId="urn:microsoft.com/office/officeart/2005/8/layout/hProcess9"/>
    <dgm:cxn modelId="{3C180E79-0E6F-411B-A4D2-FEE45FA002E4}" type="presParOf" srcId="{EAB076B0-3AEB-4FD5-B2D6-AF2446711AF7}" destId="{149EEC33-29CE-485E-8509-6997682A706E}" srcOrd="5" destOrd="0" presId="urn:microsoft.com/office/officeart/2005/8/layout/hProcess9"/>
    <dgm:cxn modelId="{D69523AA-17E1-4A4C-B564-D72B363E7B8D}" type="presParOf" srcId="{EAB076B0-3AEB-4FD5-B2D6-AF2446711AF7}" destId="{41F28EFF-ACD2-4EBE-B57E-C31453BB37D3}" srcOrd="6" destOrd="0" presId="urn:microsoft.com/office/officeart/2005/8/layout/hProcess9"/>
  </dgm:cxnLst>
  <dgm:bg/>
  <dgm:whole/>
</dgm:dataModel>
</file>

<file path=ppt/diagrams/data7.xml><?xml version="1.0" encoding="utf-8"?>
<dgm:dataModel xmlns:dgm="http://schemas.openxmlformats.org/drawingml/2006/diagram" xmlns:a="http://schemas.openxmlformats.org/drawingml/2006/main">
  <dgm:ptLst>
    <dgm:pt modelId="{2EEC95F5-61B4-4AEB-9A61-435CC6542DDA}" type="doc">
      <dgm:prSet loTypeId="urn:microsoft.com/office/officeart/2005/8/layout/hList3" loCatId="list" qsTypeId="urn:microsoft.com/office/officeart/2005/8/quickstyle/simple1" qsCatId="simple" csTypeId="urn:microsoft.com/office/officeart/2005/8/colors/accent1_2" csCatId="accent1" phldr="1"/>
      <dgm:spPr/>
      <dgm:t>
        <a:bodyPr/>
        <a:lstStyle/>
        <a:p>
          <a:endParaRPr lang="fr-FR"/>
        </a:p>
      </dgm:t>
    </dgm:pt>
    <dgm:pt modelId="{421369E1-1D2A-4EC7-A48F-E7E7B72BF143}">
      <dgm:prSet phldrT="[Texte]" custT="1">
        <dgm:style>
          <a:lnRef idx="2">
            <a:schemeClr val="dk1"/>
          </a:lnRef>
          <a:fillRef idx="1">
            <a:schemeClr val="lt1"/>
          </a:fillRef>
          <a:effectRef idx="0">
            <a:schemeClr val="dk1"/>
          </a:effectRef>
          <a:fontRef idx="minor">
            <a:schemeClr val="dk1"/>
          </a:fontRef>
        </dgm:style>
      </dgm:prSet>
      <dgm:spPr/>
      <dgm:t>
        <a:bodyPr/>
        <a:lstStyle/>
        <a:p>
          <a:r>
            <a:rPr lang="fr-FR" sz="2000" b="1" dirty="0" smtClean="0">
              <a:solidFill>
                <a:schemeClr val="tx1"/>
              </a:solidFill>
            </a:rPr>
            <a:t>Succès entrepreneurial</a:t>
          </a:r>
          <a:endParaRPr lang="fr-FR" sz="2000" b="1" dirty="0">
            <a:solidFill>
              <a:schemeClr val="tx1"/>
            </a:solidFill>
          </a:endParaRPr>
        </a:p>
      </dgm:t>
    </dgm:pt>
    <dgm:pt modelId="{4C68E138-3BC5-431D-ABA0-1EFD4D36C136}" type="parTrans" cxnId="{DF2FA78D-961A-4463-B5E2-E43C1F118B9C}">
      <dgm:prSet/>
      <dgm:spPr/>
      <dgm:t>
        <a:bodyPr/>
        <a:lstStyle/>
        <a:p>
          <a:endParaRPr lang="fr-FR"/>
        </a:p>
      </dgm:t>
    </dgm:pt>
    <dgm:pt modelId="{C9FCC152-C378-416A-A9F7-B22408A91CD6}" type="sibTrans" cxnId="{DF2FA78D-961A-4463-B5E2-E43C1F118B9C}">
      <dgm:prSet/>
      <dgm:spPr/>
      <dgm:t>
        <a:bodyPr/>
        <a:lstStyle/>
        <a:p>
          <a:endParaRPr lang="fr-FR"/>
        </a:p>
      </dgm:t>
    </dgm:pt>
    <dgm:pt modelId="{0576EAD5-AD73-4A80-A1DE-FB115D12C160}">
      <dgm:prSet phldrT="[Texte]" custT="1">
        <dgm:style>
          <a:lnRef idx="1">
            <a:schemeClr val="accent5"/>
          </a:lnRef>
          <a:fillRef idx="2">
            <a:schemeClr val="accent5"/>
          </a:fillRef>
          <a:effectRef idx="1">
            <a:schemeClr val="accent5"/>
          </a:effectRef>
          <a:fontRef idx="minor">
            <a:schemeClr val="dk1"/>
          </a:fontRef>
        </dgm:style>
      </dgm:prSet>
      <dgm:spPr/>
      <dgm:t>
        <a:bodyPr/>
        <a:lstStyle/>
        <a:p>
          <a:pPr algn="ctr"/>
          <a:r>
            <a:rPr lang="fr-FR" sz="2000" b="1" dirty="0" smtClean="0">
              <a:solidFill>
                <a:srgbClr val="C00000"/>
              </a:solidFill>
            </a:rPr>
            <a:t>Profil de l'entrepreneur</a:t>
          </a:r>
        </a:p>
        <a:p>
          <a:pPr marL="0" indent="0" algn="just"/>
          <a:r>
            <a:rPr lang="fr-FR" sz="1800" b="1" dirty="0" smtClean="0">
              <a:solidFill>
                <a:schemeClr val="tx1"/>
              </a:solidFill>
            </a:rPr>
            <a:t>- Capital humain</a:t>
          </a:r>
        </a:p>
        <a:p>
          <a:pPr marL="0" indent="0" algn="just"/>
          <a:r>
            <a:rPr lang="fr-FR" sz="1800" b="1" dirty="0" smtClean="0">
              <a:solidFill>
                <a:schemeClr val="tx1"/>
              </a:solidFill>
            </a:rPr>
            <a:t>- Motivation de l'entrepreneur</a:t>
          </a:r>
        </a:p>
        <a:p>
          <a:pPr marL="0" indent="0" algn="just"/>
          <a:r>
            <a:rPr lang="fr-FR" sz="1800" b="1" dirty="0" smtClean="0">
              <a:solidFill>
                <a:schemeClr val="tx1"/>
              </a:solidFill>
            </a:rPr>
            <a:t>-  Compétence de l'entrepreneur</a:t>
          </a:r>
          <a:endParaRPr lang="fr-FR" sz="1800" b="1" dirty="0">
            <a:solidFill>
              <a:schemeClr val="tx1"/>
            </a:solidFill>
          </a:endParaRPr>
        </a:p>
      </dgm:t>
    </dgm:pt>
    <dgm:pt modelId="{723E124E-2BBD-48EF-9481-2D28E23BE448}" type="parTrans" cxnId="{D1FF6A2A-BF1F-48DB-ACC5-469869F6F966}">
      <dgm:prSet/>
      <dgm:spPr/>
      <dgm:t>
        <a:bodyPr/>
        <a:lstStyle/>
        <a:p>
          <a:endParaRPr lang="fr-FR"/>
        </a:p>
      </dgm:t>
    </dgm:pt>
    <dgm:pt modelId="{6C0396BA-0405-4162-BA0E-F584071C5F69}" type="sibTrans" cxnId="{D1FF6A2A-BF1F-48DB-ACC5-469869F6F966}">
      <dgm:prSet/>
      <dgm:spPr/>
      <dgm:t>
        <a:bodyPr/>
        <a:lstStyle/>
        <a:p>
          <a:endParaRPr lang="fr-FR"/>
        </a:p>
      </dgm:t>
    </dgm:pt>
    <dgm:pt modelId="{05A8C127-FBDC-4E60-A912-1D2695526C86}">
      <dgm:prSet phldrT="[Texte]" custT="1">
        <dgm:style>
          <a:lnRef idx="1">
            <a:schemeClr val="accent3"/>
          </a:lnRef>
          <a:fillRef idx="2">
            <a:schemeClr val="accent3"/>
          </a:fillRef>
          <a:effectRef idx="1">
            <a:schemeClr val="accent3"/>
          </a:effectRef>
          <a:fontRef idx="minor">
            <a:schemeClr val="dk1"/>
          </a:fontRef>
        </dgm:style>
      </dgm:prSet>
      <dgm:spPr/>
      <dgm:t>
        <a:bodyPr/>
        <a:lstStyle/>
        <a:p>
          <a:pPr algn="just"/>
          <a:r>
            <a:rPr lang="fr-FR" sz="1800" b="1" dirty="0" smtClean="0">
              <a:solidFill>
                <a:srgbClr val="C00000"/>
              </a:solidFill>
            </a:rPr>
            <a:t>L'environnement de l'entrepreneur</a:t>
          </a:r>
          <a:endParaRPr lang="fr-FR" sz="1800" b="1" dirty="0" smtClean="0">
            <a:solidFill>
              <a:schemeClr val="tx1"/>
            </a:solidFill>
          </a:endParaRPr>
        </a:p>
        <a:p>
          <a:pPr algn="just"/>
          <a:r>
            <a:rPr lang="fr-FR" sz="1800" b="1" dirty="0" smtClean="0">
              <a:solidFill>
                <a:schemeClr val="tx1"/>
              </a:solidFill>
            </a:rPr>
            <a:t>- Capital social</a:t>
          </a:r>
        </a:p>
        <a:p>
          <a:pPr algn="just">
            <a:tabLst>
              <a:tab pos="85725" algn="l"/>
              <a:tab pos="266700" algn="l"/>
            </a:tabLst>
          </a:pPr>
          <a:r>
            <a:rPr lang="fr-FR" sz="1800" b="1" dirty="0" smtClean="0">
              <a:solidFill>
                <a:schemeClr val="tx1"/>
              </a:solidFill>
            </a:rPr>
            <a:t>- Structure d'accompagnement</a:t>
          </a:r>
        </a:p>
        <a:p>
          <a:pPr algn="just"/>
          <a:r>
            <a:rPr lang="fr-FR" sz="1800" b="1" dirty="0" smtClean="0">
              <a:solidFill>
                <a:schemeClr val="tx1"/>
              </a:solidFill>
            </a:rPr>
            <a:t>- Contexte environnemental</a:t>
          </a:r>
        </a:p>
      </dgm:t>
    </dgm:pt>
    <dgm:pt modelId="{C5B6A382-C6C6-4605-B59A-CE5AD78B9943}" type="parTrans" cxnId="{4C535277-227C-473A-A1D6-712FB2450AA1}">
      <dgm:prSet/>
      <dgm:spPr/>
      <dgm:t>
        <a:bodyPr/>
        <a:lstStyle/>
        <a:p>
          <a:endParaRPr lang="fr-FR"/>
        </a:p>
      </dgm:t>
    </dgm:pt>
    <dgm:pt modelId="{598B7C8E-D142-44B7-8189-3B2B00ADFE52}" type="sibTrans" cxnId="{4C535277-227C-473A-A1D6-712FB2450AA1}">
      <dgm:prSet/>
      <dgm:spPr/>
      <dgm:t>
        <a:bodyPr/>
        <a:lstStyle/>
        <a:p>
          <a:endParaRPr lang="fr-FR"/>
        </a:p>
      </dgm:t>
    </dgm:pt>
    <dgm:pt modelId="{CA2C0F9F-E4AE-465C-A055-BAD192E8EEA9}">
      <dgm:prSet phldrT="[Texte]" custT="1">
        <dgm:style>
          <a:lnRef idx="1">
            <a:schemeClr val="accent6"/>
          </a:lnRef>
          <a:fillRef idx="2">
            <a:schemeClr val="accent6"/>
          </a:fillRef>
          <a:effectRef idx="1">
            <a:schemeClr val="accent6"/>
          </a:effectRef>
          <a:fontRef idx="minor">
            <a:schemeClr val="dk1"/>
          </a:fontRef>
        </dgm:style>
      </dgm:prSet>
      <dgm:spPr/>
      <dgm:t>
        <a:bodyPr/>
        <a:lstStyle/>
        <a:p>
          <a:pPr algn="ctr"/>
          <a:r>
            <a:rPr lang="fr-FR" sz="2000" b="1" dirty="0" smtClean="0">
              <a:solidFill>
                <a:srgbClr val="C00000"/>
              </a:solidFill>
            </a:rPr>
            <a:t>Préparation à la création</a:t>
          </a:r>
        </a:p>
        <a:p>
          <a:pPr algn="just"/>
          <a:r>
            <a:rPr lang="fr-FR" sz="1800" b="1" dirty="0" smtClean="0">
              <a:solidFill>
                <a:schemeClr val="tx1"/>
              </a:solidFill>
            </a:rPr>
            <a:t>- Marché cible et contribution du Marketing</a:t>
          </a:r>
        </a:p>
        <a:p>
          <a:pPr algn="just"/>
          <a:r>
            <a:rPr lang="fr-FR" sz="1800" b="1" dirty="0" smtClean="0">
              <a:solidFill>
                <a:schemeClr val="tx1"/>
              </a:solidFill>
            </a:rPr>
            <a:t>- Utilité du Plan d'affaire</a:t>
          </a:r>
          <a:endParaRPr lang="fr-FR" sz="1800" b="1" dirty="0">
            <a:solidFill>
              <a:schemeClr val="tx1"/>
            </a:solidFill>
          </a:endParaRPr>
        </a:p>
      </dgm:t>
    </dgm:pt>
    <dgm:pt modelId="{D39FAD4A-B3B7-4970-BE86-DE7378EA540F}" type="parTrans" cxnId="{93324EAA-AA66-4B39-B200-8219A6558CD5}">
      <dgm:prSet/>
      <dgm:spPr/>
      <dgm:t>
        <a:bodyPr/>
        <a:lstStyle/>
        <a:p>
          <a:endParaRPr lang="fr-FR"/>
        </a:p>
      </dgm:t>
    </dgm:pt>
    <dgm:pt modelId="{F4E25805-7C6D-48BA-822F-586D0679A305}" type="sibTrans" cxnId="{93324EAA-AA66-4B39-B200-8219A6558CD5}">
      <dgm:prSet/>
      <dgm:spPr/>
      <dgm:t>
        <a:bodyPr/>
        <a:lstStyle/>
        <a:p>
          <a:endParaRPr lang="fr-FR"/>
        </a:p>
      </dgm:t>
    </dgm:pt>
    <dgm:pt modelId="{171B7506-EA73-44CC-918B-02B6F4C453A3}" type="pres">
      <dgm:prSet presAssocID="{2EEC95F5-61B4-4AEB-9A61-435CC6542DDA}" presName="composite" presStyleCnt="0">
        <dgm:presLayoutVars>
          <dgm:chMax val="1"/>
          <dgm:dir/>
          <dgm:resizeHandles val="exact"/>
        </dgm:presLayoutVars>
      </dgm:prSet>
      <dgm:spPr/>
      <dgm:t>
        <a:bodyPr/>
        <a:lstStyle/>
        <a:p>
          <a:endParaRPr lang="fr-FR"/>
        </a:p>
      </dgm:t>
    </dgm:pt>
    <dgm:pt modelId="{CEABB436-FFB2-4BE2-AC0C-23EEA2B4593D}" type="pres">
      <dgm:prSet presAssocID="{421369E1-1D2A-4EC7-A48F-E7E7B72BF143}" presName="roof" presStyleLbl="dkBgShp" presStyleIdx="0" presStyleCnt="2" custScaleY="34722"/>
      <dgm:spPr>
        <a:prstGeom prst="flowChartAlternateProcess">
          <a:avLst/>
        </a:prstGeom>
      </dgm:spPr>
      <dgm:t>
        <a:bodyPr/>
        <a:lstStyle/>
        <a:p>
          <a:endParaRPr lang="fr-FR"/>
        </a:p>
      </dgm:t>
    </dgm:pt>
    <dgm:pt modelId="{BB1D083C-CC30-4E94-B702-D1ADBE86E535}" type="pres">
      <dgm:prSet presAssocID="{421369E1-1D2A-4EC7-A48F-E7E7B72BF143}" presName="pillars" presStyleCnt="0"/>
      <dgm:spPr/>
    </dgm:pt>
    <dgm:pt modelId="{20D58101-CFD4-4DB1-9214-30F3937B2FF3}" type="pres">
      <dgm:prSet presAssocID="{421369E1-1D2A-4EC7-A48F-E7E7B72BF143}" presName="pillar1" presStyleLbl="node1" presStyleIdx="0" presStyleCnt="3" custScaleX="32915" custLinFactNeighborX="-9574" custLinFactNeighborY="-7937">
        <dgm:presLayoutVars>
          <dgm:bulletEnabled val="1"/>
        </dgm:presLayoutVars>
      </dgm:prSet>
      <dgm:spPr>
        <a:prstGeom prst="roundRect">
          <a:avLst/>
        </a:prstGeom>
      </dgm:spPr>
      <dgm:t>
        <a:bodyPr/>
        <a:lstStyle/>
        <a:p>
          <a:endParaRPr lang="fr-FR"/>
        </a:p>
      </dgm:t>
    </dgm:pt>
    <dgm:pt modelId="{A8F3C2D4-27DC-4968-BED2-0D2207D7524E}" type="pres">
      <dgm:prSet presAssocID="{05A8C127-FBDC-4E60-A912-1D2695526C86}" presName="pillarX" presStyleLbl="node1" presStyleIdx="1" presStyleCnt="3" custScaleX="31460" custLinFactNeighborX="480" custLinFactNeighborY="-5290">
        <dgm:presLayoutVars>
          <dgm:bulletEnabled val="1"/>
        </dgm:presLayoutVars>
      </dgm:prSet>
      <dgm:spPr>
        <a:prstGeom prst="roundRect">
          <a:avLst/>
        </a:prstGeom>
      </dgm:spPr>
      <dgm:t>
        <a:bodyPr/>
        <a:lstStyle/>
        <a:p>
          <a:endParaRPr lang="fr-FR"/>
        </a:p>
      </dgm:t>
    </dgm:pt>
    <dgm:pt modelId="{F59FFBCD-53FD-4598-B2B6-72002FB9F396}" type="pres">
      <dgm:prSet presAssocID="{CA2C0F9F-E4AE-465C-A055-BAD192E8EEA9}" presName="pillarX" presStyleLbl="node1" presStyleIdx="2" presStyleCnt="3" custScaleX="31536" custLinFactNeighborX="1787" custLinFactNeighborY="-7175">
        <dgm:presLayoutVars>
          <dgm:bulletEnabled val="1"/>
        </dgm:presLayoutVars>
      </dgm:prSet>
      <dgm:spPr>
        <a:prstGeom prst="roundRect">
          <a:avLst/>
        </a:prstGeom>
      </dgm:spPr>
      <dgm:t>
        <a:bodyPr/>
        <a:lstStyle/>
        <a:p>
          <a:endParaRPr lang="fr-FR"/>
        </a:p>
      </dgm:t>
    </dgm:pt>
    <dgm:pt modelId="{A6012866-3936-4B46-82CD-3D437912771E}" type="pres">
      <dgm:prSet presAssocID="{421369E1-1D2A-4EC7-A48F-E7E7B72BF143}" presName="base" presStyleLbl="dkBgShp" presStyleIdx="1" presStyleCnt="2" custFlipVert="1" custScaleY="14286" custLinFactNeighborX="344">
        <dgm:style>
          <a:lnRef idx="2">
            <a:schemeClr val="dk1"/>
          </a:lnRef>
          <a:fillRef idx="1">
            <a:schemeClr val="lt1"/>
          </a:fillRef>
          <a:effectRef idx="0">
            <a:schemeClr val="dk1"/>
          </a:effectRef>
          <a:fontRef idx="minor">
            <a:schemeClr val="dk1"/>
          </a:fontRef>
        </dgm:style>
      </dgm:prSet>
      <dgm:spPr/>
    </dgm:pt>
  </dgm:ptLst>
  <dgm:cxnLst>
    <dgm:cxn modelId="{DF2FA78D-961A-4463-B5E2-E43C1F118B9C}" srcId="{2EEC95F5-61B4-4AEB-9A61-435CC6542DDA}" destId="{421369E1-1D2A-4EC7-A48F-E7E7B72BF143}" srcOrd="0" destOrd="0" parTransId="{4C68E138-3BC5-431D-ABA0-1EFD4D36C136}" sibTransId="{C9FCC152-C378-416A-A9F7-B22408A91CD6}"/>
    <dgm:cxn modelId="{51D0FA4E-DD84-4C9C-8DD6-8B816E667808}" type="presOf" srcId="{2EEC95F5-61B4-4AEB-9A61-435CC6542DDA}" destId="{171B7506-EA73-44CC-918B-02B6F4C453A3}" srcOrd="0" destOrd="0" presId="urn:microsoft.com/office/officeart/2005/8/layout/hList3"/>
    <dgm:cxn modelId="{4C535277-227C-473A-A1D6-712FB2450AA1}" srcId="{421369E1-1D2A-4EC7-A48F-E7E7B72BF143}" destId="{05A8C127-FBDC-4E60-A912-1D2695526C86}" srcOrd="1" destOrd="0" parTransId="{C5B6A382-C6C6-4605-B59A-CE5AD78B9943}" sibTransId="{598B7C8E-D142-44B7-8189-3B2B00ADFE52}"/>
    <dgm:cxn modelId="{564C49A9-5291-42AC-B929-2E515C4BA6EE}" type="presOf" srcId="{0576EAD5-AD73-4A80-A1DE-FB115D12C160}" destId="{20D58101-CFD4-4DB1-9214-30F3937B2FF3}" srcOrd="0" destOrd="0" presId="urn:microsoft.com/office/officeart/2005/8/layout/hList3"/>
    <dgm:cxn modelId="{D0B5041A-AA50-4965-A2D5-11217AA61C31}" type="presOf" srcId="{05A8C127-FBDC-4E60-A912-1D2695526C86}" destId="{A8F3C2D4-27DC-4968-BED2-0D2207D7524E}" srcOrd="0" destOrd="0" presId="urn:microsoft.com/office/officeart/2005/8/layout/hList3"/>
    <dgm:cxn modelId="{93324EAA-AA66-4B39-B200-8219A6558CD5}" srcId="{421369E1-1D2A-4EC7-A48F-E7E7B72BF143}" destId="{CA2C0F9F-E4AE-465C-A055-BAD192E8EEA9}" srcOrd="2" destOrd="0" parTransId="{D39FAD4A-B3B7-4970-BE86-DE7378EA540F}" sibTransId="{F4E25805-7C6D-48BA-822F-586D0679A305}"/>
    <dgm:cxn modelId="{E40F7B61-0C55-476E-839A-1F634DABD399}" type="presOf" srcId="{421369E1-1D2A-4EC7-A48F-E7E7B72BF143}" destId="{CEABB436-FFB2-4BE2-AC0C-23EEA2B4593D}" srcOrd="0" destOrd="0" presId="urn:microsoft.com/office/officeart/2005/8/layout/hList3"/>
    <dgm:cxn modelId="{D1FF6A2A-BF1F-48DB-ACC5-469869F6F966}" srcId="{421369E1-1D2A-4EC7-A48F-E7E7B72BF143}" destId="{0576EAD5-AD73-4A80-A1DE-FB115D12C160}" srcOrd="0" destOrd="0" parTransId="{723E124E-2BBD-48EF-9481-2D28E23BE448}" sibTransId="{6C0396BA-0405-4162-BA0E-F584071C5F69}"/>
    <dgm:cxn modelId="{BB620844-48DB-4673-967A-BE1AF78AC74D}" type="presOf" srcId="{CA2C0F9F-E4AE-465C-A055-BAD192E8EEA9}" destId="{F59FFBCD-53FD-4598-B2B6-72002FB9F396}" srcOrd="0" destOrd="0" presId="urn:microsoft.com/office/officeart/2005/8/layout/hList3"/>
    <dgm:cxn modelId="{82BA5E11-4462-4E06-AC63-17092488E304}" type="presParOf" srcId="{171B7506-EA73-44CC-918B-02B6F4C453A3}" destId="{CEABB436-FFB2-4BE2-AC0C-23EEA2B4593D}" srcOrd="0" destOrd="0" presId="urn:microsoft.com/office/officeart/2005/8/layout/hList3"/>
    <dgm:cxn modelId="{CA216C44-BA5C-449F-98E2-5DD8B66C424F}" type="presParOf" srcId="{171B7506-EA73-44CC-918B-02B6F4C453A3}" destId="{BB1D083C-CC30-4E94-B702-D1ADBE86E535}" srcOrd="1" destOrd="0" presId="urn:microsoft.com/office/officeart/2005/8/layout/hList3"/>
    <dgm:cxn modelId="{AEFFBE7C-D006-4DFD-8458-F3C4876B5CDC}" type="presParOf" srcId="{BB1D083C-CC30-4E94-B702-D1ADBE86E535}" destId="{20D58101-CFD4-4DB1-9214-30F3937B2FF3}" srcOrd="0" destOrd="0" presId="urn:microsoft.com/office/officeart/2005/8/layout/hList3"/>
    <dgm:cxn modelId="{FBDD1C0B-2765-4335-83B9-2D86D8C90907}" type="presParOf" srcId="{BB1D083C-CC30-4E94-B702-D1ADBE86E535}" destId="{A8F3C2D4-27DC-4968-BED2-0D2207D7524E}" srcOrd="1" destOrd="0" presId="urn:microsoft.com/office/officeart/2005/8/layout/hList3"/>
    <dgm:cxn modelId="{8CFEE1DF-E7F5-4ADE-884E-90D24A185F7A}" type="presParOf" srcId="{BB1D083C-CC30-4E94-B702-D1ADBE86E535}" destId="{F59FFBCD-53FD-4598-B2B6-72002FB9F396}" srcOrd="2" destOrd="0" presId="urn:microsoft.com/office/officeart/2005/8/layout/hList3"/>
    <dgm:cxn modelId="{776D27BC-C7C4-40C4-B53D-179E71F3DF3F}" type="presParOf" srcId="{171B7506-EA73-44CC-918B-02B6F4C453A3}" destId="{A6012866-3936-4B46-82CD-3D437912771E}" srcOrd="2" destOrd="0" presId="urn:microsoft.com/office/officeart/2005/8/layout/hList3"/>
  </dgm:cxnLst>
  <dgm:bg/>
  <dgm:whole/>
</dgm:dataModel>
</file>

<file path=ppt/diagrams/data8.xml><?xml version="1.0" encoding="utf-8"?>
<dgm:dataModel xmlns:dgm="http://schemas.openxmlformats.org/drawingml/2006/diagram" xmlns:a="http://schemas.openxmlformats.org/drawingml/2006/main">
  <dgm:ptLst>
    <dgm:pt modelId="{C60C849E-DC6F-4CBB-82C9-0F8365F77A8A}"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fr-FR"/>
        </a:p>
      </dgm:t>
    </dgm:pt>
    <dgm:pt modelId="{8B6CDE2B-17AD-44BE-A506-273BBE0EC101}">
      <dgm:prSet phldrT="[Texte]" custT="1"/>
      <dgm:spPr/>
      <dgm:t>
        <a:bodyPr/>
        <a:lstStyle/>
        <a:p>
          <a:pPr algn="just"/>
          <a:r>
            <a:rPr lang="fr-FR" sz="1800" b="1" dirty="0"/>
            <a:t>IDEE</a:t>
          </a:r>
        </a:p>
        <a:p>
          <a:pPr algn="just"/>
          <a:r>
            <a:rPr lang="fr-FR" sz="1200" b="1" dirty="0" smtClean="0">
              <a:latin typeface="Arial" pitchFamily="34" charset="0"/>
              <a:cs typeface="Arial" pitchFamily="34" charset="0"/>
            </a:rPr>
            <a:t>Une idée est une conception ou un concept qui émerge de l'imagination. C'est souvent une pensée initiale ou un projet potentiel qui peut être développé</a:t>
          </a:r>
          <a:r>
            <a:rPr lang="fr-FR" sz="1200" dirty="0" smtClean="0">
              <a:latin typeface="Arial" pitchFamily="34" charset="0"/>
              <a:cs typeface="Arial" pitchFamily="34" charset="0"/>
            </a:rPr>
            <a:t>.</a:t>
          </a:r>
          <a:endParaRPr lang="fr-FR" sz="1800" b="1" dirty="0"/>
        </a:p>
      </dgm:t>
    </dgm:pt>
    <dgm:pt modelId="{212D9732-F96F-4E12-89D5-656EC2A9081B}" type="parTrans" cxnId="{4D30C571-910C-49E3-94D0-AE23F54DC419}">
      <dgm:prSet/>
      <dgm:spPr/>
      <dgm:t>
        <a:bodyPr/>
        <a:lstStyle/>
        <a:p>
          <a:endParaRPr lang="fr-FR"/>
        </a:p>
      </dgm:t>
    </dgm:pt>
    <dgm:pt modelId="{2A01CCB5-06EC-4BDF-9FFF-528A1BEDC2FD}" type="sibTrans" cxnId="{4D30C571-910C-49E3-94D0-AE23F54DC419}">
      <dgm:prSet/>
      <dgm:spPr/>
      <dgm:t>
        <a:bodyPr/>
        <a:lstStyle/>
        <a:p>
          <a:endParaRPr lang="fr-FR"/>
        </a:p>
      </dgm:t>
    </dgm:pt>
    <dgm:pt modelId="{412B6C89-5CDC-4542-B6C3-19EBA92758E2}">
      <dgm:prSet custT="1"/>
      <dgm:spPr/>
      <dgm:t>
        <a:bodyPr/>
        <a:lstStyle/>
        <a:p>
          <a:pPr algn="just"/>
          <a:endParaRPr lang="fr-FR" sz="1200" dirty="0" smtClean="0">
            <a:latin typeface="Arial" pitchFamily="34" charset="0"/>
            <a:cs typeface="Arial" pitchFamily="34" charset="0"/>
          </a:endParaRPr>
        </a:p>
      </dgm:t>
    </dgm:pt>
    <dgm:pt modelId="{688F7901-E034-4117-9F09-DF3E8913D097}" type="parTrans" cxnId="{B1838F07-A0C1-4C69-9D4F-11E2BE10BF7B}">
      <dgm:prSet/>
      <dgm:spPr/>
      <dgm:t>
        <a:bodyPr/>
        <a:lstStyle/>
        <a:p>
          <a:endParaRPr lang="fr-FR"/>
        </a:p>
      </dgm:t>
    </dgm:pt>
    <dgm:pt modelId="{EBA92434-F540-4A6F-9D2C-548708DD03AD}" type="sibTrans" cxnId="{B1838F07-A0C1-4C69-9D4F-11E2BE10BF7B}">
      <dgm:prSet/>
      <dgm:spPr/>
      <dgm:t>
        <a:bodyPr/>
        <a:lstStyle/>
        <a:p>
          <a:endParaRPr lang="fr-FR"/>
        </a:p>
      </dgm:t>
    </dgm:pt>
    <dgm:pt modelId="{065FA3D3-284C-4BFD-8B8E-A93F973E803E}">
      <dgm:prSet custT="1"/>
      <dgm:spPr/>
      <dgm:t>
        <a:bodyPr/>
        <a:lstStyle/>
        <a:p>
          <a:pPr algn="just"/>
          <a:r>
            <a:rPr lang="fr-FR" sz="1200" b="1" dirty="0" smtClean="0">
              <a:latin typeface="Arial" pitchFamily="34" charset="0"/>
              <a:cs typeface="Arial" pitchFamily="34" charset="0"/>
            </a:rPr>
            <a:t>Créativité :</a:t>
          </a:r>
          <a:r>
            <a:rPr lang="fr-FR" sz="1200" dirty="0" smtClean="0">
              <a:latin typeface="Arial" pitchFamily="34" charset="0"/>
              <a:cs typeface="Arial" pitchFamily="34" charset="0"/>
            </a:rPr>
            <a:t> Les idées sont souvent le fruit de la créativité et de l'inspiration.</a:t>
          </a:r>
        </a:p>
      </dgm:t>
    </dgm:pt>
    <dgm:pt modelId="{0BAC8A2D-BFCA-47BE-BBAD-D55643556CF6}" type="parTrans" cxnId="{558A0F10-078D-4D74-B181-7D8930EE085A}">
      <dgm:prSet/>
      <dgm:spPr/>
      <dgm:t>
        <a:bodyPr/>
        <a:lstStyle/>
        <a:p>
          <a:endParaRPr lang="fr-FR"/>
        </a:p>
      </dgm:t>
    </dgm:pt>
    <dgm:pt modelId="{0BF19706-0147-49F7-933E-FE91E4507593}" type="sibTrans" cxnId="{558A0F10-078D-4D74-B181-7D8930EE085A}">
      <dgm:prSet/>
      <dgm:spPr/>
      <dgm:t>
        <a:bodyPr/>
        <a:lstStyle/>
        <a:p>
          <a:endParaRPr lang="fr-FR"/>
        </a:p>
      </dgm:t>
    </dgm:pt>
    <dgm:pt modelId="{E6BA8137-F131-4186-B64D-4D6B177CEB8C}">
      <dgm:prSet custT="1"/>
      <dgm:spPr/>
      <dgm:t>
        <a:bodyPr/>
        <a:lstStyle/>
        <a:p>
          <a:pPr algn="just"/>
          <a:r>
            <a:rPr lang="fr-FR" sz="1200" b="1" dirty="0" smtClean="0">
              <a:latin typeface="Arial" pitchFamily="34" charset="0"/>
              <a:cs typeface="Arial" pitchFamily="34" charset="0"/>
            </a:rPr>
            <a:t>Abstraction :</a:t>
          </a:r>
          <a:r>
            <a:rPr lang="fr-FR" sz="1200" dirty="0" smtClean="0">
              <a:latin typeface="Arial" pitchFamily="34" charset="0"/>
              <a:cs typeface="Arial" pitchFamily="34" charset="0"/>
            </a:rPr>
            <a:t> Elles peuvent être vagues et nécessitent souvent un développement pour devenir concrètes.</a:t>
          </a:r>
        </a:p>
      </dgm:t>
    </dgm:pt>
    <dgm:pt modelId="{AFDD71D3-67A8-485F-B6CE-CB15E2794AAC}" type="parTrans" cxnId="{5236388A-D5FF-48F4-85FA-A2AAC86DAE4D}">
      <dgm:prSet/>
      <dgm:spPr/>
      <dgm:t>
        <a:bodyPr/>
        <a:lstStyle/>
        <a:p>
          <a:endParaRPr lang="fr-FR"/>
        </a:p>
      </dgm:t>
    </dgm:pt>
    <dgm:pt modelId="{2336FE8F-EC22-458A-A7C3-9642562407BF}" type="sibTrans" cxnId="{5236388A-D5FF-48F4-85FA-A2AAC86DAE4D}">
      <dgm:prSet/>
      <dgm:spPr/>
      <dgm:t>
        <a:bodyPr/>
        <a:lstStyle/>
        <a:p>
          <a:endParaRPr lang="fr-FR"/>
        </a:p>
      </dgm:t>
    </dgm:pt>
    <dgm:pt modelId="{D1085F8E-2D4F-4C5B-ABAC-4FF502257C91}">
      <dgm:prSet custT="1"/>
      <dgm:spPr/>
      <dgm:t>
        <a:bodyPr/>
        <a:lstStyle/>
        <a:p>
          <a:pPr algn="just"/>
          <a:r>
            <a:rPr lang="fr-FR" sz="1200" b="1" dirty="0" smtClean="0">
              <a:latin typeface="Arial" pitchFamily="34" charset="0"/>
              <a:cs typeface="Arial" pitchFamily="34" charset="0"/>
            </a:rPr>
            <a:t>Variabilité :</a:t>
          </a:r>
          <a:r>
            <a:rPr lang="fr-FR" sz="1200" dirty="0" smtClean="0">
              <a:latin typeface="Arial" pitchFamily="34" charset="0"/>
              <a:cs typeface="Arial" pitchFamily="34" charset="0"/>
            </a:rPr>
            <a:t> Une idée peut être unique, mais elle peut également être similaire à d'autres idées existantes.</a:t>
          </a:r>
          <a:endParaRPr lang="fr-FR" sz="1200" b="1" dirty="0" smtClean="0">
            <a:solidFill>
              <a:schemeClr val="accent6">
                <a:lumMod val="75000"/>
              </a:schemeClr>
            </a:solidFill>
            <a:latin typeface="Arial" pitchFamily="34" charset="0"/>
            <a:ea typeface="Verdana" pitchFamily="34" charset="0"/>
            <a:cs typeface="Verdana" pitchFamily="34" charset="0"/>
          </a:endParaRPr>
        </a:p>
      </dgm:t>
    </dgm:pt>
    <dgm:pt modelId="{27FA4D83-E7BF-497F-B666-E1AC2264EB0E}" type="parTrans" cxnId="{670847E9-B7DC-414A-92DC-A2B1A4C91758}">
      <dgm:prSet/>
      <dgm:spPr/>
      <dgm:t>
        <a:bodyPr/>
        <a:lstStyle/>
        <a:p>
          <a:endParaRPr lang="fr-FR"/>
        </a:p>
      </dgm:t>
    </dgm:pt>
    <dgm:pt modelId="{C578205D-E19A-4CA1-8FEC-978A3C5FC33F}" type="sibTrans" cxnId="{670847E9-B7DC-414A-92DC-A2B1A4C91758}">
      <dgm:prSet/>
      <dgm:spPr/>
      <dgm:t>
        <a:bodyPr/>
        <a:lstStyle/>
        <a:p>
          <a:endParaRPr lang="fr-FR"/>
        </a:p>
      </dgm:t>
    </dgm:pt>
    <dgm:pt modelId="{3A6A5012-6162-4B6A-904D-AC56C3B53923}">
      <dgm:prSet custT="1"/>
      <dgm:spPr/>
      <dgm:t>
        <a:bodyPr/>
        <a:lstStyle/>
        <a:p>
          <a:pPr algn="ctr"/>
          <a:r>
            <a:rPr lang="fr-FR" sz="1200" b="1" dirty="0" smtClean="0">
              <a:solidFill>
                <a:schemeClr val="bg1"/>
              </a:solidFill>
              <a:latin typeface="Arial" pitchFamily="34" charset="0"/>
              <a:cs typeface="Arial" pitchFamily="34" charset="0"/>
            </a:rPr>
            <a:t>OPPORTUNITE</a:t>
          </a:r>
        </a:p>
        <a:p>
          <a:pPr algn="just"/>
          <a:r>
            <a:rPr lang="fr-FR" sz="1200" b="1" dirty="0" smtClean="0">
              <a:solidFill>
                <a:schemeClr val="bg1"/>
              </a:solidFill>
              <a:latin typeface="Arial" pitchFamily="34" charset="0"/>
              <a:cs typeface="Arial" pitchFamily="34" charset="0"/>
            </a:rPr>
            <a:t>Une opportunité est une situation ou un ensemble de circonstances favorables qui permettent de réaliser une idée ou de tirer parti d'une situation pour créer de la valeur</a:t>
          </a:r>
          <a:r>
            <a:rPr lang="fr-FR" sz="1200" b="1" dirty="0" smtClean="0">
              <a:latin typeface="Arial" pitchFamily="34" charset="0"/>
              <a:cs typeface="Arial" pitchFamily="34" charset="0"/>
            </a:rPr>
            <a:t>.</a:t>
          </a:r>
        </a:p>
        <a:p>
          <a:pPr algn="just"/>
          <a:endParaRPr lang="fr-FR" sz="1200" b="1" dirty="0" smtClean="0">
            <a:solidFill>
              <a:schemeClr val="dk1"/>
            </a:solidFill>
            <a:latin typeface="Arial" pitchFamily="34" charset="0"/>
            <a:cs typeface="Arial" pitchFamily="34" charset="0"/>
          </a:endParaRPr>
        </a:p>
        <a:p>
          <a:pPr algn="just"/>
          <a:r>
            <a:rPr lang="fr-FR" sz="1200" b="1" dirty="0" smtClean="0">
              <a:solidFill>
                <a:schemeClr val="bg1"/>
              </a:solidFill>
              <a:latin typeface="Arial" pitchFamily="34" charset="0"/>
              <a:cs typeface="Arial" pitchFamily="34" charset="0"/>
            </a:rPr>
            <a:t>-  Concrète : </a:t>
          </a:r>
          <a:r>
            <a:rPr lang="fr-FR" sz="1200" dirty="0" smtClean="0">
              <a:solidFill>
                <a:schemeClr val="bg1"/>
              </a:solidFill>
              <a:latin typeface="Arial" pitchFamily="34" charset="0"/>
              <a:cs typeface="Arial" pitchFamily="34" charset="0"/>
            </a:rPr>
            <a:t>Une opportunité est souvent liée à un besoin ou à une demande sur le marché.</a:t>
          </a:r>
        </a:p>
        <a:p>
          <a:pPr algn="just"/>
          <a:r>
            <a:rPr lang="fr-FR" sz="1200" b="1" dirty="0" smtClean="0">
              <a:solidFill>
                <a:schemeClr val="bg1"/>
              </a:solidFill>
              <a:latin typeface="Arial" pitchFamily="34" charset="0"/>
              <a:cs typeface="Arial" pitchFamily="34" charset="0"/>
            </a:rPr>
            <a:t>- Timing : </a:t>
          </a:r>
          <a:r>
            <a:rPr lang="fr-FR" sz="1200" dirty="0" smtClean="0">
              <a:solidFill>
                <a:schemeClr val="bg1"/>
              </a:solidFill>
              <a:latin typeface="Arial" pitchFamily="34" charset="0"/>
              <a:cs typeface="Arial" pitchFamily="34" charset="0"/>
            </a:rPr>
            <a:t>Elle est souvent liée à un moment précis où les conditions sont favorables pour agir.</a:t>
          </a:r>
        </a:p>
        <a:p>
          <a:pPr algn="just"/>
          <a:r>
            <a:rPr lang="fr-FR" sz="1200" b="1" dirty="0" smtClean="0">
              <a:solidFill>
                <a:schemeClr val="bg1"/>
              </a:solidFill>
              <a:latin typeface="Arial" pitchFamily="34" charset="0"/>
              <a:cs typeface="Arial" pitchFamily="34" charset="0"/>
            </a:rPr>
            <a:t>- Risque et retour : </a:t>
          </a:r>
          <a:r>
            <a:rPr lang="fr-FR" sz="1200" dirty="0" smtClean="0">
              <a:solidFill>
                <a:schemeClr val="bg1"/>
              </a:solidFill>
              <a:latin typeface="Arial" pitchFamily="34" charset="0"/>
              <a:cs typeface="Arial" pitchFamily="34" charset="0"/>
            </a:rPr>
            <a:t>Une opportunité implique une évaluation des risques et des bénéfices potentiels.</a:t>
          </a:r>
          <a:endParaRPr lang="fr-FR" sz="1200" b="1" dirty="0" smtClean="0">
            <a:solidFill>
              <a:schemeClr val="bg1"/>
            </a:solidFill>
            <a:latin typeface="Arial" pitchFamily="34" charset="0"/>
            <a:cs typeface="Arial" pitchFamily="34" charset="0"/>
          </a:endParaRPr>
        </a:p>
      </dgm:t>
    </dgm:pt>
    <dgm:pt modelId="{3AAA4F3C-749C-49C9-BA9C-922BDC8BF570}" type="parTrans" cxnId="{E4DD4E7D-653B-470D-B68C-1C6CA3882CE2}">
      <dgm:prSet/>
      <dgm:spPr/>
      <dgm:t>
        <a:bodyPr/>
        <a:lstStyle/>
        <a:p>
          <a:endParaRPr lang="fr-FR"/>
        </a:p>
      </dgm:t>
    </dgm:pt>
    <dgm:pt modelId="{F940B1F4-4A60-4426-A99D-EEC705793FF2}" type="sibTrans" cxnId="{E4DD4E7D-653B-470D-B68C-1C6CA3882CE2}">
      <dgm:prSet/>
      <dgm:spPr/>
      <dgm:t>
        <a:bodyPr/>
        <a:lstStyle/>
        <a:p>
          <a:endParaRPr lang="fr-FR"/>
        </a:p>
      </dgm:t>
    </dgm:pt>
    <dgm:pt modelId="{016A17F6-3E1C-4283-BE09-FB867A0018BF}" type="pres">
      <dgm:prSet presAssocID="{C60C849E-DC6F-4CBB-82C9-0F8365F77A8A}" presName="Name0" presStyleCnt="0">
        <dgm:presLayoutVars>
          <dgm:dir/>
          <dgm:resizeHandles val="exact"/>
        </dgm:presLayoutVars>
      </dgm:prSet>
      <dgm:spPr/>
      <dgm:t>
        <a:bodyPr/>
        <a:lstStyle/>
        <a:p>
          <a:endParaRPr lang="fr-FR"/>
        </a:p>
      </dgm:t>
    </dgm:pt>
    <dgm:pt modelId="{729F9171-4D9B-4916-9A02-915A6D303761}" type="pres">
      <dgm:prSet presAssocID="{8B6CDE2B-17AD-44BE-A506-273BBE0EC101}" presName="node" presStyleLbl="node1" presStyleIdx="0" presStyleCnt="2">
        <dgm:presLayoutVars>
          <dgm:bulletEnabled val="1"/>
        </dgm:presLayoutVars>
      </dgm:prSet>
      <dgm:spPr/>
      <dgm:t>
        <a:bodyPr/>
        <a:lstStyle/>
        <a:p>
          <a:endParaRPr lang="fr-FR"/>
        </a:p>
      </dgm:t>
    </dgm:pt>
    <dgm:pt modelId="{7E365798-C779-4A02-859B-E7070F8620F6}" type="pres">
      <dgm:prSet presAssocID="{2A01CCB5-06EC-4BDF-9FFF-528A1BEDC2FD}" presName="sibTrans" presStyleCnt="0"/>
      <dgm:spPr/>
    </dgm:pt>
    <dgm:pt modelId="{458F517C-2661-4C8A-AF32-021FE29B9D20}" type="pres">
      <dgm:prSet presAssocID="{3A6A5012-6162-4B6A-904D-AC56C3B53923}" presName="node" presStyleLbl="node1" presStyleIdx="1" presStyleCnt="2">
        <dgm:presLayoutVars>
          <dgm:bulletEnabled val="1"/>
        </dgm:presLayoutVars>
      </dgm:prSet>
      <dgm:spPr/>
      <dgm:t>
        <a:bodyPr/>
        <a:lstStyle/>
        <a:p>
          <a:endParaRPr lang="fr-FR"/>
        </a:p>
      </dgm:t>
    </dgm:pt>
  </dgm:ptLst>
  <dgm:cxnLst>
    <dgm:cxn modelId="{BC2D7AB3-90DF-41F1-B3F4-79C1482153F2}" type="presOf" srcId="{E6BA8137-F131-4186-B64D-4D6B177CEB8C}" destId="{729F9171-4D9B-4916-9A02-915A6D303761}" srcOrd="0" destOrd="3" presId="urn:microsoft.com/office/officeart/2005/8/layout/hList6"/>
    <dgm:cxn modelId="{B1838F07-A0C1-4C69-9D4F-11E2BE10BF7B}" srcId="{8B6CDE2B-17AD-44BE-A506-273BBE0EC101}" destId="{412B6C89-5CDC-4542-B6C3-19EBA92758E2}" srcOrd="0" destOrd="0" parTransId="{688F7901-E034-4117-9F09-DF3E8913D097}" sibTransId="{EBA92434-F540-4A6F-9D2C-548708DD03AD}"/>
    <dgm:cxn modelId="{06FFFC51-BE32-47F0-8EDE-AF1BF04FC4C9}" type="presOf" srcId="{3A6A5012-6162-4B6A-904D-AC56C3B53923}" destId="{458F517C-2661-4C8A-AF32-021FE29B9D20}" srcOrd="0" destOrd="0" presId="urn:microsoft.com/office/officeart/2005/8/layout/hList6"/>
    <dgm:cxn modelId="{C23305A1-51BB-4E20-81FB-09091A57D59C}" type="presOf" srcId="{8B6CDE2B-17AD-44BE-A506-273BBE0EC101}" destId="{729F9171-4D9B-4916-9A02-915A6D303761}" srcOrd="0" destOrd="0" presId="urn:microsoft.com/office/officeart/2005/8/layout/hList6"/>
    <dgm:cxn modelId="{E5E3B028-4351-4920-B0BC-B0C20E521FB4}" type="presOf" srcId="{D1085F8E-2D4F-4C5B-ABAC-4FF502257C91}" destId="{729F9171-4D9B-4916-9A02-915A6D303761}" srcOrd="0" destOrd="4" presId="urn:microsoft.com/office/officeart/2005/8/layout/hList6"/>
    <dgm:cxn modelId="{558A0F10-078D-4D74-B181-7D8930EE085A}" srcId="{8B6CDE2B-17AD-44BE-A506-273BBE0EC101}" destId="{065FA3D3-284C-4BFD-8B8E-A93F973E803E}" srcOrd="1" destOrd="0" parTransId="{0BAC8A2D-BFCA-47BE-BBAD-D55643556CF6}" sibTransId="{0BF19706-0147-49F7-933E-FE91E4507593}"/>
    <dgm:cxn modelId="{670847E9-B7DC-414A-92DC-A2B1A4C91758}" srcId="{8B6CDE2B-17AD-44BE-A506-273BBE0EC101}" destId="{D1085F8E-2D4F-4C5B-ABAC-4FF502257C91}" srcOrd="3" destOrd="0" parTransId="{27FA4D83-E7BF-497F-B666-E1AC2264EB0E}" sibTransId="{C578205D-E19A-4CA1-8FEC-978A3C5FC33F}"/>
    <dgm:cxn modelId="{FF5BA8C7-4A58-4B6D-8C6A-3ADEFD4A688C}" type="presOf" srcId="{065FA3D3-284C-4BFD-8B8E-A93F973E803E}" destId="{729F9171-4D9B-4916-9A02-915A6D303761}" srcOrd="0" destOrd="2" presId="urn:microsoft.com/office/officeart/2005/8/layout/hList6"/>
    <dgm:cxn modelId="{AD1D04DF-B5E1-4FA8-BDCF-FBB96E9BD858}" type="presOf" srcId="{412B6C89-5CDC-4542-B6C3-19EBA92758E2}" destId="{729F9171-4D9B-4916-9A02-915A6D303761}" srcOrd="0" destOrd="1" presId="urn:microsoft.com/office/officeart/2005/8/layout/hList6"/>
    <dgm:cxn modelId="{5236388A-D5FF-48F4-85FA-A2AAC86DAE4D}" srcId="{8B6CDE2B-17AD-44BE-A506-273BBE0EC101}" destId="{E6BA8137-F131-4186-B64D-4D6B177CEB8C}" srcOrd="2" destOrd="0" parTransId="{AFDD71D3-67A8-485F-B6CE-CB15E2794AAC}" sibTransId="{2336FE8F-EC22-458A-A7C3-9642562407BF}"/>
    <dgm:cxn modelId="{E4DD4E7D-653B-470D-B68C-1C6CA3882CE2}" srcId="{C60C849E-DC6F-4CBB-82C9-0F8365F77A8A}" destId="{3A6A5012-6162-4B6A-904D-AC56C3B53923}" srcOrd="1" destOrd="0" parTransId="{3AAA4F3C-749C-49C9-BA9C-922BDC8BF570}" sibTransId="{F940B1F4-4A60-4426-A99D-EEC705793FF2}"/>
    <dgm:cxn modelId="{4D30C571-910C-49E3-94D0-AE23F54DC419}" srcId="{C60C849E-DC6F-4CBB-82C9-0F8365F77A8A}" destId="{8B6CDE2B-17AD-44BE-A506-273BBE0EC101}" srcOrd="0" destOrd="0" parTransId="{212D9732-F96F-4E12-89D5-656EC2A9081B}" sibTransId="{2A01CCB5-06EC-4BDF-9FFF-528A1BEDC2FD}"/>
    <dgm:cxn modelId="{DFC42E4F-B43E-4ECB-943E-B12CEED3C305}" type="presOf" srcId="{C60C849E-DC6F-4CBB-82C9-0F8365F77A8A}" destId="{016A17F6-3E1C-4283-BE09-FB867A0018BF}" srcOrd="0" destOrd="0" presId="urn:microsoft.com/office/officeart/2005/8/layout/hList6"/>
    <dgm:cxn modelId="{36A68E85-5667-433A-8C00-0F774882DC32}" type="presParOf" srcId="{016A17F6-3E1C-4283-BE09-FB867A0018BF}" destId="{729F9171-4D9B-4916-9A02-915A6D303761}" srcOrd="0" destOrd="0" presId="urn:microsoft.com/office/officeart/2005/8/layout/hList6"/>
    <dgm:cxn modelId="{80EBFBBB-0D45-4D11-A6FE-513ABC2D6689}" type="presParOf" srcId="{016A17F6-3E1C-4283-BE09-FB867A0018BF}" destId="{7E365798-C779-4A02-859B-E7070F8620F6}" srcOrd="1" destOrd="0" presId="urn:microsoft.com/office/officeart/2005/8/layout/hList6"/>
    <dgm:cxn modelId="{631FAE1E-D942-44C7-B2E9-78FA62E19583}" type="presParOf" srcId="{016A17F6-3E1C-4283-BE09-FB867A0018BF}" destId="{458F517C-2661-4C8A-AF32-021FE29B9D20}" srcOrd="2" destOrd="0" presId="urn:microsoft.com/office/officeart/2005/8/layout/hList6"/>
  </dgm:cxnLst>
  <dgm:bg/>
  <dgm:whole/>
</dgm:dataModel>
</file>

<file path=ppt/diagrams/data9.xml><?xml version="1.0" encoding="utf-8"?>
<dgm:dataModel xmlns:dgm="http://schemas.openxmlformats.org/drawingml/2006/diagram" xmlns:a="http://schemas.openxmlformats.org/drawingml/2006/main">
  <dgm:ptLst>
    <dgm:pt modelId="{6DFD108E-1B9D-4481-9AED-62AC24E903DD}" type="doc">
      <dgm:prSet loTypeId="urn:microsoft.com/office/officeart/2005/8/layout/pyramid2" loCatId="list" qsTypeId="urn:microsoft.com/office/officeart/2005/8/quickstyle/simple1" qsCatId="simple" csTypeId="urn:microsoft.com/office/officeart/2005/8/colors/accent1_2" csCatId="accent1" phldr="1"/>
      <dgm:spPr/>
    </dgm:pt>
    <dgm:pt modelId="{DD9FCA76-0151-45AD-B75D-CAA5C930A8C9}">
      <dgm:prSet phldrT="[Texte]" custT="1">
        <dgm:style>
          <a:lnRef idx="1">
            <a:schemeClr val="accent3"/>
          </a:lnRef>
          <a:fillRef idx="2">
            <a:schemeClr val="accent3"/>
          </a:fillRef>
          <a:effectRef idx="1">
            <a:schemeClr val="accent3"/>
          </a:effectRef>
          <a:fontRef idx="minor">
            <a:schemeClr val="dk1"/>
          </a:fontRef>
        </dgm:style>
      </dgm:prSet>
      <dgm:spPr/>
      <dgm:t>
        <a:bodyPr/>
        <a:lstStyle/>
        <a:p>
          <a:pPr algn="l" rtl="0"/>
          <a:r>
            <a:rPr lang="fr-FR" sz="1200" b="1" dirty="0"/>
            <a:t>1- L’</a:t>
          </a:r>
          <a:r>
            <a:rPr lang="fr-FR" sz="1200" b="1" dirty="0" err="1"/>
            <a:t>executive</a:t>
          </a:r>
          <a:r>
            <a:rPr lang="fr-FR" sz="1200" b="1" dirty="0"/>
            <a:t> </a:t>
          </a:r>
          <a:r>
            <a:rPr lang="fr-FR" sz="1200" b="1" dirty="0" err="1"/>
            <a:t>summary</a:t>
          </a:r>
          <a:r>
            <a:rPr lang="fr-FR" sz="1200" b="1" dirty="0"/>
            <a:t>, ou résumé du projet</a:t>
          </a:r>
        </a:p>
      </dgm:t>
    </dgm:pt>
    <dgm:pt modelId="{D31156C0-6CDE-4B14-9AA6-E37BBF8B669D}" type="parTrans" cxnId="{3AB42EA8-92DD-4C0C-B69C-550E50D84943}">
      <dgm:prSet/>
      <dgm:spPr/>
      <dgm:t>
        <a:bodyPr/>
        <a:lstStyle/>
        <a:p>
          <a:endParaRPr lang="fr-FR"/>
        </a:p>
      </dgm:t>
    </dgm:pt>
    <dgm:pt modelId="{5007A3DF-5E49-456D-BEBC-122F41623511}" type="sibTrans" cxnId="{3AB42EA8-92DD-4C0C-B69C-550E50D84943}">
      <dgm:prSet/>
      <dgm:spPr/>
      <dgm:t>
        <a:bodyPr/>
        <a:lstStyle/>
        <a:p>
          <a:endParaRPr lang="fr-FR"/>
        </a:p>
      </dgm:t>
    </dgm:pt>
    <dgm:pt modelId="{B854D14F-62F3-4C6C-8BFA-B31687B748B7}">
      <dgm:prSet phldrT="[Texte]" custT="1">
        <dgm:style>
          <a:lnRef idx="1">
            <a:schemeClr val="accent3"/>
          </a:lnRef>
          <a:fillRef idx="2">
            <a:schemeClr val="accent3"/>
          </a:fillRef>
          <a:effectRef idx="1">
            <a:schemeClr val="accent3"/>
          </a:effectRef>
          <a:fontRef idx="minor">
            <a:schemeClr val="dk1"/>
          </a:fontRef>
        </dgm:style>
      </dgm:prSet>
      <dgm:spPr/>
      <dgm:t>
        <a:bodyPr/>
        <a:lstStyle/>
        <a:p>
          <a:pPr algn="l"/>
          <a:r>
            <a:rPr lang="fr-FR" sz="1200" b="1" dirty="0"/>
            <a:t>2- Etude de marché et présentation du business model</a:t>
          </a:r>
        </a:p>
      </dgm:t>
    </dgm:pt>
    <dgm:pt modelId="{6950AC73-44FC-4EEA-8002-415F7AF67EB4}" type="parTrans" cxnId="{FFE9C650-2CEC-4DA2-8D68-7C179BC39FDE}">
      <dgm:prSet/>
      <dgm:spPr/>
      <dgm:t>
        <a:bodyPr/>
        <a:lstStyle/>
        <a:p>
          <a:endParaRPr lang="fr-FR"/>
        </a:p>
      </dgm:t>
    </dgm:pt>
    <dgm:pt modelId="{7F118AD1-F13F-42B5-B369-CE5FBE092AF1}" type="sibTrans" cxnId="{FFE9C650-2CEC-4DA2-8D68-7C179BC39FDE}">
      <dgm:prSet/>
      <dgm:spPr/>
      <dgm:t>
        <a:bodyPr/>
        <a:lstStyle/>
        <a:p>
          <a:endParaRPr lang="fr-FR"/>
        </a:p>
      </dgm:t>
    </dgm:pt>
    <dgm:pt modelId="{20168B11-5EEF-427A-B45C-CC3E8FD36B8D}">
      <dgm:prSet phldrT="[Texte]" custT="1">
        <dgm:style>
          <a:lnRef idx="1">
            <a:schemeClr val="accent3"/>
          </a:lnRef>
          <a:fillRef idx="2">
            <a:schemeClr val="accent3"/>
          </a:fillRef>
          <a:effectRef idx="1">
            <a:schemeClr val="accent3"/>
          </a:effectRef>
          <a:fontRef idx="minor">
            <a:schemeClr val="dk1"/>
          </a:fontRef>
        </dgm:style>
      </dgm:prSet>
      <dgm:spPr/>
      <dgm:t>
        <a:bodyPr/>
        <a:lstStyle/>
        <a:p>
          <a:pPr algn="l" rtl="0"/>
          <a:r>
            <a:rPr lang="fr-FR" sz="1200" b="1" dirty="0"/>
            <a:t>3- Présentation des produits et des services</a:t>
          </a:r>
        </a:p>
      </dgm:t>
    </dgm:pt>
    <dgm:pt modelId="{3FB9B398-5067-4A2A-A92C-A7026678F3FD}" type="parTrans" cxnId="{EB76386D-5B8E-4955-954C-6612D140B1B3}">
      <dgm:prSet/>
      <dgm:spPr/>
      <dgm:t>
        <a:bodyPr/>
        <a:lstStyle/>
        <a:p>
          <a:endParaRPr lang="fr-FR"/>
        </a:p>
      </dgm:t>
    </dgm:pt>
    <dgm:pt modelId="{4039577A-CCF4-49F4-800D-629D7AAB62F8}" type="sibTrans" cxnId="{EB76386D-5B8E-4955-954C-6612D140B1B3}">
      <dgm:prSet/>
      <dgm:spPr/>
      <dgm:t>
        <a:bodyPr/>
        <a:lstStyle/>
        <a:p>
          <a:endParaRPr lang="fr-FR"/>
        </a:p>
      </dgm:t>
    </dgm:pt>
    <dgm:pt modelId="{108C1A4B-0870-458E-B1E6-B74F408BC8A6}">
      <dgm:prSet phldrT="[Texte]" custT="1">
        <dgm:style>
          <a:lnRef idx="1">
            <a:schemeClr val="accent3"/>
          </a:lnRef>
          <a:fillRef idx="2">
            <a:schemeClr val="accent3"/>
          </a:fillRef>
          <a:effectRef idx="1">
            <a:schemeClr val="accent3"/>
          </a:effectRef>
          <a:fontRef idx="minor">
            <a:schemeClr val="dk1"/>
          </a:fontRef>
        </dgm:style>
      </dgm:prSet>
      <dgm:spPr/>
      <dgm:t>
        <a:bodyPr/>
        <a:lstStyle/>
        <a:p>
          <a:pPr algn="l" rtl="0"/>
          <a:r>
            <a:rPr lang="fr-FR" sz="1200" b="1" dirty="0"/>
            <a:t>4- Présentation de la société </a:t>
          </a:r>
        </a:p>
      </dgm:t>
    </dgm:pt>
    <dgm:pt modelId="{1B91A24B-DD3C-486A-AE6E-93952F99CE7A}" type="parTrans" cxnId="{97E17279-1905-41AB-A4A4-5F6E428BE55A}">
      <dgm:prSet/>
      <dgm:spPr/>
      <dgm:t>
        <a:bodyPr/>
        <a:lstStyle/>
        <a:p>
          <a:endParaRPr lang="fr-FR"/>
        </a:p>
      </dgm:t>
    </dgm:pt>
    <dgm:pt modelId="{9F670AAF-5EEE-4BF2-B0A6-61C87CB8F01F}" type="sibTrans" cxnId="{97E17279-1905-41AB-A4A4-5F6E428BE55A}">
      <dgm:prSet/>
      <dgm:spPr/>
      <dgm:t>
        <a:bodyPr/>
        <a:lstStyle/>
        <a:p>
          <a:endParaRPr lang="fr-FR"/>
        </a:p>
      </dgm:t>
    </dgm:pt>
    <dgm:pt modelId="{4CB4D26E-29F7-4257-BEC8-7D19E36EF7D2}">
      <dgm:prSet phldrT="[Texte]" custT="1">
        <dgm:style>
          <a:lnRef idx="1">
            <a:schemeClr val="accent3"/>
          </a:lnRef>
          <a:fillRef idx="2">
            <a:schemeClr val="accent3"/>
          </a:fillRef>
          <a:effectRef idx="1">
            <a:schemeClr val="accent3"/>
          </a:effectRef>
          <a:fontRef idx="minor">
            <a:schemeClr val="dk1"/>
          </a:fontRef>
        </dgm:style>
      </dgm:prSet>
      <dgm:spPr/>
      <dgm:t>
        <a:bodyPr/>
        <a:lstStyle/>
        <a:p>
          <a:pPr algn="l" rtl="0"/>
          <a:r>
            <a:rPr lang="fr-FR" sz="1200" b="1" dirty="0"/>
            <a:t>5- Schéma de financement et d’investissement</a:t>
          </a:r>
        </a:p>
      </dgm:t>
    </dgm:pt>
    <dgm:pt modelId="{70953576-208A-45AD-BB44-CFCB80225970}" type="parTrans" cxnId="{037E0BDA-4168-4F14-837E-55036215B685}">
      <dgm:prSet/>
      <dgm:spPr/>
      <dgm:t>
        <a:bodyPr/>
        <a:lstStyle/>
        <a:p>
          <a:endParaRPr lang="fr-FR"/>
        </a:p>
      </dgm:t>
    </dgm:pt>
    <dgm:pt modelId="{D8E6D9C2-0DF8-4A49-84CE-F62F58F19D6D}" type="sibTrans" cxnId="{037E0BDA-4168-4F14-837E-55036215B685}">
      <dgm:prSet/>
      <dgm:spPr/>
      <dgm:t>
        <a:bodyPr/>
        <a:lstStyle/>
        <a:p>
          <a:endParaRPr lang="fr-FR"/>
        </a:p>
      </dgm:t>
    </dgm:pt>
    <dgm:pt modelId="{FF87B18D-B743-40EC-8A51-ED9B8848811E}">
      <dgm:prSet phldrT="[Texte]" custT="1">
        <dgm:style>
          <a:lnRef idx="1">
            <a:schemeClr val="accent3"/>
          </a:lnRef>
          <a:fillRef idx="2">
            <a:schemeClr val="accent3"/>
          </a:fillRef>
          <a:effectRef idx="1">
            <a:schemeClr val="accent3"/>
          </a:effectRef>
          <a:fontRef idx="minor">
            <a:schemeClr val="dk1"/>
          </a:fontRef>
        </dgm:style>
      </dgm:prSet>
      <dgm:spPr/>
      <dgm:t>
        <a:bodyPr/>
        <a:lstStyle/>
        <a:p>
          <a:pPr algn="l" rtl="0"/>
          <a:r>
            <a:rPr lang="fr-FR" sz="1200" b="1" dirty="0"/>
            <a:t>6- Présentation de l’équipe projet</a:t>
          </a:r>
        </a:p>
      </dgm:t>
    </dgm:pt>
    <dgm:pt modelId="{7310DA64-41B3-4D05-9484-1870D58CAF66}" type="parTrans" cxnId="{8BA853B9-5AF4-462B-A65C-3B22F3D17B6F}">
      <dgm:prSet/>
      <dgm:spPr/>
      <dgm:t>
        <a:bodyPr/>
        <a:lstStyle/>
        <a:p>
          <a:endParaRPr lang="fr-FR"/>
        </a:p>
      </dgm:t>
    </dgm:pt>
    <dgm:pt modelId="{1BE24483-9F09-4B84-8827-C9A76D9C8474}" type="sibTrans" cxnId="{8BA853B9-5AF4-462B-A65C-3B22F3D17B6F}">
      <dgm:prSet/>
      <dgm:spPr/>
      <dgm:t>
        <a:bodyPr/>
        <a:lstStyle/>
        <a:p>
          <a:endParaRPr lang="fr-FR"/>
        </a:p>
      </dgm:t>
    </dgm:pt>
    <dgm:pt modelId="{B3B6F3D8-84EE-4782-A4FA-08679D5363BD}">
      <dgm:prSet phldrT="[Texte]" custT="1">
        <dgm:style>
          <a:lnRef idx="1">
            <a:schemeClr val="accent3"/>
          </a:lnRef>
          <a:fillRef idx="2">
            <a:schemeClr val="accent3"/>
          </a:fillRef>
          <a:effectRef idx="1">
            <a:schemeClr val="accent3"/>
          </a:effectRef>
          <a:fontRef idx="minor">
            <a:schemeClr val="dk1"/>
          </a:fontRef>
        </dgm:style>
      </dgm:prSet>
      <dgm:spPr/>
      <dgm:t>
        <a:bodyPr/>
        <a:lstStyle/>
        <a:p>
          <a:pPr algn="l" rtl="0"/>
          <a:r>
            <a:rPr lang="fr-FR" sz="1200" b="1" dirty="0"/>
            <a:t>7- Calendrier de réalisation du projet </a:t>
          </a:r>
        </a:p>
      </dgm:t>
    </dgm:pt>
    <dgm:pt modelId="{9DEB0E2C-B35C-4C1D-B273-9D8C0B190E00}" type="parTrans" cxnId="{77911761-4FC5-4058-AD07-B6EB125250C0}">
      <dgm:prSet/>
      <dgm:spPr/>
      <dgm:t>
        <a:bodyPr/>
        <a:lstStyle/>
        <a:p>
          <a:endParaRPr lang="fr-FR"/>
        </a:p>
      </dgm:t>
    </dgm:pt>
    <dgm:pt modelId="{A57C18A6-3612-4399-8C84-08E29E45943C}" type="sibTrans" cxnId="{77911761-4FC5-4058-AD07-B6EB125250C0}">
      <dgm:prSet/>
      <dgm:spPr/>
      <dgm:t>
        <a:bodyPr/>
        <a:lstStyle/>
        <a:p>
          <a:endParaRPr lang="fr-FR"/>
        </a:p>
      </dgm:t>
    </dgm:pt>
    <dgm:pt modelId="{6D8C6912-78E0-4299-BA5C-6E6FF78D6F0F}">
      <dgm:prSet phldrT="[Texte]" custT="1">
        <dgm:style>
          <a:lnRef idx="1">
            <a:schemeClr val="accent3"/>
          </a:lnRef>
          <a:fillRef idx="2">
            <a:schemeClr val="accent3"/>
          </a:fillRef>
          <a:effectRef idx="1">
            <a:schemeClr val="accent3"/>
          </a:effectRef>
          <a:fontRef idx="minor">
            <a:schemeClr val="dk1"/>
          </a:fontRef>
        </dgm:style>
      </dgm:prSet>
      <dgm:spPr/>
      <dgm:t>
        <a:bodyPr/>
        <a:lstStyle/>
        <a:p>
          <a:pPr algn="l" rtl="0"/>
          <a:r>
            <a:rPr lang="fr-FR" sz="1200" b="1" dirty="0"/>
            <a:t>8- Projections financières</a:t>
          </a:r>
        </a:p>
      </dgm:t>
    </dgm:pt>
    <dgm:pt modelId="{747E701E-526E-410D-B0F8-D564E78C6B75}" type="parTrans" cxnId="{A857CBA7-6D17-4022-AA37-85FFD22A1D2E}">
      <dgm:prSet/>
      <dgm:spPr/>
      <dgm:t>
        <a:bodyPr/>
        <a:lstStyle/>
        <a:p>
          <a:endParaRPr lang="fr-FR"/>
        </a:p>
      </dgm:t>
    </dgm:pt>
    <dgm:pt modelId="{10E9C754-361F-4B5E-B55A-47FBCBF26440}" type="sibTrans" cxnId="{A857CBA7-6D17-4022-AA37-85FFD22A1D2E}">
      <dgm:prSet/>
      <dgm:spPr/>
      <dgm:t>
        <a:bodyPr/>
        <a:lstStyle/>
        <a:p>
          <a:endParaRPr lang="fr-FR"/>
        </a:p>
      </dgm:t>
    </dgm:pt>
    <dgm:pt modelId="{3AA75983-3863-4984-BE74-AA77731ECEE6}" type="pres">
      <dgm:prSet presAssocID="{6DFD108E-1B9D-4481-9AED-62AC24E903DD}" presName="compositeShape" presStyleCnt="0">
        <dgm:presLayoutVars>
          <dgm:dir/>
          <dgm:resizeHandles/>
        </dgm:presLayoutVars>
      </dgm:prSet>
      <dgm:spPr/>
    </dgm:pt>
    <dgm:pt modelId="{8B71923A-F8F8-43E0-A291-6114A0DB734D}" type="pres">
      <dgm:prSet presAssocID="{6DFD108E-1B9D-4481-9AED-62AC24E903DD}" presName="pyramid" presStyleLbl="node1" presStyleIdx="0" presStyleCnt="1" custLinFactNeighborX="-4777" custLinFactNeighborY="29030"/>
      <dgm:spPr/>
    </dgm:pt>
    <dgm:pt modelId="{20FEF721-0E5C-49C5-AF7E-BE6E5CE6EC50}" type="pres">
      <dgm:prSet presAssocID="{6DFD108E-1B9D-4481-9AED-62AC24E903DD}" presName="theList" presStyleCnt="0"/>
      <dgm:spPr/>
    </dgm:pt>
    <dgm:pt modelId="{17C200FB-CCF8-4082-8E3F-8D28E7EC42CD}" type="pres">
      <dgm:prSet presAssocID="{DD9FCA76-0151-45AD-B75D-CAA5C930A8C9}" presName="aNode" presStyleLbl="fgAcc1" presStyleIdx="0" presStyleCnt="8" custScaleX="173186" custLinFactY="-41937" custLinFactNeighborX="-26662" custLinFactNeighborY="-100000">
        <dgm:presLayoutVars>
          <dgm:bulletEnabled val="1"/>
        </dgm:presLayoutVars>
      </dgm:prSet>
      <dgm:spPr/>
      <dgm:t>
        <a:bodyPr/>
        <a:lstStyle/>
        <a:p>
          <a:endParaRPr lang="fr-FR"/>
        </a:p>
      </dgm:t>
    </dgm:pt>
    <dgm:pt modelId="{9BB55921-B067-4191-8302-835A9D8BA1A0}" type="pres">
      <dgm:prSet presAssocID="{DD9FCA76-0151-45AD-B75D-CAA5C930A8C9}" presName="aSpace" presStyleCnt="0"/>
      <dgm:spPr/>
    </dgm:pt>
    <dgm:pt modelId="{358BE62C-2E89-4A23-BF81-CF4EA8660704}" type="pres">
      <dgm:prSet presAssocID="{B854D14F-62F3-4C6C-8BFA-B31687B748B7}" presName="aNode" presStyleLbl="fgAcc1" presStyleIdx="1" presStyleCnt="8" custScaleX="175915" custLinFactY="-20162" custLinFactNeighborX="-25305" custLinFactNeighborY="-100000">
        <dgm:presLayoutVars>
          <dgm:bulletEnabled val="1"/>
        </dgm:presLayoutVars>
      </dgm:prSet>
      <dgm:spPr/>
      <dgm:t>
        <a:bodyPr/>
        <a:lstStyle/>
        <a:p>
          <a:endParaRPr lang="fr-FR"/>
        </a:p>
      </dgm:t>
    </dgm:pt>
    <dgm:pt modelId="{81CCFC8E-3AC6-4B9D-9688-496F83C169B5}" type="pres">
      <dgm:prSet presAssocID="{B854D14F-62F3-4C6C-8BFA-B31687B748B7}" presName="aSpace" presStyleCnt="0"/>
      <dgm:spPr/>
    </dgm:pt>
    <dgm:pt modelId="{84D53361-4EC6-43D8-82C4-BE53FA19B618}" type="pres">
      <dgm:prSet presAssocID="{20168B11-5EEF-427A-B45C-CC3E8FD36B8D}" presName="aNode" presStyleLbl="fgAcc1" presStyleIdx="2" presStyleCnt="8" custScaleX="170464" custLinFactNeighborX="-25145" custLinFactNeighborY="-87100">
        <dgm:presLayoutVars>
          <dgm:bulletEnabled val="1"/>
        </dgm:presLayoutVars>
      </dgm:prSet>
      <dgm:spPr/>
      <dgm:t>
        <a:bodyPr/>
        <a:lstStyle/>
        <a:p>
          <a:endParaRPr lang="fr-FR"/>
        </a:p>
      </dgm:t>
    </dgm:pt>
    <dgm:pt modelId="{34FB59A4-0FC8-4573-99CB-9FF52342A6FC}" type="pres">
      <dgm:prSet presAssocID="{20168B11-5EEF-427A-B45C-CC3E8FD36B8D}" presName="aSpace" presStyleCnt="0"/>
      <dgm:spPr/>
    </dgm:pt>
    <dgm:pt modelId="{B8021741-BB9D-499E-AC0B-84A999CBE095}" type="pres">
      <dgm:prSet presAssocID="{108C1A4B-0870-458E-B1E6-B74F408BC8A6}" presName="aNode" presStyleLbl="fgAcc1" presStyleIdx="3" presStyleCnt="8" custScaleX="180675" custLinFactNeighborX="-28696" custLinFactNeighborY="85790">
        <dgm:presLayoutVars>
          <dgm:bulletEnabled val="1"/>
        </dgm:presLayoutVars>
      </dgm:prSet>
      <dgm:spPr/>
      <dgm:t>
        <a:bodyPr/>
        <a:lstStyle/>
        <a:p>
          <a:endParaRPr lang="fr-FR"/>
        </a:p>
      </dgm:t>
    </dgm:pt>
    <dgm:pt modelId="{23529959-51DD-4D5E-936B-D07F4D6A1F1F}" type="pres">
      <dgm:prSet presAssocID="{108C1A4B-0870-458E-B1E6-B74F408BC8A6}" presName="aSpace" presStyleCnt="0"/>
      <dgm:spPr/>
    </dgm:pt>
    <dgm:pt modelId="{0DEE33B1-1571-4FF8-8630-AC31661FF8CC}" type="pres">
      <dgm:prSet presAssocID="{4CB4D26E-29F7-4257-BEC8-7D19E36EF7D2}" presName="aNode" presStyleLbl="fgAcc1" presStyleIdx="4" presStyleCnt="8" custScaleX="169553" custLinFactY="35705" custLinFactNeighborX="-26712" custLinFactNeighborY="100000">
        <dgm:presLayoutVars>
          <dgm:bulletEnabled val="1"/>
        </dgm:presLayoutVars>
      </dgm:prSet>
      <dgm:spPr/>
      <dgm:t>
        <a:bodyPr/>
        <a:lstStyle/>
        <a:p>
          <a:endParaRPr lang="fr-FR"/>
        </a:p>
      </dgm:t>
    </dgm:pt>
    <dgm:pt modelId="{0DBC5DD3-5A75-4EE4-B1FE-FEF958C86825}" type="pres">
      <dgm:prSet presAssocID="{4CB4D26E-29F7-4257-BEC8-7D19E36EF7D2}" presName="aSpace" presStyleCnt="0"/>
      <dgm:spPr/>
    </dgm:pt>
    <dgm:pt modelId="{1818A782-2C86-4198-988D-2616CD019CD4}" type="pres">
      <dgm:prSet presAssocID="{FF87B18D-B743-40EC-8A51-ED9B8848811E}" presName="aNode" presStyleLbl="fgAcc1" presStyleIdx="5" presStyleCnt="8" custScaleX="152843" custLinFactY="45884" custLinFactNeighborX="-32850" custLinFactNeighborY="100000">
        <dgm:presLayoutVars>
          <dgm:bulletEnabled val="1"/>
        </dgm:presLayoutVars>
      </dgm:prSet>
      <dgm:spPr/>
      <dgm:t>
        <a:bodyPr/>
        <a:lstStyle/>
        <a:p>
          <a:endParaRPr lang="fr-FR"/>
        </a:p>
      </dgm:t>
    </dgm:pt>
    <dgm:pt modelId="{1CCFF62A-402A-4039-843F-F5E2952447D8}" type="pres">
      <dgm:prSet presAssocID="{FF87B18D-B743-40EC-8A51-ED9B8848811E}" presName="aSpace" presStyleCnt="0"/>
      <dgm:spPr/>
    </dgm:pt>
    <dgm:pt modelId="{9D40904B-D013-4FB8-95F4-318119FBB15A}" type="pres">
      <dgm:prSet presAssocID="{B3B6F3D8-84EE-4782-A4FA-08679D5363BD}" presName="aNode" presStyleLbl="fgAcc1" presStyleIdx="6" presStyleCnt="8" custScaleX="132500" custLinFactY="62135" custLinFactNeighborX="-45589" custLinFactNeighborY="100000">
        <dgm:presLayoutVars>
          <dgm:bulletEnabled val="1"/>
        </dgm:presLayoutVars>
      </dgm:prSet>
      <dgm:spPr/>
      <dgm:t>
        <a:bodyPr/>
        <a:lstStyle/>
        <a:p>
          <a:endParaRPr lang="fr-FR"/>
        </a:p>
      </dgm:t>
    </dgm:pt>
    <dgm:pt modelId="{D4DD5E5E-CF82-4176-A8FB-FE4AE71CDF0F}" type="pres">
      <dgm:prSet presAssocID="{B3B6F3D8-84EE-4782-A4FA-08679D5363BD}" presName="aSpace" presStyleCnt="0"/>
      <dgm:spPr/>
    </dgm:pt>
    <dgm:pt modelId="{D1C9D6A5-6AC2-4446-8A31-C780E288598F}" type="pres">
      <dgm:prSet presAssocID="{6D8C6912-78E0-4299-BA5C-6E6FF78D6F0F}" presName="aNode" presStyleLbl="fgAcc1" presStyleIdx="7" presStyleCnt="8" custLinFactY="75516" custLinFactNeighborX="-62569" custLinFactNeighborY="100000">
        <dgm:presLayoutVars>
          <dgm:bulletEnabled val="1"/>
        </dgm:presLayoutVars>
      </dgm:prSet>
      <dgm:spPr/>
      <dgm:t>
        <a:bodyPr/>
        <a:lstStyle/>
        <a:p>
          <a:endParaRPr lang="fr-FR"/>
        </a:p>
      </dgm:t>
    </dgm:pt>
    <dgm:pt modelId="{D494E06C-3D95-401B-BC44-8BFE16A44870}" type="pres">
      <dgm:prSet presAssocID="{6D8C6912-78E0-4299-BA5C-6E6FF78D6F0F}" presName="aSpace" presStyleCnt="0"/>
      <dgm:spPr/>
    </dgm:pt>
  </dgm:ptLst>
  <dgm:cxnLst>
    <dgm:cxn modelId="{FFE9C650-2CEC-4DA2-8D68-7C179BC39FDE}" srcId="{6DFD108E-1B9D-4481-9AED-62AC24E903DD}" destId="{B854D14F-62F3-4C6C-8BFA-B31687B748B7}" srcOrd="1" destOrd="0" parTransId="{6950AC73-44FC-4EEA-8002-415F7AF67EB4}" sibTransId="{7F118AD1-F13F-42B5-B369-CE5FBE092AF1}"/>
    <dgm:cxn modelId="{279258B0-57D8-45AA-820E-3EAB8667120D}" type="presOf" srcId="{108C1A4B-0870-458E-B1E6-B74F408BC8A6}" destId="{B8021741-BB9D-499E-AC0B-84A999CBE095}" srcOrd="0" destOrd="0" presId="urn:microsoft.com/office/officeart/2005/8/layout/pyramid2"/>
    <dgm:cxn modelId="{77911761-4FC5-4058-AD07-B6EB125250C0}" srcId="{6DFD108E-1B9D-4481-9AED-62AC24E903DD}" destId="{B3B6F3D8-84EE-4782-A4FA-08679D5363BD}" srcOrd="6" destOrd="0" parTransId="{9DEB0E2C-B35C-4C1D-B273-9D8C0B190E00}" sibTransId="{A57C18A6-3612-4399-8C84-08E29E45943C}"/>
    <dgm:cxn modelId="{03B11181-83AB-4E22-954E-F76B413C5B33}" type="presOf" srcId="{20168B11-5EEF-427A-B45C-CC3E8FD36B8D}" destId="{84D53361-4EC6-43D8-82C4-BE53FA19B618}" srcOrd="0" destOrd="0" presId="urn:microsoft.com/office/officeart/2005/8/layout/pyramid2"/>
    <dgm:cxn modelId="{A857CBA7-6D17-4022-AA37-85FFD22A1D2E}" srcId="{6DFD108E-1B9D-4481-9AED-62AC24E903DD}" destId="{6D8C6912-78E0-4299-BA5C-6E6FF78D6F0F}" srcOrd="7" destOrd="0" parTransId="{747E701E-526E-410D-B0F8-D564E78C6B75}" sibTransId="{10E9C754-361F-4B5E-B55A-47FBCBF26440}"/>
    <dgm:cxn modelId="{0241054A-2C73-428C-B6AB-6947A7189D45}" type="presOf" srcId="{6DFD108E-1B9D-4481-9AED-62AC24E903DD}" destId="{3AA75983-3863-4984-BE74-AA77731ECEE6}" srcOrd="0" destOrd="0" presId="urn:microsoft.com/office/officeart/2005/8/layout/pyramid2"/>
    <dgm:cxn modelId="{7023F071-B0B4-4B93-887A-B28AB847CCB4}" type="presOf" srcId="{DD9FCA76-0151-45AD-B75D-CAA5C930A8C9}" destId="{17C200FB-CCF8-4082-8E3F-8D28E7EC42CD}" srcOrd="0" destOrd="0" presId="urn:microsoft.com/office/officeart/2005/8/layout/pyramid2"/>
    <dgm:cxn modelId="{97E17279-1905-41AB-A4A4-5F6E428BE55A}" srcId="{6DFD108E-1B9D-4481-9AED-62AC24E903DD}" destId="{108C1A4B-0870-458E-B1E6-B74F408BC8A6}" srcOrd="3" destOrd="0" parTransId="{1B91A24B-DD3C-486A-AE6E-93952F99CE7A}" sibTransId="{9F670AAF-5EEE-4BF2-B0A6-61C87CB8F01F}"/>
    <dgm:cxn modelId="{037E0BDA-4168-4F14-837E-55036215B685}" srcId="{6DFD108E-1B9D-4481-9AED-62AC24E903DD}" destId="{4CB4D26E-29F7-4257-BEC8-7D19E36EF7D2}" srcOrd="4" destOrd="0" parTransId="{70953576-208A-45AD-BB44-CFCB80225970}" sibTransId="{D8E6D9C2-0DF8-4A49-84CE-F62F58F19D6D}"/>
    <dgm:cxn modelId="{00CEF62E-0DB3-4C70-8F35-1C216FB8B1EE}" type="presOf" srcId="{6D8C6912-78E0-4299-BA5C-6E6FF78D6F0F}" destId="{D1C9D6A5-6AC2-4446-8A31-C780E288598F}" srcOrd="0" destOrd="0" presId="urn:microsoft.com/office/officeart/2005/8/layout/pyramid2"/>
    <dgm:cxn modelId="{FF71E72E-DD08-40AE-8919-116E6304F960}" type="presOf" srcId="{4CB4D26E-29F7-4257-BEC8-7D19E36EF7D2}" destId="{0DEE33B1-1571-4FF8-8630-AC31661FF8CC}" srcOrd="0" destOrd="0" presId="urn:microsoft.com/office/officeart/2005/8/layout/pyramid2"/>
    <dgm:cxn modelId="{DC50156B-1DEA-4E7C-B198-7D8D09C7A296}" type="presOf" srcId="{B3B6F3D8-84EE-4782-A4FA-08679D5363BD}" destId="{9D40904B-D013-4FB8-95F4-318119FBB15A}" srcOrd="0" destOrd="0" presId="urn:microsoft.com/office/officeart/2005/8/layout/pyramid2"/>
    <dgm:cxn modelId="{97367689-ED57-45F1-9A56-09D0EC2B5171}" type="presOf" srcId="{B854D14F-62F3-4C6C-8BFA-B31687B748B7}" destId="{358BE62C-2E89-4A23-BF81-CF4EA8660704}" srcOrd="0" destOrd="0" presId="urn:microsoft.com/office/officeart/2005/8/layout/pyramid2"/>
    <dgm:cxn modelId="{8BA853B9-5AF4-462B-A65C-3B22F3D17B6F}" srcId="{6DFD108E-1B9D-4481-9AED-62AC24E903DD}" destId="{FF87B18D-B743-40EC-8A51-ED9B8848811E}" srcOrd="5" destOrd="0" parTransId="{7310DA64-41B3-4D05-9484-1870D58CAF66}" sibTransId="{1BE24483-9F09-4B84-8827-C9A76D9C8474}"/>
    <dgm:cxn modelId="{EB76386D-5B8E-4955-954C-6612D140B1B3}" srcId="{6DFD108E-1B9D-4481-9AED-62AC24E903DD}" destId="{20168B11-5EEF-427A-B45C-CC3E8FD36B8D}" srcOrd="2" destOrd="0" parTransId="{3FB9B398-5067-4A2A-A92C-A7026678F3FD}" sibTransId="{4039577A-CCF4-49F4-800D-629D7AAB62F8}"/>
    <dgm:cxn modelId="{5C885919-D6C1-499F-BA55-EFC4767AC919}" type="presOf" srcId="{FF87B18D-B743-40EC-8A51-ED9B8848811E}" destId="{1818A782-2C86-4198-988D-2616CD019CD4}" srcOrd="0" destOrd="0" presId="urn:microsoft.com/office/officeart/2005/8/layout/pyramid2"/>
    <dgm:cxn modelId="{3AB42EA8-92DD-4C0C-B69C-550E50D84943}" srcId="{6DFD108E-1B9D-4481-9AED-62AC24E903DD}" destId="{DD9FCA76-0151-45AD-B75D-CAA5C930A8C9}" srcOrd="0" destOrd="0" parTransId="{D31156C0-6CDE-4B14-9AA6-E37BBF8B669D}" sibTransId="{5007A3DF-5E49-456D-BEBC-122F41623511}"/>
    <dgm:cxn modelId="{B4CD7BF9-47DE-4F34-B510-3E59EC90579D}" type="presParOf" srcId="{3AA75983-3863-4984-BE74-AA77731ECEE6}" destId="{8B71923A-F8F8-43E0-A291-6114A0DB734D}" srcOrd="0" destOrd="0" presId="urn:microsoft.com/office/officeart/2005/8/layout/pyramid2"/>
    <dgm:cxn modelId="{EB5C58FB-F823-4D2F-AD01-348462466E02}" type="presParOf" srcId="{3AA75983-3863-4984-BE74-AA77731ECEE6}" destId="{20FEF721-0E5C-49C5-AF7E-BE6E5CE6EC50}" srcOrd="1" destOrd="0" presId="urn:microsoft.com/office/officeart/2005/8/layout/pyramid2"/>
    <dgm:cxn modelId="{15E16602-0F67-41A9-B98A-5AF30902D937}" type="presParOf" srcId="{20FEF721-0E5C-49C5-AF7E-BE6E5CE6EC50}" destId="{17C200FB-CCF8-4082-8E3F-8D28E7EC42CD}" srcOrd="0" destOrd="0" presId="urn:microsoft.com/office/officeart/2005/8/layout/pyramid2"/>
    <dgm:cxn modelId="{8BC20814-83D4-442A-B86A-99A1D5F65B0A}" type="presParOf" srcId="{20FEF721-0E5C-49C5-AF7E-BE6E5CE6EC50}" destId="{9BB55921-B067-4191-8302-835A9D8BA1A0}" srcOrd="1" destOrd="0" presId="urn:microsoft.com/office/officeart/2005/8/layout/pyramid2"/>
    <dgm:cxn modelId="{50807966-5CF9-4F70-81D3-803687FB8EAD}" type="presParOf" srcId="{20FEF721-0E5C-49C5-AF7E-BE6E5CE6EC50}" destId="{358BE62C-2E89-4A23-BF81-CF4EA8660704}" srcOrd="2" destOrd="0" presId="urn:microsoft.com/office/officeart/2005/8/layout/pyramid2"/>
    <dgm:cxn modelId="{96D1B19F-DA3C-42BC-8399-6C8836CDBD82}" type="presParOf" srcId="{20FEF721-0E5C-49C5-AF7E-BE6E5CE6EC50}" destId="{81CCFC8E-3AC6-4B9D-9688-496F83C169B5}" srcOrd="3" destOrd="0" presId="urn:microsoft.com/office/officeart/2005/8/layout/pyramid2"/>
    <dgm:cxn modelId="{4F8C46BC-30C9-445F-966D-2DE4D4B0CBDB}" type="presParOf" srcId="{20FEF721-0E5C-49C5-AF7E-BE6E5CE6EC50}" destId="{84D53361-4EC6-43D8-82C4-BE53FA19B618}" srcOrd="4" destOrd="0" presId="urn:microsoft.com/office/officeart/2005/8/layout/pyramid2"/>
    <dgm:cxn modelId="{DEB04841-F52C-4CE0-90BA-B8ED714056CF}" type="presParOf" srcId="{20FEF721-0E5C-49C5-AF7E-BE6E5CE6EC50}" destId="{34FB59A4-0FC8-4573-99CB-9FF52342A6FC}" srcOrd="5" destOrd="0" presId="urn:microsoft.com/office/officeart/2005/8/layout/pyramid2"/>
    <dgm:cxn modelId="{1A43E59E-74EE-445A-BD66-68FB36D21876}" type="presParOf" srcId="{20FEF721-0E5C-49C5-AF7E-BE6E5CE6EC50}" destId="{B8021741-BB9D-499E-AC0B-84A999CBE095}" srcOrd="6" destOrd="0" presId="urn:microsoft.com/office/officeart/2005/8/layout/pyramid2"/>
    <dgm:cxn modelId="{47FB3EFA-3700-4627-8F6C-7ECF61A3743D}" type="presParOf" srcId="{20FEF721-0E5C-49C5-AF7E-BE6E5CE6EC50}" destId="{23529959-51DD-4D5E-936B-D07F4D6A1F1F}" srcOrd="7" destOrd="0" presId="urn:microsoft.com/office/officeart/2005/8/layout/pyramid2"/>
    <dgm:cxn modelId="{C9BBB551-0816-48E6-AAA8-2ABBA0A3EA2C}" type="presParOf" srcId="{20FEF721-0E5C-49C5-AF7E-BE6E5CE6EC50}" destId="{0DEE33B1-1571-4FF8-8630-AC31661FF8CC}" srcOrd="8" destOrd="0" presId="urn:microsoft.com/office/officeart/2005/8/layout/pyramid2"/>
    <dgm:cxn modelId="{5CFC3013-C090-4E56-826B-78B0ED749A7D}" type="presParOf" srcId="{20FEF721-0E5C-49C5-AF7E-BE6E5CE6EC50}" destId="{0DBC5DD3-5A75-4EE4-B1FE-FEF958C86825}" srcOrd="9" destOrd="0" presId="urn:microsoft.com/office/officeart/2005/8/layout/pyramid2"/>
    <dgm:cxn modelId="{875AD240-2AC0-4C26-9FD4-6F1AFE20FC9A}" type="presParOf" srcId="{20FEF721-0E5C-49C5-AF7E-BE6E5CE6EC50}" destId="{1818A782-2C86-4198-988D-2616CD019CD4}" srcOrd="10" destOrd="0" presId="urn:microsoft.com/office/officeart/2005/8/layout/pyramid2"/>
    <dgm:cxn modelId="{FB9959A0-DC9F-4474-840A-7EFFB8F907F2}" type="presParOf" srcId="{20FEF721-0E5C-49C5-AF7E-BE6E5CE6EC50}" destId="{1CCFF62A-402A-4039-843F-F5E2952447D8}" srcOrd="11" destOrd="0" presId="urn:microsoft.com/office/officeart/2005/8/layout/pyramid2"/>
    <dgm:cxn modelId="{BE965140-3387-40E8-BD16-184BA8106C45}" type="presParOf" srcId="{20FEF721-0E5C-49C5-AF7E-BE6E5CE6EC50}" destId="{9D40904B-D013-4FB8-95F4-318119FBB15A}" srcOrd="12" destOrd="0" presId="urn:microsoft.com/office/officeart/2005/8/layout/pyramid2"/>
    <dgm:cxn modelId="{1F3A03AE-466B-497C-92C0-40B1680BCDE4}" type="presParOf" srcId="{20FEF721-0E5C-49C5-AF7E-BE6E5CE6EC50}" destId="{D4DD5E5E-CF82-4176-A8FB-FE4AE71CDF0F}" srcOrd="13" destOrd="0" presId="urn:microsoft.com/office/officeart/2005/8/layout/pyramid2"/>
    <dgm:cxn modelId="{C1668B4E-8CDD-4903-83B1-1121D7F3E1FB}" type="presParOf" srcId="{20FEF721-0E5C-49C5-AF7E-BE6E5CE6EC50}" destId="{D1C9D6A5-6AC2-4446-8A31-C780E288598F}" srcOrd="14" destOrd="0" presId="urn:microsoft.com/office/officeart/2005/8/layout/pyramid2"/>
    <dgm:cxn modelId="{D13E7219-E3DC-4743-A0BF-77C9C87A7DFC}" type="presParOf" srcId="{20FEF721-0E5C-49C5-AF7E-BE6E5CE6EC50}" destId="{D494E06C-3D95-401B-BC44-8BFE16A44870}" srcOrd="15" destOrd="0" presId="urn:microsoft.com/office/officeart/2005/8/layout/pyramid2"/>
  </dgm:cxnLst>
  <dgm:bg/>
  <dgm:whole/>
</dgm:dataModel>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Espace réservé de l'en-tête 1"/>
          <p:cNvSpPr txBox="1">
            <a:spLocks noGrp="1"/>
          </p:cNvSpPr>
          <p:nvPr>
            <p:ph type="hdr" sz="quarter"/>
          </p:nvPr>
        </p:nvSpPr>
        <p:spPr>
          <a:xfrm>
            <a:off x="0" y="0"/>
            <a:ext cx="2971800" cy="458791"/>
          </a:xfrm>
          <a:prstGeom prst="rect">
            <a:avLst/>
          </a:prstGeom>
          <a:noFill/>
          <a:ln>
            <a:noFill/>
          </a:ln>
        </p:spPr>
        <p:txBody>
          <a:bodyPr vert="horz" wrap="square" lIns="91440" tIns="45720" rIns="91440" bIns="45720" anchor="t" anchorCtr="0" compatLnSpc="1">
            <a:noAutofit/>
          </a:bodyPr>
          <a:lstStyle>
            <a:lvl1pPr marL="0" marR="0" lvl="0" indent="0" algn="l" defTabSz="4572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1pPr>
          </a:lstStyle>
          <a:p>
            <a:pPr lvl="0"/>
            <a:endParaRPr lang="fr-FR"/>
          </a:p>
        </p:txBody>
      </p:sp>
      <p:sp>
        <p:nvSpPr>
          <p:cNvPr id="3" name="Espace réservé de la date 2"/>
          <p:cNvSpPr txBox="1">
            <a:spLocks noGrp="1"/>
          </p:cNvSpPr>
          <p:nvPr>
            <p:ph type="dt" idx="1"/>
          </p:nvPr>
        </p:nvSpPr>
        <p:spPr>
          <a:xfrm>
            <a:off x="3884608" y="0"/>
            <a:ext cx="2971800" cy="458791"/>
          </a:xfrm>
          <a:prstGeom prst="rect">
            <a:avLst/>
          </a:prstGeom>
          <a:noFill/>
          <a:ln>
            <a:noFill/>
          </a:ln>
        </p:spPr>
        <p:txBody>
          <a:bodyPr vert="horz" wrap="square" lIns="91440" tIns="45720" rIns="91440" bIns="45720" anchor="t" anchorCtr="0" compatLnSpc="1">
            <a:noAutofit/>
          </a:bodyPr>
          <a:lstStyle>
            <a:lvl1pPr marL="0" marR="0" lvl="0" indent="0" algn="r" defTabSz="4572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1pPr>
          </a:lstStyle>
          <a:p>
            <a:pPr lvl="0"/>
            <a:fld id="{1B5F3588-E87A-4ABA-809F-C4BA001D16FF}" type="datetime1">
              <a:rPr lang="fr-FR"/>
              <a:pPr lvl="0"/>
              <a:t>16/11/2025</a:t>
            </a:fld>
            <a:endParaRPr lang="fr-FR"/>
          </a:p>
        </p:txBody>
      </p:sp>
      <p:sp>
        <p:nvSpPr>
          <p:cNvPr id="4" name="Espace réservé de l'image des diapositives 3"/>
          <p:cNvSpPr>
            <a:spLocks noGrp="1" noRot="1" noChangeAspect="1"/>
          </p:cNvSpPr>
          <p:nvPr>
            <p:ph type="sldImg" idx="2"/>
          </p:nvPr>
        </p:nvSpPr>
        <p:spPr>
          <a:xfrm>
            <a:off x="685800" y="1143000"/>
            <a:ext cx="5486400" cy="3086099"/>
          </a:xfrm>
          <a:prstGeom prst="rect">
            <a:avLst/>
          </a:prstGeom>
          <a:noFill/>
          <a:ln w="12701">
            <a:solidFill>
              <a:srgbClr val="000000"/>
            </a:solidFill>
            <a:prstDash val="solid"/>
          </a:ln>
        </p:spPr>
      </p:sp>
      <p:sp>
        <p:nvSpPr>
          <p:cNvPr id="5" name="Espace réservé des commentaires 4"/>
          <p:cNvSpPr txBox="1">
            <a:spLocks noGrp="1"/>
          </p:cNvSpPr>
          <p:nvPr>
            <p:ph type="body" sz="quarter" idx="3"/>
          </p:nvPr>
        </p:nvSpPr>
        <p:spPr>
          <a:xfrm>
            <a:off x="685800" y="4400549"/>
            <a:ext cx="5486400" cy="3600450"/>
          </a:xfrm>
          <a:prstGeom prst="rect">
            <a:avLst/>
          </a:prstGeom>
          <a:noFill/>
          <a:ln>
            <a:noFill/>
          </a:ln>
        </p:spPr>
        <p:txBody>
          <a:bodyPr vert="horz" wrap="square" lIns="91440" tIns="45720" rIns="91440" bIns="45720" anchor="t" anchorCtr="0" compatLnSpc="1">
            <a:no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txBox="1">
            <a:spLocks noGrp="1"/>
          </p:cNvSpPr>
          <p:nvPr>
            <p:ph type="ftr" sz="quarter" idx="4"/>
          </p:nvPr>
        </p:nvSpPr>
        <p:spPr>
          <a:xfrm>
            <a:off x="0"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l" defTabSz="4572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1pPr>
          </a:lstStyle>
          <a:p>
            <a:pPr lvl="0"/>
            <a:endParaRPr lang="fr-FR"/>
          </a:p>
        </p:txBody>
      </p:sp>
      <p:sp>
        <p:nvSpPr>
          <p:cNvPr id="7" name="Espace réservé du numéro de diapositive 6"/>
          <p:cNvSpPr txBox="1">
            <a:spLocks noGrp="1"/>
          </p:cNvSpPr>
          <p:nvPr>
            <p:ph type="sldNum" sz="quarter" idx="5"/>
          </p:nvPr>
        </p:nvSpPr>
        <p:spPr>
          <a:xfrm>
            <a:off x="3884608" y="8685208"/>
            <a:ext cx="2971800" cy="458791"/>
          </a:xfrm>
          <a:prstGeom prst="rect">
            <a:avLst/>
          </a:prstGeom>
          <a:noFill/>
          <a:ln>
            <a:noFill/>
          </a:ln>
        </p:spPr>
        <p:txBody>
          <a:bodyPr vert="horz" wrap="square" lIns="91440" tIns="45720" rIns="91440" bIns="45720" anchor="b" anchorCtr="0" compatLnSpc="1">
            <a:noAutofit/>
          </a:bodyPr>
          <a:lstStyle>
            <a:lvl1pPr marL="0" marR="0" lvl="0" indent="0" algn="r" defTabSz="4572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1pPr>
          </a:lstStyle>
          <a:p>
            <a:pPr lvl="0"/>
            <a:fld id="{BBB61F38-504C-4414-A834-C4353E781472}" type="slidenum">
              <a:rPr/>
              <a:pPr lvl="0"/>
              <a:t>‹N°›</a:t>
            </a:fld>
            <a:endParaRPr lang="fr-FR"/>
          </a:p>
        </p:txBody>
      </p:sp>
    </p:spTree>
    <p:extLst>
      <p:ext uri="{BB962C8B-B14F-4D97-AF65-F5344CB8AC3E}">
        <p14:creationId xmlns:p14="http://schemas.microsoft.com/office/powerpoint/2010/main" xmlns="" val="4166362452"/>
      </p:ext>
    </p:extLst>
  </p:cSld>
  <p:clrMap bg1="lt1" tx1="dk1" bg2="lt2" tx2="dk2" accent1="accent1" accent2="accent2" accent3="accent3" accent4="accent4" accent5="accent5" accent6="accent6" hlink="hlink" folHlink="folHlink"/>
  <p:notesStyle>
    <a:lvl1pPr marL="0" marR="0" lvl="0" indent="0" algn="l"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1pPr>
    <a:lvl2pPr marL="457200" marR="0" lvl="1" indent="0" algn="l"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2pPr>
    <a:lvl3pPr marL="914400" marR="0" lvl="2" indent="0" algn="l"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3pPr>
    <a:lvl4pPr marL="1371600" marR="0" lvl="3" indent="0" algn="l"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4pPr>
    <a:lvl5pPr marL="1828800" marR="0" lvl="4" indent="0" algn="l" defTabSz="914400" rtl="0" fontAlgn="auto" hangingPunct="1">
      <a:lnSpc>
        <a:spcPct val="100000"/>
      </a:lnSpc>
      <a:spcBef>
        <a:spcPts val="0"/>
      </a:spcBef>
      <a:spcAft>
        <a:spcPts val="0"/>
      </a:spcAft>
      <a:buNone/>
      <a:tabLst/>
      <a:defRPr lang="fr-FR" sz="1200" b="0" i="0" u="none" strike="noStrike" kern="1200" cap="none" spc="0" baseline="0">
        <a:solidFill>
          <a:srgbClr val="000000"/>
        </a:solidFill>
        <a:uFillTx/>
        <a:latin typeface="Calibri"/>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pPr lvl="0"/>
            <a:fld id="{BBB61F38-504C-4414-A834-C4353E781472}" type="slidenum">
              <a:rPr lang="fr-FR" smtClean="0"/>
              <a:pPr lvl="0"/>
              <a:t>8</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pPr lvl="0"/>
            <a:fld id="{BBB61F38-504C-4414-A834-C4353E781472}" type="slidenum">
              <a:rPr lang="fr-FR" smtClean="0"/>
              <a:pPr lvl="0"/>
              <a:t>177</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914400" y="2130426"/>
            <a:ext cx="103632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p>
            <a:pPr lvl="0"/>
            <a:fld id="{8C86AB74-769E-41B0-BAC3-8F8EB69A2C04}" type="datetime1">
              <a:rPr lang="en-US" smtClean="0"/>
              <a:pPr lvl="0"/>
              <a:t>11/16/2025</a:t>
            </a:fld>
            <a:endParaRPr lang="en-US"/>
          </a:p>
        </p:txBody>
      </p:sp>
      <p:sp>
        <p:nvSpPr>
          <p:cNvPr id="5" name="Espace réservé du pied de page 4"/>
          <p:cNvSpPr>
            <a:spLocks noGrp="1"/>
          </p:cNvSpPr>
          <p:nvPr>
            <p:ph type="ftr" sz="quarter" idx="11"/>
          </p:nvPr>
        </p:nvSpPr>
        <p:spPr/>
        <p:txBody>
          <a:bodyPr/>
          <a:lstStyle/>
          <a:p>
            <a:pPr lvl="0"/>
            <a:endParaRPr lang="en-US"/>
          </a:p>
        </p:txBody>
      </p:sp>
      <p:sp>
        <p:nvSpPr>
          <p:cNvPr id="6" name="Espace réservé du numéro de diapositive 5"/>
          <p:cNvSpPr>
            <a:spLocks noGrp="1"/>
          </p:cNvSpPr>
          <p:nvPr>
            <p:ph type="sldNum" sz="quarter" idx="12"/>
          </p:nvPr>
        </p:nvSpPr>
        <p:spPr/>
        <p:txBody>
          <a:bodyPr/>
          <a:lstStyle/>
          <a:p>
            <a:pPr lvl="0"/>
            <a:fld id="{C36F44BA-E8C3-425E-960C-6181DCAB35FB}" type="slidenum">
              <a:rPr lang="fr-FR" smtClean="0"/>
              <a:pPr lvl="0"/>
              <a:t>‹N°›</a:t>
            </a:fld>
            <a:endParaRPr lang="fr-F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pPr lvl="0"/>
            <a:fld id="{8EB0BA04-DE23-40CD-A256-B63986B44D9C}" type="datetime1">
              <a:rPr lang="en-US" smtClean="0"/>
              <a:pPr lvl="0"/>
              <a:t>11/16/2025</a:t>
            </a:fld>
            <a:endParaRPr lang="en-US"/>
          </a:p>
        </p:txBody>
      </p:sp>
      <p:sp>
        <p:nvSpPr>
          <p:cNvPr id="5" name="Espace réservé du pied de page 4"/>
          <p:cNvSpPr>
            <a:spLocks noGrp="1"/>
          </p:cNvSpPr>
          <p:nvPr>
            <p:ph type="ftr" sz="quarter" idx="11"/>
          </p:nvPr>
        </p:nvSpPr>
        <p:spPr/>
        <p:txBody>
          <a:bodyPr/>
          <a:lstStyle/>
          <a:p>
            <a:pPr lvl="0"/>
            <a:endParaRPr lang="en-US"/>
          </a:p>
        </p:txBody>
      </p:sp>
      <p:sp>
        <p:nvSpPr>
          <p:cNvPr id="6" name="Espace réservé du numéro de diapositive 5"/>
          <p:cNvSpPr>
            <a:spLocks noGrp="1"/>
          </p:cNvSpPr>
          <p:nvPr>
            <p:ph type="sldNum" sz="quarter" idx="12"/>
          </p:nvPr>
        </p:nvSpPr>
        <p:spPr/>
        <p:txBody>
          <a:bodyPr/>
          <a:lstStyle/>
          <a:p>
            <a:pPr lvl="0"/>
            <a:fld id="{ADEDBD8B-DEAF-466F-9F6A-EFA5EF497582}" type="slidenum">
              <a:rPr lang="fr-FR" smtClean="0"/>
              <a:pPr lvl="0"/>
              <a:t>‹N°›</a:t>
            </a:fld>
            <a:endParaRPr lang="fr-F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963084" y="4406901"/>
            <a:ext cx="103632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pPr lvl="0"/>
            <a:fld id="{70FB8752-6AD4-43B0-90D7-09F4B7BAA37C}" type="datetime1">
              <a:rPr lang="en-US" smtClean="0"/>
              <a:pPr lvl="0"/>
              <a:t>11/16/2025</a:t>
            </a:fld>
            <a:endParaRPr lang="en-US"/>
          </a:p>
        </p:txBody>
      </p:sp>
      <p:sp>
        <p:nvSpPr>
          <p:cNvPr id="5" name="Espace réservé du pied de page 4"/>
          <p:cNvSpPr>
            <a:spLocks noGrp="1"/>
          </p:cNvSpPr>
          <p:nvPr>
            <p:ph type="ftr" sz="quarter" idx="11"/>
          </p:nvPr>
        </p:nvSpPr>
        <p:spPr/>
        <p:txBody>
          <a:bodyPr/>
          <a:lstStyle/>
          <a:p>
            <a:pPr lvl="0"/>
            <a:endParaRPr lang="en-US"/>
          </a:p>
        </p:txBody>
      </p:sp>
      <p:sp>
        <p:nvSpPr>
          <p:cNvPr id="6" name="Espace réservé du numéro de diapositive 5"/>
          <p:cNvSpPr>
            <a:spLocks noGrp="1"/>
          </p:cNvSpPr>
          <p:nvPr>
            <p:ph type="sldNum" sz="quarter" idx="12"/>
          </p:nvPr>
        </p:nvSpPr>
        <p:spPr/>
        <p:txBody>
          <a:bodyPr/>
          <a:lstStyle/>
          <a:p>
            <a:pPr lvl="0"/>
            <a:fld id="{6B15F91B-6A01-4D1B-A622-10DF723D8F40}" type="slidenum">
              <a:rPr lang="fr-FR" smtClean="0"/>
              <a:pPr lvl="0"/>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pPr lvl="0"/>
            <a:fld id="{73F0EE72-323B-415C-925B-3326B8B60C75}" type="datetime1">
              <a:rPr lang="en-US" smtClean="0"/>
              <a:pPr lvl="0"/>
              <a:t>11/16/2025</a:t>
            </a:fld>
            <a:endParaRPr lang="en-US"/>
          </a:p>
        </p:txBody>
      </p:sp>
      <p:sp>
        <p:nvSpPr>
          <p:cNvPr id="6" name="Espace réservé du pied de page 5"/>
          <p:cNvSpPr>
            <a:spLocks noGrp="1"/>
          </p:cNvSpPr>
          <p:nvPr>
            <p:ph type="ftr" sz="quarter" idx="11"/>
          </p:nvPr>
        </p:nvSpPr>
        <p:spPr/>
        <p:txBody>
          <a:bodyPr/>
          <a:lstStyle/>
          <a:p>
            <a:pPr lvl="0"/>
            <a:endParaRPr lang="en-US"/>
          </a:p>
        </p:txBody>
      </p:sp>
      <p:sp>
        <p:nvSpPr>
          <p:cNvPr id="7" name="Espace réservé du numéro de diapositive 6"/>
          <p:cNvSpPr>
            <a:spLocks noGrp="1"/>
          </p:cNvSpPr>
          <p:nvPr>
            <p:ph type="sldNum" sz="quarter" idx="12"/>
          </p:nvPr>
        </p:nvSpPr>
        <p:spPr/>
        <p:txBody>
          <a:bodyPr/>
          <a:lstStyle/>
          <a:p>
            <a:pPr lvl="0"/>
            <a:fld id="{A45D16F4-ECE4-4146-B0A5-AD53F3C0FE28}" type="slidenum">
              <a:rPr lang="fr-FR" smtClean="0"/>
              <a:pPr lvl="0"/>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pPr lvl="0"/>
            <a:fld id="{145DAC5C-0A8D-4781-8D92-CF54CBB1E8F2}" type="datetime1">
              <a:rPr lang="en-US" smtClean="0"/>
              <a:pPr lvl="0"/>
              <a:t>11/16/2025</a:t>
            </a:fld>
            <a:endParaRPr lang="en-US"/>
          </a:p>
        </p:txBody>
      </p:sp>
      <p:sp>
        <p:nvSpPr>
          <p:cNvPr id="8" name="Espace réservé du pied de page 7"/>
          <p:cNvSpPr>
            <a:spLocks noGrp="1"/>
          </p:cNvSpPr>
          <p:nvPr>
            <p:ph type="ftr" sz="quarter" idx="11"/>
          </p:nvPr>
        </p:nvSpPr>
        <p:spPr/>
        <p:txBody>
          <a:bodyPr/>
          <a:lstStyle/>
          <a:p>
            <a:pPr lvl="0"/>
            <a:endParaRPr lang="en-US"/>
          </a:p>
        </p:txBody>
      </p:sp>
      <p:sp>
        <p:nvSpPr>
          <p:cNvPr id="9" name="Espace réservé du numéro de diapositive 8"/>
          <p:cNvSpPr>
            <a:spLocks noGrp="1"/>
          </p:cNvSpPr>
          <p:nvPr>
            <p:ph type="sldNum" sz="quarter" idx="12"/>
          </p:nvPr>
        </p:nvSpPr>
        <p:spPr/>
        <p:txBody>
          <a:bodyPr/>
          <a:lstStyle/>
          <a:p>
            <a:pPr lvl="0"/>
            <a:fld id="{28FAE448-1112-4EBC-ACFE-C75C29AD64B0}" type="slidenum">
              <a:rPr lang="fr-FR" smtClean="0"/>
              <a:pPr lvl="0"/>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e la date 2"/>
          <p:cNvSpPr>
            <a:spLocks noGrp="1"/>
          </p:cNvSpPr>
          <p:nvPr>
            <p:ph type="dt" sz="half" idx="10"/>
          </p:nvPr>
        </p:nvSpPr>
        <p:spPr/>
        <p:txBody>
          <a:bodyPr/>
          <a:lstStyle/>
          <a:p>
            <a:pPr lvl="0"/>
            <a:fld id="{D1A4051B-1EB6-488D-800B-4E134A105367}" type="datetime1">
              <a:rPr lang="en-US" smtClean="0"/>
              <a:pPr lvl="0"/>
              <a:t>11/16/2025</a:t>
            </a:fld>
            <a:endParaRPr lang="en-US"/>
          </a:p>
        </p:txBody>
      </p:sp>
      <p:sp>
        <p:nvSpPr>
          <p:cNvPr id="4" name="Espace réservé du pied de page 3"/>
          <p:cNvSpPr>
            <a:spLocks noGrp="1"/>
          </p:cNvSpPr>
          <p:nvPr>
            <p:ph type="ftr" sz="quarter" idx="11"/>
          </p:nvPr>
        </p:nvSpPr>
        <p:spPr/>
        <p:txBody>
          <a:bodyPr/>
          <a:lstStyle/>
          <a:p>
            <a:pPr lvl="0"/>
            <a:endParaRPr lang="en-US"/>
          </a:p>
        </p:txBody>
      </p:sp>
      <p:sp>
        <p:nvSpPr>
          <p:cNvPr id="5" name="Espace réservé du numéro de diapositive 4"/>
          <p:cNvSpPr>
            <a:spLocks noGrp="1"/>
          </p:cNvSpPr>
          <p:nvPr>
            <p:ph type="sldNum" sz="quarter" idx="12"/>
          </p:nvPr>
        </p:nvSpPr>
        <p:spPr/>
        <p:txBody>
          <a:bodyPr/>
          <a:lstStyle/>
          <a:p>
            <a:pPr lvl="0"/>
            <a:fld id="{D6DD4BFF-C58C-487F-9BB5-85731848A41B}" type="slidenum">
              <a:rPr lang="fr-FR" smtClean="0"/>
              <a:pPr lvl="0"/>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pPr lvl="0"/>
            <a:fld id="{21EE1508-2589-4B81-B8C1-340D622466C7}" type="datetime1">
              <a:rPr lang="en-US" smtClean="0"/>
              <a:pPr lvl="0"/>
              <a:t>11/16/2025</a:t>
            </a:fld>
            <a:endParaRPr lang="en-US"/>
          </a:p>
        </p:txBody>
      </p:sp>
      <p:sp>
        <p:nvSpPr>
          <p:cNvPr id="3" name="Espace réservé du pied de page 2"/>
          <p:cNvSpPr>
            <a:spLocks noGrp="1"/>
          </p:cNvSpPr>
          <p:nvPr>
            <p:ph type="ftr" sz="quarter" idx="11"/>
          </p:nvPr>
        </p:nvSpPr>
        <p:spPr/>
        <p:txBody>
          <a:bodyPr/>
          <a:lstStyle/>
          <a:p>
            <a:pPr lvl="0"/>
            <a:endParaRPr lang="en-US"/>
          </a:p>
        </p:txBody>
      </p:sp>
      <p:sp>
        <p:nvSpPr>
          <p:cNvPr id="4" name="Espace réservé du numéro de diapositive 3"/>
          <p:cNvSpPr>
            <a:spLocks noGrp="1"/>
          </p:cNvSpPr>
          <p:nvPr>
            <p:ph type="sldNum" sz="quarter" idx="12"/>
          </p:nvPr>
        </p:nvSpPr>
        <p:spPr/>
        <p:txBody>
          <a:bodyPr/>
          <a:lstStyle/>
          <a:p>
            <a:pPr lvl="0"/>
            <a:fld id="{2390AFF8-1E19-449A-AA82-B5E4E90108F1}" type="slidenum">
              <a:rPr lang="fr-FR" smtClean="0"/>
              <a:pPr lvl="0"/>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09601" y="273050"/>
            <a:ext cx="4011084"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pPr lvl="0"/>
            <a:fld id="{B62AA704-EACB-42BC-802D-FD544739A1E2}" type="datetime1">
              <a:rPr lang="en-US" smtClean="0"/>
              <a:pPr lvl="0"/>
              <a:t>11/16/2025</a:t>
            </a:fld>
            <a:endParaRPr lang="en-US"/>
          </a:p>
        </p:txBody>
      </p:sp>
      <p:sp>
        <p:nvSpPr>
          <p:cNvPr id="6" name="Espace réservé du pied de page 5"/>
          <p:cNvSpPr>
            <a:spLocks noGrp="1"/>
          </p:cNvSpPr>
          <p:nvPr>
            <p:ph type="ftr" sz="quarter" idx="11"/>
          </p:nvPr>
        </p:nvSpPr>
        <p:spPr/>
        <p:txBody>
          <a:bodyPr/>
          <a:lstStyle/>
          <a:p>
            <a:pPr lvl="0"/>
            <a:endParaRPr lang="en-US"/>
          </a:p>
        </p:txBody>
      </p:sp>
      <p:sp>
        <p:nvSpPr>
          <p:cNvPr id="7" name="Espace réservé du numéro de diapositive 6"/>
          <p:cNvSpPr>
            <a:spLocks noGrp="1"/>
          </p:cNvSpPr>
          <p:nvPr>
            <p:ph type="sldNum" sz="quarter" idx="12"/>
          </p:nvPr>
        </p:nvSpPr>
        <p:spPr/>
        <p:txBody>
          <a:bodyPr/>
          <a:lstStyle/>
          <a:p>
            <a:pPr lvl="0"/>
            <a:fld id="{FE9E0ADC-404B-4A62-A790-04DC9E02F52F}" type="slidenum">
              <a:rPr lang="fr-FR" smtClean="0"/>
              <a:pPr lvl="0"/>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2389717" y="4800600"/>
            <a:ext cx="73152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pPr lvl="0"/>
            <a:fld id="{76D0664F-1B70-48E9-857B-299F94F2AAD8}" type="datetime1">
              <a:rPr lang="en-US" smtClean="0"/>
              <a:pPr lvl="0"/>
              <a:t>11/16/2025</a:t>
            </a:fld>
            <a:endParaRPr lang="en-US"/>
          </a:p>
        </p:txBody>
      </p:sp>
      <p:sp>
        <p:nvSpPr>
          <p:cNvPr id="6" name="Espace réservé du pied de page 5"/>
          <p:cNvSpPr>
            <a:spLocks noGrp="1"/>
          </p:cNvSpPr>
          <p:nvPr>
            <p:ph type="ftr" sz="quarter" idx="11"/>
          </p:nvPr>
        </p:nvSpPr>
        <p:spPr/>
        <p:txBody>
          <a:bodyPr/>
          <a:lstStyle/>
          <a:p>
            <a:pPr lvl="0"/>
            <a:endParaRPr lang="en-US"/>
          </a:p>
        </p:txBody>
      </p:sp>
      <p:sp>
        <p:nvSpPr>
          <p:cNvPr id="7" name="Espace réservé du numéro de diapositive 6"/>
          <p:cNvSpPr>
            <a:spLocks noGrp="1"/>
          </p:cNvSpPr>
          <p:nvPr>
            <p:ph type="sldNum" sz="quarter" idx="12"/>
          </p:nvPr>
        </p:nvSpPr>
        <p:spPr/>
        <p:txBody>
          <a:bodyPr/>
          <a:lstStyle/>
          <a:p>
            <a:pPr lvl="0"/>
            <a:fld id="{865AE2CD-0939-4DA0-8A3D-4D61C9028E6B}" type="slidenum">
              <a:rPr lang="fr-FR" smtClean="0"/>
              <a:pPr lvl="0"/>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pPr lvl="0"/>
            <a:fld id="{14E61269-6DFA-42F7-B68C-C62AC35EBBD2}" type="datetime1">
              <a:rPr lang="en-US" smtClean="0"/>
              <a:pPr lvl="0"/>
              <a:t>11/16/2025</a:t>
            </a:fld>
            <a:endParaRPr lang="en-US"/>
          </a:p>
        </p:txBody>
      </p:sp>
      <p:sp>
        <p:nvSpPr>
          <p:cNvPr id="5" name="Espace réservé du pied de page 4"/>
          <p:cNvSpPr>
            <a:spLocks noGrp="1"/>
          </p:cNvSpPr>
          <p:nvPr>
            <p:ph type="ftr" sz="quarter" idx="11"/>
          </p:nvPr>
        </p:nvSpPr>
        <p:spPr/>
        <p:txBody>
          <a:bodyPr/>
          <a:lstStyle/>
          <a:p>
            <a:pPr lvl="0"/>
            <a:endParaRPr lang="en-US"/>
          </a:p>
        </p:txBody>
      </p:sp>
      <p:sp>
        <p:nvSpPr>
          <p:cNvPr id="6" name="Espace réservé du numéro de diapositive 5"/>
          <p:cNvSpPr>
            <a:spLocks noGrp="1"/>
          </p:cNvSpPr>
          <p:nvPr>
            <p:ph type="sldNum" sz="quarter" idx="12"/>
          </p:nvPr>
        </p:nvSpPr>
        <p:spPr/>
        <p:txBody>
          <a:bodyPr/>
          <a:lstStyle/>
          <a:p>
            <a:pPr lvl="0"/>
            <a:fld id="{F71819FC-1F23-4822-85A1-3D1B7B7CA4F3}" type="slidenum">
              <a:rPr lang="fr-FR" smtClean="0"/>
              <a:pPr lvl="0"/>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839200" y="274639"/>
            <a:ext cx="2743200" cy="5851525"/>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609600" y="274639"/>
            <a:ext cx="80264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pPr lvl="0"/>
            <a:fld id="{63B01652-3A15-49FC-A9F1-A9DC7ADF8ABB}" type="datetime1">
              <a:rPr lang="en-US" smtClean="0"/>
              <a:pPr lvl="0"/>
              <a:t>11/16/2025</a:t>
            </a:fld>
            <a:endParaRPr lang="en-US"/>
          </a:p>
        </p:txBody>
      </p:sp>
      <p:sp>
        <p:nvSpPr>
          <p:cNvPr id="5" name="Espace réservé du pied de page 4"/>
          <p:cNvSpPr>
            <a:spLocks noGrp="1"/>
          </p:cNvSpPr>
          <p:nvPr>
            <p:ph type="ftr" sz="quarter" idx="11"/>
          </p:nvPr>
        </p:nvSpPr>
        <p:spPr/>
        <p:txBody>
          <a:bodyPr/>
          <a:lstStyle/>
          <a:p>
            <a:pPr lvl="0"/>
            <a:endParaRPr lang="en-US"/>
          </a:p>
        </p:txBody>
      </p:sp>
      <p:sp>
        <p:nvSpPr>
          <p:cNvPr id="6" name="Espace réservé du numéro de diapositive 5"/>
          <p:cNvSpPr>
            <a:spLocks noGrp="1"/>
          </p:cNvSpPr>
          <p:nvPr>
            <p:ph type="sldNum" sz="quarter" idx="12"/>
          </p:nvPr>
        </p:nvSpPr>
        <p:spPr/>
        <p:txBody>
          <a:bodyPr/>
          <a:lstStyle/>
          <a:p>
            <a:pPr lvl="0"/>
            <a:fld id="{291FA693-1FB2-46EC-84D6-25CA7F252187}" type="slidenum">
              <a:rPr lang="fr-FR" smtClean="0"/>
              <a:pPr lvl="0"/>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fr-FR" smtClean="0"/>
              <a:t>Cliquez pour modifier le style du titre</a:t>
            </a:r>
            <a:endParaRPr lang="fr-FR"/>
          </a:p>
        </p:txBody>
      </p:sp>
      <p:sp>
        <p:nvSpPr>
          <p:cNvPr id="3" name="Espace réservé du texte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lvl="0"/>
            <a:fld id="{FC9BBC84-2DD2-4A3A-A133-A12067EB34D9}" type="datetime1">
              <a:rPr lang="en-US" smtClean="0"/>
              <a:pPr lvl="0"/>
              <a:t>11/16/2025</a:t>
            </a:fld>
            <a:endParaRPr lang="en-US"/>
          </a:p>
        </p:txBody>
      </p:sp>
      <p:sp>
        <p:nvSpPr>
          <p:cNvPr id="5" name="Espace réservé du pied de page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lvl="0"/>
            <a:endParaRPr lang="en-US"/>
          </a:p>
        </p:txBody>
      </p:sp>
      <p:sp>
        <p:nvSpPr>
          <p:cNvPr id="6" name="Espace réservé du numéro de diapositive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lvl="0"/>
            <a:fld id="{58151EF3-0B9B-48DD-8F26-532B830611CC}" type="slidenum">
              <a:rPr lang="fr-FR" smtClean="0"/>
              <a:pPr lvl="0"/>
              <a:t>‹N°›</a:t>
            </a:fld>
            <a:endParaRPr lang="fr-F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gif"/><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hyperlink" Target="https://www.lecoindesentrepreneurs.fr/trouver-idee-creation-entreprise/"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hyperlink" Target="https://www.lecoindesentrepreneurs.fr/creation-dentreprise-verifier-que-votre-idee-est-bonne/" TargetMode="External"/><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hyperlink" Target="https://www.lecoindesentrepreneurs.fr/proteger-son-idee/" TargetMode="External"/><Relationship Id="rId4" Type="http://schemas.openxmlformats.org/officeDocument/2006/relationships/hyperlink" Target="https://www.lecoindesentrepreneurs.fr/evaluer-tester-idee-creation-dentreprise/" TargetMode="External"/></Relationships>
</file>

<file path=ppt/slides/_rels/slide89.xml.rels><?xml version="1.0" encoding="UTF-8" standalone="yes"?>
<Relationships xmlns="http://schemas.openxmlformats.org/package/2006/relationships"><Relationship Id="rId3" Type="http://schemas.openxmlformats.org/officeDocument/2006/relationships/hyperlink" Target="https://bpifrance-creation.fr/encyclopedie/trouver-proteger-tester-son-idee/proteger-son-idee/comment-proteger-son-idee-creation" TargetMode="External"/><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hyperlink" Target="https://bpifrance-creation.fr/encyclopedie/trouver-proteger-tester-son-idee/proteger-son-idee/comment-proteger-invention" TargetMode="External"/><Relationship Id="rId4" Type="http://schemas.openxmlformats.org/officeDocument/2006/relationships/hyperlink" Target="https://bpifrance-creation.fr/encyclopedie/trouver-proteger-tester-son-idee/proteger-son-idee/comment-proteger-idee" TargetMode="External"/></Relationships>
</file>

<file path=ppt/slides/_rels/slide90.xml.rels><?xml version="1.0" encoding="UTF-8" standalone="yes"?>
<Relationships xmlns="http://schemas.openxmlformats.org/package/2006/relationships"><Relationship Id="rId3" Type="http://schemas.openxmlformats.org/officeDocument/2006/relationships/hyperlink" Target="https://bpifrance-creation.fr/encyclopedie/trouver-proteger-tester-son-idee/proteger-son-idee/comment-proteger-son-idee-creation" TargetMode="External"/><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hyperlink" Target="https://bpifrance-creation.fr/encyclopedie/trouver-proteger-tester-son-idee/proteger-son-idee/comment-proteger-invention" TargetMode="External"/><Relationship Id="rId4" Type="http://schemas.openxmlformats.org/officeDocument/2006/relationships/hyperlink" Target="https://bpifrance-creation.fr/encyclopedie/trouver-proteger-tester-son-idee/proteger-son-idee/comment-proteger-idee" TargetMode="External"/></Relationships>
</file>

<file path=ppt/slides/_rels/slide91.xml.rels><?xml version="1.0" encoding="UTF-8" standalone="yes"?>
<Relationships xmlns="http://schemas.openxmlformats.org/package/2006/relationships"><Relationship Id="rId3" Type="http://schemas.openxmlformats.org/officeDocument/2006/relationships/diagramData" Target="../diagrams/data8.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3" Type="http://schemas.openxmlformats.org/officeDocument/2006/relationships/hyperlink" Target="https://www.lecoindesentrepreneurs.fr/business-model-canvas/"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8" Type="http://schemas.openxmlformats.org/officeDocument/2006/relationships/hyperlink" Target="https://bpifrance-creation.fr/encyclopedie/etapes-creation-dune-entreprise/realiser-son-etude-marche/politique-distribution" TargetMode="External"/><Relationship Id="rId3" Type="http://schemas.openxmlformats.org/officeDocument/2006/relationships/image" Target="../media/image18.png"/><Relationship Id="rId7" Type="http://schemas.openxmlformats.org/officeDocument/2006/relationships/hyperlink" Target="https://bpifrance-creation.fr/moment-de-vie/comment-communiquer-aupres-vos-clients"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bpifrance-creation.fr/encyclopedie/letude-marche/determiner-sa-strategie/comment-determiner-votre-strategie-projet" TargetMode="External"/><Relationship Id="rId5" Type="http://schemas.openxmlformats.org/officeDocument/2006/relationships/image" Target="../media/image20.png"/><Relationship Id="rId4" Type="http://schemas.openxmlformats.org/officeDocument/2006/relationships/image" Target="../media/image19.png"/></Relationships>
</file>

<file path=ppt/slides/_rels/slide1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3" Type="http://schemas.openxmlformats.org/officeDocument/2006/relationships/hyperlink" Target="https://bpifrance-creation.fr/moment-de-vie/comment-lexperience-client-peut-ameliorer-votre-business" TargetMode="Externa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bpifrance-creation.fr/moment-de-vie/comment-fixer-mes-prix" TargetMode="External"/></Relationships>
</file>

<file path=ppt/slides/_rels/slide15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5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5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15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3"/>
          <p:cNvSpPr txBox="1">
            <a:spLocks noChangeArrowheads="1"/>
          </p:cNvSpPr>
          <p:nvPr/>
        </p:nvSpPr>
        <p:spPr bwMode="auto">
          <a:xfrm>
            <a:off x="2402994" y="1415143"/>
            <a:ext cx="7445855" cy="2062091"/>
          </a:xfrm>
          <a:prstGeom prst="rect">
            <a:avLst/>
          </a:prstGeom>
          <a:solidFill>
            <a:schemeClr val="bg1"/>
          </a:solidFill>
          <a:ln>
            <a:noFill/>
            <a:headEnd/>
            <a:tailEnd/>
          </a:ln>
        </p:spPr>
        <p:style>
          <a:lnRef idx="2">
            <a:schemeClr val="dk1"/>
          </a:lnRef>
          <a:fillRef idx="1">
            <a:schemeClr val="lt1"/>
          </a:fillRef>
          <a:effectRef idx="0">
            <a:schemeClr val="dk1"/>
          </a:effectRef>
          <a:fontRef idx="minor">
            <a:schemeClr val="dk1"/>
          </a:fontRef>
        </p:style>
        <p:txBody>
          <a:bodyPr wrap="square" lIns="91429" tIns="45714" rIns="91429" bIns="45714">
            <a:spAutoFit/>
          </a:bodyPr>
          <a:lstStyle/>
          <a:p>
            <a:pPr algn="ctr" defTabSz="914293" rtl="1">
              <a:defRPr/>
            </a:pPr>
            <a:endParaRPr lang="fr-FR" sz="3200" b="1" dirty="0" smtClean="0">
              <a:solidFill>
                <a:srgbClr val="0070C0"/>
              </a:solidFill>
              <a:ea typeface="Calibri" pitchFamily="34" charset="0"/>
              <a:cs typeface="Arabic Typesetting" pitchFamily="66" charset="-78"/>
            </a:endParaRPr>
          </a:p>
          <a:p>
            <a:pPr algn="ctr" defTabSz="914293" rtl="1">
              <a:defRPr/>
            </a:pPr>
            <a:r>
              <a:rPr lang="fr-FR" sz="2400" b="1" i="1" dirty="0">
                <a:solidFill>
                  <a:srgbClr val="0070C0"/>
                </a:solidFill>
                <a:latin typeface="Aharoni" pitchFamily="2" charset="-79"/>
                <a:ea typeface="Calibri" pitchFamily="34" charset="0"/>
                <a:cs typeface="Aharoni" pitchFamily="2" charset="-79"/>
              </a:rPr>
              <a:t>	</a:t>
            </a:r>
            <a:r>
              <a:rPr lang="fr-FR" sz="2400" b="1" i="1" dirty="0" smtClean="0">
                <a:solidFill>
                  <a:srgbClr val="0070C0"/>
                </a:solidFill>
                <a:latin typeface="Aharoni" pitchFamily="2" charset="-79"/>
                <a:ea typeface="Calibri" pitchFamily="34" charset="0"/>
                <a:cs typeface="Aharoni" pitchFamily="2" charset="-79"/>
              </a:rPr>
              <a:t> </a:t>
            </a:r>
            <a:r>
              <a:rPr lang="fr-FR" sz="2400" b="1" i="1" dirty="0" smtClean="0">
                <a:solidFill>
                  <a:srgbClr val="C00000"/>
                </a:solidFill>
              </a:rPr>
              <a:t>MANAGEMENT ET ENTREPREUNARIAT - </a:t>
            </a:r>
            <a:r>
              <a:rPr lang="fr-FR" sz="2400" b="1" i="1" dirty="0" smtClean="0">
                <a:solidFill>
                  <a:schemeClr val="accent5">
                    <a:lumMod val="75000"/>
                  </a:schemeClr>
                </a:solidFill>
              </a:rPr>
              <a:t>STARTUP</a:t>
            </a:r>
            <a:endParaRPr lang="fr-FR" sz="2400" dirty="0" smtClean="0">
              <a:solidFill>
                <a:schemeClr val="accent5">
                  <a:lumMod val="75000"/>
                </a:schemeClr>
              </a:solidFill>
            </a:endParaRPr>
          </a:p>
          <a:p>
            <a:pPr algn="ctr" defTabSz="914293" rtl="1">
              <a:defRPr/>
            </a:pPr>
            <a:endParaRPr lang="fr-FR" sz="2400" b="1" i="1" dirty="0" smtClean="0">
              <a:solidFill>
                <a:srgbClr val="C00000"/>
              </a:solidFill>
              <a:latin typeface="Aharoni" pitchFamily="2" charset="-79"/>
              <a:ea typeface="Calibri" pitchFamily="34" charset="0"/>
              <a:cs typeface="Aharoni" pitchFamily="2" charset="-79"/>
            </a:endParaRPr>
          </a:p>
          <a:p>
            <a:pPr algn="ctr" defTabSz="914293" rtl="1">
              <a:defRPr/>
            </a:pPr>
            <a:endParaRPr lang="fr-FR" sz="2400" b="1" i="1" dirty="0" smtClean="0">
              <a:solidFill>
                <a:srgbClr val="C00000"/>
              </a:solidFill>
              <a:latin typeface="Aharoni" pitchFamily="2" charset="-79"/>
              <a:ea typeface="Calibri" pitchFamily="34" charset="0"/>
              <a:cs typeface="Aharoni" pitchFamily="2" charset="-79"/>
            </a:endParaRPr>
          </a:p>
          <a:p>
            <a:pPr algn="ctr" defTabSz="914293" rtl="1">
              <a:defRPr/>
            </a:pPr>
            <a:endParaRPr lang="fr-FR" sz="2400" dirty="0">
              <a:solidFill>
                <a:srgbClr val="C00000"/>
              </a:solidFill>
              <a:latin typeface="Algerian" panose="04020705040A02060702" pitchFamily="82" charset="0"/>
              <a:ea typeface="Calibri" pitchFamily="34" charset="0"/>
              <a:cs typeface="Arabic Typesetting" pitchFamily="66" charset="-78"/>
            </a:endParaRPr>
          </a:p>
        </p:txBody>
      </p:sp>
      <p:sp>
        <p:nvSpPr>
          <p:cNvPr id="3" name="TextBox 3"/>
          <p:cNvSpPr txBox="1">
            <a:spLocks noChangeArrowheads="1"/>
          </p:cNvSpPr>
          <p:nvPr/>
        </p:nvSpPr>
        <p:spPr bwMode="auto">
          <a:xfrm>
            <a:off x="4844138" y="4544788"/>
            <a:ext cx="4429156" cy="400097"/>
          </a:xfrm>
          <a:prstGeom prst="rect">
            <a:avLst/>
          </a:prstGeom>
          <a:solidFill>
            <a:schemeClr val="bg1"/>
          </a:solidFill>
          <a:ln>
            <a:noFill/>
            <a:headEnd/>
            <a:tailEnd/>
          </a:ln>
        </p:spPr>
        <p:style>
          <a:lnRef idx="2">
            <a:schemeClr val="dk1"/>
          </a:lnRef>
          <a:fillRef idx="1">
            <a:schemeClr val="lt1"/>
          </a:fillRef>
          <a:effectRef idx="0">
            <a:schemeClr val="dk1"/>
          </a:effectRef>
          <a:fontRef idx="minor">
            <a:schemeClr val="dk1"/>
          </a:fontRef>
        </p:style>
        <p:txBody>
          <a:bodyPr wrap="square" lIns="91429" tIns="45714" rIns="91429" bIns="45714">
            <a:spAutoFit/>
          </a:bodyPr>
          <a:lstStyle/>
          <a:p>
            <a:pPr algn="ctr" defTabSz="914293" rtl="1">
              <a:defRPr/>
            </a:pPr>
            <a:r>
              <a:rPr lang="fr-FR" sz="2000" b="1" i="1" dirty="0" smtClean="0">
                <a:solidFill>
                  <a:srgbClr val="0070C0"/>
                </a:solidFill>
                <a:latin typeface="Aharoni" pitchFamily="2" charset="-79"/>
                <a:ea typeface="Calibri" pitchFamily="34" charset="0"/>
                <a:cs typeface="Aharoni" pitchFamily="2" charset="-79"/>
              </a:rPr>
              <a:t>Mejri Mohamed Ali</a:t>
            </a:r>
            <a:endParaRPr lang="fr-FR" sz="2000" dirty="0">
              <a:solidFill>
                <a:srgbClr val="0070C0"/>
              </a:solidFill>
              <a:latin typeface="Algerian" panose="04020705040A02060702" pitchFamily="82" charset="0"/>
              <a:ea typeface="Calibri" pitchFamily="34" charset="0"/>
              <a:cs typeface="Arabic Typesetting" pitchFamily="66" charset="-78"/>
            </a:endParaRPr>
          </a:p>
        </p:txBody>
      </p:sp>
      <p:pic>
        <p:nvPicPr>
          <p:cNvPr id="4" name="Image 3" descr="C:\Users\ma.mejri\Desktop\téléchargement (1).png"/>
          <p:cNvPicPr/>
          <p:nvPr/>
        </p:nvPicPr>
        <p:blipFill>
          <a:blip r:embed="rId2"/>
          <a:srcRect/>
          <a:stretch>
            <a:fillRect/>
          </a:stretch>
        </p:blipFill>
        <p:spPr bwMode="auto">
          <a:xfrm>
            <a:off x="1093107" y="633639"/>
            <a:ext cx="1079500" cy="387350"/>
          </a:xfrm>
          <a:prstGeom prst="rect">
            <a:avLst/>
          </a:prstGeom>
          <a:noFill/>
          <a:ln w="9525">
            <a:noFill/>
            <a:miter lim="800000"/>
            <a:headEnd/>
            <a:tailEnd/>
          </a:ln>
        </p:spPr>
      </p:pic>
      <p:pic>
        <p:nvPicPr>
          <p:cNvPr id="5" name="Image 4"/>
          <p:cNvPicPr/>
          <p:nvPr/>
        </p:nvPicPr>
        <p:blipFill>
          <a:blip r:embed="rId3"/>
          <a:srcRect/>
          <a:stretch>
            <a:fillRect/>
          </a:stretch>
        </p:blipFill>
        <p:spPr bwMode="auto">
          <a:xfrm>
            <a:off x="158115" y="2621935"/>
            <a:ext cx="5760720" cy="1652231"/>
          </a:xfrm>
          <a:prstGeom prst="rect">
            <a:avLst/>
          </a:prstGeom>
          <a:noFill/>
          <a:ln w="9525">
            <a:noFill/>
            <a:miter lim="800000"/>
            <a:headEnd/>
            <a:tailEnd/>
          </a:ln>
        </p:spPr>
      </p:pic>
      <p:pic>
        <p:nvPicPr>
          <p:cNvPr id="6" name="Picture 2" descr="Innovation Skills"/>
          <p:cNvPicPr>
            <a:picLocks noChangeAspect="1" noChangeArrowheads="1"/>
          </p:cNvPicPr>
          <p:nvPr/>
        </p:nvPicPr>
        <p:blipFill>
          <a:blip r:embed="rId4"/>
          <a:srcRect/>
          <a:stretch>
            <a:fillRect/>
          </a:stretch>
        </p:blipFill>
        <p:spPr bwMode="auto">
          <a:xfrm>
            <a:off x="9045121" y="2358116"/>
            <a:ext cx="1714500" cy="160020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295400" y="642918"/>
            <a:ext cx="10374086" cy="532453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dirty="0" smtClean="0">
                <a:latin typeface="Arial" pitchFamily="34" charset="0"/>
                <a:ea typeface="Times New Roman" pitchFamily="18" charset="0"/>
                <a:cs typeface="Arial" pitchFamily="34" charset="0"/>
              </a:rPr>
              <a:t>Le module « MANAGEMENT ET ENTREPREUNARIAT» vise la compréhension des notions d'entrepreneuriat, d'esprit d'entreprise et de culture entrepreneuriale ainsi que leurs implications dans la société. Ce module consiste à saisir les contours de la culture amorçant, favorisant et institutionnalisant l’esprit d’entreprise et d’entreprendre, à savoir notamment les attitudes suivantes : la responsabilité, la prise de risque, l’autonomie, la confiance, la solidarité et l’entraide... Bref, d’éveiller et développer le potentiel entrepreneurial de chacun. La diffusion de la culture entrepreneuriale à travers ce module permettra de « déplacer » les stagiaires diplômés de la logique de demandeurs d'emploi à celle de pourvoyeurs (</a:t>
            </a:r>
            <a:r>
              <a:rPr lang="fr-FR" sz="2000" dirty="0" smtClean="0">
                <a:solidFill>
                  <a:schemeClr val="accent3">
                    <a:lumMod val="75000"/>
                  </a:schemeClr>
                </a:solidFill>
                <a:latin typeface="Arial" pitchFamily="34" charset="0"/>
                <a:ea typeface="Times New Roman" pitchFamily="18" charset="0"/>
                <a:cs typeface="Arial" pitchFamily="34" charset="0"/>
              </a:rPr>
              <a:t>personne qui fournit</a:t>
            </a:r>
            <a:r>
              <a:rPr lang="fr-FR" sz="2000" dirty="0" smtClean="0">
                <a:latin typeface="Arial" pitchFamily="34" charset="0"/>
                <a:ea typeface="Times New Roman" pitchFamily="18" charset="0"/>
                <a:cs typeface="Arial" pitchFamily="34" charset="0"/>
              </a:rPr>
              <a:t>) d'emploi. </a:t>
            </a:r>
          </a:p>
          <a:p>
            <a:pPr algn="just"/>
            <a:endParaRPr lang="fr-FR" sz="2000" dirty="0" smtClean="0">
              <a:latin typeface="Arial" pitchFamily="34" charset="0"/>
              <a:ea typeface="Times New Roman" pitchFamily="18" charset="0"/>
              <a:cs typeface="Arial" pitchFamily="34" charset="0"/>
            </a:endParaRPr>
          </a:p>
          <a:p>
            <a:pPr algn="just"/>
            <a:r>
              <a:rPr lang="fr-FR" sz="2000" b="1" dirty="0" smtClean="0">
                <a:latin typeface="Arial" pitchFamily="34" charset="0"/>
                <a:ea typeface="Times New Roman" pitchFamily="18" charset="0"/>
                <a:cs typeface="Arial" pitchFamily="34" charset="0"/>
              </a:rPr>
              <a:t>OBJECTIFS PEDAGOGIQUES </a:t>
            </a:r>
            <a:r>
              <a:rPr lang="fr-FR" sz="2000" dirty="0" smtClean="0">
                <a:latin typeface="Arial" pitchFamily="34" charset="0"/>
                <a:ea typeface="Times New Roman" pitchFamily="18" charset="0"/>
                <a:cs typeface="Arial" pitchFamily="34" charset="0"/>
              </a:rPr>
              <a:t>: Le module vise à atteindre les objectifs suivants :</a:t>
            </a:r>
          </a:p>
          <a:p>
            <a:pPr marL="990600" indent="-180975" algn="just">
              <a:buFont typeface="Wingdings" pitchFamily="2" charset="2"/>
              <a:buChar char="§"/>
            </a:pPr>
            <a:r>
              <a:rPr lang="fr-FR" sz="2000" b="1" dirty="0" smtClean="0">
                <a:latin typeface="Arial" pitchFamily="34" charset="0"/>
                <a:ea typeface="Times New Roman" pitchFamily="18" charset="0"/>
                <a:cs typeface="Arial" pitchFamily="34" charset="0"/>
              </a:rPr>
              <a:t>Vulgariser</a:t>
            </a:r>
            <a:r>
              <a:rPr lang="fr-FR" sz="2000" dirty="0" smtClean="0">
                <a:latin typeface="Arial" pitchFamily="34" charset="0"/>
                <a:ea typeface="Times New Roman" pitchFamily="18" charset="0"/>
                <a:cs typeface="Arial" pitchFamily="34" charset="0"/>
              </a:rPr>
              <a:t> les concepts suivants : culture, entrepreneuriat, entreprise, entrepreneur, culture d’entreprise, culture entrepreneuriale, projet ;</a:t>
            </a:r>
          </a:p>
          <a:p>
            <a:pPr marL="990600" indent="-180975" algn="just">
              <a:buFont typeface="Wingdings" pitchFamily="2" charset="2"/>
              <a:buChar char="§"/>
            </a:pPr>
            <a:r>
              <a:rPr lang="fr-FR" sz="2000" b="1" dirty="0" smtClean="0">
                <a:latin typeface="Arial" pitchFamily="34" charset="0"/>
                <a:ea typeface="Times New Roman" pitchFamily="18" charset="0"/>
                <a:cs typeface="Arial" pitchFamily="34" charset="0"/>
              </a:rPr>
              <a:t>Saisir</a:t>
            </a:r>
            <a:r>
              <a:rPr lang="fr-FR" sz="2000" dirty="0" smtClean="0">
                <a:latin typeface="Arial" pitchFamily="34" charset="0"/>
                <a:ea typeface="Times New Roman" pitchFamily="18" charset="0"/>
                <a:cs typeface="Arial" pitchFamily="34" charset="0"/>
              </a:rPr>
              <a:t> la pertinence de la culture entrepreneuriale;</a:t>
            </a:r>
          </a:p>
          <a:p>
            <a:pPr marL="990600" indent="-180975" algn="just">
              <a:buFont typeface="Wingdings" pitchFamily="2" charset="2"/>
              <a:buChar char="§"/>
            </a:pPr>
            <a:r>
              <a:rPr lang="fr-FR" sz="2000" b="1" dirty="0" smtClean="0">
                <a:latin typeface="Arial" pitchFamily="34" charset="0"/>
                <a:ea typeface="Times New Roman" pitchFamily="18" charset="0"/>
                <a:cs typeface="Arial" pitchFamily="34" charset="0"/>
              </a:rPr>
              <a:t>Considérer</a:t>
            </a:r>
            <a:r>
              <a:rPr lang="fr-FR" sz="2000" dirty="0" smtClean="0">
                <a:latin typeface="Arial" pitchFamily="34" charset="0"/>
                <a:ea typeface="Times New Roman" pitchFamily="18" charset="0"/>
                <a:cs typeface="Arial" pitchFamily="34" charset="0"/>
              </a:rPr>
              <a:t> l’entrepreneuriat comme étant une option de carrière louable et possible. </a:t>
            </a:r>
          </a:p>
          <a:p>
            <a:pPr marL="990600" indent="-180975" algn="just">
              <a:buFont typeface="Wingdings" pitchFamily="2" charset="2"/>
              <a:buChar char="§"/>
            </a:pPr>
            <a:r>
              <a:rPr lang="fr-FR" sz="2000" dirty="0" smtClean="0">
                <a:latin typeface="Arial" pitchFamily="34" charset="0"/>
                <a:ea typeface="Times New Roman" pitchFamily="18" charset="0"/>
                <a:cs typeface="Arial" pitchFamily="34" charset="0"/>
              </a:rPr>
              <a:t>Favoriser l’appropriation de la culture entrepreneuriale. </a:t>
            </a:r>
          </a:p>
        </p:txBody>
      </p:sp>
      <p:pic>
        <p:nvPicPr>
          <p:cNvPr id="4" name="Image 3" descr="C:\Users\ma.mejri\Desktop\téléchargement (1).png"/>
          <p:cNvPicPr/>
          <p:nvPr/>
        </p:nvPicPr>
        <p:blipFill>
          <a:blip r:embed="rId2"/>
          <a:srcRect/>
          <a:stretch>
            <a:fillRect/>
          </a:stretch>
        </p:blipFill>
        <p:spPr bwMode="auto">
          <a:xfrm>
            <a:off x="450850" y="165553"/>
            <a:ext cx="1079500" cy="387350"/>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rré corné 1"/>
          <p:cNvSpPr/>
          <p:nvPr/>
        </p:nvSpPr>
        <p:spPr>
          <a:xfrm>
            <a:off x="751115" y="793213"/>
            <a:ext cx="10765970" cy="4848463"/>
          </a:xfrm>
          <a:prstGeom prst="foldedCorner">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just"/>
            <a:r>
              <a:rPr lang="fr-FR" sz="2000" b="1" dirty="0" smtClean="0">
                <a:solidFill>
                  <a:schemeClr val="dk1"/>
                </a:solidFill>
                <a:latin typeface="Arial" pitchFamily="34" charset="0"/>
                <a:ea typeface="Times New Roman" pitchFamily="18" charset="0"/>
                <a:cs typeface="Arial" pitchFamily="34" charset="0"/>
              </a:rPr>
              <a:t>PLAN DU MODULE :</a:t>
            </a:r>
          </a:p>
          <a:p>
            <a:pPr algn="just"/>
            <a:endParaRPr lang="fr-FR" sz="800" b="1" dirty="0" smtClean="0">
              <a:solidFill>
                <a:schemeClr val="dk1"/>
              </a:solidFill>
              <a:latin typeface="Arial" pitchFamily="34" charset="0"/>
              <a:ea typeface="Times New Roman" pitchFamily="18" charset="0"/>
              <a:cs typeface="Arial" pitchFamily="34" charset="0"/>
            </a:endParaRPr>
          </a:p>
          <a:p>
            <a:pPr algn="just"/>
            <a:r>
              <a:rPr lang="fr-FR" sz="1000" b="1" dirty="0" smtClean="0">
                <a:solidFill>
                  <a:schemeClr val="tx1"/>
                </a:solidFill>
                <a:latin typeface="Arial" pitchFamily="34" charset="0"/>
                <a:ea typeface="Times New Roman" pitchFamily="18" charset="0"/>
                <a:cs typeface="Arial" pitchFamily="34" charset="0"/>
              </a:rPr>
              <a:t>CHAPITRE I : ENTREPRENARIAT ET CULTURE ENTREPRENARIALE</a:t>
            </a:r>
          </a:p>
          <a:p>
            <a:pPr algn="just"/>
            <a:endParaRPr lang="fr-FR" sz="1000" b="1" dirty="0" smtClean="0">
              <a:solidFill>
                <a:schemeClr val="tx1"/>
              </a:solidFill>
              <a:latin typeface="Arial" pitchFamily="34" charset="0"/>
              <a:ea typeface="Times New Roman" pitchFamily="18" charset="0"/>
              <a:cs typeface="Arial" pitchFamily="34" charset="0"/>
            </a:endParaRPr>
          </a:p>
          <a:p>
            <a:pPr lvl="0" algn="just" fontAlgn="base">
              <a:spcBef>
                <a:spcPct val="0"/>
              </a:spcBef>
              <a:spcAft>
                <a:spcPct val="0"/>
              </a:spcAft>
              <a:tabLst>
                <a:tab pos="352425" algn="r"/>
                <a:tab pos="441325" algn="r"/>
                <a:tab pos="5054600" algn="l"/>
              </a:tabLst>
            </a:pPr>
            <a:r>
              <a:rPr lang="fr-FR" sz="1000" b="1" dirty="0" smtClean="0">
                <a:solidFill>
                  <a:schemeClr val="tx1"/>
                </a:solidFill>
                <a:latin typeface="Arial" pitchFamily="34" charset="0"/>
                <a:ea typeface="Times New Roman" pitchFamily="18" charset="0"/>
                <a:cs typeface="Arial" pitchFamily="34" charset="0"/>
              </a:rPr>
              <a:t>I-  DECOUVERTE DE L’ENTREPRENARIAT</a:t>
            </a:r>
          </a:p>
          <a:p>
            <a:r>
              <a:rPr lang="fr-FR" sz="1000" b="1" dirty="0" smtClean="0">
                <a:solidFill>
                  <a:schemeClr val="tx1"/>
                </a:solidFill>
                <a:latin typeface="Arial" pitchFamily="34" charset="0"/>
                <a:ea typeface="Times New Roman" pitchFamily="18" charset="0"/>
                <a:cs typeface="Arial" pitchFamily="34" charset="0"/>
              </a:rPr>
              <a:t>II- DECOUVERTE DE SOI ET DE SON POTENTIEL ENTREPRENARIAL</a:t>
            </a:r>
          </a:p>
          <a:p>
            <a:endParaRPr lang="fr-FR" sz="1000" b="1" dirty="0" smtClean="0">
              <a:solidFill>
                <a:schemeClr val="tx1"/>
              </a:solidFill>
              <a:latin typeface="Arial" pitchFamily="34" charset="0"/>
              <a:ea typeface="Times New Roman" pitchFamily="18" charset="0"/>
              <a:cs typeface="Arial" pitchFamily="34" charset="0"/>
            </a:endParaRPr>
          </a:p>
          <a:p>
            <a:r>
              <a:rPr lang="fr-FR" sz="1000" b="1" dirty="0" smtClean="0">
                <a:solidFill>
                  <a:schemeClr val="tx1"/>
                </a:solidFill>
                <a:latin typeface="Arial" pitchFamily="34" charset="0"/>
                <a:ea typeface="Times New Roman" pitchFamily="18" charset="0"/>
                <a:cs typeface="Arial" pitchFamily="34" charset="0"/>
              </a:rPr>
              <a:t>CHAPITRE II : </a:t>
            </a:r>
            <a:r>
              <a:rPr lang="fr-FR" sz="1000" b="1" dirty="0" smtClean="0">
                <a:latin typeface="Arial" pitchFamily="34" charset="0"/>
                <a:ea typeface="Times New Roman" pitchFamily="18" charset="0"/>
                <a:cs typeface="Arial" pitchFamily="34" charset="0"/>
              </a:rPr>
              <a:t>LES FONDAMENTAUX DE L’ENTREPRENEURIAT : CREATIVITE – INNOVATION – SOFT-SKILS</a:t>
            </a:r>
          </a:p>
          <a:p>
            <a:endParaRPr lang="fr-FR" sz="1000" b="1" dirty="0" smtClean="0">
              <a:solidFill>
                <a:schemeClr val="tx1"/>
              </a:solidFill>
              <a:latin typeface="Arial" pitchFamily="34" charset="0"/>
              <a:ea typeface="Times New Roman" pitchFamily="18" charset="0"/>
              <a:cs typeface="Arial" pitchFamily="34" charset="0"/>
            </a:endParaRPr>
          </a:p>
          <a:p>
            <a:pPr marL="342900" indent="-342900" algn="just"/>
            <a:r>
              <a:rPr lang="fr-FR" sz="1000" b="1" dirty="0" smtClean="0">
                <a:latin typeface="Arial" pitchFamily="34" charset="0"/>
                <a:ea typeface="Times New Roman" pitchFamily="18" charset="0"/>
                <a:cs typeface="Arial" pitchFamily="34" charset="0"/>
              </a:rPr>
              <a:t>I-  LA CREATIVITE</a:t>
            </a:r>
          </a:p>
          <a:p>
            <a:pPr marL="342900" indent="-342900" algn="just"/>
            <a:r>
              <a:rPr lang="fr-FR" sz="1000" b="1" dirty="0" smtClean="0">
                <a:latin typeface="Arial" pitchFamily="34" charset="0"/>
                <a:ea typeface="Times New Roman" pitchFamily="18" charset="0"/>
                <a:cs typeface="Arial" pitchFamily="34" charset="0"/>
              </a:rPr>
              <a:t>II- L’INNOVATION</a:t>
            </a:r>
          </a:p>
          <a:p>
            <a:pPr marL="342900" indent="-342900" algn="just"/>
            <a:r>
              <a:rPr lang="fr-FR" sz="1000" b="1" dirty="0" smtClean="0">
                <a:latin typeface="Arial" pitchFamily="34" charset="0"/>
                <a:ea typeface="Times New Roman" pitchFamily="18" charset="0"/>
                <a:cs typeface="Arial" pitchFamily="34" charset="0"/>
              </a:rPr>
              <a:t>III- LES SOFT SKILS</a:t>
            </a:r>
          </a:p>
          <a:p>
            <a:pPr lvl="0"/>
            <a:endParaRPr lang="fr-FR" sz="1000" b="1" dirty="0" smtClean="0">
              <a:solidFill>
                <a:schemeClr val="tx1"/>
              </a:solidFill>
            </a:endParaRPr>
          </a:p>
          <a:p>
            <a:r>
              <a:rPr lang="fr-FR" sz="1000" b="1" dirty="0" smtClean="0">
                <a:latin typeface="Arial" pitchFamily="34" charset="0"/>
                <a:ea typeface="Times New Roman" pitchFamily="18" charset="0"/>
                <a:cs typeface="Arial" pitchFamily="34" charset="0"/>
              </a:rPr>
              <a:t>CHAPITRE III : L’ENTREPRENEUR ET FACTEURS DE LA REUSSITE ENTREPRENEURIALE </a:t>
            </a:r>
            <a:endParaRPr lang="fr-FR" sz="1100" b="1" dirty="0" smtClean="0">
              <a:latin typeface="Arial" pitchFamily="34" charset="0"/>
              <a:ea typeface="Times New Roman" pitchFamily="18" charset="0"/>
              <a:cs typeface="Arial" pitchFamily="34" charset="0"/>
            </a:endParaRPr>
          </a:p>
          <a:p>
            <a:endParaRPr lang="fr-FR" sz="1000" b="1" dirty="0" smtClean="0">
              <a:latin typeface="Arial" pitchFamily="34" charset="0"/>
              <a:ea typeface="Times New Roman" pitchFamily="18" charset="0"/>
              <a:cs typeface="Arial" pitchFamily="34" charset="0"/>
            </a:endParaRPr>
          </a:p>
          <a:p>
            <a:endParaRPr lang="fr-FR" sz="1000" b="1" dirty="0" smtClean="0">
              <a:latin typeface="Arial" pitchFamily="34" charset="0"/>
              <a:ea typeface="Times New Roman" pitchFamily="18" charset="0"/>
              <a:cs typeface="Arial" pitchFamily="34" charset="0"/>
            </a:endParaRPr>
          </a:p>
          <a:p>
            <a:r>
              <a:rPr lang="fr-FR" sz="1000" b="1" dirty="0" smtClean="0">
                <a:latin typeface="Arial" pitchFamily="34" charset="0"/>
                <a:ea typeface="Times New Roman" pitchFamily="18" charset="0"/>
                <a:cs typeface="Arial" pitchFamily="34" charset="0"/>
              </a:rPr>
              <a:t>CHAPITRE IV : L’ENTREPRISE : Les étapes de création</a:t>
            </a:r>
          </a:p>
          <a:p>
            <a:endParaRPr lang="fr-FR" sz="1000" b="1" dirty="0" smtClean="0">
              <a:latin typeface="Arial" pitchFamily="34" charset="0"/>
              <a:ea typeface="Times New Roman" pitchFamily="18" charset="0"/>
              <a:cs typeface="Arial" pitchFamily="34" charset="0"/>
            </a:endParaRPr>
          </a:p>
          <a:p>
            <a:endParaRPr lang="fr-FR" sz="1000" b="1" dirty="0" smtClean="0">
              <a:latin typeface="Arial" pitchFamily="34" charset="0"/>
              <a:ea typeface="Times New Roman" pitchFamily="18" charset="0"/>
              <a:cs typeface="Arial" pitchFamily="34" charset="0"/>
            </a:endParaRPr>
          </a:p>
          <a:p>
            <a:r>
              <a:rPr lang="fr-FR" sz="1000" b="1" dirty="0" smtClean="0">
                <a:latin typeface="Arial" pitchFamily="34" charset="0"/>
                <a:ea typeface="Times New Roman" pitchFamily="18" charset="0"/>
                <a:cs typeface="Arial" pitchFamily="34" charset="0"/>
              </a:rPr>
              <a:t>CHAPITRE V : LE MANAMAGEMENT</a:t>
            </a:r>
          </a:p>
          <a:p>
            <a:endParaRPr lang="fr-FR" sz="1000" b="1" dirty="0" smtClean="0">
              <a:solidFill>
                <a:schemeClr val="tx1"/>
              </a:solidFill>
              <a:latin typeface="Arial" pitchFamily="34" charset="0"/>
              <a:ea typeface="Times New Roman" pitchFamily="18" charset="0"/>
              <a:cs typeface="Arial" pitchFamily="34" charset="0"/>
            </a:endParaRPr>
          </a:p>
          <a:p>
            <a:r>
              <a:rPr lang="fr-FR" sz="1000" b="1" dirty="0" smtClean="0">
                <a:solidFill>
                  <a:schemeClr val="tx1"/>
                </a:solidFill>
              </a:rPr>
              <a:t>I- LE MANAGEMENT : Définition</a:t>
            </a:r>
          </a:p>
          <a:p>
            <a:r>
              <a:rPr lang="fr-FR" sz="1000" b="1" dirty="0" smtClean="0">
                <a:solidFill>
                  <a:schemeClr val="tx1"/>
                </a:solidFill>
              </a:rPr>
              <a:t>II- LE MANAGEMENT : Les différents types</a:t>
            </a:r>
          </a:p>
          <a:p>
            <a:r>
              <a:rPr lang="fr-FR" sz="1000" b="1" dirty="0" smtClean="0">
                <a:solidFill>
                  <a:schemeClr val="tx1"/>
                </a:solidFill>
              </a:rPr>
              <a:t>III- LE MANAGEMENT ET LEADERSHIP</a:t>
            </a:r>
          </a:p>
          <a:p>
            <a:endParaRPr lang="fr-FR" sz="1000" b="1" dirty="0">
              <a:solidFill>
                <a:srgbClr val="C00000"/>
              </a:solidFill>
            </a:endParaRPr>
          </a:p>
        </p:txBody>
      </p:sp>
      <p:pic>
        <p:nvPicPr>
          <p:cNvPr id="3" name="Image 2" descr="C:\Users\ma.mejri\Desktop\téléchargement (1).png"/>
          <p:cNvPicPr/>
          <p:nvPr/>
        </p:nvPicPr>
        <p:blipFill>
          <a:blip r:embed="rId2"/>
          <a:srcRect/>
          <a:stretch>
            <a:fillRect/>
          </a:stretch>
        </p:blipFill>
        <p:spPr bwMode="auto">
          <a:xfrm>
            <a:off x="581478" y="296182"/>
            <a:ext cx="1079500" cy="38735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élogramme 1"/>
          <p:cNvSpPr/>
          <p:nvPr/>
        </p:nvSpPr>
        <p:spPr>
          <a:xfrm>
            <a:off x="938402" y="1898135"/>
            <a:ext cx="10765970" cy="1478935"/>
          </a:xfrm>
          <a:prstGeom prst="parallelogram">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just"/>
            <a:endParaRPr lang="fr-FR" dirty="0" smtClean="0">
              <a:latin typeface="Arial" pitchFamily="34" charset="0"/>
              <a:ea typeface="Times New Roman" pitchFamily="18" charset="0"/>
              <a:cs typeface="Arial" pitchFamily="34" charset="0"/>
            </a:endParaRPr>
          </a:p>
          <a:p>
            <a:pPr algn="ctr"/>
            <a:r>
              <a:rPr lang="fr-FR" b="1" dirty="0" smtClean="0">
                <a:solidFill>
                  <a:schemeClr val="dk1"/>
                </a:solidFill>
                <a:latin typeface="Arial" pitchFamily="34" charset="0"/>
                <a:ea typeface="Times New Roman" pitchFamily="18" charset="0"/>
                <a:cs typeface="Arial" pitchFamily="34" charset="0"/>
              </a:rPr>
              <a:t>CHAPITRE I : ENTREPRENARIAT ET CULTURE ENTREPRENARIALE</a:t>
            </a:r>
          </a:p>
          <a:p>
            <a:pPr marL="342900" indent="-342900" algn="just">
              <a:buAutoNum type="arabicPeriod"/>
            </a:pPr>
            <a:endParaRPr lang="fr-FR" dirty="0" smtClean="0">
              <a:latin typeface="Arial" pitchFamily="34" charset="0"/>
              <a:ea typeface="Times New Roman" pitchFamily="18" charset="0"/>
              <a:cs typeface="Arial" pitchFamily="34" charset="0"/>
            </a:endParaRPr>
          </a:p>
          <a:p>
            <a:pPr marL="342900" indent="-342900" algn="just">
              <a:buAutoNum type="arabicPeriod"/>
            </a:pPr>
            <a:endParaRPr lang="fr-FR" dirty="0" smtClean="0">
              <a:solidFill>
                <a:schemeClr val="dk1"/>
              </a:solidFill>
              <a:latin typeface="Arial" pitchFamily="34" charset="0"/>
              <a:ea typeface="Times New Roman" pitchFamily="18" charset="0"/>
              <a:cs typeface="Arial" pitchFamily="34" charset="0"/>
            </a:endParaRPr>
          </a:p>
        </p:txBody>
      </p:sp>
      <p:pic>
        <p:nvPicPr>
          <p:cNvPr id="3" name="Image 2" descr="C:\Users\ma.mejri\Desktop\téléchargement (1).png"/>
          <p:cNvPicPr/>
          <p:nvPr/>
        </p:nvPicPr>
        <p:blipFill>
          <a:blip r:embed="rId2"/>
          <a:srcRect/>
          <a:stretch>
            <a:fillRect/>
          </a:stretch>
        </p:blipFill>
        <p:spPr bwMode="auto">
          <a:xfrm>
            <a:off x="581478" y="296182"/>
            <a:ext cx="1079500" cy="38735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uage 1"/>
          <p:cNvSpPr/>
          <p:nvPr/>
        </p:nvSpPr>
        <p:spPr>
          <a:xfrm rot="583988">
            <a:off x="2621086" y="1176962"/>
            <a:ext cx="7336612" cy="4825663"/>
          </a:xfrm>
          <a:prstGeom prst="cloud">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just"/>
            <a:r>
              <a:rPr lang="fr-FR" sz="2000" dirty="0" smtClean="0">
                <a:solidFill>
                  <a:schemeClr val="dk1"/>
                </a:solidFill>
                <a:latin typeface="Arial" pitchFamily="34" charset="0"/>
                <a:ea typeface="Times New Roman" pitchFamily="18" charset="0"/>
                <a:cs typeface="Arial" pitchFamily="34" charset="0"/>
              </a:rPr>
              <a:t>« Le plus grand risque est de n’en prendre aucun dans un monde qui change si rapidement, la seule stratégie qui vous mène à l’échec est celle consistant à ne jamais prendre de risque. »</a:t>
            </a:r>
          </a:p>
          <a:p>
            <a:pPr algn="ctr"/>
            <a:r>
              <a:rPr lang="fr-FR" sz="2000" dirty="0" smtClean="0">
                <a:solidFill>
                  <a:schemeClr val="dk1"/>
                </a:solidFill>
                <a:latin typeface="Arial" pitchFamily="34" charset="0"/>
                <a:ea typeface="Times New Roman" pitchFamily="18" charset="0"/>
                <a:cs typeface="Arial" pitchFamily="34" charset="0"/>
              </a:rPr>
              <a:t/>
            </a:r>
            <a:br>
              <a:rPr lang="fr-FR" sz="2000" dirty="0" smtClean="0">
                <a:solidFill>
                  <a:schemeClr val="dk1"/>
                </a:solidFill>
                <a:latin typeface="Arial" pitchFamily="34" charset="0"/>
                <a:ea typeface="Times New Roman" pitchFamily="18" charset="0"/>
                <a:cs typeface="Arial" pitchFamily="34" charset="0"/>
              </a:rPr>
            </a:br>
            <a:r>
              <a:rPr lang="fr-FR" sz="2000" dirty="0" smtClean="0">
                <a:solidFill>
                  <a:schemeClr val="dk1"/>
                </a:solidFill>
                <a:latin typeface="Arial" pitchFamily="34" charset="0"/>
                <a:ea typeface="Times New Roman" pitchFamily="18" charset="0"/>
                <a:cs typeface="Arial" pitchFamily="34" charset="0"/>
              </a:rPr>
              <a:t>Mark </a:t>
            </a:r>
            <a:r>
              <a:rPr lang="fr-FR" sz="2000" dirty="0" err="1" smtClean="0">
                <a:solidFill>
                  <a:schemeClr val="dk1"/>
                </a:solidFill>
                <a:latin typeface="Arial" pitchFamily="34" charset="0"/>
                <a:ea typeface="Times New Roman" pitchFamily="18" charset="0"/>
                <a:cs typeface="Arial" pitchFamily="34" charset="0"/>
              </a:rPr>
              <a:t>Zuckerberg</a:t>
            </a:r>
            <a:r>
              <a:rPr lang="fr-FR" sz="2000" dirty="0" smtClean="0">
                <a:solidFill>
                  <a:schemeClr val="dk1"/>
                </a:solidFill>
                <a:latin typeface="Arial" pitchFamily="34" charset="0"/>
                <a:ea typeface="Times New Roman" pitchFamily="18" charset="0"/>
                <a:cs typeface="Arial" pitchFamily="34" charset="0"/>
              </a:rPr>
              <a:t>, entrepreneur et fondateur de </a:t>
            </a:r>
            <a:r>
              <a:rPr lang="fr-FR" sz="2000" dirty="0" err="1" smtClean="0">
                <a:solidFill>
                  <a:schemeClr val="dk1"/>
                </a:solidFill>
                <a:latin typeface="Arial" pitchFamily="34" charset="0"/>
                <a:ea typeface="Times New Roman" pitchFamily="18" charset="0"/>
                <a:cs typeface="Arial" pitchFamily="34" charset="0"/>
              </a:rPr>
              <a:t>Facebook</a:t>
            </a:r>
            <a:r>
              <a:rPr lang="fr-FR" sz="2000" dirty="0" smtClean="0">
                <a:solidFill>
                  <a:schemeClr val="dk1"/>
                </a:solidFill>
                <a:latin typeface="Arial" pitchFamily="34" charset="0"/>
                <a:ea typeface="Times New Roman" pitchFamily="18" charset="0"/>
                <a:cs typeface="Arial" pitchFamily="34" charset="0"/>
              </a:rPr>
              <a:t> à l’âge de 20 ans</a:t>
            </a:r>
          </a:p>
        </p:txBody>
      </p:sp>
      <p:pic>
        <p:nvPicPr>
          <p:cNvPr id="3" name="Image 2" descr="C:\Users\ma.mejri\Desktop\téléchargement (1).png"/>
          <p:cNvPicPr/>
          <p:nvPr/>
        </p:nvPicPr>
        <p:blipFill>
          <a:blip r:embed="rId2"/>
          <a:srcRect/>
          <a:stretch>
            <a:fillRect/>
          </a:stretch>
        </p:blipFill>
        <p:spPr bwMode="auto">
          <a:xfrm>
            <a:off x="581478" y="296182"/>
            <a:ext cx="1079500" cy="38735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1052" y="675306"/>
            <a:ext cx="4848379" cy="369332"/>
          </a:xfrm>
          <a:prstGeom prst="rect">
            <a:avLst/>
          </a:prstGeom>
        </p:spPr>
        <p:txBody>
          <a:bodyPr wrap="none">
            <a:spAutoFit/>
          </a:bodyPr>
          <a:lstStyle/>
          <a:p>
            <a:pPr lvl="0" algn="just" fontAlgn="base">
              <a:spcBef>
                <a:spcPct val="0"/>
              </a:spcBef>
              <a:spcAft>
                <a:spcPct val="0"/>
              </a:spcAft>
              <a:tabLst>
                <a:tab pos="352425" algn="r"/>
                <a:tab pos="441325" algn="r"/>
                <a:tab pos="5054600" algn="l"/>
              </a:tabLst>
            </a:pPr>
            <a:r>
              <a:rPr lang="fr-FR" b="1" dirty="0" smtClean="0">
                <a:solidFill>
                  <a:srgbClr val="C00000"/>
                </a:solidFill>
                <a:latin typeface="Arial" pitchFamily="34" charset="0"/>
                <a:ea typeface="Times New Roman" pitchFamily="18" charset="0"/>
                <a:cs typeface="Arial" pitchFamily="34" charset="0"/>
              </a:rPr>
              <a:t>I-  DECOUVERTE DE L’ENTREPRENARIAT</a:t>
            </a:r>
          </a:p>
        </p:txBody>
      </p:sp>
      <p:sp>
        <p:nvSpPr>
          <p:cNvPr id="3" name="Rectangle 2"/>
          <p:cNvSpPr/>
          <p:nvPr/>
        </p:nvSpPr>
        <p:spPr>
          <a:xfrm>
            <a:off x="1230085" y="1522622"/>
            <a:ext cx="10003971" cy="403187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dirty="0" smtClean="0">
                <a:latin typeface="Arial" pitchFamily="34" charset="0"/>
                <a:ea typeface="Times New Roman" pitchFamily="18" charset="0"/>
                <a:cs typeface="Arial" pitchFamily="34" charset="0"/>
              </a:rPr>
              <a:t> </a:t>
            </a:r>
          </a:p>
          <a:p>
            <a:pPr algn="just"/>
            <a:r>
              <a:rPr lang="fr-FR" sz="2000" dirty="0" smtClean="0">
                <a:latin typeface="Arial" pitchFamily="34" charset="0"/>
                <a:ea typeface="Times New Roman" pitchFamily="18" charset="0"/>
                <a:cs typeface="Arial" pitchFamily="34" charset="0"/>
              </a:rPr>
              <a:t>La découverte de </a:t>
            </a:r>
            <a:r>
              <a:rPr lang="fr-FR" sz="2000" dirty="0">
                <a:latin typeface="Arial" pitchFamily="34" charset="0"/>
                <a:ea typeface="Times New Roman" pitchFamily="18" charset="0"/>
                <a:cs typeface="Arial" pitchFamily="34" charset="0"/>
              </a:rPr>
              <a:t>l’entrepreneuriat </a:t>
            </a:r>
            <a:r>
              <a:rPr lang="fr-FR" sz="2000" dirty="0" smtClean="0">
                <a:latin typeface="Arial" pitchFamily="34" charset="0"/>
                <a:ea typeface="Times New Roman" pitchFamily="18" charset="0"/>
                <a:cs typeface="Arial" pitchFamily="34" charset="0"/>
              </a:rPr>
              <a:t>:</a:t>
            </a:r>
          </a:p>
          <a:p>
            <a:pPr algn="just"/>
            <a:endParaRPr lang="fr-FR" sz="2000" dirty="0" smtClean="0">
              <a:latin typeface="Arial" pitchFamily="34" charset="0"/>
              <a:ea typeface="Times New Roman" pitchFamily="18" charset="0"/>
              <a:cs typeface="Arial" pitchFamily="34" charset="0"/>
            </a:endParaRPr>
          </a:p>
          <a:p>
            <a:pPr algn="just"/>
            <a:r>
              <a:rPr lang="fr-FR" sz="2000" b="1" dirty="0" smtClean="0">
                <a:latin typeface="Arial" pitchFamily="34" charset="0"/>
                <a:ea typeface="Times New Roman" pitchFamily="18" charset="0"/>
                <a:cs typeface="Arial" pitchFamily="34" charset="0"/>
              </a:rPr>
              <a:t>Compétences visées </a:t>
            </a:r>
            <a:r>
              <a:rPr lang="fr-FR" sz="2000" dirty="0" smtClean="0">
                <a:latin typeface="Arial" pitchFamily="34" charset="0"/>
                <a:ea typeface="Times New Roman" pitchFamily="18" charset="0"/>
                <a:cs typeface="Arial" pitchFamily="34" charset="0"/>
              </a:rPr>
              <a:t>:</a:t>
            </a:r>
          </a:p>
          <a:p>
            <a:pPr algn="just"/>
            <a:endParaRPr lang="fr-FR" sz="2000" dirty="0" smtClean="0">
              <a:latin typeface="Arial" pitchFamily="34" charset="0"/>
              <a:ea typeface="Times New Roman" pitchFamily="18" charset="0"/>
              <a:cs typeface="Arial" pitchFamily="34" charset="0"/>
            </a:endParaRPr>
          </a:p>
          <a:p>
            <a:pPr marL="285750" indent="-285750" algn="just">
              <a:buFont typeface="Wingdings" panose="05000000000000000000" pitchFamily="2" charset="2"/>
              <a:buChar char="v"/>
            </a:pPr>
            <a:r>
              <a:rPr lang="fr-FR" sz="2000" dirty="0" smtClean="0">
                <a:latin typeface="Arial" pitchFamily="34" charset="0"/>
                <a:ea typeface="Times New Roman" pitchFamily="18" charset="0"/>
                <a:cs typeface="Arial" pitchFamily="34" charset="0"/>
              </a:rPr>
              <a:t>Développer une attitude favorable à l’Entreprenariat et à l’Auto-emploi</a:t>
            </a:r>
          </a:p>
          <a:p>
            <a:pPr marL="285750" indent="-285750" algn="just">
              <a:buFont typeface="Wingdings" panose="05000000000000000000" pitchFamily="2" charset="2"/>
              <a:buChar char="v"/>
            </a:pPr>
            <a:r>
              <a:rPr lang="fr-FR" sz="2000" dirty="0" smtClean="0">
                <a:latin typeface="Arial" pitchFamily="34" charset="0"/>
                <a:ea typeface="Times New Roman" pitchFamily="18" charset="0"/>
                <a:cs typeface="Arial" pitchFamily="34" charset="0"/>
              </a:rPr>
              <a:t>Développer l’esprit d’initiative et d’entrepreneuriat Test Pré requis : </a:t>
            </a:r>
          </a:p>
          <a:p>
            <a:pPr algn="just"/>
            <a:endParaRPr lang="fr-FR" sz="2000" dirty="0" smtClean="0">
              <a:latin typeface="Arial" pitchFamily="34" charset="0"/>
              <a:ea typeface="Times New Roman" pitchFamily="18" charset="0"/>
              <a:cs typeface="Arial" pitchFamily="34" charset="0"/>
            </a:endParaRPr>
          </a:p>
          <a:p>
            <a:pPr algn="just"/>
            <a:endParaRPr lang="fr-FR" sz="2000" dirty="0" smtClean="0">
              <a:latin typeface="Arial" pitchFamily="34" charset="0"/>
              <a:ea typeface="Times New Roman" pitchFamily="18" charset="0"/>
              <a:cs typeface="Arial" pitchFamily="34" charset="0"/>
            </a:endParaRPr>
          </a:p>
          <a:p>
            <a:pPr algn="just"/>
            <a:r>
              <a:rPr lang="fr-FR" sz="2000" dirty="0" smtClean="0">
                <a:latin typeface="Arial" pitchFamily="34" charset="0"/>
                <a:ea typeface="Times New Roman" pitchFamily="18" charset="0"/>
                <a:cs typeface="Arial" pitchFamily="34" charset="0"/>
              </a:rPr>
              <a:t>Pour une économie en pleine croissance, </a:t>
            </a:r>
            <a:r>
              <a:rPr lang="fr-FR" sz="2000" u="sng" dirty="0" smtClean="0">
                <a:latin typeface="Arial" pitchFamily="34" charset="0"/>
                <a:ea typeface="Times New Roman" pitchFamily="18" charset="0"/>
                <a:cs typeface="Arial" pitchFamily="34" charset="0"/>
              </a:rPr>
              <a:t>l’entrepreneuriat est un levier </a:t>
            </a:r>
            <a:r>
              <a:rPr lang="fr-FR" sz="2000" dirty="0" smtClean="0">
                <a:latin typeface="Arial" pitchFamily="34" charset="0"/>
                <a:ea typeface="Times New Roman" pitchFamily="18" charset="0"/>
                <a:cs typeface="Arial" pitchFamily="34" charset="0"/>
              </a:rPr>
              <a:t>très important. Puisque la </a:t>
            </a:r>
            <a:r>
              <a:rPr lang="fr-FR" sz="2000" b="1" dirty="0" smtClean="0">
                <a:latin typeface="Arial" pitchFamily="34" charset="0"/>
                <a:ea typeface="Times New Roman" pitchFamily="18" charset="0"/>
                <a:cs typeface="Arial" pitchFamily="34" charset="0"/>
              </a:rPr>
              <a:t>création de nouvelles entreprises </a:t>
            </a:r>
            <a:r>
              <a:rPr lang="fr-FR" sz="2000" dirty="0" smtClean="0">
                <a:latin typeface="Arial" pitchFamily="34" charset="0"/>
                <a:ea typeface="Times New Roman" pitchFamily="18" charset="0"/>
                <a:cs typeface="Arial" pitchFamily="34" charset="0"/>
              </a:rPr>
              <a:t>est un moteur essentiel de la croissance économique, il permet ainsi de dynamiser le tissu économique. </a:t>
            </a:r>
          </a:p>
          <a:p>
            <a:pPr algn="just"/>
            <a:r>
              <a:rPr lang="fr-FR" dirty="0" smtClean="0">
                <a:latin typeface="Arial" pitchFamily="34" charset="0"/>
                <a:ea typeface="Times New Roman" pitchFamily="18" charset="0"/>
                <a:cs typeface="Arial" pitchFamily="34" charset="0"/>
              </a:rPr>
              <a:t> </a:t>
            </a:r>
          </a:p>
        </p:txBody>
      </p:sp>
      <p:pic>
        <p:nvPicPr>
          <p:cNvPr id="4" name="Image 3" descr="C:\Users\ma.mejri\Desktop\téléchargement (1).png"/>
          <p:cNvPicPr/>
          <p:nvPr/>
        </p:nvPicPr>
        <p:blipFill>
          <a:blip r:embed="rId2"/>
          <a:srcRect/>
          <a:stretch>
            <a:fillRect/>
          </a:stretch>
        </p:blipFill>
        <p:spPr bwMode="auto">
          <a:xfrm>
            <a:off x="505278" y="219982"/>
            <a:ext cx="1079500" cy="38735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19200" y="881742"/>
            <a:ext cx="10058400" cy="498598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endParaRPr lang="fr-FR" dirty="0" smtClean="0">
              <a:solidFill>
                <a:schemeClr val="dk1"/>
              </a:solidFill>
              <a:latin typeface="Arial" pitchFamily="34" charset="0"/>
              <a:ea typeface="Times New Roman" pitchFamily="18" charset="0"/>
              <a:cs typeface="Arial" pitchFamily="34" charset="0"/>
            </a:endParaRPr>
          </a:p>
          <a:p>
            <a:pPr algn="just"/>
            <a:r>
              <a:rPr lang="fr-FR" sz="2000" dirty="0" smtClean="0">
                <a:solidFill>
                  <a:schemeClr val="dk1"/>
                </a:solidFill>
                <a:latin typeface="Arial" pitchFamily="34" charset="0"/>
                <a:ea typeface="Times New Roman" pitchFamily="18" charset="0"/>
                <a:cs typeface="Arial" pitchFamily="34" charset="0"/>
              </a:rPr>
              <a:t>D’autre part, il joue un rôle important dans le renouvellement du parc d’entreprises qui est nécessaire au développement économique et à la création d’emplois. De ce fait, l’entreprenariat peut être </a:t>
            </a:r>
            <a:r>
              <a:rPr lang="fr-FR" sz="2000" b="1" dirty="0" smtClean="0">
                <a:solidFill>
                  <a:schemeClr val="dk1"/>
                </a:solidFill>
                <a:latin typeface="Arial" pitchFamily="34" charset="0"/>
                <a:ea typeface="Times New Roman" pitchFamily="18" charset="0"/>
                <a:cs typeface="Arial" pitchFamily="34" charset="0"/>
              </a:rPr>
              <a:t>un moyen de lutter </a:t>
            </a:r>
            <a:r>
              <a:rPr lang="fr-FR" sz="2000" dirty="0" smtClean="0">
                <a:solidFill>
                  <a:schemeClr val="dk1"/>
                </a:solidFill>
                <a:latin typeface="Arial" pitchFamily="34" charset="0"/>
                <a:ea typeface="Times New Roman" pitchFamily="18" charset="0"/>
                <a:cs typeface="Arial" pitchFamily="34" charset="0"/>
              </a:rPr>
              <a:t>contre </a:t>
            </a:r>
            <a:r>
              <a:rPr lang="fr-FR" sz="2000" b="1" dirty="0" smtClean="0">
                <a:solidFill>
                  <a:schemeClr val="dk1"/>
                </a:solidFill>
                <a:latin typeface="Arial" pitchFamily="34" charset="0"/>
                <a:ea typeface="Times New Roman" pitchFamily="18" charset="0"/>
                <a:cs typeface="Arial" pitchFamily="34" charset="0"/>
              </a:rPr>
              <a:t>le chômage </a:t>
            </a:r>
            <a:r>
              <a:rPr lang="fr-FR" sz="2000" dirty="0" smtClean="0">
                <a:solidFill>
                  <a:schemeClr val="dk1"/>
                </a:solidFill>
                <a:latin typeface="Arial" pitchFamily="34" charset="0"/>
                <a:ea typeface="Times New Roman" pitchFamily="18" charset="0"/>
                <a:cs typeface="Arial" pitchFamily="34" charset="0"/>
              </a:rPr>
              <a:t>et la précarité (</a:t>
            </a:r>
            <a:r>
              <a:rPr lang="ar-TN" sz="2000" dirty="0" smtClean="0">
                <a:solidFill>
                  <a:schemeClr val="dk1"/>
                </a:solidFill>
                <a:latin typeface="Arial" pitchFamily="34" charset="0"/>
                <a:ea typeface="Times New Roman" pitchFamily="18" charset="0"/>
                <a:cs typeface="Arial" pitchFamily="34" charset="0"/>
              </a:rPr>
              <a:t>هشاشة</a:t>
            </a:r>
            <a:r>
              <a:rPr lang="fr-FR" sz="2000" dirty="0" smtClean="0">
                <a:solidFill>
                  <a:schemeClr val="dk1"/>
                </a:solidFill>
                <a:latin typeface="Arial" pitchFamily="34" charset="0"/>
                <a:ea typeface="Times New Roman" pitchFamily="18" charset="0"/>
                <a:cs typeface="Arial" pitchFamily="34" charset="0"/>
              </a:rPr>
              <a:t>) des jeunes. </a:t>
            </a:r>
          </a:p>
          <a:p>
            <a:pPr algn="just"/>
            <a:endParaRPr lang="fr-FR" sz="2000" dirty="0" smtClean="0">
              <a:latin typeface="Arial" pitchFamily="34" charset="0"/>
              <a:ea typeface="Times New Roman" pitchFamily="18" charset="0"/>
              <a:cs typeface="Arial" pitchFamily="34" charset="0"/>
            </a:endParaRPr>
          </a:p>
          <a:p>
            <a:pPr algn="just"/>
            <a:r>
              <a:rPr lang="fr-FR" sz="2000" dirty="0" smtClean="0">
                <a:solidFill>
                  <a:schemeClr val="dk1"/>
                </a:solidFill>
                <a:latin typeface="Arial" pitchFamily="34" charset="0"/>
                <a:ea typeface="Times New Roman" pitchFamily="18" charset="0"/>
                <a:cs typeface="Arial" pitchFamily="34" charset="0"/>
              </a:rPr>
              <a:t>L’entrepreneuriat englobe toutes les activités qui concourent à la formation et la croissance d’une entreprise et qui a pour but de créer des valeurs comme </a:t>
            </a:r>
            <a:r>
              <a:rPr lang="fr-FR" sz="2000" b="1" dirty="0" smtClean="0">
                <a:solidFill>
                  <a:schemeClr val="dk1"/>
                </a:solidFill>
                <a:latin typeface="Arial" pitchFamily="34" charset="0"/>
                <a:ea typeface="Times New Roman" pitchFamily="18" charset="0"/>
                <a:cs typeface="Arial" pitchFamily="34" charset="0"/>
              </a:rPr>
              <a:t>la richesse et l’emploi</a:t>
            </a:r>
            <a:r>
              <a:rPr lang="fr-FR" sz="2000" dirty="0" smtClean="0">
                <a:solidFill>
                  <a:schemeClr val="dk1"/>
                </a:solidFill>
                <a:latin typeface="Arial" pitchFamily="34" charset="0"/>
                <a:ea typeface="Times New Roman" pitchFamily="18" charset="0"/>
                <a:cs typeface="Arial" pitchFamily="34" charset="0"/>
              </a:rPr>
              <a:t>. En outre, l’entrepreneuriat concerne aussi des formes d’organisation sans but lucratif comme le cas de l’entrepreneuriat social. </a:t>
            </a:r>
          </a:p>
          <a:p>
            <a:pPr algn="just"/>
            <a:endParaRPr lang="fr-FR" sz="2000" dirty="0" smtClean="0">
              <a:latin typeface="Arial" pitchFamily="34" charset="0"/>
              <a:ea typeface="Times New Roman" pitchFamily="18" charset="0"/>
              <a:cs typeface="Arial" pitchFamily="34" charset="0"/>
            </a:endParaRPr>
          </a:p>
          <a:p>
            <a:pPr algn="just"/>
            <a:r>
              <a:rPr lang="fr-FR" sz="2000" dirty="0" smtClean="0">
                <a:solidFill>
                  <a:schemeClr val="dk1"/>
                </a:solidFill>
                <a:latin typeface="Arial" pitchFamily="34" charset="0"/>
                <a:ea typeface="Times New Roman" pitchFamily="18" charset="0"/>
                <a:cs typeface="Arial" pitchFamily="34" charset="0"/>
              </a:rPr>
              <a:t>D’autre part, l’entrepreneuriat comme un processus de </a:t>
            </a:r>
            <a:r>
              <a:rPr lang="fr-FR" sz="2000" u="sng" dirty="0" smtClean="0">
                <a:solidFill>
                  <a:schemeClr val="dk1"/>
                </a:solidFill>
                <a:latin typeface="Arial" pitchFamily="34" charset="0"/>
                <a:ea typeface="Times New Roman" pitchFamily="18" charset="0"/>
                <a:cs typeface="Arial" pitchFamily="34" charset="0"/>
              </a:rPr>
              <a:t>découverte, d’évaluation et d’exploitation d’occasions</a:t>
            </a:r>
            <a:r>
              <a:rPr lang="fr-FR" sz="2000" dirty="0" smtClean="0">
                <a:solidFill>
                  <a:schemeClr val="dk1"/>
                </a:solidFill>
                <a:latin typeface="Arial" pitchFamily="34" charset="0"/>
                <a:ea typeface="Times New Roman" pitchFamily="18" charset="0"/>
                <a:cs typeface="Arial" pitchFamily="34" charset="0"/>
              </a:rPr>
              <a:t>. Chaque entrepreneur doit alors avoir </a:t>
            </a:r>
            <a:r>
              <a:rPr lang="fr-FR" sz="2000" u="sng" dirty="0" smtClean="0">
                <a:solidFill>
                  <a:schemeClr val="dk1"/>
                </a:solidFill>
                <a:latin typeface="Arial" pitchFamily="34" charset="0"/>
                <a:ea typeface="Times New Roman" pitchFamily="18" charset="0"/>
                <a:cs typeface="Arial" pitchFamily="34" charset="0"/>
              </a:rPr>
              <a:t>l’esprit d’entreprendre </a:t>
            </a:r>
            <a:r>
              <a:rPr lang="fr-FR" sz="2000" dirty="0" smtClean="0">
                <a:solidFill>
                  <a:schemeClr val="dk1"/>
                </a:solidFill>
                <a:latin typeface="Arial" pitchFamily="34" charset="0"/>
                <a:ea typeface="Times New Roman" pitchFamily="18" charset="0"/>
                <a:cs typeface="Arial" pitchFamily="34" charset="0"/>
              </a:rPr>
              <a:t>qui leur permettra d’acquérir </a:t>
            </a:r>
            <a:r>
              <a:rPr lang="fr-FR" sz="2000" u="sng" dirty="0" smtClean="0">
                <a:solidFill>
                  <a:schemeClr val="dk1"/>
                </a:solidFill>
                <a:latin typeface="Arial" pitchFamily="34" charset="0"/>
                <a:ea typeface="Times New Roman" pitchFamily="18" charset="0"/>
                <a:cs typeface="Arial" pitchFamily="34" charset="0"/>
              </a:rPr>
              <a:t>la capacité de se mettre en projet dans une dynamique de vie</a:t>
            </a:r>
            <a:r>
              <a:rPr lang="fr-FR" sz="2000" dirty="0" smtClean="0">
                <a:solidFill>
                  <a:schemeClr val="dk1"/>
                </a:solidFill>
                <a:latin typeface="Arial" pitchFamily="34" charset="0"/>
                <a:ea typeface="Times New Roman" pitchFamily="18" charset="0"/>
                <a:cs typeface="Arial" pitchFamily="34" charset="0"/>
              </a:rPr>
              <a:t>. Il doit alors avoir une confiance en soi, une persévérance, une créativité, un optimisme, une responsabilité, un esprit d’équipe et une initiative.</a:t>
            </a:r>
            <a:endParaRPr lang="fr-FR" dirty="0" smtClean="0">
              <a:solidFill>
                <a:schemeClr val="dk1"/>
              </a:solidFill>
              <a:latin typeface="Arial" pitchFamily="34" charset="0"/>
              <a:ea typeface="Times New Roman" pitchFamily="18" charset="0"/>
              <a:cs typeface="Arial" pitchFamily="34" charset="0"/>
            </a:endParaRPr>
          </a:p>
        </p:txBody>
      </p:sp>
      <p:pic>
        <p:nvPicPr>
          <p:cNvPr id="5" name="Image 4" descr="C:\Users\ma.mejri\Desktop\téléchargement (1).png"/>
          <p:cNvPicPr/>
          <p:nvPr/>
        </p:nvPicPr>
        <p:blipFill>
          <a:blip r:embed="rId2"/>
          <a:srcRect/>
          <a:stretch>
            <a:fillRect/>
          </a:stretch>
        </p:blipFill>
        <p:spPr bwMode="auto">
          <a:xfrm>
            <a:off x="581478" y="296182"/>
            <a:ext cx="1079500" cy="38735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3"/>
          <a:srcRect/>
          <a:stretch>
            <a:fillRect/>
          </a:stretch>
        </p:blipFill>
        <p:spPr bwMode="auto">
          <a:xfrm>
            <a:off x="951593" y="296182"/>
            <a:ext cx="1079500" cy="387350"/>
          </a:xfrm>
          <a:prstGeom prst="rect">
            <a:avLst/>
          </a:prstGeom>
          <a:noFill/>
          <a:ln w="9525">
            <a:noFill/>
            <a:miter lim="800000"/>
            <a:headEnd/>
            <a:tailEnd/>
          </a:ln>
        </p:spPr>
      </p:pic>
      <p:graphicFrame>
        <p:nvGraphicFramePr>
          <p:cNvPr id="5" name="Diagramme 4"/>
          <p:cNvGraphicFramePr/>
          <p:nvPr/>
        </p:nvGraphicFramePr>
        <p:xfrm>
          <a:off x="485774" y="1962150"/>
          <a:ext cx="11020425" cy="37528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Rectangle 5"/>
          <p:cNvSpPr/>
          <p:nvPr/>
        </p:nvSpPr>
        <p:spPr>
          <a:xfrm>
            <a:off x="1314449" y="1077010"/>
            <a:ext cx="8886825" cy="369332"/>
          </a:xfrm>
          <a:prstGeom prst="rect">
            <a:avLst/>
          </a:prstGeom>
        </p:spPr>
        <p:txBody>
          <a:bodyPr wrap="square">
            <a:spAutoFit/>
          </a:bodyPr>
          <a:lstStyle/>
          <a:p>
            <a:r>
              <a:rPr lang="fr-FR" b="1" dirty="0" smtClean="0">
                <a:solidFill>
                  <a:srgbClr val="C00000"/>
                </a:solidFill>
                <a:latin typeface="Source Sans Pro"/>
              </a:rPr>
              <a:t>1- POURQUOI ENTREPRENDRE : RAISONS ET VALEURS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296182"/>
            <a:ext cx="1079500" cy="387350"/>
          </a:xfrm>
          <a:prstGeom prst="rect">
            <a:avLst/>
          </a:prstGeom>
          <a:noFill/>
          <a:ln w="9525">
            <a:noFill/>
            <a:miter lim="800000"/>
            <a:headEnd/>
            <a:tailEnd/>
          </a:ln>
        </p:spPr>
      </p:pic>
      <p:sp>
        <p:nvSpPr>
          <p:cNvPr id="3" name="Rectangle 2"/>
          <p:cNvSpPr/>
          <p:nvPr/>
        </p:nvSpPr>
        <p:spPr>
          <a:xfrm>
            <a:off x="1186542" y="727280"/>
            <a:ext cx="10091057" cy="535531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fr-FR" b="1" dirty="0" smtClean="0">
                <a:solidFill>
                  <a:srgbClr val="C00000"/>
                </a:solidFill>
                <a:latin typeface="Source Sans Pro"/>
              </a:rPr>
              <a:t>2- LES </a:t>
            </a:r>
            <a:r>
              <a:rPr lang="fr-FR" b="1" dirty="0">
                <a:solidFill>
                  <a:srgbClr val="C00000"/>
                </a:solidFill>
                <a:latin typeface="Source Sans Pro"/>
              </a:rPr>
              <a:t>FORMES DE L’ENTREPRENEURIAT : TYPOLOGIE ET EXEMPLES </a:t>
            </a:r>
            <a:endParaRPr lang="fr-FR" b="1" dirty="0" smtClean="0">
              <a:solidFill>
                <a:srgbClr val="C00000"/>
              </a:solidFill>
              <a:latin typeface="Source Sans Pro"/>
            </a:endParaRPr>
          </a:p>
          <a:p>
            <a:endParaRPr lang="fr-FR" dirty="0">
              <a:solidFill>
                <a:srgbClr val="3B3835"/>
              </a:solidFill>
              <a:latin typeface="Source Sans Pro"/>
            </a:endParaRPr>
          </a:p>
          <a:p>
            <a:pPr algn="just"/>
            <a:r>
              <a:rPr lang="fr-FR" dirty="0" smtClean="0">
                <a:solidFill>
                  <a:srgbClr val="3B3835"/>
                </a:solidFill>
                <a:latin typeface="Source Sans Pro"/>
              </a:rPr>
              <a:t>L’entrepreneuriat </a:t>
            </a:r>
            <a:r>
              <a:rPr lang="fr-FR" dirty="0">
                <a:solidFill>
                  <a:srgbClr val="3B3835"/>
                </a:solidFill>
                <a:latin typeface="Source Sans Pro"/>
              </a:rPr>
              <a:t>prend plusieurs formes à savoir l’entrepreneuriat individuel et collectif dont les exemples sont nombreux. </a:t>
            </a:r>
            <a:endParaRPr lang="fr-FR" dirty="0" smtClean="0">
              <a:solidFill>
                <a:srgbClr val="3B3835"/>
              </a:solidFill>
              <a:latin typeface="Source Sans Pro"/>
            </a:endParaRPr>
          </a:p>
          <a:p>
            <a:pPr algn="just"/>
            <a:endParaRPr lang="fr-FR" dirty="0">
              <a:solidFill>
                <a:srgbClr val="3B3835"/>
              </a:solidFill>
              <a:latin typeface="Source Sans Pro"/>
            </a:endParaRPr>
          </a:p>
          <a:p>
            <a:pPr algn="just"/>
            <a:r>
              <a:rPr lang="fr-FR" dirty="0" smtClean="0">
                <a:solidFill>
                  <a:srgbClr val="3B3835"/>
                </a:solidFill>
                <a:latin typeface="Source Sans Pro"/>
              </a:rPr>
              <a:t>L’entrepreneuriat </a:t>
            </a:r>
            <a:r>
              <a:rPr lang="fr-FR" dirty="0">
                <a:solidFill>
                  <a:srgbClr val="3B3835"/>
                </a:solidFill>
                <a:latin typeface="Source Sans Pro"/>
              </a:rPr>
              <a:t>individuel prend la forme individuelle (lancer seule sa propre entreprise) ou collective (s’associer avec d’autres individus dans un projet entrepreneurial</a:t>
            </a:r>
            <a:r>
              <a:rPr lang="fr-FR" dirty="0" smtClean="0">
                <a:solidFill>
                  <a:srgbClr val="3B3835"/>
                </a:solidFill>
                <a:latin typeface="Source Sans Pro"/>
              </a:rPr>
              <a:t>).</a:t>
            </a:r>
          </a:p>
          <a:p>
            <a:pPr algn="just"/>
            <a:endParaRPr lang="fr-FR" dirty="0">
              <a:solidFill>
                <a:srgbClr val="3B3835"/>
              </a:solidFill>
              <a:latin typeface="Source Sans Pro"/>
            </a:endParaRPr>
          </a:p>
          <a:p>
            <a:pPr algn="just"/>
            <a:r>
              <a:rPr lang="fr-FR" dirty="0" smtClean="0">
                <a:solidFill>
                  <a:srgbClr val="3B3835"/>
                </a:solidFill>
                <a:latin typeface="Source Sans Pro"/>
              </a:rPr>
              <a:t> Les </a:t>
            </a:r>
            <a:r>
              <a:rPr lang="fr-FR" dirty="0">
                <a:solidFill>
                  <a:srgbClr val="3B3835"/>
                </a:solidFill>
                <a:latin typeface="Source Sans Pro"/>
              </a:rPr>
              <a:t>formes de l’entrepreneuriat peuvent aller de la création d’une nouvelle structure à la simple reprise. </a:t>
            </a:r>
            <a:endParaRPr lang="fr-FR" dirty="0" smtClean="0">
              <a:solidFill>
                <a:srgbClr val="3B3835"/>
              </a:solidFill>
              <a:latin typeface="Source Sans Pro"/>
            </a:endParaRPr>
          </a:p>
          <a:p>
            <a:pPr algn="just"/>
            <a:endParaRPr lang="fr-FR" dirty="0">
              <a:solidFill>
                <a:srgbClr val="3B3835"/>
              </a:solidFill>
              <a:latin typeface="Source Sans Pro"/>
            </a:endParaRPr>
          </a:p>
          <a:p>
            <a:pPr algn="just"/>
            <a:r>
              <a:rPr lang="fr-FR" dirty="0" smtClean="0">
                <a:solidFill>
                  <a:srgbClr val="3B3835"/>
                </a:solidFill>
                <a:latin typeface="Source Sans Pro"/>
              </a:rPr>
              <a:t>Création </a:t>
            </a:r>
            <a:r>
              <a:rPr lang="fr-FR" dirty="0">
                <a:solidFill>
                  <a:srgbClr val="3B3835"/>
                </a:solidFill>
                <a:latin typeface="Source Sans Pro"/>
              </a:rPr>
              <a:t>d’une nouvelle entreprise </a:t>
            </a:r>
            <a:r>
              <a:rPr lang="fr-FR" dirty="0" smtClean="0">
                <a:solidFill>
                  <a:srgbClr val="3B3835"/>
                </a:solidFill>
                <a:latin typeface="Source Sans Pro"/>
              </a:rPr>
              <a:t>:</a:t>
            </a:r>
          </a:p>
          <a:p>
            <a:pPr algn="just"/>
            <a:r>
              <a:rPr lang="fr-FR" dirty="0" smtClean="0">
                <a:solidFill>
                  <a:srgbClr val="3B3835"/>
                </a:solidFill>
                <a:latin typeface="Source Sans Pro"/>
              </a:rPr>
              <a:t>± </a:t>
            </a:r>
            <a:r>
              <a:rPr lang="fr-FR" dirty="0">
                <a:solidFill>
                  <a:srgbClr val="3B3835"/>
                </a:solidFill>
                <a:latin typeface="Source Sans Pro"/>
              </a:rPr>
              <a:t>Traditionnelle ou (activité connue, projet répétitif) </a:t>
            </a:r>
            <a:endParaRPr lang="fr-FR" dirty="0" smtClean="0">
              <a:solidFill>
                <a:srgbClr val="3B3835"/>
              </a:solidFill>
              <a:latin typeface="Source Sans Pro"/>
            </a:endParaRPr>
          </a:p>
          <a:p>
            <a:pPr algn="just"/>
            <a:r>
              <a:rPr lang="fr-FR" dirty="0" smtClean="0">
                <a:solidFill>
                  <a:srgbClr val="3B3835"/>
                </a:solidFill>
                <a:latin typeface="Source Sans Pro"/>
              </a:rPr>
              <a:t>±</a:t>
            </a:r>
            <a:r>
              <a:rPr lang="fr-FR" sz="500" dirty="0" smtClean="0">
                <a:solidFill>
                  <a:srgbClr val="3B3835"/>
                </a:solidFill>
                <a:latin typeface="Source Sans Pro"/>
              </a:rPr>
              <a:t> </a:t>
            </a:r>
            <a:r>
              <a:rPr lang="fr-FR" dirty="0" smtClean="0">
                <a:solidFill>
                  <a:srgbClr val="3B3835"/>
                </a:solidFill>
                <a:latin typeface="Source Sans Pro"/>
              </a:rPr>
              <a:t>Technologique </a:t>
            </a:r>
            <a:r>
              <a:rPr lang="fr-FR" dirty="0">
                <a:solidFill>
                  <a:srgbClr val="3B3835"/>
                </a:solidFill>
                <a:latin typeface="Source Sans Pro"/>
              </a:rPr>
              <a:t>et Innovante : </a:t>
            </a:r>
            <a:r>
              <a:rPr lang="fr-FR" dirty="0" err="1">
                <a:solidFill>
                  <a:srgbClr val="3B3835"/>
                </a:solidFill>
                <a:latin typeface="Source Sans Pro"/>
              </a:rPr>
              <a:t>Technopreneuriat</a:t>
            </a:r>
            <a:r>
              <a:rPr lang="fr-FR" dirty="0">
                <a:solidFill>
                  <a:srgbClr val="3B3835"/>
                </a:solidFill>
                <a:latin typeface="Source Sans Pro"/>
              </a:rPr>
              <a:t> ou création d’entreprise technologique. Cyber entrepreneuriat ou création d’entreprise d’internet et de e-commerce. </a:t>
            </a:r>
            <a:endParaRPr lang="fr-FR" dirty="0" smtClean="0">
              <a:solidFill>
                <a:srgbClr val="3B3835"/>
              </a:solidFill>
              <a:latin typeface="Source Sans Pro"/>
            </a:endParaRPr>
          </a:p>
          <a:p>
            <a:pPr algn="just"/>
            <a:r>
              <a:rPr lang="fr-FR" dirty="0">
                <a:solidFill>
                  <a:srgbClr val="3B3835"/>
                </a:solidFill>
                <a:latin typeface="Source Sans Pro"/>
              </a:rPr>
              <a:t>± </a:t>
            </a:r>
            <a:r>
              <a:rPr lang="fr-FR" dirty="0" smtClean="0">
                <a:solidFill>
                  <a:srgbClr val="3B3835"/>
                </a:solidFill>
                <a:latin typeface="Source Sans Pro"/>
              </a:rPr>
              <a:t>Ecopreneuriat </a:t>
            </a:r>
            <a:r>
              <a:rPr lang="fr-FR" dirty="0">
                <a:solidFill>
                  <a:srgbClr val="3B3835"/>
                </a:solidFill>
                <a:latin typeface="Source Sans Pro"/>
              </a:rPr>
              <a:t>ou la création d’entreprises vertes (développement durable, responsabilité sociale</a:t>
            </a:r>
            <a:r>
              <a:rPr lang="fr-FR" dirty="0" smtClean="0">
                <a:solidFill>
                  <a:srgbClr val="3B3835"/>
                </a:solidFill>
                <a:latin typeface="Source Sans Pro"/>
              </a:rPr>
              <a:t>)</a:t>
            </a:r>
          </a:p>
          <a:p>
            <a:pPr algn="just"/>
            <a:r>
              <a:rPr lang="fr-FR" dirty="0" smtClean="0">
                <a:solidFill>
                  <a:srgbClr val="3B3835"/>
                </a:solidFill>
                <a:latin typeface="Source Sans Pro"/>
              </a:rPr>
              <a:t>La </a:t>
            </a:r>
            <a:r>
              <a:rPr lang="fr-FR" dirty="0">
                <a:solidFill>
                  <a:srgbClr val="3B3835"/>
                </a:solidFill>
                <a:latin typeface="Source Sans Pro"/>
              </a:rPr>
              <a:t>création d’une nouvelle entreprise peut concerner les petites et micro-entreprises, le travail indépendant, les PME, les grandes entreprises. </a:t>
            </a:r>
            <a:endParaRPr lang="fr-FR" dirty="0" smtClean="0">
              <a:solidFill>
                <a:srgbClr val="3B3835"/>
              </a:solidFill>
              <a:latin typeface="Source Sans Pr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C:\Users\ma.mejri\Desktop\téléchargement (1).png"/>
          <p:cNvPicPr/>
          <p:nvPr/>
        </p:nvPicPr>
        <p:blipFill>
          <a:blip r:embed="rId2"/>
          <a:srcRect/>
          <a:stretch>
            <a:fillRect/>
          </a:stretch>
        </p:blipFill>
        <p:spPr bwMode="auto">
          <a:xfrm>
            <a:off x="875393" y="0"/>
            <a:ext cx="1127578" cy="435429"/>
          </a:xfrm>
          <a:prstGeom prst="rect">
            <a:avLst/>
          </a:prstGeom>
          <a:noFill/>
          <a:ln w="9525">
            <a:noFill/>
            <a:miter lim="800000"/>
            <a:headEnd/>
            <a:tailEnd/>
          </a:ln>
        </p:spPr>
      </p:pic>
      <p:graphicFrame>
        <p:nvGraphicFramePr>
          <p:cNvPr id="4" name="Diagramme 3"/>
          <p:cNvGraphicFramePr/>
          <p:nvPr/>
        </p:nvGraphicFramePr>
        <p:xfrm>
          <a:off x="628650" y="733425"/>
          <a:ext cx="10982325" cy="53911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4" name="Rectangle 3"/>
          <p:cNvSpPr/>
          <p:nvPr/>
        </p:nvSpPr>
        <p:spPr>
          <a:xfrm>
            <a:off x="718457" y="2032206"/>
            <a:ext cx="10689772" cy="446276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dirty="0" smtClean="0">
                <a:latin typeface="Arial" pitchFamily="34" charset="0"/>
                <a:ea typeface="Times New Roman" pitchFamily="18" charset="0"/>
                <a:cs typeface="Arial" pitchFamily="34" charset="0"/>
              </a:rPr>
              <a:t>La connaissance de soi et de son potentiel </a:t>
            </a:r>
          </a:p>
          <a:p>
            <a:pPr algn="just"/>
            <a:endParaRPr lang="fr-FR" sz="800" dirty="0" smtClean="0">
              <a:latin typeface="Arial" pitchFamily="34" charset="0"/>
              <a:ea typeface="Times New Roman" pitchFamily="18" charset="0"/>
              <a:cs typeface="Arial" pitchFamily="34" charset="0"/>
            </a:endParaRPr>
          </a:p>
          <a:p>
            <a:pPr algn="just"/>
            <a:r>
              <a:rPr lang="fr-FR" sz="2000" dirty="0" smtClean="0">
                <a:latin typeface="Arial" pitchFamily="34" charset="0"/>
                <a:ea typeface="Times New Roman" pitchFamily="18" charset="0"/>
                <a:cs typeface="Arial" pitchFamily="34" charset="0"/>
              </a:rPr>
              <a:t>Compétences visées :</a:t>
            </a:r>
          </a:p>
          <a:p>
            <a:pPr algn="just"/>
            <a:r>
              <a:rPr lang="fr-FR" sz="2000" dirty="0" smtClean="0">
                <a:latin typeface="Arial" pitchFamily="34" charset="0"/>
                <a:ea typeface="Times New Roman" pitchFamily="18" charset="0"/>
                <a:cs typeface="Arial" pitchFamily="34" charset="0"/>
              </a:rPr>
              <a:t>Découvrir ses qualités personnelles et motivations vis-à-vis l’entrepreneuriat. Développer l’esprit d’initiative et d’entrepreneuriat </a:t>
            </a:r>
          </a:p>
          <a:p>
            <a:pPr algn="just"/>
            <a:endParaRPr lang="fr-FR" sz="800" dirty="0" smtClean="0">
              <a:latin typeface="Arial" pitchFamily="34" charset="0"/>
              <a:ea typeface="Times New Roman" pitchFamily="18" charset="0"/>
              <a:cs typeface="Arial" pitchFamily="34" charset="0"/>
            </a:endParaRPr>
          </a:p>
          <a:p>
            <a:pPr algn="just"/>
            <a:r>
              <a:rPr lang="fr-FR" sz="2000" dirty="0" smtClean="0">
                <a:latin typeface="Arial" pitchFamily="34" charset="0"/>
                <a:ea typeface="Times New Roman" pitchFamily="18" charset="0"/>
                <a:cs typeface="Arial" pitchFamily="34" charset="0"/>
              </a:rPr>
              <a:t>Pour déterminer si vous êtes prêt à vous lancer dans la création ou reprise d'entreprise ou, si vous êtes déjà entrepreneure, si vous êtes toujours fait pour cette voie, évaluez en quoi la situation ou les affirmations ci-dessous correspondent à ce que vous vivez.</a:t>
            </a:r>
          </a:p>
          <a:p>
            <a:pPr algn="just"/>
            <a:endParaRPr lang="fr-FR" sz="2000" dirty="0" smtClean="0">
              <a:latin typeface="Arial" pitchFamily="34" charset="0"/>
              <a:ea typeface="Times New Roman" pitchFamily="18" charset="0"/>
              <a:cs typeface="Arial" pitchFamily="34" charset="0"/>
            </a:endParaRPr>
          </a:p>
          <a:p>
            <a:pPr algn="just"/>
            <a:r>
              <a:rPr lang="fr-FR" sz="2000" b="1" dirty="0" smtClean="0">
                <a:latin typeface="Arial" pitchFamily="34" charset="0"/>
                <a:ea typeface="Times New Roman" pitchFamily="18" charset="0"/>
                <a:cs typeface="Arial" pitchFamily="34" charset="0"/>
              </a:rPr>
              <a:t> </a:t>
            </a:r>
            <a:r>
              <a:rPr lang="fr-FR" sz="2000" b="1" dirty="0" smtClean="0">
                <a:solidFill>
                  <a:schemeClr val="accent2"/>
                </a:solidFill>
                <a:latin typeface="Arial" pitchFamily="34" charset="0"/>
                <a:ea typeface="Times New Roman" pitchFamily="18" charset="0"/>
                <a:cs typeface="Arial" pitchFamily="34" charset="0"/>
              </a:rPr>
              <a:t>A </a:t>
            </a:r>
            <a:r>
              <a:rPr lang="fr-FR" sz="2000" dirty="0" smtClean="0">
                <a:solidFill>
                  <a:schemeClr val="accent2"/>
                </a:solidFill>
                <a:latin typeface="Arial" pitchFamily="34" charset="0"/>
                <a:ea typeface="Times New Roman" pitchFamily="18" charset="0"/>
                <a:cs typeface="Arial" pitchFamily="34" charset="0"/>
              </a:rPr>
              <a:t>: </a:t>
            </a:r>
            <a:r>
              <a:rPr lang="fr-FR" sz="2000" dirty="0" smtClean="0">
                <a:solidFill>
                  <a:schemeClr val="tx1"/>
                </a:solidFill>
                <a:latin typeface="Arial" pitchFamily="34" charset="0"/>
                <a:ea typeface="Times New Roman" pitchFamily="18" charset="0"/>
                <a:cs typeface="Arial" pitchFamily="34" charset="0"/>
              </a:rPr>
              <a:t>pas du tout </a:t>
            </a:r>
            <a:r>
              <a:rPr lang="fr-FR" sz="2000" dirty="0" smtClean="0">
                <a:solidFill>
                  <a:schemeClr val="accent2"/>
                </a:solidFill>
                <a:latin typeface="Arial" pitchFamily="34" charset="0"/>
                <a:ea typeface="Times New Roman" pitchFamily="18" charset="0"/>
                <a:cs typeface="Arial" pitchFamily="34" charset="0"/>
              </a:rPr>
              <a:t>; </a:t>
            </a:r>
            <a:r>
              <a:rPr lang="fr-FR" sz="2000" b="1" dirty="0" smtClean="0">
                <a:solidFill>
                  <a:schemeClr val="accent2"/>
                </a:solidFill>
                <a:latin typeface="Arial" pitchFamily="34" charset="0"/>
                <a:ea typeface="Times New Roman" pitchFamily="18" charset="0"/>
                <a:cs typeface="Arial" pitchFamily="34" charset="0"/>
              </a:rPr>
              <a:t>B</a:t>
            </a:r>
            <a:r>
              <a:rPr lang="fr-FR" sz="2000" dirty="0" smtClean="0">
                <a:solidFill>
                  <a:schemeClr val="accent2"/>
                </a:solidFill>
                <a:latin typeface="Arial" pitchFamily="34" charset="0"/>
                <a:ea typeface="Times New Roman" pitchFamily="18" charset="0"/>
                <a:cs typeface="Arial" pitchFamily="34" charset="0"/>
              </a:rPr>
              <a:t> : </a:t>
            </a:r>
            <a:r>
              <a:rPr lang="fr-FR" sz="2000" dirty="0" smtClean="0">
                <a:solidFill>
                  <a:schemeClr val="tx1"/>
                </a:solidFill>
                <a:latin typeface="Arial" pitchFamily="34" charset="0"/>
                <a:ea typeface="Times New Roman" pitchFamily="18" charset="0"/>
                <a:cs typeface="Arial" pitchFamily="34" charset="0"/>
              </a:rPr>
              <a:t>pas tout à fait d'accord </a:t>
            </a:r>
            <a:r>
              <a:rPr lang="fr-FR" sz="2000" dirty="0" smtClean="0">
                <a:solidFill>
                  <a:schemeClr val="accent2"/>
                </a:solidFill>
                <a:latin typeface="Arial" pitchFamily="34" charset="0"/>
                <a:ea typeface="Times New Roman" pitchFamily="18" charset="0"/>
                <a:cs typeface="Arial" pitchFamily="34" charset="0"/>
              </a:rPr>
              <a:t>; </a:t>
            </a:r>
            <a:r>
              <a:rPr lang="fr-FR" sz="2000" b="1" dirty="0" smtClean="0">
                <a:solidFill>
                  <a:schemeClr val="accent2"/>
                </a:solidFill>
                <a:latin typeface="Arial" pitchFamily="34" charset="0"/>
                <a:ea typeface="Times New Roman" pitchFamily="18" charset="0"/>
                <a:cs typeface="Arial" pitchFamily="34" charset="0"/>
              </a:rPr>
              <a:t>C</a:t>
            </a:r>
            <a:r>
              <a:rPr lang="fr-FR" sz="2000" dirty="0" smtClean="0">
                <a:solidFill>
                  <a:schemeClr val="accent2"/>
                </a:solidFill>
                <a:latin typeface="Arial" pitchFamily="34" charset="0"/>
                <a:ea typeface="Times New Roman" pitchFamily="18" charset="0"/>
                <a:cs typeface="Arial" pitchFamily="34" charset="0"/>
              </a:rPr>
              <a:t> : </a:t>
            </a:r>
            <a:r>
              <a:rPr lang="fr-FR" sz="2000" dirty="0" smtClean="0">
                <a:solidFill>
                  <a:schemeClr val="tx1"/>
                </a:solidFill>
                <a:latin typeface="Arial" pitchFamily="34" charset="0"/>
                <a:ea typeface="Times New Roman" pitchFamily="18" charset="0"/>
                <a:cs typeface="Arial" pitchFamily="34" charset="0"/>
              </a:rPr>
              <a:t>plutôt d'accord </a:t>
            </a:r>
            <a:r>
              <a:rPr lang="fr-FR" sz="2000" dirty="0" smtClean="0">
                <a:solidFill>
                  <a:schemeClr val="accent2"/>
                </a:solidFill>
                <a:latin typeface="Arial" pitchFamily="34" charset="0"/>
                <a:ea typeface="Times New Roman" pitchFamily="18" charset="0"/>
                <a:cs typeface="Arial" pitchFamily="34" charset="0"/>
              </a:rPr>
              <a:t>;  </a:t>
            </a:r>
            <a:r>
              <a:rPr lang="fr-FR" sz="2000" b="1" dirty="0" smtClean="0">
                <a:solidFill>
                  <a:schemeClr val="accent2"/>
                </a:solidFill>
                <a:latin typeface="Arial" pitchFamily="34" charset="0"/>
                <a:ea typeface="Times New Roman" pitchFamily="18" charset="0"/>
                <a:cs typeface="Arial" pitchFamily="34" charset="0"/>
              </a:rPr>
              <a:t>D</a:t>
            </a:r>
            <a:r>
              <a:rPr lang="fr-FR" sz="2000" dirty="0" smtClean="0">
                <a:solidFill>
                  <a:schemeClr val="accent2"/>
                </a:solidFill>
                <a:latin typeface="Arial" pitchFamily="34" charset="0"/>
                <a:ea typeface="Times New Roman" pitchFamily="18" charset="0"/>
                <a:cs typeface="Arial" pitchFamily="34" charset="0"/>
              </a:rPr>
              <a:t> : </a:t>
            </a:r>
            <a:r>
              <a:rPr lang="fr-FR" sz="2000" dirty="0" smtClean="0">
                <a:solidFill>
                  <a:schemeClr val="tx1"/>
                </a:solidFill>
                <a:latin typeface="Arial" pitchFamily="34" charset="0"/>
                <a:ea typeface="Times New Roman" pitchFamily="18" charset="0"/>
                <a:cs typeface="Arial" pitchFamily="34" charset="0"/>
              </a:rPr>
              <a:t>tout à fait d'accord</a:t>
            </a:r>
            <a:r>
              <a:rPr lang="fr-FR" sz="2000" dirty="0" smtClean="0">
                <a:solidFill>
                  <a:schemeClr val="accent2"/>
                </a:solidFill>
                <a:latin typeface="Arial" pitchFamily="34" charset="0"/>
                <a:ea typeface="Times New Roman" pitchFamily="18" charset="0"/>
                <a:cs typeface="Arial" pitchFamily="34" charset="0"/>
              </a:rPr>
              <a:t>. </a:t>
            </a:r>
          </a:p>
          <a:p>
            <a:pPr algn="just"/>
            <a:endParaRPr lang="fr-FR" sz="800" dirty="0" smtClean="0">
              <a:solidFill>
                <a:srgbClr val="000000"/>
              </a:solidFill>
              <a:latin typeface="Microsoft Sans Serif" pitchFamily="34" charset="0"/>
              <a:ea typeface="Arial" pitchFamily="34" charset="0"/>
              <a:cs typeface="Arial" pitchFamily="34" charset="0"/>
            </a:endParaRPr>
          </a:p>
          <a:p>
            <a:pPr algn="just"/>
            <a:r>
              <a:rPr lang="fr-FR" sz="2000" dirty="0" smtClean="0">
                <a:solidFill>
                  <a:srgbClr val="000000"/>
                </a:solidFill>
                <a:latin typeface="Microsoft Sans Serif" pitchFamily="34" charset="0"/>
                <a:ea typeface="Arial" pitchFamily="34" charset="0"/>
                <a:cs typeface="Arial" pitchFamily="34" charset="0"/>
              </a:rPr>
              <a:t>Question 1. Aimez-vous vous lancer des défis ? </a:t>
            </a:r>
          </a:p>
          <a:p>
            <a:pPr algn="just"/>
            <a:r>
              <a:rPr lang="fr-FR" sz="2000" dirty="0" smtClean="0">
                <a:solidFill>
                  <a:srgbClr val="000000"/>
                </a:solidFill>
                <a:latin typeface="Microsoft Sans Serif" pitchFamily="34" charset="0"/>
                <a:ea typeface="Arial" pitchFamily="34" charset="0"/>
                <a:cs typeface="Arial" pitchFamily="34" charset="0"/>
              </a:rPr>
              <a:t>Question 2. En général, aimez-vous rechercher le dépassement personnel ?</a:t>
            </a:r>
          </a:p>
          <a:p>
            <a:pPr algn="just"/>
            <a:r>
              <a:rPr lang="fr-FR" sz="2000" dirty="0" smtClean="0">
                <a:solidFill>
                  <a:srgbClr val="000000"/>
                </a:solidFill>
                <a:latin typeface="Microsoft Sans Serif" pitchFamily="34" charset="0"/>
                <a:ea typeface="Arial" pitchFamily="34" charset="0"/>
                <a:cs typeface="Arial" pitchFamily="34" charset="0"/>
              </a:rPr>
              <a:t>Question 3. Etes-vous à l'aise dans les situations complexes ? </a:t>
            </a:r>
          </a:p>
          <a:p>
            <a:pPr algn="just"/>
            <a:r>
              <a:rPr lang="fr-FR" sz="2000" dirty="0" smtClean="0">
                <a:solidFill>
                  <a:srgbClr val="000000"/>
                </a:solidFill>
                <a:latin typeface="Microsoft Sans Serif" pitchFamily="34" charset="0"/>
                <a:ea typeface="Arial" pitchFamily="34" charset="0"/>
                <a:cs typeface="Arial" pitchFamily="34" charset="0"/>
              </a:rPr>
              <a:t>Question 4. Gérez-vous votre stress ? </a:t>
            </a:r>
          </a:p>
        </p:txBody>
      </p:sp>
      <p:sp>
        <p:nvSpPr>
          <p:cNvPr id="5" name="Rectangle 4"/>
          <p:cNvSpPr/>
          <p:nvPr/>
        </p:nvSpPr>
        <p:spPr>
          <a:xfrm>
            <a:off x="885825" y="943660"/>
            <a:ext cx="10058400" cy="1200329"/>
          </a:xfrm>
          <a:prstGeom prst="rect">
            <a:avLst/>
          </a:prstGeom>
        </p:spPr>
        <p:txBody>
          <a:bodyPr wrap="square">
            <a:spAutoFit/>
          </a:bodyPr>
          <a:lstStyle/>
          <a:p>
            <a:r>
              <a:rPr lang="fr-FR" b="1" dirty="0" smtClean="0">
                <a:solidFill>
                  <a:srgbClr val="C00000"/>
                </a:solidFill>
                <a:latin typeface="Source Sans Pro"/>
              </a:rPr>
              <a:t>II- DECOUVERTE DE SOI ET DE SON POTENTIEL ENTREPRENARIAL</a:t>
            </a:r>
          </a:p>
          <a:p>
            <a:endParaRPr lang="fr-FR" b="1" dirty="0" smtClean="0">
              <a:solidFill>
                <a:srgbClr val="C00000"/>
              </a:solidFill>
            </a:endParaRPr>
          </a:p>
          <a:p>
            <a:r>
              <a:rPr lang="fr-FR" b="1" dirty="0" smtClean="0">
                <a:latin typeface="Arial" pitchFamily="34" charset="0"/>
                <a:ea typeface="Arial" pitchFamily="34" charset="0"/>
                <a:cs typeface="Arial" pitchFamily="34" charset="0"/>
              </a:rPr>
              <a:t>A-</a:t>
            </a:r>
            <a:r>
              <a:rPr lang="fr-FR" b="1" dirty="0" smtClean="0">
                <a:solidFill>
                  <a:srgbClr val="C0504D"/>
                </a:solidFill>
                <a:latin typeface="Arial" pitchFamily="34" charset="0"/>
                <a:ea typeface="Arial" pitchFamily="34" charset="0"/>
                <a:cs typeface="Arial" pitchFamily="34" charset="0"/>
              </a:rPr>
              <a:t> </a:t>
            </a:r>
            <a:r>
              <a:rPr lang="fr-FR" b="1" dirty="0" smtClean="0">
                <a:latin typeface="Arial" pitchFamily="34" charset="0"/>
                <a:ea typeface="Arial" pitchFamily="34" charset="0"/>
                <a:cs typeface="Arial" pitchFamily="34" charset="0"/>
              </a:rPr>
              <a:t>L’ELABORATION DE SON PROFIL ENTREPRENEURIAL</a:t>
            </a:r>
          </a:p>
          <a:p>
            <a:endParaRPr lang="fr-FR" b="1" dirty="0" smtClean="0">
              <a:solidFill>
                <a:srgbClr val="C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045028" y="1023487"/>
            <a:ext cx="10374086" cy="501675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dirty="0" smtClean="0">
                <a:latin typeface="Arial" pitchFamily="34" charset="0"/>
                <a:ea typeface="Times New Roman" pitchFamily="18" charset="0"/>
                <a:cs typeface="Arial" pitchFamily="34" charset="0"/>
              </a:rPr>
              <a:t>Question 5. Aimez-vous influencer les autres ?</a:t>
            </a:r>
          </a:p>
          <a:p>
            <a:pPr algn="just"/>
            <a:endParaRPr lang="fr-FR" sz="800" dirty="0" smtClean="0">
              <a:latin typeface="Arial" pitchFamily="34" charset="0"/>
              <a:ea typeface="Times New Roman" pitchFamily="18" charset="0"/>
              <a:cs typeface="Arial" pitchFamily="34" charset="0"/>
            </a:endParaRPr>
          </a:p>
          <a:p>
            <a:pPr algn="just"/>
            <a:r>
              <a:rPr lang="fr-FR" sz="2000" dirty="0" smtClean="0">
                <a:latin typeface="Arial" pitchFamily="34" charset="0"/>
                <a:ea typeface="Times New Roman" pitchFamily="18" charset="0"/>
                <a:cs typeface="Arial" pitchFamily="34" charset="0"/>
              </a:rPr>
              <a:t>Question 6. Cherchez-vous à créer quelque chose de visible, de reconnu ou d'innovant ? </a:t>
            </a:r>
          </a:p>
          <a:p>
            <a:pPr algn="just"/>
            <a:endParaRPr lang="fr-FR" sz="800" dirty="0" smtClean="0">
              <a:latin typeface="Arial" pitchFamily="34" charset="0"/>
              <a:ea typeface="Times New Roman" pitchFamily="18" charset="0"/>
              <a:cs typeface="Arial" pitchFamily="34" charset="0"/>
            </a:endParaRPr>
          </a:p>
          <a:p>
            <a:pPr algn="just"/>
            <a:r>
              <a:rPr lang="fr-FR" sz="2000" dirty="0" smtClean="0">
                <a:latin typeface="Arial" pitchFamily="34" charset="0"/>
                <a:ea typeface="Times New Roman" pitchFamily="18" charset="0"/>
                <a:cs typeface="Arial" pitchFamily="34" charset="0"/>
              </a:rPr>
              <a:t>Question 7. Pensez-vous qu'il soit possible d'influencer son destin ?</a:t>
            </a:r>
          </a:p>
          <a:p>
            <a:pPr algn="just"/>
            <a:endParaRPr lang="fr-FR" sz="800" dirty="0" smtClean="0">
              <a:latin typeface="Arial" pitchFamily="34" charset="0"/>
              <a:ea typeface="Times New Roman" pitchFamily="18" charset="0"/>
              <a:cs typeface="Arial" pitchFamily="34" charset="0"/>
            </a:endParaRPr>
          </a:p>
          <a:p>
            <a:pPr algn="just"/>
            <a:r>
              <a:rPr lang="fr-FR" sz="2000" dirty="0" smtClean="0">
                <a:latin typeface="Arial" pitchFamily="34" charset="0"/>
                <a:ea typeface="Times New Roman" pitchFamily="18" charset="0"/>
                <a:cs typeface="Arial" pitchFamily="34" charset="0"/>
              </a:rPr>
              <a:t>Question 8. Avez-vous de l'imagination ?</a:t>
            </a:r>
          </a:p>
          <a:p>
            <a:pPr algn="just"/>
            <a:endParaRPr lang="fr-FR" sz="800" dirty="0" smtClean="0">
              <a:latin typeface="Arial" pitchFamily="34" charset="0"/>
              <a:ea typeface="Times New Roman" pitchFamily="18" charset="0"/>
              <a:cs typeface="Arial" pitchFamily="34" charset="0"/>
            </a:endParaRPr>
          </a:p>
          <a:p>
            <a:pPr algn="just"/>
            <a:r>
              <a:rPr lang="fr-FR" sz="2000" dirty="0" smtClean="0">
                <a:latin typeface="Arial" pitchFamily="34" charset="0"/>
                <a:ea typeface="Times New Roman" pitchFamily="18" charset="0"/>
                <a:cs typeface="Arial" pitchFamily="34" charset="0"/>
              </a:rPr>
              <a:t>Question 9. Avez-vous confiance en vous ?</a:t>
            </a:r>
          </a:p>
          <a:p>
            <a:pPr algn="just"/>
            <a:endParaRPr lang="fr-FR" sz="800" dirty="0" smtClean="0">
              <a:latin typeface="Arial" pitchFamily="34" charset="0"/>
              <a:ea typeface="Times New Roman" pitchFamily="18" charset="0"/>
              <a:cs typeface="Arial" pitchFamily="34" charset="0"/>
            </a:endParaRPr>
          </a:p>
          <a:p>
            <a:pPr algn="just"/>
            <a:r>
              <a:rPr lang="fr-FR" sz="2000" dirty="0" smtClean="0">
                <a:latin typeface="Arial" pitchFamily="34" charset="0"/>
                <a:ea typeface="Times New Roman" pitchFamily="18" charset="0"/>
                <a:cs typeface="Arial" pitchFamily="34" charset="0"/>
              </a:rPr>
              <a:t>Question 10. Pensez-vous que la chance et le talent représentent 25 % maximum de votre réussite ? </a:t>
            </a:r>
          </a:p>
          <a:p>
            <a:pPr algn="just"/>
            <a:endParaRPr lang="fr-FR" sz="800" dirty="0" smtClean="0">
              <a:latin typeface="Arial" pitchFamily="34" charset="0"/>
              <a:ea typeface="Times New Roman" pitchFamily="18" charset="0"/>
              <a:cs typeface="Arial" pitchFamily="34" charset="0"/>
            </a:endParaRPr>
          </a:p>
          <a:p>
            <a:pPr algn="just"/>
            <a:r>
              <a:rPr lang="fr-FR" sz="2000" dirty="0" smtClean="0">
                <a:latin typeface="Arial" pitchFamily="34" charset="0"/>
                <a:ea typeface="Times New Roman" pitchFamily="18" charset="0"/>
                <a:cs typeface="Arial" pitchFamily="34" charset="0"/>
              </a:rPr>
              <a:t>Question 11. Vous fiez-vous à votre intuition ?</a:t>
            </a:r>
          </a:p>
          <a:p>
            <a:pPr algn="just"/>
            <a:endParaRPr lang="fr-FR" sz="800" dirty="0" smtClean="0">
              <a:latin typeface="Arial" pitchFamily="34" charset="0"/>
              <a:ea typeface="Times New Roman" pitchFamily="18" charset="0"/>
              <a:cs typeface="Arial" pitchFamily="34" charset="0"/>
            </a:endParaRPr>
          </a:p>
          <a:p>
            <a:pPr algn="just"/>
            <a:r>
              <a:rPr lang="fr-FR" sz="2000" dirty="0" smtClean="0">
                <a:latin typeface="Arial" pitchFamily="34" charset="0"/>
                <a:ea typeface="Times New Roman" pitchFamily="18" charset="0"/>
                <a:cs typeface="Arial" pitchFamily="34" charset="0"/>
              </a:rPr>
              <a:t>Question 12. Pour vous, le risque doit-il être plutôt calculé ?</a:t>
            </a:r>
          </a:p>
          <a:p>
            <a:pPr algn="just"/>
            <a:endParaRPr lang="fr-FR" sz="800" dirty="0" smtClean="0">
              <a:latin typeface="Arial" pitchFamily="34" charset="0"/>
              <a:ea typeface="Times New Roman" pitchFamily="18" charset="0"/>
              <a:cs typeface="Arial" pitchFamily="34" charset="0"/>
            </a:endParaRPr>
          </a:p>
          <a:p>
            <a:pPr algn="just"/>
            <a:r>
              <a:rPr lang="fr-FR" sz="2000" dirty="0" smtClean="0">
                <a:latin typeface="Arial" pitchFamily="34" charset="0"/>
                <a:ea typeface="Times New Roman" pitchFamily="18" charset="0"/>
                <a:cs typeface="Arial" pitchFamily="34" charset="0"/>
              </a:rPr>
              <a:t>Question 13. Préférez-vous avoir la décision finale ? </a:t>
            </a:r>
          </a:p>
          <a:p>
            <a:pPr algn="just"/>
            <a:endParaRPr lang="fr-FR" sz="800" dirty="0" smtClean="0">
              <a:latin typeface="Arial" pitchFamily="34" charset="0"/>
              <a:ea typeface="Times New Roman" pitchFamily="18" charset="0"/>
              <a:cs typeface="Arial" pitchFamily="34" charset="0"/>
            </a:endParaRPr>
          </a:p>
          <a:p>
            <a:pPr algn="just"/>
            <a:r>
              <a:rPr lang="fr-FR" sz="2000" dirty="0" smtClean="0">
                <a:latin typeface="Arial" pitchFamily="34" charset="0"/>
                <a:ea typeface="Times New Roman" pitchFamily="18" charset="0"/>
                <a:cs typeface="Arial" pitchFamily="34" charset="0"/>
              </a:rPr>
              <a:t>Question 14. Aimez-vous lancer de nouveaux projets ? </a:t>
            </a:r>
          </a:p>
          <a:p>
            <a:pPr algn="just"/>
            <a:endParaRPr lang="fr-FR" sz="800" dirty="0" smtClean="0">
              <a:latin typeface="Arial" pitchFamily="34" charset="0"/>
              <a:ea typeface="Times New Roman" pitchFamily="18" charset="0"/>
              <a:cs typeface="Arial" pitchFamily="34" charset="0"/>
            </a:endParaRPr>
          </a:p>
          <a:p>
            <a:pPr algn="just"/>
            <a:r>
              <a:rPr lang="fr-FR" sz="2000" dirty="0" smtClean="0">
                <a:latin typeface="Arial" pitchFamily="34" charset="0"/>
                <a:ea typeface="Times New Roman" pitchFamily="18" charset="0"/>
                <a:cs typeface="Arial" pitchFamily="34" charset="0"/>
              </a:rPr>
              <a:t>Question 15. Etes-vous de ceux (celles) qui anticipent ?</a:t>
            </a:r>
            <a:endParaRPr lang="fr-FR" dirty="0">
              <a:solidFill>
                <a:schemeClr val="dk1"/>
              </a:solidFill>
              <a:latin typeface="Arial" pitchFamily="34" charset="0"/>
              <a:ea typeface="Times New Roman" pitchFamily="18" charset="0"/>
              <a:cs typeface="Arial"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702100" y="962004"/>
            <a:ext cx="10586386" cy="563231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dirty="0" smtClean="0">
                <a:latin typeface="Arial" pitchFamily="34" charset="0"/>
                <a:ea typeface="Times New Roman" pitchFamily="18" charset="0"/>
                <a:cs typeface="Arial" pitchFamily="34" charset="0"/>
              </a:rPr>
              <a:t>Question 16. Pensez-vous que chaque action (petite et grande) permet de vous rapprocher de votre vision ?</a:t>
            </a:r>
          </a:p>
          <a:p>
            <a:pPr algn="just"/>
            <a:endParaRPr lang="fr-FR" sz="800" dirty="0" smtClean="0">
              <a:latin typeface="Arial" pitchFamily="34" charset="0"/>
              <a:ea typeface="Times New Roman" pitchFamily="18" charset="0"/>
              <a:cs typeface="Arial" pitchFamily="34" charset="0"/>
            </a:endParaRPr>
          </a:p>
          <a:p>
            <a:pPr algn="just"/>
            <a:r>
              <a:rPr lang="fr-FR" sz="2000" dirty="0" smtClean="0">
                <a:latin typeface="Arial" pitchFamily="34" charset="0"/>
                <a:ea typeface="Times New Roman" pitchFamily="18" charset="0"/>
                <a:cs typeface="Arial" pitchFamily="34" charset="0"/>
              </a:rPr>
              <a:t>Question 17. Aimez-vous prendre des initiatives ?</a:t>
            </a:r>
          </a:p>
          <a:p>
            <a:pPr algn="just"/>
            <a:endParaRPr lang="fr-FR" sz="800" dirty="0" smtClean="0">
              <a:latin typeface="Arial" pitchFamily="34" charset="0"/>
              <a:ea typeface="Times New Roman" pitchFamily="18" charset="0"/>
              <a:cs typeface="Arial" pitchFamily="34" charset="0"/>
            </a:endParaRPr>
          </a:p>
          <a:p>
            <a:pPr algn="just"/>
            <a:r>
              <a:rPr lang="fr-FR" sz="2000" dirty="0" smtClean="0">
                <a:latin typeface="Arial" pitchFamily="34" charset="0"/>
                <a:ea typeface="Times New Roman" pitchFamily="18" charset="0"/>
                <a:cs typeface="Arial" pitchFamily="34" charset="0"/>
              </a:rPr>
              <a:t>Question 18. Vous considérez-vous ambitieux(se) ? </a:t>
            </a:r>
          </a:p>
          <a:p>
            <a:pPr algn="just"/>
            <a:endParaRPr lang="fr-FR" sz="800" dirty="0" smtClean="0">
              <a:latin typeface="Arial" pitchFamily="34" charset="0"/>
              <a:ea typeface="Times New Roman" pitchFamily="18" charset="0"/>
              <a:cs typeface="Arial" pitchFamily="34" charset="0"/>
            </a:endParaRPr>
          </a:p>
          <a:p>
            <a:pPr algn="just"/>
            <a:r>
              <a:rPr lang="fr-FR" sz="2000" dirty="0" smtClean="0">
                <a:latin typeface="Arial" pitchFamily="34" charset="0"/>
                <a:ea typeface="Times New Roman" pitchFamily="18" charset="0"/>
                <a:cs typeface="Arial" pitchFamily="34" charset="0"/>
              </a:rPr>
              <a:t>Question 19. Vous sentez-vous libre d'agir ?</a:t>
            </a:r>
          </a:p>
          <a:p>
            <a:pPr algn="just"/>
            <a:endParaRPr lang="fr-FR" sz="800" dirty="0" smtClean="0">
              <a:latin typeface="Arial" pitchFamily="34" charset="0"/>
              <a:ea typeface="Times New Roman" pitchFamily="18" charset="0"/>
              <a:cs typeface="Arial" pitchFamily="34" charset="0"/>
            </a:endParaRPr>
          </a:p>
          <a:p>
            <a:pPr algn="just"/>
            <a:r>
              <a:rPr lang="fr-FR" sz="2000" dirty="0" smtClean="0">
                <a:latin typeface="Arial" pitchFamily="34" charset="0"/>
                <a:ea typeface="Times New Roman" pitchFamily="18" charset="0"/>
                <a:cs typeface="Arial" pitchFamily="34" charset="0"/>
              </a:rPr>
              <a:t>Question 20. Votre entourage est-il favorable à votre projet ?</a:t>
            </a:r>
          </a:p>
          <a:p>
            <a:pPr algn="just"/>
            <a:endParaRPr lang="fr-FR" sz="2000" dirty="0" smtClean="0">
              <a:latin typeface="Arial" pitchFamily="34" charset="0"/>
              <a:ea typeface="Times New Roman" pitchFamily="18" charset="0"/>
              <a:cs typeface="Arial" pitchFamily="34" charset="0"/>
            </a:endParaRPr>
          </a:p>
          <a:p>
            <a:pPr algn="just"/>
            <a:r>
              <a:rPr lang="fr-FR" sz="2000" dirty="0" smtClean="0">
                <a:latin typeface="Arial" pitchFamily="34" charset="0"/>
                <a:ea typeface="Times New Roman" pitchFamily="18" charset="0"/>
                <a:cs typeface="Arial" pitchFamily="34" charset="0"/>
              </a:rPr>
              <a:t> Résultats du Test : Faites la somme des réponses pour chaque catégorie (A, B, C, D).</a:t>
            </a:r>
          </a:p>
          <a:p>
            <a:pPr algn="just"/>
            <a:r>
              <a:rPr lang="fr-FR" sz="2000" dirty="0" smtClean="0">
                <a:latin typeface="Arial" pitchFamily="34" charset="0"/>
                <a:ea typeface="Times New Roman" pitchFamily="18" charset="0"/>
                <a:cs typeface="Arial" pitchFamily="34" charset="0"/>
              </a:rPr>
              <a:t> </a:t>
            </a:r>
          </a:p>
          <a:p>
            <a:pPr algn="just"/>
            <a:r>
              <a:rPr lang="fr-FR" sz="2000" dirty="0" smtClean="0">
                <a:latin typeface="Arial" pitchFamily="34" charset="0"/>
                <a:ea typeface="Times New Roman" pitchFamily="18" charset="0"/>
                <a:cs typeface="Arial" pitchFamily="34" charset="0"/>
              </a:rPr>
              <a:t>Si vous avez une majorité de réponses A et B, vous devriez réfléchir encore à ce qui vous motive réellement dans l'aventure entrepreneuriale : prenez du temps, c'est une étape importante. Vous êtes en train de vivre sur vos acquis . </a:t>
            </a:r>
          </a:p>
          <a:p>
            <a:pPr algn="just"/>
            <a:endParaRPr lang="fr-FR" sz="800" dirty="0" smtClean="0">
              <a:latin typeface="Arial" pitchFamily="34" charset="0"/>
              <a:ea typeface="Times New Roman" pitchFamily="18" charset="0"/>
              <a:cs typeface="Arial" pitchFamily="34" charset="0"/>
            </a:endParaRPr>
          </a:p>
          <a:p>
            <a:pPr algn="just"/>
            <a:r>
              <a:rPr lang="fr-FR" sz="2000" dirty="0" smtClean="0">
                <a:latin typeface="Arial" pitchFamily="34" charset="0"/>
                <a:ea typeface="Times New Roman" pitchFamily="18" charset="0"/>
                <a:cs typeface="Arial" pitchFamily="34" charset="0"/>
              </a:rPr>
              <a:t>Si vous avez une majorité de C et D, vous ressentez vraiment l'appel de l'entrepreneuriat : il vous reste à en apprendre les codes et à réaliser votre transition. Ecoutez votre intuition, reprenez des risques. « Celui qui conquiert les autres est fort. Celui qui se conquiert lui-même est puissant » Lao </a:t>
            </a:r>
            <a:r>
              <a:rPr lang="fr-FR" sz="2000" dirty="0" err="1" smtClean="0">
                <a:latin typeface="Arial" pitchFamily="34" charset="0"/>
                <a:ea typeface="Times New Roman" pitchFamily="18" charset="0"/>
                <a:cs typeface="Arial" pitchFamily="34" charset="0"/>
              </a:rPr>
              <a:t>Tseu</a:t>
            </a:r>
            <a:endParaRPr lang="fr-F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graphicFrame>
        <p:nvGraphicFramePr>
          <p:cNvPr id="4" name="Diagramme 3"/>
          <p:cNvGraphicFramePr/>
          <p:nvPr/>
        </p:nvGraphicFramePr>
        <p:xfrm>
          <a:off x="676275" y="1152525"/>
          <a:ext cx="10991850" cy="53149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p:cNvSpPr/>
          <p:nvPr/>
        </p:nvSpPr>
        <p:spPr>
          <a:xfrm>
            <a:off x="2276475" y="572185"/>
            <a:ext cx="8420100" cy="369332"/>
          </a:xfrm>
          <a:prstGeom prst="rect">
            <a:avLst/>
          </a:prstGeom>
        </p:spPr>
        <p:txBody>
          <a:bodyPr wrap="square">
            <a:spAutoFit/>
          </a:bodyPr>
          <a:lstStyle/>
          <a:p>
            <a:r>
              <a:rPr lang="fr-FR" b="1" dirty="0" smtClean="0">
                <a:latin typeface="Arial" pitchFamily="34" charset="0"/>
                <a:ea typeface="Arial" pitchFamily="34" charset="0"/>
                <a:cs typeface="Arial" pitchFamily="34" charset="0"/>
              </a:rPr>
              <a:t>B- LES QUALITES ET LES DEFAUTS DU CRATEUR D’ENTREPRISE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a:grpSpLocks/>
          </p:cNvGrpSpPr>
          <p:nvPr/>
        </p:nvGrpSpPr>
        <p:grpSpPr bwMode="auto">
          <a:xfrm>
            <a:off x="2829585" y="332679"/>
            <a:ext cx="5429288" cy="2561273"/>
            <a:chOff x="0" y="0"/>
            <a:chExt cx="5367" cy="4033"/>
          </a:xfrm>
        </p:grpSpPr>
        <p:sp>
          <p:nvSpPr>
            <p:cNvPr id="3" name="Rectangle 2"/>
            <p:cNvSpPr>
              <a:spLocks noChangeArrowheads="1"/>
            </p:cNvSpPr>
            <p:nvPr/>
          </p:nvSpPr>
          <p:spPr bwMode="auto">
            <a:xfrm>
              <a:off x="9" y="9"/>
              <a:ext cx="5334" cy="4001"/>
            </a:xfrm>
            <a:prstGeom prst="rect">
              <a:avLst/>
            </a:prstGeom>
            <a:solidFill>
              <a:srgbClr val="FFFF99"/>
            </a:solidFill>
            <a:ln w="9525">
              <a:noFill/>
              <a:miter lim="800000"/>
              <a:headEnd/>
              <a:tailEnd/>
            </a:ln>
          </p:spPr>
          <p:txBody>
            <a:bodyPr vert="horz" wrap="square" lIns="91440" tIns="45720" rIns="91440" bIns="45720" numCol="1" anchor="t" anchorCtr="0" compatLnSpc="1">
              <a:prstTxWarp prst="textNoShape">
                <a:avLst/>
              </a:prstTxWarp>
            </a:bodyPr>
            <a:lstStyle/>
            <a:p>
              <a:endParaRPr lang="fr-FR"/>
            </a:p>
          </p:txBody>
        </p:sp>
        <p:pic>
          <p:nvPicPr>
            <p:cNvPr id="4" name="Picture 7"/>
            <p:cNvPicPr>
              <a:picLocks noChangeAspect="1" noChangeArrowheads="1"/>
            </p:cNvPicPr>
            <p:nvPr/>
          </p:nvPicPr>
          <p:blipFill>
            <a:blip r:embed="rId2"/>
            <a:srcRect/>
            <a:stretch>
              <a:fillRect/>
            </a:stretch>
          </p:blipFill>
          <p:spPr bwMode="auto">
            <a:xfrm>
              <a:off x="3655" y="2283"/>
              <a:ext cx="1248" cy="609"/>
            </a:xfrm>
            <a:prstGeom prst="rect">
              <a:avLst/>
            </a:prstGeom>
            <a:noFill/>
          </p:spPr>
        </p:pic>
        <p:sp>
          <p:nvSpPr>
            <p:cNvPr id="5" name="Line 6"/>
            <p:cNvSpPr>
              <a:spLocks noChangeShapeType="1"/>
            </p:cNvSpPr>
            <p:nvPr/>
          </p:nvSpPr>
          <p:spPr bwMode="auto">
            <a:xfrm>
              <a:off x="3733" y="2806"/>
              <a:ext cx="312" cy="0"/>
            </a:xfrm>
            <a:prstGeom prst="line">
              <a:avLst/>
            </a:prstGeom>
            <a:noFill/>
            <a:ln w="9906">
              <a:solidFill>
                <a:srgbClr val="FEFEFE"/>
              </a:solidFill>
              <a:round/>
              <a:headEnd/>
              <a:tailEnd/>
            </a:ln>
          </p:spPr>
          <p:txBody>
            <a:bodyPr vert="horz" wrap="square" lIns="91440" tIns="45720" rIns="91440" bIns="45720" numCol="1" anchor="t" anchorCtr="0" compatLnSpc="1">
              <a:prstTxWarp prst="textNoShape">
                <a:avLst/>
              </a:prstTxWarp>
            </a:bodyPr>
            <a:lstStyle/>
            <a:p>
              <a:endParaRPr lang="fr-FR"/>
            </a:p>
          </p:txBody>
        </p:sp>
        <p:pic>
          <p:nvPicPr>
            <p:cNvPr id="6" name="Picture 5"/>
            <p:cNvPicPr>
              <a:picLocks noChangeAspect="1" noChangeArrowheads="1"/>
            </p:cNvPicPr>
            <p:nvPr/>
          </p:nvPicPr>
          <p:blipFill>
            <a:blip r:embed="rId3"/>
            <a:srcRect/>
            <a:stretch>
              <a:fillRect/>
            </a:stretch>
          </p:blipFill>
          <p:spPr bwMode="auto">
            <a:xfrm>
              <a:off x="3655" y="2892"/>
              <a:ext cx="1092" cy="840"/>
            </a:xfrm>
            <a:prstGeom prst="rect">
              <a:avLst/>
            </a:prstGeom>
            <a:noFill/>
          </p:spPr>
        </p:pic>
        <p:sp>
          <p:nvSpPr>
            <p:cNvPr id="7" name="Freeform 3"/>
            <p:cNvSpPr>
              <a:spLocks/>
            </p:cNvSpPr>
            <p:nvPr/>
          </p:nvSpPr>
          <p:spPr bwMode="auto">
            <a:xfrm>
              <a:off x="0" y="0"/>
              <a:ext cx="5367" cy="4033"/>
            </a:xfrm>
            <a:custGeom>
              <a:avLst/>
              <a:gdLst/>
              <a:ahLst/>
              <a:cxnLst>
                <a:cxn ang="0">
                  <a:pos x="5366" y="10"/>
                </a:cxn>
                <a:cxn ang="0">
                  <a:pos x="5357" y="10"/>
                </a:cxn>
                <a:cxn ang="0">
                  <a:pos x="5357" y="0"/>
                </a:cxn>
                <a:cxn ang="0">
                  <a:pos x="5347" y="0"/>
                </a:cxn>
                <a:cxn ang="0">
                  <a:pos x="10" y="0"/>
                </a:cxn>
                <a:cxn ang="0">
                  <a:pos x="0" y="0"/>
                </a:cxn>
                <a:cxn ang="0">
                  <a:pos x="0" y="10"/>
                </a:cxn>
                <a:cxn ang="0">
                  <a:pos x="0" y="4013"/>
                </a:cxn>
                <a:cxn ang="0">
                  <a:pos x="0" y="4022"/>
                </a:cxn>
                <a:cxn ang="0">
                  <a:pos x="10" y="4022"/>
                </a:cxn>
                <a:cxn ang="0">
                  <a:pos x="10" y="4013"/>
                </a:cxn>
                <a:cxn ang="0">
                  <a:pos x="10" y="10"/>
                </a:cxn>
                <a:cxn ang="0">
                  <a:pos x="5347" y="10"/>
                </a:cxn>
                <a:cxn ang="0">
                  <a:pos x="5347" y="4013"/>
                </a:cxn>
                <a:cxn ang="0">
                  <a:pos x="10" y="4013"/>
                </a:cxn>
                <a:cxn ang="0">
                  <a:pos x="10" y="4032"/>
                </a:cxn>
                <a:cxn ang="0">
                  <a:pos x="5347" y="4032"/>
                </a:cxn>
                <a:cxn ang="0">
                  <a:pos x="5366" y="4032"/>
                </a:cxn>
                <a:cxn ang="0">
                  <a:pos x="5366" y="4022"/>
                </a:cxn>
                <a:cxn ang="0">
                  <a:pos x="5366" y="4013"/>
                </a:cxn>
                <a:cxn ang="0">
                  <a:pos x="5366" y="10"/>
                </a:cxn>
              </a:cxnLst>
              <a:rect l="0" t="0" r="r" b="b"/>
              <a:pathLst>
                <a:path w="5367" h="4033">
                  <a:moveTo>
                    <a:pt x="5366" y="10"/>
                  </a:moveTo>
                  <a:lnTo>
                    <a:pt x="5357" y="10"/>
                  </a:lnTo>
                  <a:lnTo>
                    <a:pt x="5357" y="0"/>
                  </a:lnTo>
                  <a:lnTo>
                    <a:pt x="5347" y="0"/>
                  </a:lnTo>
                  <a:lnTo>
                    <a:pt x="10" y="0"/>
                  </a:lnTo>
                  <a:lnTo>
                    <a:pt x="0" y="0"/>
                  </a:lnTo>
                  <a:lnTo>
                    <a:pt x="0" y="10"/>
                  </a:lnTo>
                  <a:lnTo>
                    <a:pt x="0" y="4013"/>
                  </a:lnTo>
                  <a:lnTo>
                    <a:pt x="0" y="4022"/>
                  </a:lnTo>
                  <a:lnTo>
                    <a:pt x="10" y="4022"/>
                  </a:lnTo>
                  <a:lnTo>
                    <a:pt x="10" y="4013"/>
                  </a:lnTo>
                  <a:lnTo>
                    <a:pt x="10" y="10"/>
                  </a:lnTo>
                  <a:lnTo>
                    <a:pt x="5347" y="10"/>
                  </a:lnTo>
                  <a:lnTo>
                    <a:pt x="5347" y="4013"/>
                  </a:lnTo>
                  <a:lnTo>
                    <a:pt x="10" y="4013"/>
                  </a:lnTo>
                  <a:lnTo>
                    <a:pt x="10" y="4032"/>
                  </a:lnTo>
                  <a:lnTo>
                    <a:pt x="5347" y="4032"/>
                  </a:lnTo>
                  <a:lnTo>
                    <a:pt x="5366" y="4032"/>
                  </a:lnTo>
                  <a:lnTo>
                    <a:pt x="5366" y="4022"/>
                  </a:lnTo>
                  <a:lnTo>
                    <a:pt x="5366" y="4013"/>
                  </a:lnTo>
                  <a:lnTo>
                    <a:pt x="5366" y="10"/>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8" name="Text Box 2"/>
            <p:cNvSpPr txBox="1">
              <a:spLocks noChangeArrowheads="1"/>
            </p:cNvSpPr>
            <p:nvPr/>
          </p:nvSpPr>
          <p:spPr bwMode="auto">
            <a:xfrm>
              <a:off x="154" y="202"/>
              <a:ext cx="3314" cy="2648"/>
            </a:xfrm>
            <a:prstGeom prst="rect">
              <a:avLst/>
            </a:prstGeom>
            <a:solidFill>
              <a:srgbClr val="BBE0E3"/>
            </a:solidFill>
            <a:ln w="3531">
              <a:solidFill>
                <a:srgbClr val="010101"/>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sz="1400" b="1" i="0" u="none" strike="noStrike" cap="none" normalizeH="0" baseline="0" dirty="0" smtClean="0">
                  <a:ln>
                    <a:noFill/>
                  </a:ln>
                  <a:solidFill>
                    <a:schemeClr val="tx1"/>
                  </a:solidFill>
                  <a:effectLst/>
                  <a:latin typeface="Arial" pitchFamily="34" charset="0"/>
                  <a:ea typeface="Times New Roman" pitchFamily="18" charset="0"/>
                  <a:cs typeface="Times New Roman" pitchFamily="18" charset="0"/>
                </a:rPr>
                <a:t>La culture entrepreneuriale : un antidote à la pauvreté</a:t>
              </a:r>
              <a:endParaRPr kumimoji="0" lang="fr-FR" sz="7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fr-FR" sz="1400" b="1" i="0" u="none" strike="noStrike" cap="none" normalizeH="0" baseline="0" dirty="0" smtClean="0">
                  <a:ln>
                    <a:noFill/>
                  </a:ln>
                  <a:solidFill>
                    <a:schemeClr val="tx1"/>
                  </a:solidFill>
                  <a:effectLst/>
                  <a:latin typeface="Arial" pitchFamily="34" charset="0"/>
                  <a:ea typeface="Times New Roman" pitchFamily="18" charset="0"/>
                  <a:cs typeface="Times New Roman" pitchFamily="18" charset="0"/>
                </a:rPr>
                <a:t>Sénégal 2004</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grpSp>
      <p:sp>
        <p:nvSpPr>
          <p:cNvPr id="13" name="Text Box 5"/>
          <p:cNvSpPr txBox="1">
            <a:spLocks noChangeArrowheads="1"/>
          </p:cNvSpPr>
          <p:nvPr/>
        </p:nvSpPr>
        <p:spPr bwMode="auto">
          <a:xfrm>
            <a:off x="2815038" y="2934334"/>
            <a:ext cx="5462088" cy="3404632"/>
          </a:xfrm>
          <a:prstGeom prst="rect">
            <a:avLst/>
          </a:prstGeom>
          <a:ln>
            <a:headEnd/>
            <a:tailEnd/>
          </a:ln>
        </p:spPr>
        <p:style>
          <a:lnRef idx="3">
            <a:schemeClr val="lt1"/>
          </a:lnRef>
          <a:fillRef idx="1">
            <a:schemeClr val="accent4"/>
          </a:fillRef>
          <a:effectRef idx="1">
            <a:schemeClr val="accent4"/>
          </a:effectRef>
          <a:fontRef idx="minor">
            <a:schemeClr val="lt1"/>
          </a:fontRef>
        </p:style>
        <p:txBody>
          <a:bodyPr vert="horz" wrap="square" lIns="0" tIns="0" rIns="0" bIns="0" numCol="1" anchor="t" anchorCtr="0" compatLnSpc="1">
            <a:prstTxWarp prst="textNoShape">
              <a:avLst/>
            </a:prstTxWarp>
          </a:bodyPr>
          <a:lstStyle/>
          <a:p>
            <a:pPr marL="457200" marR="2479675" lvl="1" indent="0" algn="ctr" defTabSz="914400" rtl="0" eaLnBrk="1" fontAlgn="base" latinLnBrk="0" hangingPunct="1">
              <a:lnSpc>
                <a:spcPct val="100000"/>
              </a:lnSpc>
              <a:spcBef>
                <a:spcPts val="1563"/>
              </a:spcBef>
              <a:spcAft>
                <a:spcPts val="1000"/>
              </a:spcAft>
              <a:buClrTx/>
              <a:buSzTx/>
              <a:buFontTx/>
              <a:buNone/>
              <a:tabLst/>
            </a:pPr>
            <a:r>
              <a:rPr kumimoji="0" lang="fr-FR" sz="1600" b="0" i="0" u="none" strike="noStrike" cap="none" normalizeH="0" baseline="0" dirty="0" smtClean="0">
                <a:ln>
                  <a:noFill/>
                </a:ln>
                <a:solidFill>
                  <a:schemeClr val="bg1"/>
                </a:solidFill>
                <a:effectLst/>
                <a:latin typeface="Arial MT"/>
                <a:ea typeface="Arial" pitchFamily="34" charset="0"/>
                <a:cs typeface="Arial MT"/>
              </a:rPr>
              <a:t>L’antidote…</a:t>
            </a:r>
          </a:p>
          <a:p>
            <a:pPr marL="457200" marR="1071563" lvl="1" indent="0" algn="just" defTabSz="914400" rtl="0" eaLnBrk="1" fontAlgn="base" latinLnBrk="0" hangingPunct="1">
              <a:lnSpc>
                <a:spcPct val="100000"/>
              </a:lnSpc>
              <a:spcBef>
                <a:spcPts val="1400"/>
              </a:spcBef>
              <a:spcAft>
                <a:spcPct val="0"/>
              </a:spcAft>
              <a:buClrTx/>
              <a:buSzTx/>
              <a:buFont typeface="Arial MT"/>
              <a:buChar char="•"/>
              <a:tabLst/>
            </a:pPr>
            <a:r>
              <a:rPr kumimoji="0" lang="fr-FR" sz="1400" b="0" i="0" u="none" strike="noStrike" cap="none" normalizeH="0" baseline="0" dirty="0" smtClean="0">
                <a:ln>
                  <a:noFill/>
                </a:ln>
                <a:solidFill>
                  <a:schemeClr val="bg1"/>
                </a:solidFill>
                <a:effectLst/>
                <a:latin typeface="Arial MT"/>
                <a:ea typeface="Arial" pitchFamily="34" charset="0"/>
                <a:cs typeface="Arial" pitchFamily="34" charset="0"/>
              </a:rPr>
              <a:t>En Finlande, la culture entrepreneuriale comprend :</a:t>
            </a:r>
          </a:p>
          <a:p>
            <a:pPr marL="714375" marR="0" lvl="2" indent="200025" algn="just" defTabSz="914400" rtl="0" eaLnBrk="1" fontAlgn="base" latinLnBrk="0" hangingPunct="1">
              <a:lnSpc>
                <a:spcPct val="100000"/>
              </a:lnSpc>
              <a:spcBef>
                <a:spcPts val="200"/>
              </a:spcBef>
              <a:spcAft>
                <a:spcPct val="0"/>
              </a:spcAft>
              <a:buClrTx/>
              <a:buSzTx/>
              <a:buFont typeface="Arial MT"/>
              <a:buChar char="–"/>
              <a:tabLst/>
            </a:pPr>
            <a:r>
              <a:rPr kumimoji="0" lang="fr-FR" sz="1400" b="0" i="0" u="none" strike="noStrike" cap="none" normalizeH="0" baseline="0" dirty="0" smtClean="0">
                <a:ln>
                  <a:noFill/>
                </a:ln>
                <a:solidFill>
                  <a:schemeClr val="bg1"/>
                </a:solidFill>
                <a:effectLst/>
                <a:latin typeface="Arial MT"/>
                <a:ea typeface="Arial" pitchFamily="34" charset="0"/>
                <a:cs typeface="Arial MT"/>
              </a:rPr>
              <a:t>La création et la gestion d’une entreprise</a:t>
            </a:r>
          </a:p>
          <a:p>
            <a:pPr marL="895350" marR="671513" lvl="3" indent="-180975" algn="just" defTabSz="914400" rtl="0" eaLnBrk="1" fontAlgn="base" latinLnBrk="0" hangingPunct="1">
              <a:lnSpc>
                <a:spcPct val="100000"/>
              </a:lnSpc>
              <a:spcBef>
                <a:spcPts val="225"/>
              </a:spcBef>
              <a:spcAft>
                <a:spcPct val="0"/>
              </a:spcAft>
              <a:buClrTx/>
              <a:buSzTx/>
              <a:buFont typeface="Arial MT"/>
              <a:buChar char="–"/>
              <a:tabLst/>
            </a:pPr>
            <a:r>
              <a:rPr kumimoji="0" lang="fr-FR" sz="1400" b="0" i="0" u="none" strike="noStrike" cap="none" normalizeH="0" baseline="0" dirty="0" smtClean="0">
                <a:ln>
                  <a:noFill/>
                </a:ln>
                <a:solidFill>
                  <a:schemeClr val="bg1"/>
                </a:solidFill>
                <a:effectLst/>
                <a:latin typeface="Arial MT"/>
                <a:ea typeface="Arial" pitchFamily="34" charset="0"/>
                <a:cs typeface="Arial MT"/>
              </a:rPr>
              <a:t>L’approche dynamique et innovatrice d’un employé pour faire progresser une entreprise</a:t>
            </a:r>
          </a:p>
          <a:p>
            <a:pPr marL="895350" marR="546100" lvl="3" indent="-180975" algn="just" defTabSz="914400" rtl="0" eaLnBrk="1" fontAlgn="base" latinLnBrk="0" hangingPunct="1">
              <a:lnSpc>
                <a:spcPct val="100000"/>
              </a:lnSpc>
              <a:spcBef>
                <a:spcPts val="250"/>
              </a:spcBef>
              <a:spcAft>
                <a:spcPct val="0"/>
              </a:spcAft>
              <a:buClrTx/>
              <a:buSzTx/>
              <a:buFont typeface="Arial MT"/>
              <a:buChar char="–"/>
              <a:tabLst/>
            </a:pPr>
            <a:r>
              <a:rPr kumimoji="0" lang="fr-FR" sz="1400" b="0" i="0" u="none" strike="noStrike" cap="none" normalizeH="0" baseline="0" dirty="0" smtClean="0">
                <a:ln>
                  <a:noFill/>
                </a:ln>
                <a:solidFill>
                  <a:schemeClr val="bg1"/>
                </a:solidFill>
                <a:effectLst/>
                <a:latin typeface="Arial MT"/>
                <a:ea typeface="Arial" pitchFamily="34" charset="0"/>
                <a:cs typeface="Arial MT"/>
              </a:rPr>
              <a:t>La recherche active et dynamique d’un emploi pour une personne sans emploi</a:t>
            </a:r>
          </a:p>
          <a:p>
            <a:pPr marL="895350" marR="1373188" lvl="3" indent="-180975" algn="just" defTabSz="914400" rtl="0" eaLnBrk="1" fontAlgn="base" latinLnBrk="0" hangingPunct="1">
              <a:lnSpc>
                <a:spcPct val="100000"/>
              </a:lnSpc>
              <a:spcBef>
                <a:spcPts val="250"/>
              </a:spcBef>
              <a:spcAft>
                <a:spcPct val="0"/>
              </a:spcAft>
              <a:buClrTx/>
              <a:buSzTx/>
              <a:buFont typeface="Arial MT"/>
              <a:buChar char="–"/>
              <a:tabLst/>
            </a:pPr>
            <a:r>
              <a:rPr kumimoji="0" lang="fr-FR" sz="1400" b="0" i="0" u="none" strike="noStrike" cap="none" normalizeH="0" baseline="0" dirty="0" smtClean="0">
                <a:ln>
                  <a:noFill/>
                </a:ln>
                <a:solidFill>
                  <a:schemeClr val="bg1"/>
                </a:solidFill>
                <a:effectLst/>
                <a:latin typeface="Arial MT"/>
                <a:ea typeface="Arial" pitchFamily="34" charset="0"/>
                <a:cs typeface="Arial MT"/>
              </a:rPr>
              <a:t>La pédagogie stimulante de l’enseignant auprès des jeunes en formation</a:t>
            </a:r>
          </a:p>
          <a:p>
            <a:pPr marL="714375" marR="0" lvl="2" indent="200025" algn="just" defTabSz="914400" rtl="0" eaLnBrk="1" fontAlgn="base" latinLnBrk="0" hangingPunct="1">
              <a:lnSpc>
                <a:spcPct val="100000"/>
              </a:lnSpc>
              <a:spcBef>
                <a:spcPts val="213"/>
              </a:spcBef>
              <a:spcAft>
                <a:spcPct val="0"/>
              </a:spcAft>
              <a:buClrTx/>
              <a:buSzTx/>
              <a:buFont typeface="Arial MT"/>
              <a:buChar char="–"/>
              <a:tabLst/>
            </a:pPr>
            <a:r>
              <a:rPr kumimoji="0" lang="fr-FR" sz="1400" b="0" i="0" u="none" strike="noStrike" cap="none" normalizeH="0" baseline="0" dirty="0" smtClean="0">
                <a:ln>
                  <a:noFill/>
                </a:ln>
                <a:solidFill>
                  <a:schemeClr val="bg1"/>
                </a:solidFill>
                <a:effectLst/>
                <a:latin typeface="Arial MT"/>
                <a:ea typeface="Arial" pitchFamily="34" charset="0"/>
                <a:cs typeface="Arial MT"/>
              </a:rPr>
              <a:t>L’intervention sociale positive et innovatrice</a:t>
            </a:r>
          </a:p>
          <a:p>
            <a:pPr marL="714375" marR="0" lvl="2" indent="200025" defTabSz="914400" rtl="0" eaLnBrk="1" fontAlgn="base" latinLnBrk="0" hangingPunct="1">
              <a:lnSpc>
                <a:spcPct val="100000"/>
              </a:lnSpc>
              <a:spcBef>
                <a:spcPts val="213"/>
              </a:spcBef>
              <a:spcAft>
                <a:spcPct val="0"/>
              </a:spcAft>
              <a:buClrTx/>
              <a:buSzTx/>
              <a:buFont typeface="Arial MT"/>
              <a:buChar char="–"/>
              <a:tabLst/>
            </a:pP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14" name="Image 13" descr="C:\Users\ma.mejri\Desktop\téléchargement (1).png"/>
          <p:cNvPicPr/>
          <p:nvPr/>
        </p:nvPicPr>
        <p:blipFill>
          <a:blip r:embed="rId4"/>
          <a:srcRect/>
          <a:stretch>
            <a:fillRect/>
          </a:stretch>
        </p:blipFill>
        <p:spPr bwMode="auto">
          <a:xfrm>
            <a:off x="581478" y="296182"/>
            <a:ext cx="1079500" cy="38735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pic>
        <p:nvPicPr>
          <p:cNvPr id="4" name="Image 3"/>
          <p:cNvPicPr/>
          <p:nvPr/>
        </p:nvPicPr>
        <p:blipFill>
          <a:blip r:embed="rId3"/>
          <a:srcRect/>
          <a:stretch>
            <a:fillRect/>
          </a:stretch>
        </p:blipFill>
        <p:spPr bwMode="auto">
          <a:xfrm>
            <a:off x="6512784" y="4666788"/>
            <a:ext cx="5679216" cy="2191212"/>
          </a:xfrm>
          <a:prstGeom prst="rect">
            <a:avLst/>
          </a:prstGeom>
          <a:noFill/>
          <a:ln w="9525">
            <a:noFill/>
            <a:miter lim="800000"/>
            <a:headEnd/>
            <a:tailEnd/>
          </a:ln>
        </p:spPr>
      </p:pic>
      <p:sp>
        <p:nvSpPr>
          <p:cNvPr id="5" name="Parallélogramme 4"/>
          <p:cNvSpPr/>
          <p:nvPr/>
        </p:nvSpPr>
        <p:spPr>
          <a:xfrm>
            <a:off x="661012" y="1898135"/>
            <a:ext cx="11127036" cy="1834515"/>
          </a:xfrm>
          <a:prstGeom prst="parallelogram">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just"/>
            <a:endParaRPr lang="fr-FR" dirty="0" smtClean="0">
              <a:latin typeface="Arial" pitchFamily="34" charset="0"/>
              <a:ea typeface="Times New Roman" pitchFamily="18" charset="0"/>
              <a:cs typeface="Arial" pitchFamily="34" charset="0"/>
            </a:endParaRPr>
          </a:p>
          <a:p>
            <a:pPr algn="ctr"/>
            <a:r>
              <a:rPr lang="fr-FR" b="1" dirty="0" smtClean="0">
                <a:solidFill>
                  <a:schemeClr val="dk1"/>
                </a:solidFill>
                <a:latin typeface="Arial" pitchFamily="34" charset="0"/>
                <a:ea typeface="Times New Roman" pitchFamily="18" charset="0"/>
                <a:cs typeface="Arial" pitchFamily="34" charset="0"/>
              </a:rPr>
              <a:t>CHAPITRE II : LES FONDAMENTAUX DE L’ENTREPRENEURIAT</a:t>
            </a:r>
          </a:p>
          <a:p>
            <a:pPr algn="ctr"/>
            <a:r>
              <a:rPr lang="fr-FR" b="1" dirty="0" smtClean="0">
                <a:solidFill>
                  <a:schemeClr val="dk1"/>
                </a:solidFill>
                <a:latin typeface="Arial" pitchFamily="34" charset="0"/>
                <a:ea typeface="Times New Roman" pitchFamily="18" charset="0"/>
                <a:cs typeface="Arial" pitchFamily="34" charset="0"/>
              </a:rPr>
              <a:t>CREATIVITE – INNOVATION – SOFT-SKILS</a:t>
            </a:r>
          </a:p>
          <a:p>
            <a:pPr marL="342900" indent="-342900" algn="just">
              <a:buAutoNum type="arabicPeriod"/>
            </a:pPr>
            <a:endParaRPr lang="fr-FR" dirty="0" smtClean="0">
              <a:latin typeface="Arial" pitchFamily="34" charset="0"/>
              <a:ea typeface="Times New Roman" pitchFamily="18" charset="0"/>
              <a:cs typeface="Arial" pitchFamily="34" charset="0"/>
            </a:endParaRPr>
          </a:p>
          <a:p>
            <a:pPr marL="342900" indent="-342900" algn="just">
              <a:buAutoNum type="arabicPeriod"/>
            </a:pPr>
            <a:endParaRPr lang="fr-FR" dirty="0" smtClean="0">
              <a:solidFill>
                <a:schemeClr val="dk1"/>
              </a:solidFill>
              <a:latin typeface="Arial" pitchFamily="34" charset="0"/>
              <a:ea typeface="Times New Roman" pitchFamily="18" charset="0"/>
              <a:cs typeface="Arial"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6622" y="2233430"/>
            <a:ext cx="10477500" cy="163121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endParaRPr lang="fr-FR" sz="2000" dirty="0" smtClean="0">
              <a:solidFill>
                <a:schemeClr val="dk1"/>
              </a:solidFill>
              <a:latin typeface="Arial" pitchFamily="34" charset="0"/>
              <a:cs typeface="Arial" pitchFamily="34" charset="0"/>
            </a:endParaRPr>
          </a:p>
          <a:p>
            <a:pPr algn="just"/>
            <a:r>
              <a:rPr lang="fr-FR" sz="2000" dirty="0" smtClean="0">
                <a:solidFill>
                  <a:schemeClr val="dk1"/>
                </a:solidFill>
                <a:latin typeface="Arial" pitchFamily="34" charset="0"/>
                <a:cs typeface="Arial" pitchFamily="34" charset="0"/>
              </a:rPr>
              <a:t>«La créativité est un processus mental par lequel un individu ou un groupe, placé dans une situation donnée, élabore un produit nouveau (ou une solution originale) adapté(e) aux contraintes et aux finalités de la situation»</a:t>
            </a:r>
          </a:p>
          <a:p>
            <a:pPr algn="r"/>
            <a:r>
              <a:rPr lang="fr-FR" sz="2000" b="1" dirty="0" err="1" smtClean="0">
                <a:solidFill>
                  <a:schemeClr val="dk1"/>
                </a:solidFill>
                <a:latin typeface="Arial" pitchFamily="34" charset="0"/>
                <a:cs typeface="Arial" pitchFamily="34" charset="0"/>
              </a:rPr>
              <a:t>Albric</a:t>
            </a:r>
            <a:r>
              <a:rPr lang="fr-FR" sz="2000" b="1" dirty="0" smtClean="0">
                <a:solidFill>
                  <a:schemeClr val="dk1"/>
                </a:solidFill>
                <a:latin typeface="Arial" pitchFamily="34" charset="0"/>
                <a:cs typeface="Arial" pitchFamily="34" charset="0"/>
              </a:rPr>
              <a:t> (1984)</a:t>
            </a:r>
          </a:p>
        </p:txBody>
      </p:sp>
      <p:sp>
        <p:nvSpPr>
          <p:cNvPr id="3" name="Rectangle 2"/>
          <p:cNvSpPr/>
          <p:nvPr/>
        </p:nvSpPr>
        <p:spPr>
          <a:xfrm>
            <a:off x="751115" y="3948704"/>
            <a:ext cx="10429874" cy="101566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dirty="0" smtClean="0">
                <a:solidFill>
                  <a:schemeClr val="dk1"/>
                </a:solidFill>
                <a:latin typeface="Arial" pitchFamily="34" charset="0"/>
                <a:cs typeface="Arial" pitchFamily="34" charset="0"/>
              </a:rPr>
              <a:t>«La créativité est la production d’idées nouvelles (originales - différentes de ce qui a déjà été fait) et appropriées aux problèmes et aux occasions qui se présentent»</a:t>
            </a:r>
          </a:p>
          <a:p>
            <a:pPr algn="r"/>
            <a:r>
              <a:rPr lang="fr-FR" sz="2000" b="1" dirty="0" smtClean="0">
                <a:solidFill>
                  <a:schemeClr val="dk1"/>
                </a:solidFill>
                <a:latin typeface="Arial" pitchFamily="34" charset="0"/>
                <a:cs typeface="Arial" pitchFamily="34" charset="0"/>
              </a:rPr>
              <a:t>Amabile (2002)</a:t>
            </a:r>
          </a:p>
        </p:txBody>
      </p:sp>
      <p:sp>
        <p:nvSpPr>
          <p:cNvPr id="5" name="Rectangle 4"/>
          <p:cNvSpPr/>
          <p:nvPr/>
        </p:nvSpPr>
        <p:spPr>
          <a:xfrm>
            <a:off x="729343" y="5167530"/>
            <a:ext cx="10439400" cy="132343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b="1" dirty="0" smtClean="0">
                <a:solidFill>
                  <a:schemeClr val="dk1"/>
                </a:solidFill>
                <a:latin typeface="Arial" pitchFamily="34" charset="0"/>
                <a:cs typeface="Arial" pitchFamily="34" charset="0"/>
              </a:rPr>
              <a:t>En résumé, </a:t>
            </a:r>
            <a:r>
              <a:rPr lang="fr-FR" sz="2000" dirty="0" smtClean="0">
                <a:solidFill>
                  <a:schemeClr val="dk1"/>
                </a:solidFill>
                <a:latin typeface="Arial" pitchFamily="34" charset="0"/>
                <a:cs typeface="Arial" pitchFamily="34" charset="0"/>
              </a:rPr>
              <a:t>la créativité est la capacité à générer des idées nouvelles et originales et à trouver des </a:t>
            </a:r>
            <a:r>
              <a:rPr lang="fr-FR" sz="2000" dirty="0" smtClean="0">
                <a:latin typeface="Arial" pitchFamily="34" charset="0"/>
                <a:cs typeface="Arial" pitchFamily="34" charset="0"/>
              </a:rPr>
              <a:t>solutions innovantes à des problèmes. Elle implique un processus de pensée qui va au-delà des approches conventionnelles, permettant d'explorer des perspectives différentes et d'exprimer des émotions ou des idées de manière unique. </a:t>
            </a:r>
            <a:endParaRPr lang="fr-FR" sz="2000" dirty="0" smtClean="0">
              <a:solidFill>
                <a:schemeClr val="dk1"/>
              </a:solidFill>
              <a:latin typeface="Arial" pitchFamily="34" charset="0"/>
              <a:cs typeface="Arial" pitchFamily="34" charset="0"/>
            </a:endParaRPr>
          </a:p>
        </p:txBody>
      </p:sp>
      <p:sp>
        <p:nvSpPr>
          <p:cNvPr id="7" name="Rectangle 6"/>
          <p:cNvSpPr/>
          <p:nvPr/>
        </p:nvSpPr>
        <p:spPr>
          <a:xfrm>
            <a:off x="2475645" y="1234559"/>
            <a:ext cx="4106129" cy="615553"/>
          </a:xfrm>
          <a:prstGeom prst="rect">
            <a:avLst/>
          </a:prstGeom>
        </p:spPr>
        <p:txBody>
          <a:bodyPr wrap="square">
            <a:spAutoFit/>
          </a:bodyPr>
          <a:lstStyle/>
          <a:p>
            <a:pPr marL="0" lvl="1" fontAlgn="base">
              <a:spcBef>
                <a:spcPct val="0"/>
              </a:spcBef>
              <a:spcAft>
                <a:spcPct val="0"/>
              </a:spcAft>
              <a:buClr>
                <a:srgbClr val="0066CC"/>
              </a:buClr>
              <a:tabLst>
                <a:tab pos="773113" algn="l"/>
              </a:tabLst>
            </a:pPr>
            <a:r>
              <a:rPr lang="fr-FR" b="1" dirty="0" smtClean="0">
                <a:solidFill>
                  <a:srgbClr val="C00000"/>
                </a:solidFill>
                <a:latin typeface="Source Sans Pro"/>
              </a:rPr>
              <a:t>I- LA CREATIVITE</a:t>
            </a:r>
          </a:p>
          <a:p>
            <a:pPr lvl="1" algn="justLow" fontAlgn="base">
              <a:spcBef>
                <a:spcPct val="0"/>
              </a:spcBef>
              <a:spcAft>
                <a:spcPct val="0"/>
              </a:spcAft>
              <a:buClr>
                <a:srgbClr val="0066CC"/>
              </a:buClr>
              <a:tabLst>
                <a:tab pos="773113" algn="l"/>
              </a:tabLst>
            </a:pPr>
            <a:r>
              <a:rPr lang="fr-FR" sz="1600" b="1" dirty="0" smtClean="0">
                <a:solidFill>
                  <a:srgbClr val="00B050"/>
                </a:solidFill>
              </a:rPr>
              <a:t>                                  1- DEFINITION</a:t>
            </a:r>
          </a:p>
        </p:txBody>
      </p:sp>
      <p:sp>
        <p:nvSpPr>
          <p:cNvPr id="8" name="Rectangle 7"/>
          <p:cNvSpPr/>
          <p:nvPr/>
        </p:nvSpPr>
        <p:spPr>
          <a:xfrm>
            <a:off x="9105900" y="271760"/>
            <a:ext cx="2695574" cy="1077218"/>
          </a:xfrm>
          <a:prstGeom prst="wedgeRectCallou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fr-FR" sz="1600" b="1" dirty="0" smtClean="0"/>
              <a:t>« L ’imagination est plus importante que le</a:t>
            </a:r>
          </a:p>
          <a:p>
            <a:pPr algn="ctr"/>
            <a:r>
              <a:rPr lang="fr-FR" sz="1600" b="1" dirty="0" smtClean="0"/>
              <a:t>savoir »</a:t>
            </a:r>
          </a:p>
          <a:p>
            <a:pPr algn="ctr"/>
            <a:r>
              <a:rPr lang="fr-FR" sz="1600" b="1" dirty="0" smtClean="0"/>
              <a:t>-Albert Einstein</a:t>
            </a:r>
            <a:endParaRPr lang="fr-FR" sz="1600" dirty="0"/>
          </a:p>
        </p:txBody>
      </p:sp>
      <p:pic>
        <p:nvPicPr>
          <p:cNvPr id="9" name="Image 8"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47725" y="1760458"/>
            <a:ext cx="10534650" cy="430887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endParaRPr lang="fr-FR" b="1" dirty="0" smtClean="0">
              <a:solidFill>
                <a:srgbClr val="C00000"/>
              </a:solidFill>
              <a:latin typeface="Arial" pitchFamily="34" charset="0"/>
              <a:cs typeface="Arial" pitchFamily="34" charset="0"/>
            </a:endParaRPr>
          </a:p>
          <a:p>
            <a:pPr algn="just">
              <a:buFont typeface="Wingdings" pitchFamily="2" charset="2"/>
              <a:buChar char="v"/>
            </a:pPr>
            <a:r>
              <a:rPr lang="fr-FR" sz="2000" dirty="0" smtClean="0">
                <a:solidFill>
                  <a:schemeClr val="dk1"/>
                </a:solidFill>
                <a:latin typeface="Arial" pitchFamily="34" charset="0"/>
                <a:cs typeface="Arial" pitchFamily="34" charset="0"/>
              </a:rPr>
              <a:t> </a:t>
            </a:r>
            <a:r>
              <a:rPr lang="fr-FR" sz="2000" b="1" dirty="0" smtClean="0">
                <a:solidFill>
                  <a:schemeClr val="dk1"/>
                </a:solidFill>
                <a:latin typeface="Arial" pitchFamily="34" charset="0"/>
                <a:cs typeface="Arial" pitchFamily="34" charset="0"/>
              </a:rPr>
              <a:t>Génération d'idées </a:t>
            </a:r>
            <a:r>
              <a:rPr lang="fr-FR" sz="2000" dirty="0" smtClean="0">
                <a:solidFill>
                  <a:schemeClr val="dk1"/>
                </a:solidFill>
                <a:latin typeface="Arial" pitchFamily="34" charset="0"/>
                <a:cs typeface="Arial" pitchFamily="34" charset="0"/>
              </a:rPr>
              <a:t>: La créativité permet de générer des idées nouvelles et originales. Dans un monde en constante évolution, les entreprises doivent constamment</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innover pour rester compétitives. La créativité est le moteur qui alimente cette génération d'idées</a:t>
            </a:r>
          </a:p>
          <a:p>
            <a:pPr algn="just"/>
            <a:endParaRPr lang="fr-FR" sz="800" dirty="0" smtClean="0">
              <a:solidFill>
                <a:schemeClr val="dk1"/>
              </a:solidFill>
              <a:latin typeface="Arial" pitchFamily="34" charset="0"/>
              <a:cs typeface="Arial" pitchFamily="34" charset="0"/>
            </a:endParaRPr>
          </a:p>
          <a:p>
            <a:pPr algn="just">
              <a:buFont typeface="Wingdings" pitchFamily="2" charset="2"/>
              <a:buChar char="v"/>
            </a:pPr>
            <a:r>
              <a:rPr lang="fr-FR" sz="2000" dirty="0" smtClean="0">
                <a:solidFill>
                  <a:schemeClr val="dk1"/>
                </a:solidFill>
                <a:latin typeface="Arial" pitchFamily="34" charset="0"/>
                <a:cs typeface="Arial" pitchFamily="34" charset="0"/>
              </a:rPr>
              <a:t> </a:t>
            </a:r>
            <a:r>
              <a:rPr lang="fr-FR" sz="2000" b="1" dirty="0" smtClean="0">
                <a:solidFill>
                  <a:schemeClr val="dk1"/>
                </a:solidFill>
                <a:latin typeface="Arial" pitchFamily="34" charset="0"/>
                <a:cs typeface="Arial" pitchFamily="34" charset="0"/>
              </a:rPr>
              <a:t>Résolution de problèmes </a:t>
            </a:r>
            <a:r>
              <a:rPr lang="fr-FR" sz="2000" dirty="0" smtClean="0">
                <a:solidFill>
                  <a:schemeClr val="dk1"/>
                </a:solidFill>
                <a:latin typeface="Arial" pitchFamily="34" charset="0"/>
                <a:cs typeface="Arial" pitchFamily="34" charset="0"/>
              </a:rPr>
              <a:t>: Les défis et les obstacles sont inévitables dans tout processus d'innovation. La créativité aide à trouver des solutions novatrices</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et efficaces à ces problèmes, en encourageant une pensée divergente qui explore différentes perspectives.</a:t>
            </a:r>
          </a:p>
          <a:p>
            <a:pPr algn="just"/>
            <a:endParaRPr lang="fr-FR" sz="800" dirty="0" smtClean="0">
              <a:solidFill>
                <a:schemeClr val="dk1"/>
              </a:solidFill>
              <a:latin typeface="Arial" pitchFamily="34" charset="0"/>
              <a:cs typeface="Arial" pitchFamily="34" charset="0"/>
            </a:endParaRPr>
          </a:p>
          <a:p>
            <a:pPr algn="just">
              <a:buFont typeface="Wingdings" pitchFamily="2" charset="2"/>
              <a:buChar char="v"/>
            </a:pPr>
            <a:r>
              <a:rPr lang="fr-FR" sz="2000" dirty="0" smtClean="0">
                <a:solidFill>
                  <a:schemeClr val="dk1"/>
                </a:solidFill>
                <a:latin typeface="Arial" pitchFamily="34" charset="0"/>
                <a:cs typeface="Arial" pitchFamily="34" charset="0"/>
              </a:rPr>
              <a:t> </a:t>
            </a:r>
            <a:r>
              <a:rPr lang="fr-FR" sz="2000" b="1" dirty="0" smtClean="0">
                <a:solidFill>
                  <a:schemeClr val="dk1"/>
                </a:solidFill>
                <a:latin typeface="Arial" pitchFamily="34" charset="0"/>
                <a:cs typeface="Arial" pitchFamily="34" charset="0"/>
              </a:rPr>
              <a:t>Adaptation et flexibilité </a:t>
            </a:r>
            <a:r>
              <a:rPr lang="fr-FR" sz="2000" dirty="0" smtClean="0">
                <a:solidFill>
                  <a:schemeClr val="dk1"/>
                </a:solidFill>
                <a:latin typeface="Arial" pitchFamily="34" charset="0"/>
                <a:cs typeface="Arial" pitchFamily="34" charset="0"/>
              </a:rPr>
              <a:t>: La créativité favorise l'adaptabilité. Dans un environnement changeant, les entreprises doivent être capables de s'ajuster rapidement.</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Une approche créative permet de réinventer des produits, des services ou des processus pour répondre aux nouvelles exigences du marché.</a:t>
            </a:r>
            <a:endParaRPr lang="fr-FR" sz="2000" dirty="0"/>
          </a:p>
        </p:txBody>
      </p:sp>
      <p:sp>
        <p:nvSpPr>
          <p:cNvPr id="6" name="Rectangle 5"/>
          <p:cNvSpPr/>
          <p:nvPr/>
        </p:nvSpPr>
        <p:spPr>
          <a:xfrm>
            <a:off x="2470487" y="1320284"/>
            <a:ext cx="6694910" cy="338554"/>
          </a:xfrm>
          <a:prstGeom prst="rect">
            <a:avLst/>
          </a:prstGeom>
        </p:spPr>
        <p:txBody>
          <a:bodyPr wrap="none">
            <a:spAutoFit/>
          </a:bodyPr>
          <a:lstStyle/>
          <a:p>
            <a:pPr lvl="1" algn="justLow" fontAlgn="base">
              <a:spcBef>
                <a:spcPct val="0"/>
              </a:spcBef>
              <a:spcAft>
                <a:spcPct val="0"/>
              </a:spcAft>
              <a:buClr>
                <a:srgbClr val="0066CC"/>
              </a:buClr>
              <a:tabLst>
                <a:tab pos="773113" algn="l"/>
              </a:tabLst>
            </a:pPr>
            <a:r>
              <a:rPr lang="fr-FR" sz="1600" b="1" dirty="0" smtClean="0">
                <a:solidFill>
                  <a:srgbClr val="00B050"/>
                </a:solidFill>
              </a:rPr>
              <a:t>2- IMPORTANCE DE LA CREATIVITE DANS LE PROCESSUS D’INNOVATION</a:t>
            </a:r>
          </a:p>
        </p:txBody>
      </p:sp>
      <p:pic>
        <p:nvPicPr>
          <p:cNvPr id="7" name="Image 6"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47725" y="1075194"/>
            <a:ext cx="10553700" cy="526297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buFont typeface="Wingdings" pitchFamily="2" charset="2"/>
              <a:buChar char="v"/>
            </a:pPr>
            <a:r>
              <a:rPr lang="fr-FR" sz="2000" b="1" dirty="0" smtClean="0">
                <a:solidFill>
                  <a:schemeClr val="dk1"/>
                </a:solidFill>
                <a:latin typeface="Arial" pitchFamily="34" charset="0"/>
                <a:cs typeface="Arial" pitchFamily="34" charset="0"/>
              </a:rPr>
              <a:t> Différenciation </a:t>
            </a:r>
            <a:r>
              <a:rPr lang="fr-FR" sz="2000" dirty="0" smtClean="0">
                <a:solidFill>
                  <a:schemeClr val="dk1"/>
                </a:solidFill>
                <a:latin typeface="Arial" pitchFamily="34" charset="0"/>
                <a:cs typeface="Arial" pitchFamily="34" charset="0"/>
              </a:rPr>
              <a:t>: Dans un marché saturé, la créativité permet aux entreprises de se démarquer. Des idées innovantes peuvent conduire à des produits ou</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services uniques qui attirent l'attention des consommateurs et créent une valeur ajoutée.</a:t>
            </a:r>
          </a:p>
          <a:p>
            <a:pPr algn="just"/>
            <a:endParaRPr lang="fr-FR" sz="800" dirty="0" smtClean="0">
              <a:solidFill>
                <a:schemeClr val="dk1"/>
              </a:solidFill>
              <a:latin typeface="Arial" pitchFamily="34" charset="0"/>
              <a:cs typeface="Arial" pitchFamily="34" charset="0"/>
            </a:endParaRPr>
          </a:p>
          <a:p>
            <a:pPr algn="just">
              <a:buFont typeface="Wingdings" pitchFamily="2" charset="2"/>
              <a:buChar char="v"/>
            </a:pPr>
            <a:r>
              <a:rPr lang="fr-FR" sz="2000" b="1" dirty="0" smtClean="0">
                <a:solidFill>
                  <a:schemeClr val="dk1"/>
                </a:solidFill>
                <a:latin typeface="Arial" pitchFamily="34" charset="0"/>
                <a:cs typeface="Arial" pitchFamily="34" charset="0"/>
              </a:rPr>
              <a:t> Culture d'innovation </a:t>
            </a:r>
            <a:r>
              <a:rPr lang="fr-FR" sz="2000" dirty="0" smtClean="0">
                <a:solidFill>
                  <a:schemeClr val="dk1"/>
                </a:solidFill>
                <a:latin typeface="Arial" pitchFamily="34" charset="0"/>
                <a:cs typeface="Arial" pitchFamily="34" charset="0"/>
              </a:rPr>
              <a:t>: Encourager la créativité au sein d'une organisation contribue à établir une culture d'innovation. Cela incite les employés à partager</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leurs idées, à collaborer et à prendre des risques, ce qui peut conduire à des avancées significatives.</a:t>
            </a:r>
          </a:p>
          <a:p>
            <a:pPr algn="just"/>
            <a:endParaRPr lang="fr-FR" sz="800" b="1" dirty="0" smtClean="0">
              <a:solidFill>
                <a:schemeClr val="dk1"/>
              </a:solidFill>
              <a:latin typeface="Arial" pitchFamily="34" charset="0"/>
              <a:cs typeface="Arial" pitchFamily="34" charset="0"/>
            </a:endParaRPr>
          </a:p>
          <a:p>
            <a:pPr algn="just">
              <a:buFont typeface="Wingdings" pitchFamily="2" charset="2"/>
              <a:buChar char="v"/>
            </a:pPr>
            <a:r>
              <a:rPr lang="fr-FR" sz="2000" b="1" dirty="0" smtClean="0">
                <a:solidFill>
                  <a:schemeClr val="dk1"/>
                </a:solidFill>
                <a:latin typeface="Arial" pitchFamily="34" charset="0"/>
                <a:cs typeface="Arial" pitchFamily="34" charset="0"/>
              </a:rPr>
              <a:t> Engagement des employés </a:t>
            </a:r>
            <a:r>
              <a:rPr lang="fr-FR" sz="2000" dirty="0" smtClean="0">
                <a:solidFill>
                  <a:schemeClr val="dk1"/>
                </a:solidFill>
                <a:latin typeface="Arial" pitchFamily="34" charset="0"/>
                <a:cs typeface="Arial" pitchFamily="34" charset="0"/>
              </a:rPr>
              <a:t>: Un environnement créatif peut également augmenter l'engagement des employés. Lorsque les employés se sentent libres d'exprimer</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leurs idées et de contribuer au processus d'innovation, ils sont souvent plus motivés et investis dans leur travail.</a:t>
            </a:r>
          </a:p>
          <a:p>
            <a:pPr algn="ctr"/>
            <a:r>
              <a:rPr lang="fr-FR" sz="2000" b="1" dirty="0" smtClean="0">
                <a:solidFill>
                  <a:schemeClr val="dk1"/>
                </a:solidFill>
                <a:latin typeface="Arial" pitchFamily="34" charset="0"/>
                <a:cs typeface="Arial" pitchFamily="34" charset="0"/>
              </a:rPr>
              <a:t>En résumé, la créativité est un élément clé du processus d'innovation, car elle permet de générer des idées nouvelles, de résoudre des problèmes, de s'adapter</a:t>
            </a:r>
            <a:br>
              <a:rPr lang="fr-FR" sz="2000" b="1" dirty="0" smtClean="0">
                <a:solidFill>
                  <a:schemeClr val="dk1"/>
                </a:solidFill>
                <a:latin typeface="Arial" pitchFamily="34" charset="0"/>
                <a:cs typeface="Arial" pitchFamily="34" charset="0"/>
              </a:rPr>
            </a:br>
            <a:r>
              <a:rPr lang="fr-FR" sz="2000" b="1" dirty="0" smtClean="0">
                <a:solidFill>
                  <a:schemeClr val="dk1"/>
                </a:solidFill>
                <a:latin typeface="Arial" pitchFamily="34" charset="0"/>
                <a:cs typeface="Arial" pitchFamily="34" charset="0"/>
              </a:rPr>
              <a:t>aux changements et de se différencier sur le marché. Encourager la créativité au sein des équipes et des organisations est donc crucial pour réussir dans un </a:t>
            </a:r>
            <a:br>
              <a:rPr lang="fr-FR" sz="2000" b="1" dirty="0" smtClean="0">
                <a:solidFill>
                  <a:schemeClr val="dk1"/>
                </a:solidFill>
                <a:latin typeface="Arial" pitchFamily="34" charset="0"/>
                <a:cs typeface="Arial" pitchFamily="34" charset="0"/>
              </a:rPr>
            </a:br>
            <a:r>
              <a:rPr lang="fr-FR" sz="2000" b="1" dirty="0" smtClean="0">
                <a:solidFill>
                  <a:schemeClr val="dk1"/>
                </a:solidFill>
                <a:latin typeface="Arial" pitchFamily="34" charset="0"/>
                <a:cs typeface="Arial" pitchFamily="34" charset="0"/>
              </a:rPr>
              <a:t>environnement concurrentiel.</a:t>
            </a:r>
          </a:p>
        </p:txBody>
      </p:sp>
      <p:pic>
        <p:nvPicPr>
          <p:cNvPr id="5" name="Image 4"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449161" y="2793750"/>
            <a:ext cx="8629650" cy="255454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endParaRPr lang="fr-FR" sz="2000" dirty="0" smtClean="0">
              <a:solidFill>
                <a:schemeClr val="dk1"/>
              </a:solidFill>
              <a:latin typeface="Arial" pitchFamily="34" charset="0"/>
              <a:cs typeface="Arial" pitchFamily="34" charset="0"/>
            </a:endParaRPr>
          </a:p>
          <a:p>
            <a:pPr algn="just"/>
            <a:endParaRPr lang="fr-FR" sz="2000" dirty="0" smtClean="0">
              <a:latin typeface="Arial" pitchFamily="34" charset="0"/>
              <a:cs typeface="Arial" pitchFamily="34" charset="0"/>
            </a:endParaRPr>
          </a:p>
          <a:p>
            <a:pPr algn="just"/>
            <a:r>
              <a:rPr lang="fr-FR" sz="2000" dirty="0" smtClean="0">
                <a:solidFill>
                  <a:schemeClr val="dk1"/>
                </a:solidFill>
                <a:latin typeface="Arial" pitchFamily="34" charset="0"/>
                <a:cs typeface="Arial" pitchFamily="34" charset="0"/>
              </a:rPr>
              <a:t>La psychologie de la créativité est un domaine d'étude qui explore les processus mentaux, les traits de personnalité et les conditions environnementales qui favorisent ou entravent la créativité. Voici un aperçu des facteurs individuels et environnementaux qui influencent la créativité :</a:t>
            </a:r>
          </a:p>
          <a:p>
            <a:pPr algn="just"/>
            <a:endParaRPr lang="fr-FR" sz="2000" dirty="0" smtClean="0">
              <a:latin typeface="Arial" pitchFamily="34" charset="0"/>
              <a:cs typeface="Arial" pitchFamily="34" charset="0"/>
            </a:endParaRPr>
          </a:p>
          <a:p>
            <a:pPr algn="just"/>
            <a:endParaRPr lang="fr-FR" sz="2000" dirty="0" smtClean="0">
              <a:solidFill>
                <a:schemeClr val="dk1"/>
              </a:solidFill>
              <a:latin typeface="Arial" pitchFamily="34" charset="0"/>
              <a:cs typeface="Arial" pitchFamily="34" charset="0"/>
            </a:endParaRPr>
          </a:p>
        </p:txBody>
      </p:sp>
      <p:sp>
        <p:nvSpPr>
          <p:cNvPr id="5" name="Rectangle 4"/>
          <p:cNvSpPr/>
          <p:nvPr/>
        </p:nvSpPr>
        <p:spPr>
          <a:xfrm>
            <a:off x="2337137" y="1758434"/>
            <a:ext cx="3895234" cy="338554"/>
          </a:xfrm>
          <a:prstGeom prst="rect">
            <a:avLst/>
          </a:prstGeom>
        </p:spPr>
        <p:txBody>
          <a:bodyPr wrap="none">
            <a:spAutoFit/>
          </a:bodyPr>
          <a:lstStyle/>
          <a:p>
            <a:pPr lvl="1" algn="justLow" fontAlgn="base">
              <a:spcBef>
                <a:spcPct val="0"/>
              </a:spcBef>
              <a:spcAft>
                <a:spcPct val="0"/>
              </a:spcAft>
              <a:buClr>
                <a:srgbClr val="0066CC"/>
              </a:buClr>
              <a:tabLst>
                <a:tab pos="773113" algn="l"/>
              </a:tabLst>
            </a:pPr>
            <a:r>
              <a:rPr lang="fr-FR" sz="1600" b="1" dirty="0" smtClean="0">
                <a:solidFill>
                  <a:srgbClr val="00B050"/>
                </a:solidFill>
              </a:rPr>
              <a:t>3-  LA PSYCHOLOGIE DE LA CREATIVITE</a:t>
            </a:r>
          </a:p>
        </p:txBody>
      </p:sp>
      <p:pic>
        <p:nvPicPr>
          <p:cNvPr id="7" name="Image 6"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42072" y="320159"/>
            <a:ext cx="5383205" cy="400110"/>
          </a:xfrm>
          <a:prstGeom prst="rect">
            <a:avLst/>
          </a:prstGeom>
        </p:spPr>
        <p:txBody>
          <a:bodyPr wrap="none">
            <a:spAutoFit/>
          </a:bodyPr>
          <a:lstStyle/>
          <a:p>
            <a:r>
              <a:rPr lang="fr-FR" sz="2000" b="1" dirty="0" smtClean="0">
                <a:solidFill>
                  <a:schemeClr val="accent4"/>
                </a:solidFill>
                <a:latin typeface="Arial" pitchFamily="34" charset="0"/>
                <a:cs typeface="Arial" pitchFamily="34" charset="0"/>
              </a:rPr>
              <a:t> Facteurs individuels et environnementaux</a:t>
            </a:r>
            <a:endParaRPr lang="fr-FR" sz="2000" b="1" dirty="0">
              <a:solidFill>
                <a:schemeClr val="accent4"/>
              </a:solidFill>
            </a:endParaRPr>
          </a:p>
        </p:txBody>
      </p:sp>
      <p:sp>
        <p:nvSpPr>
          <p:cNvPr id="3" name="Rectangle 2"/>
          <p:cNvSpPr/>
          <p:nvPr/>
        </p:nvSpPr>
        <p:spPr>
          <a:xfrm>
            <a:off x="2194622" y="796409"/>
            <a:ext cx="2685351" cy="369332"/>
          </a:xfrm>
          <a:prstGeom prst="rect">
            <a:avLst/>
          </a:prstGeom>
        </p:spPr>
        <p:txBody>
          <a:bodyPr wrap="none">
            <a:spAutoFit/>
          </a:bodyPr>
          <a:lstStyle/>
          <a:p>
            <a:pPr>
              <a:buFont typeface="Wingdings" pitchFamily="2" charset="2"/>
              <a:buChar char="q"/>
            </a:pPr>
            <a:r>
              <a:rPr lang="fr-FR" b="1" dirty="0" smtClean="0">
                <a:solidFill>
                  <a:schemeClr val="accent6">
                    <a:lumMod val="75000"/>
                  </a:schemeClr>
                </a:solidFill>
                <a:latin typeface="Arial" pitchFamily="34" charset="0"/>
                <a:cs typeface="Arial" pitchFamily="34" charset="0"/>
              </a:rPr>
              <a:t> Facteurs individuels</a:t>
            </a:r>
            <a:endParaRPr lang="fr-FR" b="1" dirty="0">
              <a:solidFill>
                <a:schemeClr val="accent6">
                  <a:lumMod val="75000"/>
                </a:schemeClr>
              </a:solidFill>
              <a:latin typeface="Arial" pitchFamily="34" charset="0"/>
              <a:cs typeface="Arial" pitchFamily="34" charset="0"/>
            </a:endParaRPr>
          </a:p>
        </p:txBody>
      </p:sp>
      <p:graphicFrame>
        <p:nvGraphicFramePr>
          <p:cNvPr id="4" name="Diagramme 3"/>
          <p:cNvGraphicFramePr/>
          <p:nvPr/>
        </p:nvGraphicFramePr>
        <p:xfrm>
          <a:off x="733425" y="2057400"/>
          <a:ext cx="9426575" cy="40809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p:cNvSpPr/>
          <p:nvPr/>
        </p:nvSpPr>
        <p:spPr>
          <a:xfrm>
            <a:off x="3869339" y="1310759"/>
            <a:ext cx="3063916" cy="400110"/>
          </a:xfrm>
          <a:prstGeom prst="rect">
            <a:avLst/>
          </a:prstGeom>
        </p:spPr>
        <p:txBody>
          <a:bodyPr wrap="none">
            <a:spAutoFit/>
          </a:bodyPr>
          <a:lstStyle/>
          <a:p>
            <a:pPr>
              <a:buFont typeface="Arial" pitchFamily="34" charset="0"/>
              <a:buChar char="•"/>
            </a:pPr>
            <a:r>
              <a:rPr lang="fr-FR" sz="2000" dirty="0" smtClean="0">
                <a:solidFill>
                  <a:schemeClr val="dk1"/>
                </a:solidFill>
                <a:latin typeface="Arial" pitchFamily="34" charset="0"/>
                <a:cs typeface="Arial" pitchFamily="34" charset="0"/>
              </a:rPr>
              <a:t> </a:t>
            </a:r>
            <a:r>
              <a:rPr lang="fr-FR" sz="2000" b="1" dirty="0" smtClean="0">
                <a:solidFill>
                  <a:schemeClr val="dk1"/>
                </a:solidFill>
                <a:latin typeface="Arial" pitchFamily="34" charset="0"/>
                <a:cs typeface="Arial" pitchFamily="34" charset="0"/>
              </a:rPr>
              <a:t>Traits de personnalité </a:t>
            </a:r>
          </a:p>
        </p:txBody>
      </p:sp>
      <p:pic>
        <p:nvPicPr>
          <p:cNvPr id="7" name="Image 6" descr="C:\Users\ma.mejri\Desktop\téléchargement (1).png"/>
          <p:cNvPicPr/>
          <p:nvPr/>
        </p:nvPicPr>
        <p:blipFill>
          <a:blip r:embed="rId6"/>
          <a:srcRect/>
          <a:stretch>
            <a:fillRect/>
          </a:stretch>
        </p:blipFill>
        <p:spPr bwMode="auto">
          <a:xfrm>
            <a:off x="570593" y="983797"/>
            <a:ext cx="1127578" cy="435429"/>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ChangeArrowheads="1"/>
          </p:cNvSpPr>
          <p:nvPr/>
        </p:nvSpPr>
        <p:spPr bwMode="auto">
          <a:xfrm>
            <a:off x="261256" y="1579632"/>
            <a:ext cx="11296651" cy="4785926"/>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lang="fr-FR" sz="2000" dirty="0" smtClean="0">
                <a:solidFill>
                  <a:schemeClr val="dk1"/>
                </a:solidFill>
                <a:latin typeface="Arial" pitchFamily="34" charset="0"/>
                <a:cs typeface="Arial" pitchFamily="34" charset="0"/>
              </a:rPr>
              <a:t>La cognition fait référence à l'ensemble des processus mentaux qui permettent d'acquérir, de traiter et de stocker des informations. Cela inclut des fonctions telles que :</a:t>
            </a:r>
          </a:p>
          <a:p>
            <a:pPr marL="0" marR="0" lvl="0" indent="0" defTabSz="914400" rtl="0" eaLnBrk="1" fontAlgn="base" latinLnBrk="0" hangingPunct="1">
              <a:lnSpc>
                <a:spcPct val="100000"/>
              </a:lnSpc>
              <a:spcBef>
                <a:spcPct val="0"/>
              </a:spcBef>
              <a:spcAft>
                <a:spcPct val="0"/>
              </a:spcAft>
              <a:buClrTx/>
              <a:buSzTx/>
              <a:buFontTx/>
              <a:buNone/>
              <a:tabLst/>
            </a:pPr>
            <a:r>
              <a:rPr lang="fr-FR" sz="800" dirty="0" smtClean="0">
                <a:solidFill>
                  <a:schemeClr val="dk1"/>
                </a:solidFill>
                <a:latin typeface="Arial" pitchFamily="34" charset="0"/>
                <a:cs typeface="Arial" pitchFamily="34" charset="0"/>
              </a:rPr>
              <a:t/>
            </a:r>
            <a:br>
              <a:rPr lang="fr-FR" sz="8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 Mémoire : La capacité de stocker et de rappeler des informations.</a:t>
            </a:r>
          </a:p>
          <a:p>
            <a:pPr marL="0" marR="0" lvl="0" indent="0" defTabSz="914400" rtl="0" eaLnBrk="1" fontAlgn="base" latinLnBrk="0" hangingPunct="1">
              <a:lnSpc>
                <a:spcPct val="100000"/>
              </a:lnSpc>
              <a:spcBef>
                <a:spcPct val="0"/>
              </a:spcBef>
              <a:spcAft>
                <a:spcPct val="0"/>
              </a:spcAft>
              <a:buClrTx/>
              <a:buSzTx/>
              <a:buFontTx/>
              <a:buChar char="-"/>
              <a:tabLst/>
            </a:pPr>
            <a:r>
              <a:rPr lang="fr-FR" sz="2000" dirty="0" smtClean="0">
                <a:solidFill>
                  <a:schemeClr val="dk1"/>
                </a:solidFill>
                <a:latin typeface="Arial" pitchFamily="34" charset="0"/>
                <a:cs typeface="Arial" pitchFamily="34" charset="0"/>
              </a:rPr>
              <a:t> Raisonnement : La capacité de tirer des conclusions à partir d'informations.</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 Résolution de problèmes : La capacité de trouver des solutions à des défis ou des questions. </a:t>
            </a:r>
          </a:p>
          <a:p>
            <a:pPr marL="0" marR="0" lvl="0" indent="0" defTabSz="914400" rtl="0" eaLnBrk="1" fontAlgn="base" latinLnBrk="0" hangingPunct="1">
              <a:lnSpc>
                <a:spcPct val="100000"/>
              </a:lnSpc>
              <a:spcBef>
                <a:spcPct val="0"/>
              </a:spcBef>
              <a:spcAft>
                <a:spcPct val="0"/>
              </a:spcAft>
              <a:buClrTx/>
              <a:buSzTx/>
              <a:tabLst/>
            </a:pPr>
            <a:endParaRPr lang="fr-FR" sz="900" dirty="0" smtClean="0">
              <a:solidFill>
                <a:schemeClr val="dk1"/>
              </a:solidFill>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fr-FR" sz="2000" b="1" dirty="0" smtClean="0">
                <a:solidFill>
                  <a:schemeClr val="dk1"/>
                </a:solidFill>
                <a:latin typeface="Arial" pitchFamily="34" charset="0"/>
                <a:cs typeface="Arial" pitchFamily="34" charset="0"/>
              </a:rPr>
              <a:t>## Lien entre cognition et créativité</a:t>
            </a:r>
          </a:p>
          <a:p>
            <a:pPr marL="0" marR="0" lvl="0" indent="0" algn="just" defTabSz="914400" rtl="0" eaLnBrk="0" fontAlgn="base" latinLnBrk="0" hangingPunct="0">
              <a:lnSpc>
                <a:spcPct val="100000"/>
              </a:lnSpc>
              <a:spcBef>
                <a:spcPct val="0"/>
              </a:spcBef>
              <a:spcAft>
                <a:spcPct val="0"/>
              </a:spcAft>
              <a:buClrTx/>
              <a:buSzTx/>
              <a:buFontTx/>
              <a:buNone/>
              <a:tabLst/>
            </a:pPr>
            <a:r>
              <a:rPr lang="fr-FR" sz="2000" dirty="0" smtClean="0">
                <a:solidFill>
                  <a:schemeClr val="dk1"/>
                </a:solidFill>
                <a:latin typeface="Arial" pitchFamily="34" charset="0"/>
                <a:cs typeface="Arial" pitchFamily="34" charset="0"/>
              </a:rPr>
              <a:t>La créativité repose sur des processus cognitifs. Par exemple :</a:t>
            </a:r>
          </a:p>
          <a:p>
            <a:pPr marL="0" marR="0" lvl="0" indent="0" defTabSz="914400" rtl="0" eaLnBrk="0" fontAlgn="base" latinLnBrk="0" hangingPunct="0">
              <a:lnSpc>
                <a:spcPct val="100000"/>
              </a:lnSpc>
              <a:spcBef>
                <a:spcPct val="0"/>
              </a:spcBef>
              <a:spcAft>
                <a:spcPct val="0"/>
              </a:spcAft>
              <a:buClrTx/>
              <a:buSzTx/>
              <a:buFontTx/>
              <a:buNone/>
              <a:tabLst/>
            </a:pPr>
            <a:endParaRPr lang="fr-FR" sz="800" dirty="0" smtClean="0">
              <a:solidFill>
                <a:schemeClr val="dk1"/>
              </a:solidFill>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lang="fr-FR" sz="2000" dirty="0" smtClean="0">
                <a:solidFill>
                  <a:schemeClr val="dk1"/>
                </a:solidFill>
                <a:latin typeface="Arial" pitchFamily="34" charset="0"/>
                <a:cs typeface="Arial" pitchFamily="34" charset="0"/>
              </a:rPr>
              <a:t> Associations : La créativité implique souvent la capacité à établir des connexions entre des idées apparemment non liées, ce qui nécessite une pensée divergente.</a:t>
            </a:r>
          </a:p>
          <a:p>
            <a:pPr marL="0" marR="0" lvl="0" indent="0" algn="just" defTabSz="914400" rtl="0" eaLnBrk="0" fontAlgn="base" latinLnBrk="0" hangingPunct="0">
              <a:lnSpc>
                <a:spcPct val="100000"/>
              </a:lnSpc>
              <a:spcBef>
                <a:spcPct val="0"/>
              </a:spcBef>
              <a:spcAft>
                <a:spcPct val="0"/>
              </a:spcAft>
              <a:buClrTx/>
              <a:buSzTx/>
              <a:buFontTx/>
              <a:buChar char="-"/>
              <a:tabLst/>
            </a:pPr>
            <a:r>
              <a:rPr lang="fr-FR" sz="2000" dirty="0" smtClean="0">
                <a:solidFill>
                  <a:schemeClr val="dk1"/>
                </a:solidFill>
                <a:latin typeface="Arial" pitchFamily="34" charset="0"/>
                <a:cs typeface="Arial" pitchFamily="34" charset="0"/>
              </a:rPr>
              <a:t> Résolution de problèmes : La créativité est essentielle dans la résolution de problèmes complexes, où des solutions innovantes sont nécessaires.</a:t>
            </a:r>
          </a:p>
          <a:p>
            <a:pPr marL="0" marR="0" lvl="0" indent="0" algn="l" defTabSz="914400" rtl="0" eaLnBrk="0" fontAlgn="base" latinLnBrk="0" hangingPunct="0">
              <a:lnSpc>
                <a:spcPct val="100000"/>
              </a:lnSpc>
              <a:spcBef>
                <a:spcPct val="0"/>
              </a:spcBef>
              <a:spcAft>
                <a:spcPct val="0"/>
              </a:spcAft>
              <a:buClrTx/>
              <a:buSzTx/>
              <a:buFontTx/>
              <a:buChar char="-"/>
              <a:tabLst/>
            </a:pPr>
            <a:r>
              <a:rPr lang="fr-FR" sz="2000" dirty="0" smtClean="0">
                <a:solidFill>
                  <a:schemeClr val="dk1"/>
                </a:solidFill>
                <a:latin typeface="Arial" pitchFamily="34" charset="0"/>
                <a:cs typeface="Arial" pitchFamily="34" charset="0"/>
              </a:rPr>
              <a:t> Pensée critique** : </a:t>
            </a:r>
            <a:r>
              <a:rPr lang="fr-FR" sz="2000" dirty="0" smtClean="0">
                <a:latin typeface="Arial" pitchFamily="34" charset="0"/>
                <a:cs typeface="Arial" pitchFamily="34" charset="0"/>
              </a:rPr>
              <a:t>A</a:t>
            </a:r>
            <a:r>
              <a:rPr lang="fr-FR" sz="2000" dirty="0" smtClean="0">
                <a:solidFill>
                  <a:schemeClr val="dk1"/>
                </a:solidFill>
                <a:latin typeface="Arial" pitchFamily="34" charset="0"/>
                <a:cs typeface="Arial" pitchFamily="34" charset="0"/>
              </a:rPr>
              <a:t>ffiner des idées créatives nécessite des compétences en pensée critique.</a:t>
            </a:r>
          </a:p>
          <a:p>
            <a:pPr marL="0" marR="0" lvl="0" indent="0" algn="l" defTabSz="914400" rtl="0" eaLnBrk="0" fontAlgn="base" latinLnBrk="0" hangingPunct="0">
              <a:lnSpc>
                <a:spcPct val="100000"/>
              </a:lnSpc>
              <a:spcBef>
                <a:spcPct val="0"/>
              </a:spcBef>
              <a:spcAft>
                <a:spcPct val="0"/>
              </a:spcAft>
              <a:buClrTx/>
              <a:buSzTx/>
              <a:tabLst/>
            </a:pPr>
            <a:r>
              <a:rPr lang="fr-FR" sz="800" dirty="0" smtClean="0">
                <a:solidFill>
                  <a:schemeClr val="dk1"/>
                </a:solidFill>
                <a:latin typeface="Arial" pitchFamily="34" charset="0"/>
                <a:cs typeface="Arial" pitchFamily="34" charset="0"/>
              </a:rPr>
              <a:t/>
            </a:r>
            <a:br>
              <a:rPr lang="fr-FR" sz="800" dirty="0" smtClean="0">
                <a:solidFill>
                  <a:schemeClr val="dk1"/>
                </a:solidFill>
                <a:latin typeface="Arial" pitchFamily="34" charset="0"/>
                <a:cs typeface="Arial" pitchFamily="34" charset="0"/>
              </a:rPr>
            </a:br>
            <a:r>
              <a:rPr lang="fr-FR" sz="1600" b="1" dirty="0" smtClean="0">
                <a:solidFill>
                  <a:schemeClr val="dk1"/>
                </a:solidFill>
                <a:latin typeface="Arial" pitchFamily="34" charset="0"/>
                <a:cs typeface="Arial" pitchFamily="34" charset="0"/>
              </a:rPr>
              <a:t>En résumé, la cognition et la créativité interagissent de manière complexe, où des processus cognitifs soutiennent et nourrissent la créativité, permettant ainsi l'émergence d'idées et de solutions novatrices</a:t>
            </a:r>
          </a:p>
        </p:txBody>
      </p:sp>
      <p:sp>
        <p:nvSpPr>
          <p:cNvPr id="3" name="Rectangle 2"/>
          <p:cNvSpPr/>
          <p:nvPr/>
        </p:nvSpPr>
        <p:spPr>
          <a:xfrm>
            <a:off x="4927975" y="1098488"/>
            <a:ext cx="1542410" cy="400110"/>
          </a:xfrm>
          <a:prstGeom prst="rect">
            <a:avLst/>
          </a:prstGeom>
        </p:spPr>
        <p:txBody>
          <a:bodyPr wrap="none">
            <a:spAutoFit/>
          </a:bodyPr>
          <a:lstStyle/>
          <a:p>
            <a:pPr>
              <a:buFont typeface="Arial" pitchFamily="34" charset="0"/>
              <a:buChar char="•"/>
            </a:pPr>
            <a:r>
              <a:rPr lang="fr-FR" sz="2000" b="1" dirty="0" smtClean="0">
                <a:solidFill>
                  <a:schemeClr val="dk1"/>
                </a:solidFill>
                <a:latin typeface="Arial" pitchFamily="34" charset="0"/>
                <a:cs typeface="Arial" pitchFamily="34" charset="0"/>
              </a:rPr>
              <a:t> Cognition</a:t>
            </a:r>
          </a:p>
        </p:txBody>
      </p:sp>
      <p:pic>
        <p:nvPicPr>
          <p:cNvPr id="5" name="Image 4" descr="C:\Users\ma.mejri\Desktop\téléchargement (1).png"/>
          <p:cNvPicPr/>
          <p:nvPr/>
        </p:nvPicPr>
        <p:blipFill>
          <a:blip r:embed="rId2"/>
          <a:srcRect/>
          <a:stretch>
            <a:fillRect/>
          </a:stretch>
        </p:blipFill>
        <p:spPr bwMode="auto">
          <a:xfrm>
            <a:off x="513443" y="783772"/>
            <a:ext cx="1127578" cy="435429"/>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7224" y="4383465"/>
            <a:ext cx="10696576" cy="129266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dirty="0" smtClean="0"/>
              <a:t/>
            </a:r>
            <a:br>
              <a:rPr lang="fr-FR" dirty="0" smtClean="0"/>
            </a:br>
            <a:r>
              <a:rPr lang="fr-FR" sz="2000" dirty="0" smtClean="0">
                <a:solidFill>
                  <a:schemeClr val="dk1"/>
                </a:solidFill>
                <a:latin typeface="Arial" pitchFamily="34" charset="0"/>
                <a:cs typeface="Arial" pitchFamily="34" charset="0"/>
              </a:rPr>
              <a:t>  En somme, les émotions et la créativité sont intimement liées. Cultiver une conscience émotionnelle et apprendre à gérer ses émotions peut enrichir le processus créatif et mener à des œuvres plus profondes et significatives</a:t>
            </a:r>
          </a:p>
        </p:txBody>
      </p:sp>
      <p:sp>
        <p:nvSpPr>
          <p:cNvPr id="3" name="Rectangle 2"/>
          <p:cNvSpPr/>
          <p:nvPr/>
        </p:nvSpPr>
        <p:spPr>
          <a:xfrm>
            <a:off x="5393339" y="548759"/>
            <a:ext cx="1513556" cy="400110"/>
          </a:xfrm>
          <a:prstGeom prst="rect">
            <a:avLst/>
          </a:prstGeom>
        </p:spPr>
        <p:txBody>
          <a:bodyPr wrap="none">
            <a:spAutoFit/>
          </a:bodyPr>
          <a:lstStyle/>
          <a:p>
            <a:pPr>
              <a:buFont typeface="Arial" pitchFamily="34" charset="0"/>
              <a:buChar char="•"/>
            </a:pPr>
            <a:r>
              <a:rPr lang="fr-FR" sz="2000" b="1" dirty="0" smtClean="0">
                <a:solidFill>
                  <a:schemeClr val="dk1"/>
                </a:solidFill>
                <a:latin typeface="Arial" pitchFamily="34" charset="0"/>
                <a:cs typeface="Arial" pitchFamily="34" charset="0"/>
              </a:rPr>
              <a:t> Emotions</a:t>
            </a:r>
          </a:p>
        </p:txBody>
      </p:sp>
      <p:sp>
        <p:nvSpPr>
          <p:cNvPr id="5" name="Rectangle avec flèche vers la droite 4"/>
          <p:cNvSpPr/>
          <p:nvPr/>
        </p:nvSpPr>
        <p:spPr>
          <a:xfrm>
            <a:off x="1266825" y="1453634"/>
            <a:ext cx="3857626" cy="2477601"/>
          </a:xfrm>
          <a:prstGeom prst="rightArrowCallou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fr-FR" sz="1700" dirty="0" smtClean="0">
                <a:solidFill>
                  <a:schemeClr val="dk1"/>
                </a:solidFill>
                <a:latin typeface="Arial" pitchFamily="34" charset="0"/>
                <a:cs typeface="Arial" pitchFamily="34" charset="0"/>
              </a:rPr>
              <a:t>Émotions positives</a:t>
            </a:r>
          </a:p>
          <a:p>
            <a:endParaRPr lang="fr-FR" sz="1700" dirty="0" smtClean="0">
              <a:solidFill>
                <a:schemeClr val="dk1"/>
              </a:solidFill>
              <a:latin typeface="Arial" pitchFamily="34" charset="0"/>
              <a:cs typeface="Arial" pitchFamily="34" charset="0"/>
            </a:endParaRPr>
          </a:p>
          <a:p>
            <a:pPr algn="just"/>
            <a:r>
              <a:rPr lang="fr-FR" sz="1700" dirty="0" smtClean="0">
                <a:solidFill>
                  <a:schemeClr val="dk1"/>
                </a:solidFill>
                <a:latin typeface="Arial" pitchFamily="34" charset="0"/>
                <a:cs typeface="Arial" pitchFamily="34" charset="0"/>
              </a:rPr>
              <a:t>Des états émotionnels positifs peuvent stimuler la créativité en favorisant une pensée plus expansive.</a:t>
            </a:r>
            <a:r>
              <a:rPr lang="fr-FR" sz="1700" dirty="0" smtClean="0"/>
              <a:t> </a:t>
            </a:r>
          </a:p>
          <a:p>
            <a:endParaRPr lang="fr-FR" dirty="0" smtClean="0"/>
          </a:p>
          <a:p>
            <a:endParaRPr lang="fr-FR" dirty="0"/>
          </a:p>
        </p:txBody>
      </p:sp>
      <p:sp>
        <p:nvSpPr>
          <p:cNvPr id="6" name="Ellipse 5"/>
          <p:cNvSpPr/>
          <p:nvPr/>
        </p:nvSpPr>
        <p:spPr>
          <a:xfrm>
            <a:off x="6191250" y="1396484"/>
            <a:ext cx="4733926" cy="2661672"/>
          </a:xfrm>
          <a:prstGeom prst="ellipse">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fr-FR" sz="1600" b="1" dirty="0" smtClean="0">
                <a:solidFill>
                  <a:schemeClr val="dk1"/>
                </a:solidFill>
                <a:latin typeface="Arial" pitchFamily="34" charset="0"/>
                <a:cs typeface="Arial" pitchFamily="34" charset="0"/>
              </a:rPr>
              <a:t>Gestion des émotions</a:t>
            </a:r>
          </a:p>
          <a:p>
            <a:pPr algn="ctr"/>
            <a:endParaRPr lang="fr-FR" sz="1600" dirty="0" smtClean="0">
              <a:solidFill>
                <a:schemeClr val="dk1"/>
              </a:solidFill>
              <a:latin typeface="Arial" pitchFamily="34" charset="0"/>
              <a:cs typeface="Arial" pitchFamily="34" charset="0"/>
            </a:endParaRPr>
          </a:p>
          <a:p>
            <a:pPr algn="just"/>
            <a:r>
              <a:rPr lang="fr-FR" sz="1700" dirty="0" smtClean="0">
                <a:solidFill>
                  <a:schemeClr val="dk1"/>
                </a:solidFill>
                <a:latin typeface="Arial" pitchFamily="34" charset="0"/>
                <a:cs typeface="Arial" pitchFamily="34" charset="0"/>
              </a:rPr>
              <a:t>La capacité à gérer le stress et l'anxiété peut également influencer la créativité, car un environnement émotionnel sain favorise l'expression créative.</a:t>
            </a:r>
            <a:endParaRPr lang="fr-FR" sz="1700" dirty="0"/>
          </a:p>
        </p:txBody>
      </p:sp>
      <p:pic>
        <p:nvPicPr>
          <p:cNvPr id="8" name="Image 7" descr="C:\Users\ma.mejri\Desktop\téléchargement (1).png"/>
          <p:cNvPicPr/>
          <p:nvPr/>
        </p:nvPicPr>
        <p:blipFill>
          <a:blip r:embed="rId2"/>
          <a:srcRect/>
          <a:stretch>
            <a:fillRect/>
          </a:stretch>
        </p:blipFill>
        <p:spPr bwMode="auto">
          <a:xfrm>
            <a:off x="503918" y="717097"/>
            <a:ext cx="1127578" cy="435429"/>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11793" y="818181"/>
            <a:ext cx="3531736" cy="369332"/>
          </a:xfrm>
          <a:prstGeom prst="rect">
            <a:avLst/>
          </a:prstGeom>
        </p:spPr>
        <p:txBody>
          <a:bodyPr wrap="none">
            <a:spAutoFit/>
          </a:bodyPr>
          <a:lstStyle/>
          <a:p>
            <a:pPr>
              <a:buFont typeface="Wingdings" pitchFamily="2" charset="2"/>
              <a:buChar char="q"/>
            </a:pPr>
            <a:r>
              <a:rPr lang="fr-FR" b="1" dirty="0" smtClean="0">
                <a:solidFill>
                  <a:schemeClr val="accent6">
                    <a:lumMod val="75000"/>
                  </a:schemeClr>
                </a:solidFill>
                <a:latin typeface="Arial" pitchFamily="34" charset="0"/>
                <a:cs typeface="Arial" pitchFamily="34" charset="0"/>
              </a:rPr>
              <a:t> Facteurs environnementaux</a:t>
            </a:r>
            <a:endParaRPr lang="fr-FR" b="1" dirty="0">
              <a:solidFill>
                <a:schemeClr val="accent6">
                  <a:lumMod val="75000"/>
                </a:schemeClr>
              </a:solidFill>
            </a:endParaRPr>
          </a:p>
        </p:txBody>
      </p:sp>
      <p:sp>
        <p:nvSpPr>
          <p:cNvPr id="5" name="Rogner un rectangle avec un coin du même côté 4"/>
          <p:cNvSpPr/>
          <p:nvPr/>
        </p:nvSpPr>
        <p:spPr>
          <a:xfrm>
            <a:off x="8420101" y="1276350"/>
            <a:ext cx="3086100" cy="4743093"/>
          </a:xfrm>
          <a:prstGeom prst="snip2Same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lvl="0" algn="ctr"/>
            <a:r>
              <a:rPr lang="fr-FR" b="1" dirty="0" smtClean="0">
                <a:latin typeface="Arial" pitchFamily="34" charset="0"/>
                <a:cs typeface="Arial" pitchFamily="34" charset="0"/>
              </a:rPr>
              <a:t>Accès aux ressources</a:t>
            </a:r>
          </a:p>
          <a:p>
            <a:pPr lvl="0" algn="just"/>
            <a:endParaRPr lang="fr-FR" dirty="0" smtClean="0">
              <a:solidFill>
                <a:schemeClr val="dk1"/>
              </a:solidFill>
              <a:latin typeface="Arial" pitchFamily="34" charset="0"/>
              <a:cs typeface="Arial" pitchFamily="34" charset="0"/>
            </a:endParaRPr>
          </a:p>
          <a:p>
            <a:pPr lvl="0" algn="just"/>
            <a:r>
              <a:rPr lang="fr-FR" dirty="0" smtClean="0">
                <a:solidFill>
                  <a:schemeClr val="dk1"/>
                </a:solidFill>
                <a:latin typeface="Arial" pitchFamily="34" charset="0"/>
                <a:cs typeface="Arial" pitchFamily="34" charset="0"/>
              </a:rPr>
              <a:t>L'accès à des outils, des technologies et des informations peut également influencer la créativité. Les ressources matérielles et</a:t>
            </a:r>
            <a:br>
              <a:rPr lang="fr-FR" dirty="0" smtClean="0">
                <a:solidFill>
                  <a:schemeClr val="dk1"/>
                </a:solidFill>
                <a:latin typeface="Arial" pitchFamily="34" charset="0"/>
                <a:cs typeface="Arial" pitchFamily="34" charset="0"/>
              </a:rPr>
            </a:br>
            <a:r>
              <a:rPr lang="fr-FR" dirty="0" smtClean="0">
                <a:solidFill>
                  <a:schemeClr val="dk1"/>
                </a:solidFill>
                <a:latin typeface="Arial" pitchFamily="34" charset="0"/>
                <a:cs typeface="Arial" pitchFamily="34" charset="0"/>
              </a:rPr>
              <a:t>immatérielles (comme les livres, les ateliers, les formations) peuvent élargir les horizons créatifs.</a:t>
            </a:r>
            <a:endParaRPr lang="fr-FR" dirty="0" smtClean="0">
              <a:latin typeface="Arial" pitchFamily="34" charset="0"/>
              <a:cs typeface="Arial" pitchFamily="34" charset="0"/>
            </a:endParaRPr>
          </a:p>
          <a:p>
            <a:pPr lvl="0" algn="just"/>
            <a:endParaRPr lang="fr-FR" dirty="0" smtClean="0">
              <a:solidFill>
                <a:schemeClr val="dk1"/>
              </a:solidFill>
              <a:latin typeface="Arial" pitchFamily="34" charset="0"/>
              <a:cs typeface="Arial" pitchFamily="34" charset="0"/>
            </a:endParaRPr>
          </a:p>
        </p:txBody>
      </p:sp>
      <p:sp>
        <p:nvSpPr>
          <p:cNvPr id="10" name="Rogner un rectangle avec un coin du même côté 9"/>
          <p:cNvSpPr/>
          <p:nvPr/>
        </p:nvSpPr>
        <p:spPr>
          <a:xfrm>
            <a:off x="4429125" y="1270456"/>
            <a:ext cx="3600450" cy="4732020"/>
          </a:xfrm>
          <a:prstGeom prst="snip2Same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lvl="0" algn="ctr"/>
            <a:r>
              <a:rPr lang="fr-FR" b="1" dirty="0" smtClean="0">
                <a:latin typeface="Arial" pitchFamily="34" charset="0"/>
                <a:cs typeface="Arial" pitchFamily="34" charset="0"/>
              </a:rPr>
              <a:t>Environnement</a:t>
            </a:r>
          </a:p>
          <a:p>
            <a:pPr lvl="0" algn="ctr"/>
            <a:r>
              <a:rPr lang="fr-FR" b="1" dirty="0" smtClean="0">
                <a:latin typeface="Arial" pitchFamily="34" charset="0"/>
                <a:cs typeface="Arial" pitchFamily="34" charset="0"/>
              </a:rPr>
              <a:t> physique</a:t>
            </a:r>
          </a:p>
          <a:p>
            <a:pPr lvl="0"/>
            <a:endParaRPr lang="fr-FR" dirty="0" smtClean="0">
              <a:solidFill>
                <a:schemeClr val="dk1"/>
              </a:solidFill>
              <a:latin typeface="Arial" pitchFamily="34" charset="0"/>
              <a:cs typeface="Arial" pitchFamily="34" charset="0"/>
            </a:endParaRPr>
          </a:p>
          <a:p>
            <a:pPr lvl="0" algn="just"/>
            <a:r>
              <a:rPr lang="fr-FR" dirty="0" smtClean="0">
                <a:solidFill>
                  <a:schemeClr val="dk1"/>
                </a:solidFill>
                <a:latin typeface="Arial" pitchFamily="34" charset="0"/>
                <a:cs typeface="Arial" pitchFamily="34" charset="0"/>
              </a:rPr>
              <a:t>L'espace dans lequel une personne travaille peut avoir un impact significatif sur sa créativité.</a:t>
            </a:r>
          </a:p>
          <a:p>
            <a:pPr lvl="0" algn="just"/>
            <a:r>
              <a:rPr lang="fr-FR" dirty="0" smtClean="0">
                <a:solidFill>
                  <a:schemeClr val="dk1"/>
                </a:solidFill>
                <a:latin typeface="Arial" pitchFamily="34" charset="0"/>
                <a:cs typeface="Arial" pitchFamily="34" charset="0"/>
              </a:rPr>
              <a:t> Des environnements stimulants, lumineux et bien organisés peuvent favoriser l'inspiration, tandis que des espaces encombrés ou monotones peuvent freiner la créativité.</a:t>
            </a:r>
            <a:endParaRPr lang="fr-FR" dirty="0" smtClean="0">
              <a:latin typeface="Arial" pitchFamily="34" charset="0"/>
              <a:cs typeface="Arial" pitchFamily="34" charset="0"/>
            </a:endParaRPr>
          </a:p>
          <a:p>
            <a:pPr lvl="0" algn="just"/>
            <a:endParaRPr lang="fr-FR" dirty="0" smtClean="0">
              <a:solidFill>
                <a:schemeClr val="dk1"/>
              </a:solidFill>
              <a:latin typeface="Arial" pitchFamily="34" charset="0"/>
              <a:cs typeface="Arial" pitchFamily="34" charset="0"/>
            </a:endParaRPr>
          </a:p>
          <a:p>
            <a:pPr lvl="0"/>
            <a:endParaRPr lang="fr-FR" sz="1200" dirty="0"/>
          </a:p>
        </p:txBody>
      </p:sp>
      <p:sp>
        <p:nvSpPr>
          <p:cNvPr id="7" name="Rogner un rectangle avec un coin du même côté 6"/>
          <p:cNvSpPr/>
          <p:nvPr/>
        </p:nvSpPr>
        <p:spPr>
          <a:xfrm>
            <a:off x="688522" y="1532075"/>
            <a:ext cx="3400425" cy="4689158"/>
          </a:xfrm>
          <a:prstGeom prst="snip2Same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ctr"/>
            <a:r>
              <a:rPr lang="fr-FR" b="1" dirty="0" smtClean="0">
                <a:latin typeface="Arial" pitchFamily="34" charset="0"/>
                <a:cs typeface="Arial" pitchFamily="34" charset="0"/>
              </a:rPr>
              <a:t>Soutien et encouragement</a:t>
            </a:r>
          </a:p>
          <a:p>
            <a:endParaRPr lang="fr-FR" dirty="0" smtClean="0">
              <a:latin typeface="Arial" pitchFamily="34" charset="0"/>
              <a:cs typeface="Arial" pitchFamily="34" charset="0"/>
            </a:endParaRPr>
          </a:p>
          <a:p>
            <a:pPr algn="just"/>
            <a:r>
              <a:rPr lang="fr-FR" dirty="0" smtClean="0">
                <a:solidFill>
                  <a:schemeClr val="dk1"/>
                </a:solidFill>
                <a:latin typeface="Arial" pitchFamily="34" charset="0"/>
                <a:cs typeface="Arial" pitchFamily="34" charset="0"/>
              </a:rPr>
              <a:t>Un environnement où les idées sont valorisées et où les échecs sont perçus comme des opportunités d'apprentissage peut encourager les individus à prendre des risques créatifs.</a:t>
            </a:r>
          </a:p>
          <a:p>
            <a:pPr algn="just"/>
            <a:endParaRPr lang="fr-FR" dirty="0" smtClean="0">
              <a:latin typeface="Arial" pitchFamily="34" charset="0"/>
              <a:cs typeface="Arial" pitchFamily="34" charset="0"/>
            </a:endParaRPr>
          </a:p>
          <a:p>
            <a:pPr algn="just"/>
            <a:endParaRPr lang="fr-FR" dirty="0" smtClean="0">
              <a:solidFill>
                <a:schemeClr val="dk1"/>
              </a:solidFill>
              <a:latin typeface="Arial" pitchFamily="34" charset="0"/>
              <a:cs typeface="Arial" pitchFamily="34" charset="0"/>
            </a:endParaRPr>
          </a:p>
          <a:p>
            <a:endParaRPr lang="fr-FR" sz="1200" dirty="0" smtClean="0">
              <a:latin typeface="Arial" pitchFamily="34" charset="0"/>
              <a:cs typeface="Arial" pitchFamily="34" charset="0"/>
            </a:endParaRPr>
          </a:p>
          <a:p>
            <a:endParaRPr lang="fr-FR" dirty="0" smtClean="0">
              <a:solidFill>
                <a:schemeClr val="dk1"/>
              </a:solidFill>
              <a:latin typeface="Arial" pitchFamily="34" charset="0"/>
              <a:cs typeface="Arial" pitchFamily="34" charset="0"/>
            </a:endParaRPr>
          </a:p>
          <a:p>
            <a:endParaRPr lang="fr-FR" dirty="0" smtClean="0">
              <a:solidFill>
                <a:schemeClr val="dk1"/>
              </a:solidFill>
              <a:latin typeface="Arial" pitchFamily="34" charset="0"/>
              <a:cs typeface="Arial" pitchFamily="34" charset="0"/>
            </a:endParaRPr>
          </a:p>
        </p:txBody>
      </p:sp>
      <p:pic>
        <p:nvPicPr>
          <p:cNvPr id="8" name="Image 7" descr="C:\Users\ma.mejri\Desktop\téléchargement (1).png"/>
          <p:cNvPicPr/>
          <p:nvPr/>
        </p:nvPicPr>
        <p:blipFill>
          <a:blip r:embed="rId2"/>
          <a:srcRect/>
          <a:stretch>
            <a:fillRect/>
          </a:stretch>
        </p:blipFill>
        <p:spPr bwMode="auto">
          <a:xfrm>
            <a:off x="561068" y="783772"/>
            <a:ext cx="1127578" cy="435429"/>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gner un rectangle avec un coin du même côté 1"/>
          <p:cNvSpPr/>
          <p:nvPr/>
        </p:nvSpPr>
        <p:spPr>
          <a:xfrm>
            <a:off x="152401" y="1489413"/>
            <a:ext cx="3295650" cy="3680639"/>
          </a:xfrm>
          <a:prstGeom prst="snip2Same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lvl="0"/>
            <a:r>
              <a:rPr lang="fr-FR" b="1" dirty="0" smtClean="0">
                <a:solidFill>
                  <a:schemeClr val="dk1"/>
                </a:solidFill>
                <a:latin typeface="Arial" pitchFamily="34" charset="0"/>
                <a:cs typeface="Arial" pitchFamily="34" charset="0"/>
              </a:rPr>
              <a:t>Culture et société </a:t>
            </a:r>
          </a:p>
          <a:p>
            <a:pPr lvl="0" algn="just"/>
            <a:endParaRPr lang="fr-FR" dirty="0" smtClean="0">
              <a:solidFill>
                <a:schemeClr val="dk1"/>
              </a:solidFill>
              <a:latin typeface="Arial" pitchFamily="34" charset="0"/>
              <a:cs typeface="Arial" pitchFamily="34" charset="0"/>
            </a:endParaRPr>
          </a:p>
          <a:p>
            <a:pPr lvl="0" algn="just"/>
            <a:r>
              <a:rPr lang="fr-FR" dirty="0" smtClean="0">
                <a:solidFill>
                  <a:schemeClr val="dk1"/>
                </a:solidFill>
                <a:latin typeface="Arial" pitchFamily="34" charset="0"/>
                <a:cs typeface="Arial" pitchFamily="34" charset="0"/>
              </a:rPr>
              <a:t>Les normes culturelles et les valeurs sociales jouent un rôle crucial. Dans des sociétés qui valorisent l'innovation et l'expression personnelle, les individus peuvent se sentir plus libres d'explorer des idées nouvelles.</a:t>
            </a:r>
          </a:p>
        </p:txBody>
      </p:sp>
      <p:sp>
        <p:nvSpPr>
          <p:cNvPr id="3" name="Rogner un rectangle avec un coin du même côté 2"/>
          <p:cNvSpPr/>
          <p:nvPr/>
        </p:nvSpPr>
        <p:spPr>
          <a:xfrm>
            <a:off x="3829050" y="1523137"/>
            <a:ext cx="4029075" cy="3713678"/>
          </a:xfrm>
          <a:prstGeom prst="snip2Same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lvl="0" algn="ctr"/>
            <a:r>
              <a:rPr lang="fr-FR" b="1" dirty="0" smtClean="0">
                <a:solidFill>
                  <a:schemeClr val="dk1"/>
                </a:solidFill>
                <a:latin typeface="Arial" pitchFamily="34" charset="0"/>
                <a:cs typeface="Arial" pitchFamily="34" charset="0"/>
              </a:rPr>
              <a:t>Education et formation</a:t>
            </a:r>
          </a:p>
          <a:p>
            <a:pPr lvl="0" algn="just"/>
            <a:endParaRPr lang="fr-FR" dirty="0" smtClean="0">
              <a:solidFill>
                <a:schemeClr val="dk1"/>
              </a:solidFill>
              <a:latin typeface="Arial" pitchFamily="34" charset="0"/>
              <a:cs typeface="Arial" pitchFamily="34" charset="0"/>
            </a:endParaRPr>
          </a:p>
          <a:p>
            <a:pPr lvl="0" algn="just"/>
            <a:r>
              <a:rPr lang="fr-FR" dirty="0" smtClean="0">
                <a:solidFill>
                  <a:schemeClr val="dk1"/>
                </a:solidFill>
                <a:latin typeface="Arial" pitchFamily="34" charset="0"/>
                <a:cs typeface="Arial" pitchFamily="34" charset="0"/>
              </a:rPr>
              <a:t>Un système éducatif qui encourage la pensée critique, l'expérimentation et la prise de risques peut stimuler la créativité. </a:t>
            </a:r>
          </a:p>
          <a:p>
            <a:pPr lvl="0" algn="just"/>
            <a:r>
              <a:rPr lang="fr-FR" dirty="0" smtClean="0">
                <a:solidFill>
                  <a:schemeClr val="dk1"/>
                </a:solidFill>
                <a:latin typeface="Arial" pitchFamily="34" charset="0"/>
                <a:cs typeface="Arial" pitchFamily="34" charset="0"/>
              </a:rPr>
              <a:t>Les méthodes d'enseignement qui favorisent la collaboration et l'interdisciplinarité sont également bénéfiques.</a:t>
            </a:r>
          </a:p>
          <a:p>
            <a:pPr lvl="0" algn="just"/>
            <a:endParaRPr lang="fr-FR" dirty="0" smtClean="0">
              <a:solidFill>
                <a:schemeClr val="dk1"/>
              </a:solidFill>
              <a:latin typeface="Arial" pitchFamily="34" charset="0"/>
              <a:cs typeface="Arial" pitchFamily="34" charset="0"/>
            </a:endParaRPr>
          </a:p>
        </p:txBody>
      </p:sp>
      <p:sp>
        <p:nvSpPr>
          <p:cNvPr id="4" name="Rogner un rectangle avec un coin du même côté 3"/>
          <p:cNvSpPr/>
          <p:nvPr/>
        </p:nvSpPr>
        <p:spPr>
          <a:xfrm>
            <a:off x="8343901" y="1590586"/>
            <a:ext cx="3171824" cy="3581162"/>
          </a:xfrm>
          <a:prstGeom prst="snip2Same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ctr"/>
            <a:r>
              <a:rPr lang="fr-FR" b="1" dirty="0" smtClean="0">
                <a:solidFill>
                  <a:schemeClr val="dk1"/>
                </a:solidFill>
                <a:latin typeface="Arial" pitchFamily="34" charset="0"/>
                <a:cs typeface="Arial" pitchFamily="34" charset="0"/>
              </a:rPr>
              <a:t>Stress et pression</a:t>
            </a:r>
          </a:p>
          <a:p>
            <a:pPr algn="ctr"/>
            <a:endParaRPr lang="fr-FR" dirty="0" smtClean="0">
              <a:solidFill>
                <a:schemeClr val="dk1"/>
              </a:solidFill>
              <a:latin typeface="Arial" pitchFamily="34" charset="0"/>
              <a:cs typeface="Arial" pitchFamily="34" charset="0"/>
            </a:endParaRPr>
          </a:p>
          <a:p>
            <a:pPr algn="just"/>
            <a:r>
              <a:rPr lang="fr-FR" dirty="0" smtClean="0">
                <a:solidFill>
                  <a:schemeClr val="dk1"/>
                </a:solidFill>
                <a:latin typeface="Arial" pitchFamily="34" charset="0"/>
                <a:cs typeface="Arial" pitchFamily="34" charset="0"/>
              </a:rPr>
              <a:t>Un niveau de stress trop élevé ou des délais serrés peuvent inhiber la créativité, tandis qu'un environnement de travail détendu et flexible peut favoriser l'innovation.</a:t>
            </a:r>
          </a:p>
          <a:p>
            <a:pPr algn="just"/>
            <a:endParaRPr lang="fr-FR" sz="1200" dirty="0" smtClean="0">
              <a:solidFill>
                <a:schemeClr val="dk1"/>
              </a:solidFill>
              <a:latin typeface="Arial" pitchFamily="34" charset="0"/>
              <a:cs typeface="Arial" pitchFamily="34" charset="0"/>
            </a:endParaRPr>
          </a:p>
          <a:p>
            <a:pPr algn="just"/>
            <a:endParaRPr lang="fr-FR" dirty="0" smtClean="0">
              <a:solidFill>
                <a:schemeClr val="dk1"/>
              </a:solidFill>
              <a:latin typeface="Arial" pitchFamily="34" charset="0"/>
              <a:cs typeface="Arial" pitchFamily="34" charset="0"/>
            </a:endParaRPr>
          </a:p>
        </p:txBody>
      </p:sp>
      <p:pic>
        <p:nvPicPr>
          <p:cNvPr id="6" name="Image 5"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gner un rectangle avec un coin du même côté 1"/>
          <p:cNvSpPr/>
          <p:nvPr/>
        </p:nvSpPr>
        <p:spPr>
          <a:xfrm>
            <a:off x="1638299" y="1956911"/>
            <a:ext cx="8829675" cy="2107763"/>
          </a:xfrm>
          <a:prstGeom prst="snip2Same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just"/>
            <a:r>
              <a:rPr lang="fr-FR" sz="2000" dirty="0" smtClean="0">
                <a:solidFill>
                  <a:schemeClr val="dk1"/>
                </a:solidFill>
                <a:latin typeface="Arial" pitchFamily="34" charset="0"/>
                <a:cs typeface="Arial" pitchFamily="34" charset="0"/>
              </a:rPr>
              <a:t>En résumé, la créativité est le résultat d'une interaction complexe entre divers facteurs environnementaux, sociaux et personnels. Créer un environnement propice à la créativité nécessite une attention particulière à ces différents éléments..</a:t>
            </a:r>
          </a:p>
          <a:p>
            <a:pPr algn="just"/>
            <a:r>
              <a:rPr lang="fr-FR" sz="2000" dirty="0" smtClean="0">
                <a:solidFill>
                  <a:schemeClr val="dk1"/>
                </a:solidFill>
                <a:latin typeface="Arial" pitchFamily="34" charset="0"/>
                <a:cs typeface="Arial" pitchFamily="34" charset="0"/>
              </a:rPr>
              <a:t/>
            </a:r>
            <a:br>
              <a:rPr lang="fr-FR" sz="2000" dirty="0" smtClean="0">
                <a:solidFill>
                  <a:schemeClr val="dk1"/>
                </a:solidFill>
                <a:latin typeface="Arial" pitchFamily="34" charset="0"/>
                <a:cs typeface="Arial" pitchFamily="34" charset="0"/>
              </a:rPr>
            </a:br>
            <a:endParaRPr lang="fr-FR" sz="2000" dirty="0" smtClean="0">
              <a:solidFill>
                <a:schemeClr val="dk1"/>
              </a:solidFill>
              <a:latin typeface="Arial" pitchFamily="34" charset="0"/>
              <a:cs typeface="Arial" pitchFamily="34" charset="0"/>
            </a:endParaRPr>
          </a:p>
        </p:txBody>
      </p:sp>
      <p:pic>
        <p:nvPicPr>
          <p:cNvPr id="4" name="Image 3"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562100" y="3829050"/>
            <a:ext cx="8829675" cy="2057400"/>
          </a:xfrm>
          <a:prstGeom prst="rect">
            <a:avLst/>
          </a:prstGeom>
          <a:noFill/>
          <a:ln w="9525">
            <a:noFill/>
            <a:miter lim="800000"/>
            <a:headEnd/>
            <a:tailEnd/>
          </a:ln>
          <a:effectLst/>
        </p:spPr>
      </p:pic>
      <p:pic>
        <p:nvPicPr>
          <p:cNvPr id="5" name="Image 4" descr="C:\Users\ma.mejri\Desktop\téléchargement (1).png"/>
          <p:cNvPicPr/>
          <p:nvPr/>
        </p:nvPicPr>
        <p:blipFill>
          <a:blip r:embed="rId3"/>
          <a:srcRect/>
          <a:stretch>
            <a:fillRect/>
          </a:stretch>
        </p:blipFill>
        <p:spPr bwMode="auto">
          <a:xfrm>
            <a:off x="437243" y="688522"/>
            <a:ext cx="1127578" cy="435429"/>
          </a:xfrm>
          <a:prstGeom prst="rect">
            <a:avLst/>
          </a:prstGeom>
          <a:noFill/>
          <a:ln w="9525">
            <a:noFill/>
            <a:miter lim="800000"/>
            <a:headEnd/>
            <a:tailEnd/>
          </a:ln>
        </p:spPr>
      </p:pic>
      <p:sp>
        <p:nvSpPr>
          <p:cNvPr id="6" name="Rectangle 5"/>
          <p:cNvSpPr/>
          <p:nvPr/>
        </p:nvSpPr>
        <p:spPr>
          <a:xfrm>
            <a:off x="1623528" y="1291709"/>
            <a:ext cx="2891322" cy="369332"/>
          </a:xfrm>
          <a:prstGeom prst="rect">
            <a:avLst/>
          </a:prstGeom>
        </p:spPr>
        <p:txBody>
          <a:bodyPr wrap="square">
            <a:spAutoFit/>
          </a:bodyPr>
          <a:lstStyle/>
          <a:p>
            <a:pPr marL="0" lvl="1" fontAlgn="base">
              <a:spcBef>
                <a:spcPct val="0"/>
              </a:spcBef>
              <a:spcAft>
                <a:spcPct val="0"/>
              </a:spcAft>
              <a:buClr>
                <a:srgbClr val="0066CC"/>
              </a:buClr>
              <a:tabLst>
                <a:tab pos="773113" algn="l"/>
              </a:tabLst>
            </a:pPr>
            <a:r>
              <a:rPr lang="fr-FR" b="1" dirty="0" smtClean="0">
                <a:solidFill>
                  <a:srgbClr val="C00000"/>
                </a:solidFill>
                <a:latin typeface="Source Sans Pro"/>
              </a:rPr>
              <a:t>II- L’INNOVATION</a:t>
            </a:r>
          </a:p>
        </p:txBody>
      </p:sp>
      <p:sp>
        <p:nvSpPr>
          <p:cNvPr id="8" name="Rectangle 7"/>
          <p:cNvSpPr/>
          <p:nvPr/>
        </p:nvSpPr>
        <p:spPr>
          <a:xfrm>
            <a:off x="3464004" y="1529834"/>
            <a:ext cx="2048959" cy="338554"/>
          </a:xfrm>
          <a:prstGeom prst="rect">
            <a:avLst/>
          </a:prstGeom>
        </p:spPr>
        <p:txBody>
          <a:bodyPr wrap="none">
            <a:spAutoFit/>
          </a:bodyPr>
          <a:lstStyle/>
          <a:p>
            <a:pPr lvl="1" algn="justLow" fontAlgn="base">
              <a:spcBef>
                <a:spcPct val="0"/>
              </a:spcBef>
              <a:spcAft>
                <a:spcPct val="0"/>
              </a:spcAft>
              <a:buClr>
                <a:srgbClr val="0066CC"/>
              </a:buClr>
              <a:tabLst>
                <a:tab pos="773113" algn="l"/>
              </a:tabLst>
            </a:pPr>
            <a:r>
              <a:rPr lang="fr-FR" sz="1600" b="1" dirty="0" smtClean="0">
                <a:solidFill>
                  <a:srgbClr val="00B0F0"/>
                </a:solidFill>
                <a:latin typeface="Source Sans Pro"/>
              </a:rPr>
              <a:t>1- DEFINITION</a:t>
            </a:r>
          </a:p>
        </p:txBody>
      </p:sp>
      <p:sp>
        <p:nvSpPr>
          <p:cNvPr id="9" name="Rectangle 8"/>
          <p:cNvSpPr/>
          <p:nvPr/>
        </p:nvSpPr>
        <p:spPr>
          <a:xfrm>
            <a:off x="904875" y="1913662"/>
            <a:ext cx="10572750" cy="175432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dirty="0" smtClean="0">
                <a:latin typeface="Arial" pitchFamily="34" charset="0"/>
                <a:cs typeface="Arial" pitchFamily="34" charset="0"/>
              </a:rPr>
              <a:t>Une innovation est la mise en œuvre d’un produit (bien ou service) ou d’un procédé nouveau ou sensiblement amélioré, d’une nouvelle méthode de commercialisation ou d’une nouvelle méthode organisationnelle dans les pratiques de l’entreprise, l’organisation du lieu de travail ou les relations extérieures. </a:t>
            </a:r>
          </a:p>
          <a:p>
            <a:pPr algn="just"/>
            <a:r>
              <a:rPr lang="fr-FR" dirty="0" smtClean="0">
                <a:latin typeface="Arial" pitchFamily="34" charset="0"/>
                <a:cs typeface="Arial" pitchFamily="34" charset="0"/>
              </a:rPr>
              <a:t>Elle considère ainsi </a:t>
            </a:r>
            <a:r>
              <a:rPr lang="fr-FR" b="1" dirty="0" smtClean="0">
                <a:latin typeface="Arial" pitchFamily="34" charset="0"/>
                <a:cs typeface="Arial" pitchFamily="34" charset="0"/>
              </a:rPr>
              <a:t>4</a:t>
            </a:r>
            <a:r>
              <a:rPr lang="fr-FR" dirty="0" smtClean="0">
                <a:latin typeface="Arial" pitchFamily="34" charset="0"/>
                <a:cs typeface="Arial" pitchFamily="34" charset="0"/>
              </a:rPr>
              <a:t> catégories d’innovation : l’innovation de </a:t>
            </a:r>
            <a:r>
              <a:rPr lang="fr-FR" b="1" dirty="0" smtClean="0">
                <a:latin typeface="Arial" pitchFamily="34" charset="0"/>
                <a:cs typeface="Arial" pitchFamily="34" charset="0"/>
              </a:rPr>
              <a:t>produit</a:t>
            </a:r>
            <a:r>
              <a:rPr lang="fr-FR" dirty="0" smtClean="0">
                <a:latin typeface="Arial" pitchFamily="34" charset="0"/>
                <a:cs typeface="Arial" pitchFamily="34" charset="0"/>
              </a:rPr>
              <a:t>, de </a:t>
            </a:r>
            <a:r>
              <a:rPr lang="fr-FR" b="1" dirty="0" smtClean="0">
                <a:latin typeface="Arial" pitchFamily="34" charset="0"/>
                <a:cs typeface="Arial" pitchFamily="34" charset="0"/>
              </a:rPr>
              <a:t>procédé</a:t>
            </a:r>
            <a:r>
              <a:rPr lang="fr-FR" dirty="0" smtClean="0">
                <a:latin typeface="Arial" pitchFamily="34" charset="0"/>
                <a:cs typeface="Arial" pitchFamily="34" charset="0"/>
              </a:rPr>
              <a:t>, d’</a:t>
            </a:r>
            <a:r>
              <a:rPr lang="fr-FR" b="1" dirty="0" smtClean="0">
                <a:latin typeface="Arial" pitchFamily="34" charset="0"/>
                <a:cs typeface="Arial" pitchFamily="34" charset="0"/>
              </a:rPr>
              <a:t>organisation</a:t>
            </a:r>
            <a:r>
              <a:rPr lang="fr-FR" dirty="0" smtClean="0">
                <a:latin typeface="Arial" pitchFamily="34" charset="0"/>
                <a:cs typeface="Arial" pitchFamily="34" charset="0"/>
              </a:rPr>
              <a:t> et de </a:t>
            </a:r>
            <a:r>
              <a:rPr lang="fr-FR" b="1" dirty="0" smtClean="0">
                <a:latin typeface="Arial" pitchFamily="34" charset="0"/>
                <a:cs typeface="Arial" pitchFamily="34" charset="0"/>
              </a:rPr>
              <a:t>commercialisation</a:t>
            </a:r>
            <a:r>
              <a:rPr lang="fr-FR" dirty="0" smtClean="0">
                <a:latin typeface="Arial" pitchFamily="34" charset="0"/>
                <a:cs typeface="Arial" pitchFamily="34" charset="0"/>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7" name="Tableau 6"/>
          <p:cNvGraphicFramePr>
            <a:graphicFrameLocks noGrp="1"/>
          </p:cNvGraphicFramePr>
          <p:nvPr/>
        </p:nvGraphicFramePr>
        <p:xfrm>
          <a:off x="638175" y="1447672"/>
          <a:ext cx="11134725" cy="3848229"/>
        </p:xfrm>
        <a:graphic>
          <a:graphicData uri="http://schemas.openxmlformats.org/drawingml/2006/table">
            <a:tbl>
              <a:tblPr/>
              <a:tblGrid>
                <a:gridCol w="1876425"/>
                <a:gridCol w="9258300"/>
              </a:tblGrid>
              <a:tr h="541505">
                <a:tc>
                  <a:txBody>
                    <a:bodyPr/>
                    <a:lstStyle/>
                    <a:p>
                      <a:pPr algn="ctr">
                        <a:spcAft>
                          <a:spcPts val="0"/>
                        </a:spcAft>
                      </a:pPr>
                      <a:r>
                        <a:rPr lang="fr-FR" sz="1400" b="1" dirty="0">
                          <a:solidFill>
                            <a:srgbClr val="C00000"/>
                          </a:solidFill>
                          <a:latin typeface="Tahoma"/>
                          <a:ea typeface="Verdana"/>
                          <a:cs typeface="Verdana"/>
                        </a:rPr>
                        <a:t>Catégories de </a:t>
                      </a:r>
                      <a:r>
                        <a:rPr lang="fr-FR" sz="1400" b="1" spc="-10" dirty="0">
                          <a:solidFill>
                            <a:srgbClr val="C00000"/>
                          </a:solidFill>
                          <a:latin typeface="Tahoma"/>
                          <a:ea typeface="Verdana"/>
                          <a:cs typeface="Verdana"/>
                        </a:rPr>
                        <a:t>l'innovation</a:t>
                      </a:r>
                      <a:endParaRPr lang="fr-FR" sz="1400" dirty="0">
                        <a:latin typeface="Verdana"/>
                        <a:ea typeface="Verdana"/>
                        <a:cs typeface="Verdan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fr-FR" sz="1400" b="1" spc="-10" dirty="0">
                          <a:solidFill>
                            <a:srgbClr val="C00000"/>
                          </a:solidFill>
                          <a:latin typeface="Tahoma"/>
                          <a:ea typeface="Verdana"/>
                          <a:cs typeface="Verdana"/>
                        </a:rPr>
                        <a:t>commentaires</a:t>
                      </a:r>
                      <a:endParaRPr lang="fr-FR" sz="1400" dirty="0">
                        <a:latin typeface="Verdana"/>
                        <a:ea typeface="Verdana"/>
                        <a:cs typeface="Verdan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68580">
                <a:tc>
                  <a:txBody>
                    <a:bodyPr/>
                    <a:lstStyle/>
                    <a:p>
                      <a:pPr marL="10795" algn="l">
                        <a:spcBef>
                          <a:spcPts val="160"/>
                        </a:spcBef>
                        <a:spcAft>
                          <a:spcPts val="0"/>
                        </a:spcAft>
                      </a:pPr>
                      <a:endParaRPr lang="fr-FR" sz="1400" dirty="0">
                        <a:latin typeface="Verdana"/>
                        <a:ea typeface="Verdana"/>
                        <a:cs typeface="Verdana"/>
                      </a:endParaRPr>
                    </a:p>
                    <a:p>
                      <a:pPr marL="14605" marR="3175" algn="ctr">
                        <a:spcBef>
                          <a:spcPts val="5"/>
                        </a:spcBef>
                        <a:spcAft>
                          <a:spcPts val="0"/>
                        </a:spcAft>
                      </a:pPr>
                      <a:r>
                        <a:rPr lang="fr-FR" sz="1400" b="1" spc="-10" dirty="0">
                          <a:latin typeface="Tahoma"/>
                          <a:ea typeface="Verdana"/>
                          <a:cs typeface="Verdana"/>
                        </a:rPr>
                        <a:t>Produit</a:t>
                      </a:r>
                      <a:endParaRPr lang="fr-FR" sz="1400" dirty="0">
                        <a:latin typeface="Verdana"/>
                        <a:ea typeface="Verdana"/>
                        <a:cs typeface="Verdan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795" marR="93345" algn="just">
                        <a:lnSpc>
                          <a:spcPct val="98000"/>
                        </a:lnSpc>
                        <a:spcBef>
                          <a:spcPts val="175"/>
                        </a:spcBef>
                        <a:spcAft>
                          <a:spcPts val="0"/>
                        </a:spcAft>
                        <a:tabLst>
                          <a:tab pos="6316980" algn="l"/>
                        </a:tabLst>
                      </a:pPr>
                      <a:r>
                        <a:rPr lang="fr-FR" sz="1400" spc="-10" dirty="0">
                          <a:latin typeface="Verdana"/>
                          <a:ea typeface="Verdana"/>
                          <a:cs typeface="Verdana"/>
                        </a:rPr>
                        <a:t>La nouveauté ou l’amélioration peut porter sur la technologie </a:t>
                      </a:r>
                      <a:r>
                        <a:rPr lang="fr-FR" sz="1400" spc="-20" dirty="0">
                          <a:latin typeface="Verdana"/>
                          <a:ea typeface="Verdana"/>
                          <a:cs typeface="Verdana"/>
                        </a:rPr>
                        <a:t>employée , ou sur ses caractéristiques fonctionnelles </a:t>
                      </a:r>
                      <a:r>
                        <a:rPr lang="fr-FR" sz="1400" spc="-20" dirty="0" smtClean="0">
                          <a:latin typeface="Verdana"/>
                          <a:ea typeface="Verdana"/>
                          <a:cs typeface="Verdana"/>
                        </a:rPr>
                        <a:t>et </a:t>
                      </a:r>
                      <a:r>
                        <a:rPr lang="fr-FR" sz="1400" spc="-20" dirty="0">
                          <a:latin typeface="Verdana"/>
                          <a:ea typeface="Verdana"/>
                          <a:cs typeface="Verdana"/>
                        </a:rPr>
                        <a:t>son </a:t>
                      </a:r>
                      <a:r>
                        <a:rPr lang="fr-FR" sz="1400" spc="-10" dirty="0" smtClean="0">
                          <a:latin typeface="Verdana"/>
                          <a:ea typeface="Verdana"/>
                          <a:cs typeface="Verdana"/>
                        </a:rPr>
                        <a:t>usage</a:t>
                      </a:r>
                      <a:r>
                        <a:rPr lang="fr-FR" sz="1400" spc="-10" baseline="0" dirty="0" smtClean="0">
                          <a:latin typeface="Verdana"/>
                          <a:ea typeface="Verdana"/>
                          <a:cs typeface="Verdana"/>
                        </a:rPr>
                        <a:t> : </a:t>
                      </a:r>
                      <a:r>
                        <a:rPr lang="fr-FR" sz="1400" b="1" dirty="0" smtClean="0">
                          <a:latin typeface="Arial" pitchFamily="34" charset="0"/>
                          <a:cs typeface="Arial" pitchFamily="34" charset="0"/>
                        </a:rPr>
                        <a:t>Véhicules électriques, Impression</a:t>
                      </a:r>
                      <a:r>
                        <a:rPr lang="fr-FR" sz="1400" dirty="0" smtClean="0">
                          <a:latin typeface="Arial" pitchFamily="34" charset="0"/>
                          <a:cs typeface="Arial" pitchFamily="34" charset="0"/>
                        </a:rPr>
                        <a:t> </a:t>
                      </a:r>
                      <a:r>
                        <a:rPr lang="fr-FR" sz="1400" b="1" dirty="0" smtClean="0">
                          <a:latin typeface="Arial" pitchFamily="34" charset="0"/>
                          <a:cs typeface="Arial" pitchFamily="34" charset="0"/>
                        </a:rPr>
                        <a:t>3D</a:t>
                      </a:r>
                      <a:r>
                        <a:rPr lang="fr-FR" sz="1400" dirty="0" smtClean="0">
                          <a:latin typeface="Arial" pitchFamily="34" charset="0"/>
                          <a:cs typeface="Arial" pitchFamily="34" charset="0"/>
                        </a:rPr>
                        <a:t> </a:t>
                      </a:r>
                      <a:r>
                        <a:rPr lang="fr-FR" sz="1400" b="1" dirty="0" smtClean="0">
                          <a:latin typeface="Arial" pitchFamily="34" charset="0"/>
                          <a:cs typeface="Arial" pitchFamily="34" charset="0"/>
                        </a:rPr>
                        <a:t>, Smartphone</a:t>
                      </a:r>
                      <a:r>
                        <a:rPr lang="fr-FR" sz="1400" dirty="0" smtClean="0">
                          <a:latin typeface="Arial" pitchFamily="34" charset="0"/>
                          <a:cs typeface="Arial" pitchFamily="34" charset="0"/>
                        </a:rPr>
                        <a:t>, </a:t>
                      </a:r>
                      <a:r>
                        <a:rPr lang="fr-FR" sz="1400" b="1" dirty="0" smtClean="0">
                          <a:latin typeface="Arial" pitchFamily="34" charset="0"/>
                          <a:cs typeface="Arial" pitchFamily="34" charset="0"/>
                        </a:rPr>
                        <a:t>Montres connectées </a:t>
                      </a:r>
                      <a:r>
                        <a:rPr lang="fr-FR" sz="1400" b="1" baseline="0" dirty="0" smtClean="0">
                          <a:latin typeface="Arial" pitchFamily="34" charset="0"/>
                          <a:cs typeface="Arial" pitchFamily="34" charset="0"/>
                        </a:rPr>
                        <a:t> …</a:t>
                      </a:r>
                      <a:endParaRPr lang="fr-FR" sz="1400" dirty="0">
                        <a:latin typeface="Verdana"/>
                        <a:ea typeface="Verdana"/>
                        <a:cs typeface="Verdan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46346">
                <a:tc>
                  <a:txBody>
                    <a:bodyPr/>
                    <a:lstStyle/>
                    <a:p>
                      <a:pPr marL="10795" algn="l">
                        <a:spcAft>
                          <a:spcPts val="0"/>
                        </a:spcAft>
                      </a:pPr>
                      <a:endParaRPr lang="fr-FR" sz="1400" dirty="0">
                        <a:latin typeface="Verdana"/>
                        <a:ea typeface="Verdana"/>
                        <a:cs typeface="Verdana"/>
                      </a:endParaRPr>
                    </a:p>
                    <a:p>
                      <a:pPr marL="14605" marR="5080" algn="ctr">
                        <a:spcAft>
                          <a:spcPts val="0"/>
                        </a:spcAft>
                      </a:pPr>
                      <a:r>
                        <a:rPr lang="fr-FR" sz="1400" b="1" spc="-10" dirty="0">
                          <a:latin typeface="Tahoma"/>
                          <a:ea typeface="Verdana"/>
                          <a:cs typeface="Verdana"/>
                        </a:rPr>
                        <a:t>Procédés</a:t>
                      </a:r>
                      <a:endParaRPr lang="fr-FR" sz="1400" dirty="0">
                        <a:latin typeface="Verdana"/>
                        <a:ea typeface="Verdana"/>
                        <a:cs typeface="Verdan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795" marR="93345" algn="just">
                        <a:lnSpc>
                          <a:spcPct val="98000"/>
                        </a:lnSpc>
                        <a:spcBef>
                          <a:spcPts val="175"/>
                        </a:spcBef>
                        <a:spcAft>
                          <a:spcPts val="0"/>
                        </a:spcAft>
                        <a:tabLst>
                          <a:tab pos="6316980" algn="l"/>
                        </a:tabLst>
                      </a:pPr>
                      <a:r>
                        <a:rPr lang="fr-FR" sz="1400" spc="-10" dirty="0">
                          <a:latin typeface="Verdana"/>
                          <a:ea typeface="Verdana"/>
                          <a:cs typeface="Verdana"/>
                        </a:rPr>
                        <a:t>L’innovation de procédé repose sur l’introduction de nouvelles méthodes ou l’amélioration sensible de méthodes existantes dans les activités de production et de distribution de l’entreprise.</a:t>
                      </a:r>
                      <a:endParaRPr lang="fr-FR" sz="1400" dirty="0">
                        <a:latin typeface="Verdana"/>
                        <a:ea typeface="Verdana"/>
                        <a:cs typeface="Verdana"/>
                      </a:endParaRPr>
                    </a:p>
                    <a:p>
                      <a:pPr algn="just">
                        <a:spcAft>
                          <a:spcPts val="0"/>
                        </a:spcAft>
                      </a:pPr>
                      <a:r>
                        <a:rPr lang="fr-FR" sz="1400" spc="-10" dirty="0">
                          <a:latin typeface="Verdana"/>
                          <a:ea typeface="Verdana"/>
                          <a:cs typeface="Verdana"/>
                        </a:rPr>
                        <a:t> Ces  méthodes peuvent impliquer des moyens  techniques, matériels ou </a:t>
                      </a:r>
                      <a:r>
                        <a:rPr lang="fr-FR" sz="1400" spc="-10" dirty="0" smtClean="0">
                          <a:latin typeface="Verdana"/>
                          <a:ea typeface="Verdana"/>
                          <a:cs typeface="Verdana"/>
                        </a:rPr>
                        <a:t>logiciels : </a:t>
                      </a:r>
                      <a:r>
                        <a:rPr lang="fr-FR" sz="1400" b="1" dirty="0" smtClean="0">
                          <a:latin typeface="Arial" pitchFamily="34" charset="0"/>
                          <a:cs typeface="Arial" pitchFamily="34" charset="0"/>
                        </a:rPr>
                        <a:t>Automatisation et robotisation , Blockchain dans la chaîne d'approvisionnement , Systèmes de gestion de l'énergie …</a:t>
                      </a:r>
                      <a:endParaRPr lang="fr-FR" sz="1400" dirty="0">
                        <a:latin typeface="Verdana"/>
                        <a:ea typeface="Verdana"/>
                        <a:cs typeface="Verdan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09599">
                <a:tc>
                  <a:txBody>
                    <a:bodyPr/>
                    <a:lstStyle/>
                    <a:p>
                      <a:pPr marL="10795" algn="l">
                        <a:spcAft>
                          <a:spcPts val="0"/>
                        </a:spcAft>
                      </a:pPr>
                      <a:endParaRPr lang="fr-FR" sz="1400" dirty="0">
                        <a:latin typeface="Verdana"/>
                        <a:ea typeface="Verdana"/>
                        <a:cs typeface="Verdana"/>
                      </a:endParaRPr>
                    </a:p>
                    <a:p>
                      <a:pPr marL="14605" marR="2540" algn="ctr">
                        <a:spcAft>
                          <a:spcPts val="0"/>
                        </a:spcAft>
                      </a:pPr>
                      <a:r>
                        <a:rPr lang="fr-FR" sz="1400" b="1" spc="-10" dirty="0">
                          <a:latin typeface="Tahoma"/>
                          <a:ea typeface="Verdana"/>
                          <a:cs typeface="Verdana"/>
                        </a:rPr>
                        <a:t>Commercialisation</a:t>
                      </a:r>
                      <a:endParaRPr lang="fr-FR" sz="1400" dirty="0">
                        <a:latin typeface="Verdana"/>
                        <a:ea typeface="Verdana"/>
                        <a:cs typeface="Verdan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795" marR="93345" algn="just">
                        <a:lnSpc>
                          <a:spcPct val="98000"/>
                        </a:lnSpc>
                        <a:spcBef>
                          <a:spcPts val="285"/>
                        </a:spcBef>
                        <a:spcAft>
                          <a:spcPts val="0"/>
                        </a:spcAft>
                      </a:pPr>
                      <a:r>
                        <a:rPr lang="fr-FR" sz="1400" spc="-10" dirty="0">
                          <a:latin typeface="Verdana"/>
                          <a:ea typeface="Verdana"/>
                          <a:cs typeface="Verdana"/>
                        </a:rPr>
                        <a:t>Une innovation de commercialisation est liée à la mise en œuvre d’une nouvelle méthode changeant de façon significative la conception ou le conditionnement des produits, leur placement sur le lieu de vente, leur mode de promotion ou encore leur </a:t>
                      </a:r>
                      <a:r>
                        <a:rPr lang="fr-FR" sz="1400" spc="-10" dirty="0" smtClean="0">
                          <a:latin typeface="Verdana"/>
                          <a:ea typeface="Verdana"/>
                          <a:cs typeface="Verdana"/>
                        </a:rPr>
                        <a:t>tarification : </a:t>
                      </a:r>
                      <a:r>
                        <a:rPr lang="fr-FR" sz="1400" b="1" dirty="0" smtClean="0">
                          <a:latin typeface="Arial" pitchFamily="34" charset="0"/>
                          <a:cs typeface="Arial" pitchFamily="34" charset="0"/>
                        </a:rPr>
                        <a:t>Marketing personnalisé , Marketing d'influence , Utilisation de la réalité augmentée (RA) …</a:t>
                      </a:r>
                      <a:endParaRPr lang="fr-FR" sz="1400" dirty="0">
                        <a:latin typeface="Verdana"/>
                        <a:ea typeface="Verdana"/>
                        <a:cs typeface="Verdan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82199">
                <a:tc>
                  <a:txBody>
                    <a:bodyPr/>
                    <a:lstStyle/>
                    <a:p>
                      <a:pPr marL="10795" algn="l">
                        <a:spcBef>
                          <a:spcPts val="275"/>
                        </a:spcBef>
                        <a:spcAft>
                          <a:spcPts val="0"/>
                        </a:spcAft>
                      </a:pPr>
                      <a:endParaRPr lang="fr-FR" sz="1400" dirty="0">
                        <a:latin typeface="Verdana"/>
                        <a:ea typeface="Verdana"/>
                        <a:cs typeface="Verdana"/>
                      </a:endParaRPr>
                    </a:p>
                    <a:p>
                      <a:pPr marL="14605" marR="2540" algn="ctr">
                        <a:spcBef>
                          <a:spcPts val="5"/>
                        </a:spcBef>
                        <a:spcAft>
                          <a:spcPts val="0"/>
                        </a:spcAft>
                      </a:pPr>
                      <a:r>
                        <a:rPr lang="fr-FR" sz="1400" b="1" dirty="0">
                          <a:latin typeface="Tahoma"/>
                          <a:ea typeface="Verdana"/>
                          <a:cs typeface="Verdana"/>
                        </a:rPr>
                        <a:t>L</a:t>
                      </a:r>
                      <a:r>
                        <a:rPr lang="fr-FR" sz="1400" b="1" spc="-10" dirty="0">
                          <a:latin typeface="Tahoma"/>
                          <a:ea typeface="Verdana"/>
                          <a:cs typeface="Verdana"/>
                        </a:rPr>
                        <a:t>’organisation</a:t>
                      </a:r>
                      <a:endParaRPr lang="fr-FR" sz="1400" dirty="0">
                        <a:latin typeface="Verdana"/>
                        <a:ea typeface="Verdana"/>
                        <a:cs typeface="Verdan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0795" marR="93345" algn="just">
                        <a:lnSpc>
                          <a:spcPct val="98000"/>
                        </a:lnSpc>
                        <a:spcBef>
                          <a:spcPts val="290"/>
                        </a:spcBef>
                        <a:spcAft>
                          <a:spcPts val="0"/>
                        </a:spcAft>
                      </a:pPr>
                      <a:r>
                        <a:rPr lang="fr-FR" sz="1400" spc="-10" dirty="0">
                          <a:latin typeface="Verdana"/>
                          <a:ea typeface="Verdana"/>
                          <a:cs typeface="Verdana"/>
                        </a:rPr>
                        <a:t>L’innovation d’organisation repose sur un changement dans les pratiques de l’entreprise, dans l’organisation du lieu de travail ou dans la manière dont les relations extérieures sont </a:t>
                      </a:r>
                      <a:r>
                        <a:rPr lang="fr-FR" sz="1400" spc="-10" dirty="0" smtClean="0">
                          <a:latin typeface="Verdana"/>
                          <a:ea typeface="Verdana"/>
                          <a:cs typeface="Verdana"/>
                        </a:rPr>
                        <a:t>gérées : </a:t>
                      </a:r>
                      <a:r>
                        <a:rPr lang="fr-FR" sz="1400" b="1" dirty="0" smtClean="0">
                          <a:latin typeface="Arial" pitchFamily="34" charset="0"/>
                          <a:cs typeface="Arial" pitchFamily="34" charset="0"/>
                        </a:rPr>
                        <a:t>Utilisation de l'intelligence artificielle pour l'automatisation , Structures organisationnelles plates ….</a:t>
                      </a:r>
                      <a:endParaRPr lang="fr-FR" sz="1400" dirty="0">
                        <a:latin typeface="Verdana"/>
                        <a:ea typeface="Verdana"/>
                        <a:cs typeface="Verdan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6" name="Image 5"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1"/>
          <p:cNvSpPr>
            <a:spLocks noChangeArrowheads="1"/>
          </p:cNvSpPr>
          <p:nvPr/>
        </p:nvSpPr>
        <p:spPr bwMode="auto">
          <a:xfrm>
            <a:off x="717096" y="2196193"/>
            <a:ext cx="10963275" cy="4431983"/>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buFontTx/>
              <a:buNone/>
              <a:tabLst/>
            </a:pPr>
            <a:r>
              <a:rPr lang="fr-FR" b="1" dirty="0" smtClean="0">
                <a:solidFill>
                  <a:srgbClr val="C00000"/>
                </a:solidFill>
              </a:rPr>
              <a:t>2- DIFFERENTS TYPES D’INNOVATION</a:t>
            </a:r>
          </a:p>
          <a:p>
            <a:pPr marL="0" marR="0" lvl="0" indent="0" algn="justLow" defTabSz="914400" rtl="0" eaLnBrk="1" fontAlgn="base" latinLnBrk="0" hangingPunct="1">
              <a:lnSpc>
                <a:spcPct val="100000"/>
              </a:lnSpc>
              <a:spcBef>
                <a:spcPct val="0"/>
              </a:spcBef>
              <a:spcAft>
                <a:spcPct val="0"/>
              </a:spcAft>
              <a:buClrTx/>
              <a:buSzTx/>
              <a:buFontTx/>
              <a:buNone/>
              <a:tabLst/>
            </a:pPr>
            <a:endParaRPr lang="fr-FR" sz="800" b="1" dirty="0" smtClean="0">
              <a:solidFill>
                <a:srgbClr val="C00000"/>
              </a:solidFill>
            </a:endParaRPr>
          </a:p>
          <a:p>
            <a:pPr marL="0" marR="0" lvl="0" indent="0" algn="justLow" defTabSz="914400" rtl="0" eaLnBrk="0" fontAlgn="base" latinLnBrk="0" hangingPunct="0">
              <a:lnSpc>
                <a:spcPct val="100000"/>
              </a:lnSpc>
              <a:spcBef>
                <a:spcPct val="0"/>
              </a:spcBef>
              <a:spcAft>
                <a:spcPct val="0"/>
              </a:spcAft>
              <a:buClrTx/>
              <a:buSzTx/>
              <a:buFontTx/>
              <a:buNone/>
              <a:tabLst/>
            </a:pPr>
            <a:r>
              <a:rPr lang="fr-FR" sz="2000" dirty="0" smtClean="0">
                <a:latin typeface="Arial" pitchFamily="34" charset="0"/>
                <a:cs typeface="Arial" pitchFamily="34" charset="0"/>
              </a:rPr>
              <a:t>L’innovation résulte de l’interaction des composantes internes et externes. Les composantes internes sont les connaissances spécifiques à l’entreprise : son savoir-faire, ses capacités de R&amp;D, et bien sûr, les réalités financières propres à sa structure.</a:t>
            </a:r>
          </a:p>
          <a:p>
            <a:pPr marL="0" marR="0" lvl="0" indent="0" algn="justLow" defTabSz="914400" rtl="0" eaLnBrk="0" fontAlgn="base" latinLnBrk="0" hangingPunct="0">
              <a:lnSpc>
                <a:spcPct val="100000"/>
              </a:lnSpc>
              <a:spcBef>
                <a:spcPct val="0"/>
              </a:spcBef>
              <a:spcAft>
                <a:spcPct val="0"/>
              </a:spcAft>
              <a:buClrTx/>
              <a:buSzTx/>
              <a:buFontTx/>
              <a:buNone/>
              <a:tabLst/>
            </a:pPr>
            <a:endParaRPr lang="fr-FR" sz="800" dirty="0" smtClean="0">
              <a:latin typeface="Arial" pitchFamily="34" charset="0"/>
              <a:cs typeface="Arial" pitchFamily="34" charset="0"/>
            </a:endParaRPr>
          </a:p>
          <a:p>
            <a:pPr marL="0" marR="0" lvl="0" indent="0" algn="justLow" defTabSz="914400" rtl="0" eaLnBrk="0" fontAlgn="base" latinLnBrk="0" hangingPunct="0">
              <a:lnSpc>
                <a:spcPct val="100000"/>
              </a:lnSpc>
              <a:spcBef>
                <a:spcPct val="0"/>
              </a:spcBef>
              <a:spcAft>
                <a:spcPct val="0"/>
              </a:spcAft>
              <a:buClrTx/>
              <a:buSzTx/>
              <a:buFontTx/>
              <a:buNone/>
              <a:tabLst/>
            </a:pPr>
            <a:r>
              <a:rPr lang="fr-FR" sz="2000" dirty="0" smtClean="0">
                <a:latin typeface="Arial" pitchFamily="34" charset="0"/>
                <a:cs typeface="Arial" pitchFamily="34" charset="0"/>
              </a:rPr>
              <a:t>Les composantes externes comprennent les éléments qui contribuent à déclencher l’innovation </a:t>
            </a:r>
          </a:p>
          <a:p>
            <a:pPr marL="0" marR="0" lvl="0" indent="0" algn="justLow" defTabSz="914400" rtl="0" eaLnBrk="0" fontAlgn="base" latinLnBrk="0" hangingPunct="0">
              <a:lnSpc>
                <a:spcPct val="100000"/>
              </a:lnSpc>
              <a:spcBef>
                <a:spcPct val="0"/>
              </a:spcBef>
              <a:spcAft>
                <a:spcPct val="0"/>
              </a:spcAft>
              <a:buClrTx/>
              <a:buSzTx/>
              <a:buFontTx/>
              <a:buNone/>
              <a:tabLst/>
            </a:pPr>
            <a:r>
              <a:rPr lang="fr-FR" sz="2000" dirty="0" smtClean="0">
                <a:latin typeface="Arial" pitchFamily="34" charset="0"/>
                <a:cs typeface="Arial" pitchFamily="34" charset="0"/>
              </a:rPr>
              <a:t>depuis l’extérieur de l’entreprise : clients, fournisseurs, et consultants grâce à l’utilisation de plateformes d’innovation open lab.</a:t>
            </a:r>
          </a:p>
          <a:p>
            <a:pPr marL="0" marR="0" lvl="0" indent="0" algn="justLow" defTabSz="914400" rtl="0" eaLnBrk="0" fontAlgn="base" latinLnBrk="0" hangingPunct="0">
              <a:lnSpc>
                <a:spcPct val="100000"/>
              </a:lnSpc>
              <a:spcBef>
                <a:spcPct val="0"/>
              </a:spcBef>
              <a:spcAft>
                <a:spcPct val="0"/>
              </a:spcAft>
              <a:buClrTx/>
              <a:buSzTx/>
              <a:buFontTx/>
              <a:buNone/>
              <a:tabLst/>
            </a:pPr>
            <a:endParaRPr lang="fr-FR" sz="800" dirty="0" smtClean="0">
              <a:latin typeface="Arial" pitchFamily="34" charset="0"/>
              <a:cs typeface="Arial" pitchFamily="34" charset="0"/>
            </a:endParaRPr>
          </a:p>
          <a:p>
            <a:pPr marL="0" marR="0" lvl="0" indent="0" algn="justLow" defTabSz="914400" rtl="0" eaLnBrk="0" fontAlgn="base" latinLnBrk="0" hangingPunct="0">
              <a:lnSpc>
                <a:spcPct val="100000"/>
              </a:lnSpc>
              <a:spcBef>
                <a:spcPct val="0"/>
              </a:spcBef>
              <a:spcAft>
                <a:spcPct val="0"/>
              </a:spcAft>
              <a:buClrTx/>
              <a:buSzTx/>
              <a:buFontTx/>
              <a:buNone/>
              <a:tabLst/>
            </a:pPr>
            <a:r>
              <a:rPr lang="fr-FR" sz="2000" dirty="0" smtClean="0">
                <a:latin typeface="Arial" pitchFamily="34" charset="0"/>
                <a:cs typeface="Arial" pitchFamily="34" charset="0"/>
              </a:rPr>
              <a:t>Il existe fondamentalement </a:t>
            </a:r>
            <a:r>
              <a:rPr lang="fr-FR" sz="2000" b="1" dirty="0" smtClean="0">
                <a:latin typeface="Arial" pitchFamily="34" charset="0"/>
                <a:cs typeface="Arial" pitchFamily="34" charset="0"/>
              </a:rPr>
              <a:t>4</a:t>
            </a:r>
            <a:r>
              <a:rPr lang="fr-FR" sz="2000" dirty="0" smtClean="0">
                <a:latin typeface="Arial" pitchFamily="34" charset="0"/>
                <a:cs typeface="Arial" pitchFamily="34" charset="0"/>
              </a:rPr>
              <a:t> types d’innovation :</a:t>
            </a:r>
          </a:p>
          <a:p>
            <a:pPr marR="0" lvl="0" indent="895350" algn="justLow" defTabSz="914400" rtl="0" eaLnBrk="0" fontAlgn="base" latinLnBrk="0" hangingPunct="0">
              <a:lnSpc>
                <a:spcPct val="100000"/>
              </a:lnSpc>
              <a:spcBef>
                <a:spcPct val="0"/>
              </a:spcBef>
              <a:spcAft>
                <a:spcPct val="0"/>
              </a:spcAft>
              <a:buClrTx/>
              <a:buSzTx/>
              <a:buFontTx/>
              <a:buNone/>
              <a:tabLst/>
            </a:pPr>
            <a:r>
              <a:rPr lang="fr-FR" sz="2000" b="1" dirty="0" smtClean="0">
                <a:latin typeface="Arial" pitchFamily="34" charset="0"/>
                <a:cs typeface="Arial" pitchFamily="34" charset="0"/>
              </a:rPr>
              <a:t></a:t>
            </a:r>
            <a:r>
              <a:rPr lang="fr-FR" sz="2000" dirty="0" smtClean="0">
                <a:latin typeface="Arial" pitchFamily="34" charset="0"/>
                <a:cs typeface="Arial" pitchFamily="34" charset="0"/>
              </a:rPr>
              <a:t> L’innovation continue</a:t>
            </a:r>
          </a:p>
          <a:p>
            <a:pPr marR="0" lvl="0" indent="895350" algn="justLow" defTabSz="914400" rtl="0" eaLnBrk="0" fontAlgn="base" latinLnBrk="0" hangingPunct="0">
              <a:lnSpc>
                <a:spcPct val="100000"/>
              </a:lnSpc>
              <a:spcBef>
                <a:spcPct val="0"/>
              </a:spcBef>
              <a:spcAft>
                <a:spcPct val="0"/>
              </a:spcAft>
              <a:buClrTx/>
              <a:buSzTx/>
              <a:buFontTx/>
              <a:buNone/>
              <a:tabLst/>
            </a:pPr>
            <a:r>
              <a:rPr lang="fr-FR" sz="2000" b="1" dirty="0" smtClean="0">
                <a:latin typeface="Arial" pitchFamily="34" charset="0"/>
                <a:cs typeface="Arial" pitchFamily="34" charset="0"/>
              </a:rPr>
              <a:t></a:t>
            </a:r>
            <a:r>
              <a:rPr lang="fr-FR" sz="2000" dirty="0" smtClean="0">
                <a:latin typeface="Arial" pitchFamily="34" charset="0"/>
                <a:cs typeface="Arial" pitchFamily="34" charset="0"/>
              </a:rPr>
              <a:t> L’innovation adjacente</a:t>
            </a:r>
          </a:p>
          <a:p>
            <a:pPr marR="0" lvl="0" indent="895350" algn="justLow" defTabSz="914400" rtl="0" eaLnBrk="0" fontAlgn="base" latinLnBrk="0" hangingPunct="0">
              <a:lnSpc>
                <a:spcPct val="100000"/>
              </a:lnSpc>
              <a:spcBef>
                <a:spcPct val="0"/>
              </a:spcBef>
              <a:spcAft>
                <a:spcPct val="0"/>
              </a:spcAft>
              <a:buClrTx/>
              <a:buSzTx/>
              <a:buFontTx/>
              <a:buNone/>
              <a:tabLst/>
            </a:pPr>
            <a:r>
              <a:rPr lang="fr-FR" sz="2000" b="1" dirty="0" smtClean="0">
                <a:latin typeface="Arial" pitchFamily="34" charset="0"/>
                <a:cs typeface="Arial" pitchFamily="34" charset="0"/>
              </a:rPr>
              <a:t></a:t>
            </a:r>
            <a:r>
              <a:rPr lang="fr-FR" sz="2000" dirty="0" smtClean="0">
                <a:latin typeface="Arial" pitchFamily="34" charset="0"/>
                <a:cs typeface="Arial" pitchFamily="34" charset="0"/>
              </a:rPr>
              <a:t> L’innovation de rupture (disruptive)</a:t>
            </a:r>
          </a:p>
          <a:p>
            <a:pPr marR="0" lvl="0" indent="895350" algn="justLow" defTabSz="914400" rtl="0" eaLnBrk="0" fontAlgn="base" latinLnBrk="0" hangingPunct="0">
              <a:lnSpc>
                <a:spcPct val="100000"/>
              </a:lnSpc>
              <a:spcBef>
                <a:spcPct val="0"/>
              </a:spcBef>
              <a:spcAft>
                <a:spcPct val="0"/>
              </a:spcAft>
              <a:buClrTx/>
              <a:buSzTx/>
              <a:buFontTx/>
              <a:buNone/>
              <a:tabLst/>
            </a:pPr>
            <a:r>
              <a:rPr lang="fr-FR" sz="2000" b="1" dirty="0" smtClean="0">
                <a:latin typeface="Arial" pitchFamily="34" charset="0"/>
                <a:cs typeface="Arial" pitchFamily="34" charset="0"/>
              </a:rPr>
              <a:t></a:t>
            </a:r>
            <a:r>
              <a:rPr lang="fr-FR" sz="2000" dirty="0" smtClean="0">
                <a:latin typeface="Arial" pitchFamily="34" charset="0"/>
                <a:cs typeface="Arial" pitchFamily="34" charset="0"/>
              </a:rPr>
              <a:t> L’innovation radicale (new </a:t>
            </a:r>
            <a:r>
              <a:rPr lang="fr-FR" sz="2000" dirty="0" err="1" smtClean="0">
                <a:latin typeface="Arial" pitchFamily="34" charset="0"/>
                <a:cs typeface="Arial" pitchFamily="34" charset="0"/>
              </a:rPr>
              <a:t>market</a:t>
            </a:r>
            <a:r>
              <a:rPr lang="fr-FR" sz="2000" dirty="0" smtClean="0">
                <a:latin typeface="Arial" pitchFamily="34" charset="0"/>
                <a:cs typeface="Arial" pitchFamily="34" charset="0"/>
              </a:rPr>
              <a:t> innovation)</a:t>
            </a:r>
          </a:p>
          <a:p>
            <a:pPr marL="0" marR="0" lvl="0" indent="0" algn="justLow" defTabSz="914400" rtl="0" eaLnBrk="0" fontAlgn="base" latinLnBrk="0" hangingPunct="0">
              <a:lnSpc>
                <a:spcPct val="100000"/>
              </a:lnSpc>
              <a:spcBef>
                <a:spcPct val="0"/>
              </a:spcBef>
              <a:spcAft>
                <a:spcPct val="0"/>
              </a:spcAft>
              <a:buClrTx/>
              <a:buSzTx/>
              <a:buFontTx/>
              <a:buNone/>
              <a:tabLst/>
            </a:pPr>
            <a:endParaRPr lang="fr-FR" sz="2000" dirty="0" smtClean="0">
              <a:latin typeface="Arial" pitchFamily="34" charset="0"/>
              <a:cs typeface="Arial" pitchFamily="34" charset="0"/>
            </a:endParaRPr>
          </a:p>
        </p:txBody>
      </p:sp>
      <p:sp>
        <p:nvSpPr>
          <p:cNvPr id="4" name="Rectangle 3"/>
          <p:cNvSpPr/>
          <p:nvPr/>
        </p:nvSpPr>
        <p:spPr>
          <a:xfrm>
            <a:off x="2559129" y="1663184"/>
            <a:ext cx="3555589" cy="338554"/>
          </a:xfrm>
          <a:prstGeom prst="rect">
            <a:avLst/>
          </a:prstGeom>
        </p:spPr>
        <p:txBody>
          <a:bodyPr wrap="none">
            <a:spAutoFit/>
          </a:bodyPr>
          <a:lstStyle/>
          <a:p>
            <a:pPr lvl="1" algn="justLow" fontAlgn="base">
              <a:spcBef>
                <a:spcPct val="0"/>
              </a:spcBef>
              <a:spcAft>
                <a:spcPct val="0"/>
              </a:spcAft>
              <a:buClr>
                <a:srgbClr val="0066CC"/>
              </a:buClr>
              <a:tabLst>
                <a:tab pos="773113" algn="l"/>
              </a:tabLst>
            </a:pPr>
            <a:r>
              <a:rPr lang="fr-FR" sz="1600" b="1" dirty="0" smtClean="0">
                <a:solidFill>
                  <a:srgbClr val="00B0F0"/>
                </a:solidFill>
                <a:latin typeface="Source Sans Pro"/>
              </a:rPr>
              <a:t>2- PORTEE DE L’INNOVATION</a:t>
            </a:r>
          </a:p>
        </p:txBody>
      </p:sp>
      <p:pic>
        <p:nvPicPr>
          <p:cNvPr id="5" name="Image 4"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me 2"/>
          <p:cNvGraphicFramePr/>
          <p:nvPr/>
        </p:nvGraphicFramePr>
        <p:xfrm>
          <a:off x="2613932" y="1042306"/>
          <a:ext cx="8391525" cy="4752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 4" descr="C:\Users\ma.mejri\Desktop\téléchargement (1).png"/>
          <p:cNvPicPr/>
          <p:nvPr/>
        </p:nvPicPr>
        <p:blipFill>
          <a:blip r:embed="rId6"/>
          <a:srcRect/>
          <a:stretch>
            <a:fillRect/>
          </a:stretch>
        </p:blipFill>
        <p:spPr bwMode="auto">
          <a:xfrm>
            <a:off x="774700" y="343807"/>
            <a:ext cx="1079500" cy="387350"/>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ma.mejri\Desktop\InnovationTypes.png"/>
          <p:cNvPicPr>
            <a:picLocks noChangeAspect="1" noChangeArrowheads="1"/>
          </p:cNvPicPr>
          <p:nvPr/>
        </p:nvPicPr>
        <p:blipFill>
          <a:blip r:embed="rId2"/>
          <a:srcRect/>
          <a:stretch>
            <a:fillRect/>
          </a:stretch>
        </p:blipFill>
        <p:spPr bwMode="auto">
          <a:xfrm>
            <a:off x="2286000" y="1519237"/>
            <a:ext cx="7620000" cy="3819525"/>
          </a:xfrm>
          <a:prstGeom prst="rect">
            <a:avLst/>
          </a:prstGeom>
          <a:noFill/>
        </p:spPr>
      </p:pic>
      <p:pic>
        <p:nvPicPr>
          <p:cNvPr id="6" name="Image 5" descr="C:\Users\ma.mejri\Desktop\téléchargement (1).png"/>
          <p:cNvPicPr/>
          <p:nvPr/>
        </p:nvPicPr>
        <p:blipFill>
          <a:blip r:embed="rId3"/>
          <a:srcRect/>
          <a:stretch>
            <a:fillRect/>
          </a:stretch>
        </p:blipFill>
        <p:spPr bwMode="auto">
          <a:xfrm>
            <a:off x="984250" y="677182"/>
            <a:ext cx="1079500" cy="38735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885826" y="1219200"/>
            <a:ext cx="10839450" cy="3477875"/>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457200" marR="0" lvl="1" indent="0" algn="justLow" defTabSz="914400" rtl="0" eaLnBrk="1" fontAlgn="base" latinLnBrk="0" hangingPunct="1">
              <a:lnSpc>
                <a:spcPct val="100000"/>
              </a:lnSpc>
              <a:spcBef>
                <a:spcPct val="0"/>
              </a:spcBef>
              <a:spcAft>
                <a:spcPct val="0"/>
              </a:spcAft>
              <a:buClr>
                <a:srgbClr val="0066CC"/>
              </a:buClr>
              <a:buSzTx/>
              <a:tabLst>
                <a:tab pos="773113" algn="l"/>
              </a:tabLst>
            </a:pPr>
            <a:endParaRPr kumimoji="0" lang="fr-FR" sz="2000" b="1" i="0" u="none" strike="noStrike" cap="none" normalizeH="0" baseline="0" dirty="0" smtClean="0">
              <a:ln>
                <a:noFill/>
              </a:ln>
              <a:solidFill>
                <a:srgbClr val="0066CC"/>
              </a:solidFill>
              <a:effectLst/>
              <a:latin typeface="Tahoma" pitchFamily="34" charset="0"/>
              <a:ea typeface="Verdana" pitchFamily="34" charset="0"/>
              <a:cs typeface="Tahoma" pitchFamily="34" charset="0"/>
            </a:endParaRPr>
          </a:p>
          <a:p>
            <a:pPr lvl="1" algn="justLow" fontAlgn="base">
              <a:spcBef>
                <a:spcPct val="0"/>
              </a:spcBef>
              <a:spcAft>
                <a:spcPct val="0"/>
              </a:spcAft>
              <a:buClr>
                <a:srgbClr val="0066CC"/>
              </a:buClr>
              <a:tabLst>
                <a:tab pos="773113" algn="l"/>
              </a:tabLst>
            </a:pPr>
            <a:r>
              <a:rPr lang="fr-FR" sz="1600" b="1" dirty="0" smtClean="0">
                <a:solidFill>
                  <a:srgbClr val="00B0F0"/>
                </a:solidFill>
                <a:latin typeface="Source Sans Pro"/>
              </a:rPr>
              <a:t>3- LES ENJEUX, LES SOURCES ET LES PILLIERS DE L’INNOVATION</a:t>
            </a:r>
          </a:p>
          <a:p>
            <a:pPr marL="457200" marR="0" lvl="1" indent="0" algn="justLow" defTabSz="914400" rtl="0" eaLnBrk="1" fontAlgn="base" latinLnBrk="0" hangingPunct="1">
              <a:lnSpc>
                <a:spcPct val="100000"/>
              </a:lnSpc>
              <a:spcBef>
                <a:spcPct val="0"/>
              </a:spcBef>
              <a:spcAft>
                <a:spcPct val="0"/>
              </a:spcAft>
              <a:buClr>
                <a:srgbClr val="0066CC"/>
              </a:buClr>
              <a:buSzTx/>
              <a:tabLst>
                <a:tab pos="773113" algn="l"/>
              </a:tabLst>
            </a:pPr>
            <a:endParaRPr kumimoji="0" lang="fr-FR" sz="2000" b="1" i="0" u="none" strike="noStrike" cap="none" normalizeH="0" baseline="0" dirty="0" smtClean="0">
              <a:ln>
                <a:noFill/>
              </a:ln>
              <a:solidFill>
                <a:srgbClr val="0066CC"/>
              </a:solidFill>
              <a:effectLst/>
              <a:latin typeface="Tahoma" pitchFamily="34" charset="0"/>
              <a:ea typeface="Verdana" pitchFamily="34" charset="0"/>
              <a:cs typeface="Tahoma" pitchFamily="34" charset="0"/>
            </a:endParaRPr>
          </a:p>
          <a:p>
            <a:pPr marL="0" marR="0" lvl="1" indent="0" fontAlgn="base">
              <a:lnSpc>
                <a:spcPct val="100000"/>
              </a:lnSpc>
              <a:spcBef>
                <a:spcPct val="0"/>
              </a:spcBef>
              <a:spcAft>
                <a:spcPct val="0"/>
              </a:spcAft>
              <a:buClr>
                <a:srgbClr val="0066CC"/>
              </a:buClr>
              <a:buSzTx/>
              <a:tabLst>
                <a:tab pos="1328738" algn="l"/>
              </a:tabLst>
            </a:pPr>
            <a:r>
              <a:rPr lang="fr-FR" sz="2000" b="1" dirty="0" smtClean="0">
                <a:solidFill>
                  <a:schemeClr val="accent4">
                    <a:lumMod val="75000"/>
                  </a:schemeClr>
                </a:solidFill>
                <a:latin typeface="Tahoma" pitchFamily="34" charset="0"/>
                <a:ea typeface="Verdana" pitchFamily="34" charset="0"/>
                <a:cs typeface="Tahoma" pitchFamily="34" charset="0"/>
              </a:rPr>
              <a:t>a) Les enjeux de l’innovation</a:t>
            </a:r>
          </a:p>
          <a:p>
            <a:pPr marL="457200" marR="0" lvl="1" indent="0" algn="justLow" defTabSz="914400" rtl="0" eaLnBrk="1" fontAlgn="base" latinLnBrk="0" hangingPunct="1">
              <a:lnSpc>
                <a:spcPct val="100000"/>
              </a:lnSpc>
              <a:spcBef>
                <a:spcPct val="0"/>
              </a:spcBef>
              <a:spcAft>
                <a:spcPct val="0"/>
              </a:spcAft>
              <a:buClr>
                <a:srgbClr val="0066CC"/>
              </a:buClr>
              <a:buSzTx/>
              <a:tabLst>
                <a:tab pos="773113" algn="l"/>
              </a:tabLst>
            </a:pPr>
            <a:endParaRPr lang="fr-FR" sz="2000" b="1" dirty="0" smtClean="0">
              <a:solidFill>
                <a:srgbClr val="0066CC"/>
              </a:solidFill>
              <a:latin typeface="Tahoma" pitchFamily="34" charset="0"/>
              <a:ea typeface="Verdana" pitchFamily="34" charset="0"/>
              <a:cs typeface="Tahoma" pitchFamily="34" charset="0"/>
            </a:endParaRPr>
          </a:p>
          <a:p>
            <a:pPr marL="457200" marR="0" lvl="1" indent="0" algn="justLow" defTabSz="914400" rtl="0" eaLnBrk="1" fontAlgn="base" latinLnBrk="0" hangingPunct="1">
              <a:lnSpc>
                <a:spcPct val="100000"/>
              </a:lnSpc>
              <a:spcBef>
                <a:spcPct val="0"/>
              </a:spcBef>
              <a:spcAft>
                <a:spcPct val="0"/>
              </a:spcAft>
              <a:buClr>
                <a:srgbClr val="0066CC"/>
              </a:buClr>
              <a:buSzTx/>
              <a:tabLst>
                <a:tab pos="773113" algn="l"/>
              </a:tabLst>
            </a:pPr>
            <a:endParaRPr lang="fr-FR" sz="2000" b="1" dirty="0" smtClean="0">
              <a:solidFill>
                <a:srgbClr val="0066CC"/>
              </a:solidFill>
              <a:latin typeface="Tahoma" pitchFamily="34" charset="0"/>
              <a:ea typeface="Verdana" pitchFamily="34" charset="0"/>
              <a:cs typeface="Tahoma" pitchFamily="34" charset="0"/>
            </a:endParaRPr>
          </a:p>
          <a:p>
            <a:pPr marL="0" marR="0" lvl="0" indent="0" algn="justLow" defTabSz="914400" rtl="0" eaLnBrk="0" fontAlgn="base" latinLnBrk="0" hangingPunct="0">
              <a:lnSpc>
                <a:spcPct val="100000"/>
              </a:lnSpc>
              <a:spcBef>
                <a:spcPct val="0"/>
              </a:spcBef>
              <a:spcAft>
                <a:spcPct val="0"/>
              </a:spcAft>
              <a:buClrTx/>
              <a:buSzTx/>
              <a:buFontTx/>
              <a:buNone/>
              <a:tabLst>
                <a:tab pos="773113" algn="l"/>
              </a:tabLst>
            </a:pPr>
            <a:r>
              <a:rPr lang="fr-FR" sz="2000" dirty="0" smtClean="0">
                <a:latin typeface="Arial" pitchFamily="34" charset="0"/>
                <a:cs typeface="Arial" pitchFamily="34" charset="0"/>
              </a:rPr>
              <a:t>Tous les acteurs économiques s’accordent pour voir dans l’innovation le vecteur principal du développement des entreprises mais aussi le moyen d’adaptation de l’entreprise aux changements dans son environnement et avant tout un facteur de différenciation compétitive </a:t>
            </a:r>
          </a:p>
          <a:p>
            <a:pPr marL="0" marR="0" lvl="0" indent="0" algn="justLow" defTabSz="914400" rtl="0" eaLnBrk="0" fontAlgn="base" latinLnBrk="0" hangingPunct="0">
              <a:lnSpc>
                <a:spcPct val="100000"/>
              </a:lnSpc>
              <a:spcBef>
                <a:spcPct val="0"/>
              </a:spcBef>
              <a:spcAft>
                <a:spcPct val="0"/>
              </a:spcAft>
              <a:buClrTx/>
              <a:buSzTx/>
              <a:buFontTx/>
              <a:buNone/>
              <a:tabLst>
                <a:tab pos="773113" algn="l"/>
              </a:tabLst>
            </a:pPr>
            <a:endParaRPr lang="fr-FR" sz="2000" dirty="0" smtClean="0">
              <a:latin typeface="Arial" pitchFamily="34" charset="0"/>
              <a:cs typeface="Arial" pitchFamily="34" charset="0"/>
            </a:endParaRPr>
          </a:p>
          <a:p>
            <a:pPr marL="0" marR="0" lvl="0" indent="0" algn="justLow" defTabSz="914400" rtl="0" eaLnBrk="0" fontAlgn="base" latinLnBrk="0" hangingPunct="0">
              <a:lnSpc>
                <a:spcPct val="100000"/>
              </a:lnSpc>
              <a:spcBef>
                <a:spcPct val="0"/>
              </a:spcBef>
              <a:spcAft>
                <a:spcPct val="0"/>
              </a:spcAft>
              <a:buClrTx/>
              <a:buSzTx/>
              <a:buFontTx/>
              <a:buNone/>
              <a:tabLst>
                <a:tab pos="773113" algn="l"/>
              </a:tabLst>
            </a:pPr>
            <a:endParaRPr lang="fr-FR" sz="2000" dirty="0" smtClean="0">
              <a:latin typeface="Arial" pitchFamily="34" charset="0"/>
              <a:cs typeface="Arial" pitchFamily="34" charset="0"/>
            </a:endParaRPr>
          </a:p>
        </p:txBody>
      </p:sp>
      <p:pic>
        <p:nvPicPr>
          <p:cNvPr id="4" name="Image 3"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docshapegroup83"/>
          <p:cNvGrpSpPr>
            <a:grpSpLocks/>
          </p:cNvGrpSpPr>
          <p:nvPr/>
        </p:nvGrpSpPr>
        <p:grpSpPr bwMode="auto">
          <a:xfrm>
            <a:off x="772362" y="2331401"/>
            <a:ext cx="9314538" cy="3245490"/>
            <a:chOff x="1214" y="452"/>
            <a:chExt cx="13073" cy="5112"/>
          </a:xfrm>
        </p:grpSpPr>
        <p:sp>
          <p:nvSpPr>
            <p:cNvPr id="1027" name="docshape84"/>
            <p:cNvSpPr>
              <a:spLocks/>
            </p:cNvSpPr>
            <p:nvPr/>
          </p:nvSpPr>
          <p:spPr bwMode="auto">
            <a:xfrm>
              <a:off x="1214" y="2045"/>
              <a:ext cx="5285" cy="2045"/>
            </a:xfrm>
            <a:custGeom>
              <a:avLst/>
              <a:gdLst/>
              <a:ahLst/>
              <a:cxnLst>
                <a:cxn ang="0">
                  <a:pos x="2431" y="3"/>
                </a:cxn>
                <a:cxn ang="0">
                  <a:pos x="2123" y="19"/>
                </a:cxn>
                <a:cxn ang="0">
                  <a:pos x="1827" y="49"/>
                </a:cxn>
                <a:cxn ang="0">
                  <a:pos x="1545" y="92"/>
                </a:cxn>
                <a:cxn ang="0">
                  <a:pos x="1281" y="146"/>
                </a:cxn>
                <a:cxn ang="0">
                  <a:pos x="1035" y="211"/>
                </a:cxn>
                <a:cxn ang="0">
                  <a:pos x="810" y="286"/>
                </a:cxn>
                <a:cxn ang="0">
                  <a:pos x="608" y="370"/>
                </a:cxn>
                <a:cxn ang="0">
                  <a:pos x="431" y="462"/>
                </a:cxn>
                <a:cxn ang="0">
                  <a:pos x="198" y="633"/>
                </a:cxn>
                <a:cxn ang="0">
                  <a:pos x="33" y="860"/>
                </a:cxn>
                <a:cxn ang="0">
                  <a:pos x="2" y="1063"/>
                </a:cxn>
                <a:cxn ang="0">
                  <a:pos x="99" y="1300"/>
                </a:cxn>
                <a:cxn ang="0">
                  <a:pos x="328" y="1516"/>
                </a:cxn>
                <a:cxn ang="0">
                  <a:pos x="546" y="1644"/>
                </a:cxn>
                <a:cxn ang="0">
                  <a:pos x="740" y="1731"/>
                </a:cxn>
                <a:cxn ang="0">
                  <a:pos x="957" y="1809"/>
                </a:cxn>
                <a:cxn ang="0">
                  <a:pos x="1196" y="1878"/>
                </a:cxn>
                <a:cxn ang="0">
                  <a:pos x="1455" y="1936"/>
                </a:cxn>
                <a:cxn ang="0">
                  <a:pos x="1731" y="1982"/>
                </a:cxn>
                <a:cxn ang="0">
                  <a:pos x="2023" y="2016"/>
                </a:cxn>
                <a:cxn ang="0">
                  <a:pos x="2327" y="2037"/>
                </a:cxn>
                <a:cxn ang="0">
                  <a:pos x="2643" y="2044"/>
                </a:cxn>
                <a:cxn ang="0">
                  <a:pos x="2958" y="2037"/>
                </a:cxn>
                <a:cxn ang="0">
                  <a:pos x="3263" y="2016"/>
                </a:cxn>
                <a:cxn ang="0">
                  <a:pos x="3554" y="1982"/>
                </a:cxn>
                <a:cxn ang="0">
                  <a:pos x="3830" y="1936"/>
                </a:cxn>
                <a:cxn ang="0">
                  <a:pos x="4089" y="1878"/>
                </a:cxn>
                <a:cxn ang="0">
                  <a:pos x="4328" y="1809"/>
                </a:cxn>
                <a:cxn ang="0">
                  <a:pos x="4546" y="1731"/>
                </a:cxn>
                <a:cxn ang="0">
                  <a:pos x="4740" y="1644"/>
                </a:cxn>
                <a:cxn ang="0">
                  <a:pos x="4907" y="1549"/>
                </a:cxn>
                <a:cxn ang="0">
                  <a:pos x="5157" y="1338"/>
                </a:cxn>
                <a:cxn ang="0">
                  <a:pos x="5277" y="1104"/>
                </a:cxn>
                <a:cxn ang="0">
                  <a:pos x="5267" y="900"/>
                </a:cxn>
                <a:cxn ang="0">
                  <a:pos x="5124" y="669"/>
                </a:cxn>
                <a:cxn ang="0">
                  <a:pos x="4855" y="462"/>
                </a:cxn>
                <a:cxn ang="0">
                  <a:pos x="4678" y="370"/>
                </a:cxn>
                <a:cxn ang="0">
                  <a:pos x="4476" y="286"/>
                </a:cxn>
                <a:cxn ang="0">
                  <a:pos x="4251" y="211"/>
                </a:cxn>
                <a:cxn ang="0">
                  <a:pos x="4005" y="146"/>
                </a:cxn>
                <a:cxn ang="0">
                  <a:pos x="3740" y="92"/>
                </a:cxn>
                <a:cxn ang="0">
                  <a:pos x="3459" y="49"/>
                </a:cxn>
                <a:cxn ang="0">
                  <a:pos x="3163" y="19"/>
                </a:cxn>
                <a:cxn ang="0">
                  <a:pos x="2854" y="3"/>
                </a:cxn>
              </a:cxnLst>
              <a:rect l="0" t="0" r="r" b="b"/>
              <a:pathLst>
                <a:path w="5285" h="2045">
                  <a:moveTo>
                    <a:pt x="2643" y="0"/>
                  </a:moveTo>
                  <a:lnTo>
                    <a:pt x="2537" y="0"/>
                  </a:lnTo>
                  <a:lnTo>
                    <a:pt x="2431" y="3"/>
                  </a:lnTo>
                  <a:lnTo>
                    <a:pt x="2327" y="7"/>
                  </a:lnTo>
                  <a:lnTo>
                    <a:pt x="2224" y="12"/>
                  </a:lnTo>
                  <a:lnTo>
                    <a:pt x="2123" y="19"/>
                  </a:lnTo>
                  <a:lnTo>
                    <a:pt x="2023" y="28"/>
                  </a:lnTo>
                  <a:lnTo>
                    <a:pt x="1924" y="38"/>
                  </a:lnTo>
                  <a:lnTo>
                    <a:pt x="1827" y="49"/>
                  </a:lnTo>
                  <a:lnTo>
                    <a:pt x="1731" y="62"/>
                  </a:lnTo>
                  <a:lnTo>
                    <a:pt x="1637" y="76"/>
                  </a:lnTo>
                  <a:lnTo>
                    <a:pt x="1545" y="92"/>
                  </a:lnTo>
                  <a:lnTo>
                    <a:pt x="1455" y="108"/>
                  </a:lnTo>
                  <a:lnTo>
                    <a:pt x="1367" y="126"/>
                  </a:lnTo>
                  <a:lnTo>
                    <a:pt x="1281" y="146"/>
                  </a:lnTo>
                  <a:lnTo>
                    <a:pt x="1196" y="166"/>
                  </a:lnTo>
                  <a:lnTo>
                    <a:pt x="1114" y="188"/>
                  </a:lnTo>
                  <a:lnTo>
                    <a:pt x="1035" y="211"/>
                  </a:lnTo>
                  <a:lnTo>
                    <a:pt x="957" y="235"/>
                  </a:lnTo>
                  <a:lnTo>
                    <a:pt x="882" y="260"/>
                  </a:lnTo>
                  <a:lnTo>
                    <a:pt x="810" y="286"/>
                  </a:lnTo>
                  <a:lnTo>
                    <a:pt x="740" y="313"/>
                  </a:lnTo>
                  <a:lnTo>
                    <a:pt x="672" y="341"/>
                  </a:lnTo>
                  <a:lnTo>
                    <a:pt x="608" y="370"/>
                  </a:lnTo>
                  <a:lnTo>
                    <a:pt x="546" y="400"/>
                  </a:lnTo>
                  <a:lnTo>
                    <a:pt x="487" y="431"/>
                  </a:lnTo>
                  <a:lnTo>
                    <a:pt x="431" y="462"/>
                  </a:lnTo>
                  <a:lnTo>
                    <a:pt x="378" y="495"/>
                  </a:lnTo>
                  <a:lnTo>
                    <a:pt x="282" y="563"/>
                  </a:lnTo>
                  <a:lnTo>
                    <a:pt x="198" y="633"/>
                  </a:lnTo>
                  <a:lnTo>
                    <a:pt x="129" y="706"/>
                  </a:lnTo>
                  <a:lnTo>
                    <a:pt x="74" y="782"/>
                  </a:lnTo>
                  <a:lnTo>
                    <a:pt x="33" y="860"/>
                  </a:lnTo>
                  <a:lnTo>
                    <a:pt x="9" y="940"/>
                  </a:lnTo>
                  <a:lnTo>
                    <a:pt x="0" y="1022"/>
                  </a:lnTo>
                  <a:lnTo>
                    <a:pt x="2" y="1063"/>
                  </a:lnTo>
                  <a:lnTo>
                    <a:pt x="19" y="1144"/>
                  </a:lnTo>
                  <a:lnTo>
                    <a:pt x="52" y="1223"/>
                  </a:lnTo>
                  <a:lnTo>
                    <a:pt x="99" y="1300"/>
                  </a:lnTo>
                  <a:lnTo>
                    <a:pt x="162" y="1375"/>
                  </a:lnTo>
                  <a:lnTo>
                    <a:pt x="238" y="1447"/>
                  </a:lnTo>
                  <a:lnTo>
                    <a:pt x="328" y="1516"/>
                  </a:lnTo>
                  <a:lnTo>
                    <a:pt x="431" y="1582"/>
                  </a:lnTo>
                  <a:lnTo>
                    <a:pt x="487" y="1613"/>
                  </a:lnTo>
                  <a:lnTo>
                    <a:pt x="546" y="1644"/>
                  </a:lnTo>
                  <a:lnTo>
                    <a:pt x="608" y="1674"/>
                  </a:lnTo>
                  <a:lnTo>
                    <a:pt x="672" y="1703"/>
                  </a:lnTo>
                  <a:lnTo>
                    <a:pt x="740" y="1731"/>
                  </a:lnTo>
                  <a:lnTo>
                    <a:pt x="810" y="1758"/>
                  </a:lnTo>
                  <a:lnTo>
                    <a:pt x="882" y="1784"/>
                  </a:lnTo>
                  <a:lnTo>
                    <a:pt x="957" y="1809"/>
                  </a:lnTo>
                  <a:lnTo>
                    <a:pt x="1035" y="1833"/>
                  </a:lnTo>
                  <a:lnTo>
                    <a:pt x="1114" y="1856"/>
                  </a:lnTo>
                  <a:lnTo>
                    <a:pt x="1196" y="1878"/>
                  </a:lnTo>
                  <a:lnTo>
                    <a:pt x="1281" y="1898"/>
                  </a:lnTo>
                  <a:lnTo>
                    <a:pt x="1367" y="1918"/>
                  </a:lnTo>
                  <a:lnTo>
                    <a:pt x="1455" y="1936"/>
                  </a:lnTo>
                  <a:lnTo>
                    <a:pt x="1545" y="1952"/>
                  </a:lnTo>
                  <a:lnTo>
                    <a:pt x="1637" y="1968"/>
                  </a:lnTo>
                  <a:lnTo>
                    <a:pt x="1731" y="1982"/>
                  </a:lnTo>
                  <a:lnTo>
                    <a:pt x="1827" y="1995"/>
                  </a:lnTo>
                  <a:lnTo>
                    <a:pt x="1924" y="2006"/>
                  </a:lnTo>
                  <a:lnTo>
                    <a:pt x="2023" y="2016"/>
                  </a:lnTo>
                  <a:lnTo>
                    <a:pt x="2123" y="2025"/>
                  </a:lnTo>
                  <a:lnTo>
                    <a:pt x="2224" y="2032"/>
                  </a:lnTo>
                  <a:lnTo>
                    <a:pt x="2327" y="2037"/>
                  </a:lnTo>
                  <a:lnTo>
                    <a:pt x="2431" y="2041"/>
                  </a:lnTo>
                  <a:lnTo>
                    <a:pt x="2537" y="2044"/>
                  </a:lnTo>
                  <a:lnTo>
                    <a:pt x="2643" y="2044"/>
                  </a:lnTo>
                  <a:lnTo>
                    <a:pt x="2749" y="2044"/>
                  </a:lnTo>
                  <a:lnTo>
                    <a:pt x="2854" y="2041"/>
                  </a:lnTo>
                  <a:lnTo>
                    <a:pt x="2958" y="2037"/>
                  </a:lnTo>
                  <a:lnTo>
                    <a:pt x="3061" y="2032"/>
                  </a:lnTo>
                  <a:lnTo>
                    <a:pt x="3163" y="2025"/>
                  </a:lnTo>
                  <a:lnTo>
                    <a:pt x="3263" y="2016"/>
                  </a:lnTo>
                  <a:lnTo>
                    <a:pt x="3362" y="2006"/>
                  </a:lnTo>
                  <a:lnTo>
                    <a:pt x="3459" y="1995"/>
                  </a:lnTo>
                  <a:lnTo>
                    <a:pt x="3554" y="1982"/>
                  </a:lnTo>
                  <a:lnTo>
                    <a:pt x="3648" y="1968"/>
                  </a:lnTo>
                  <a:lnTo>
                    <a:pt x="3740" y="1952"/>
                  </a:lnTo>
                  <a:lnTo>
                    <a:pt x="3830" y="1936"/>
                  </a:lnTo>
                  <a:lnTo>
                    <a:pt x="3919" y="1918"/>
                  </a:lnTo>
                  <a:lnTo>
                    <a:pt x="4005" y="1898"/>
                  </a:lnTo>
                  <a:lnTo>
                    <a:pt x="4089" y="1878"/>
                  </a:lnTo>
                  <a:lnTo>
                    <a:pt x="4171" y="1856"/>
                  </a:lnTo>
                  <a:lnTo>
                    <a:pt x="4251" y="1833"/>
                  </a:lnTo>
                  <a:lnTo>
                    <a:pt x="4328" y="1809"/>
                  </a:lnTo>
                  <a:lnTo>
                    <a:pt x="4403" y="1784"/>
                  </a:lnTo>
                  <a:lnTo>
                    <a:pt x="4476" y="1758"/>
                  </a:lnTo>
                  <a:lnTo>
                    <a:pt x="4546" y="1731"/>
                  </a:lnTo>
                  <a:lnTo>
                    <a:pt x="4613" y="1703"/>
                  </a:lnTo>
                  <a:lnTo>
                    <a:pt x="4678" y="1674"/>
                  </a:lnTo>
                  <a:lnTo>
                    <a:pt x="4740" y="1644"/>
                  </a:lnTo>
                  <a:lnTo>
                    <a:pt x="4799" y="1613"/>
                  </a:lnTo>
                  <a:lnTo>
                    <a:pt x="4855" y="1582"/>
                  </a:lnTo>
                  <a:lnTo>
                    <a:pt x="4907" y="1549"/>
                  </a:lnTo>
                  <a:lnTo>
                    <a:pt x="5004" y="1482"/>
                  </a:lnTo>
                  <a:lnTo>
                    <a:pt x="5087" y="1411"/>
                  </a:lnTo>
                  <a:lnTo>
                    <a:pt x="5157" y="1338"/>
                  </a:lnTo>
                  <a:lnTo>
                    <a:pt x="5212" y="1262"/>
                  </a:lnTo>
                  <a:lnTo>
                    <a:pt x="5252" y="1184"/>
                  </a:lnTo>
                  <a:lnTo>
                    <a:pt x="5277" y="1104"/>
                  </a:lnTo>
                  <a:lnTo>
                    <a:pt x="5285" y="1022"/>
                  </a:lnTo>
                  <a:lnTo>
                    <a:pt x="5283" y="981"/>
                  </a:lnTo>
                  <a:lnTo>
                    <a:pt x="5267" y="900"/>
                  </a:lnTo>
                  <a:lnTo>
                    <a:pt x="5234" y="821"/>
                  </a:lnTo>
                  <a:lnTo>
                    <a:pt x="5186" y="744"/>
                  </a:lnTo>
                  <a:lnTo>
                    <a:pt x="5124" y="669"/>
                  </a:lnTo>
                  <a:lnTo>
                    <a:pt x="5047" y="597"/>
                  </a:lnTo>
                  <a:lnTo>
                    <a:pt x="4957" y="528"/>
                  </a:lnTo>
                  <a:lnTo>
                    <a:pt x="4855" y="462"/>
                  </a:lnTo>
                  <a:lnTo>
                    <a:pt x="4799" y="431"/>
                  </a:lnTo>
                  <a:lnTo>
                    <a:pt x="4740" y="400"/>
                  </a:lnTo>
                  <a:lnTo>
                    <a:pt x="4678" y="370"/>
                  </a:lnTo>
                  <a:lnTo>
                    <a:pt x="4613" y="341"/>
                  </a:lnTo>
                  <a:lnTo>
                    <a:pt x="4546" y="313"/>
                  </a:lnTo>
                  <a:lnTo>
                    <a:pt x="4476" y="286"/>
                  </a:lnTo>
                  <a:lnTo>
                    <a:pt x="4403" y="260"/>
                  </a:lnTo>
                  <a:lnTo>
                    <a:pt x="4328" y="235"/>
                  </a:lnTo>
                  <a:lnTo>
                    <a:pt x="4251" y="211"/>
                  </a:lnTo>
                  <a:lnTo>
                    <a:pt x="4171" y="188"/>
                  </a:lnTo>
                  <a:lnTo>
                    <a:pt x="4089" y="166"/>
                  </a:lnTo>
                  <a:lnTo>
                    <a:pt x="4005" y="146"/>
                  </a:lnTo>
                  <a:lnTo>
                    <a:pt x="3919" y="126"/>
                  </a:lnTo>
                  <a:lnTo>
                    <a:pt x="3830" y="108"/>
                  </a:lnTo>
                  <a:lnTo>
                    <a:pt x="3740" y="92"/>
                  </a:lnTo>
                  <a:lnTo>
                    <a:pt x="3648" y="76"/>
                  </a:lnTo>
                  <a:lnTo>
                    <a:pt x="3554" y="62"/>
                  </a:lnTo>
                  <a:lnTo>
                    <a:pt x="3459" y="49"/>
                  </a:lnTo>
                  <a:lnTo>
                    <a:pt x="3362" y="38"/>
                  </a:lnTo>
                  <a:lnTo>
                    <a:pt x="3263" y="28"/>
                  </a:lnTo>
                  <a:lnTo>
                    <a:pt x="3163" y="19"/>
                  </a:lnTo>
                  <a:lnTo>
                    <a:pt x="3061" y="12"/>
                  </a:lnTo>
                  <a:lnTo>
                    <a:pt x="2958" y="7"/>
                  </a:lnTo>
                  <a:lnTo>
                    <a:pt x="2854" y="3"/>
                  </a:lnTo>
                  <a:lnTo>
                    <a:pt x="2749" y="0"/>
                  </a:lnTo>
                  <a:lnTo>
                    <a:pt x="2643" y="0"/>
                  </a:lnTo>
                  <a:close/>
                </a:path>
              </a:pathLst>
            </a:custGeom>
            <a:solidFill>
              <a:srgbClr val="7D96AC"/>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028" name="docshape85"/>
            <p:cNvSpPr>
              <a:spLocks/>
            </p:cNvSpPr>
            <p:nvPr/>
          </p:nvSpPr>
          <p:spPr bwMode="auto">
            <a:xfrm>
              <a:off x="1214" y="2045"/>
              <a:ext cx="5285" cy="2045"/>
            </a:xfrm>
            <a:custGeom>
              <a:avLst/>
              <a:gdLst/>
              <a:ahLst/>
              <a:cxnLst>
                <a:cxn ang="0">
                  <a:pos x="33" y="860"/>
                </a:cxn>
                <a:cxn ang="0">
                  <a:pos x="198" y="633"/>
                </a:cxn>
                <a:cxn ang="0">
                  <a:pos x="431" y="462"/>
                </a:cxn>
                <a:cxn ang="0">
                  <a:pos x="608" y="370"/>
                </a:cxn>
                <a:cxn ang="0">
                  <a:pos x="810" y="286"/>
                </a:cxn>
                <a:cxn ang="0">
                  <a:pos x="1035" y="211"/>
                </a:cxn>
                <a:cxn ang="0">
                  <a:pos x="1281" y="146"/>
                </a:cxn>
                <a:cxn ang="0">
                  <a:pos x="1545" y="92"/>
                </a:cxn>
                <a:cxn ang="0">
                  <a:pos x="1827" y="49"/>
                </a:cxn>
                <a:cxn ang="0">
                  <a:pos x="2123" y="19"/>
                </a:cxn>
                <a:cxn ang="0">
                  <a:pos x="2431" y="3"/>
                </a:cxn>
                <a:cxn ang="0">
                  <a:pos x="2749" y="0"/>
                </a:cxn>
                <a:cxn ang="0">
                  <a:pos x="3061" y="12"/>
                </a:cxn>
                <a:cxn ang="0">
                  <a:pos x="3362" y="38"/>
                </a:cxn>
                <a:cxn ang="0">
                  <a:pos x="3648" y="76"/>
                </a:cxn>
                <a:cxn ang="0">
                  <a:pos x="3919" y="126"/>
                </a:cxn>
                <a:cxn ang="0">
                  <a:pos x="4171" y="188"/>
                </a:cxn>
                <a:cxn ang="0">
                  <a:pos x="4403" y="260"/>
                </a:cxn>
                <a:cxn ang="0">
                  <a:pos x="4613" y="341"/>
                </a:cxn>
                <a:cxn ang="0">
                  <a:pos x="4799" y="431"/>
                </a:cxn>
                <a:cxn ang="0">
                  <a:pos x="5004" y="563"/>
                </a:cxn>
                <a:cxn ang="0">
                  <a:pos x="5212" y="782"/>
                </a:cxn>
                <a:cxn ang="0">
                  <a:pos x="5285" y="1022"/>
                </a:cxn>
                <a:cxn ang="0">
                  <a:pos x="5234" y="1223"/>
                </a:cxn>
                <a:cxn ang="0">
                  <a:pos x="5047" y="1447"/>
                </a:cxn>
                <a:cxn ang="0">
                  <a:pos x="4799" y="1613"/>
                </a:cxn>
                <a:cxn ang="0">
                  <a:pos x="4613" y="1703"/>
                </a:cxn>
                <a:cxn ang="0">
                  <a:pos x="4403" y="1784"/>
                </a:cxn>
                <a:cxn ang="0">
                  <a:pos x="4171" y="1856"/>
                </a:cxn>
                <a:cxn ang="0">
                  <a:pos x="3919" y="1918"/>
                </a:cxn>
                <a:cxn ang="0">
                  <a:pos x="3648" y="1968"/>
                </a:cxn>
                <a:cxn ang="0">
                  <a:pos x="3362" y="2006"/>
                </a:cxn>
                <a:cxn ang="0">
                  <a:pos x="3061" y="2032"/>
                </a:cxn>
                <a:cxn ang="0">
                  <a:pos x="2749" y="2044"/>
                </a:cxn>
                <a:cxn ang="0">
                  <a:pos x="2431" y="2041"/>
                </a:cxn>
                <a:cxn ang="0">
                  <a:pos x="2123" y="2025"/>
                </a:cxn>
                <a:cxn ang="0">
                  <a:pos x="1827" y="1995"/>
                </a:cxn>
                <a:cxn ang="0">
                  <a:pos x="1545" y="1952"/>
                </a:cxn>
                <a:cxn ang="0">
                  <a:pos x="1281" y="1898"/>
                </a:cxn>
                <a:cxn ang="0">
                  <a:pos x="1035" y="1833"/>
                </a:cxn>
                <a:cxn ang="0">
                  <a:pos x="810" y="1758"/>
                </a:cxn>
                <a:cxn ang="0">
                  <a:pos x="608" y="1674"/>
                </a:cxn>
                <a:cxn ang="0">
                  <a:pos x="431" y="1582"/>
                </a:cxn>
                <a:cxn ang="0">
                  <a:pos x="198" y="1411"/>
                </a:cxn>
                <a:cxn ang="0">
                  <a:pos x="33" y="1184"/>
                </a:cxn>
              </a:cxnLst>
              <a:rect l="0" t="0" r="r" b="b"/>
              <a:pathLst>
                <a:path w="5285" h="2045">
                  <a:moveTo>
                    <a:pt x="0" y="1022"/>
                  </a:moveTo>
                  <a:lnTo>
                    <a:pt x="9" y="940"/>
                  </a:lnTo>
                  <a:lnTo>
                    <a:pt x="33" y="860"/>
                  </a:lnTo>
                  <a:lnTo>
                    <a:pt x="74" y="782"/>
                  </a:lnTo>
                  <a:lnTo>
                    <a:pt x="129" y="706"/>
                  </a:lnTo>
                  <a:lnTo>
                    <a:pt x="198" y="633"/>
                  </a:lnTo>
                  <a:lnTo>
                    <a:pt x="282" y="563"/>
                  </a:lnTo>
                  <a:lnTo>
                    <a:pt x="378" y="495"/>
                  </a:lnTo>
                  <a:lnTo>
                    <a:pt x="431" y="462"/>
                  </a:lnTo>
                  <a:lnTo>
                    <a:pt x="487" y="431"/>
                  </a:lnTo>
                  <a:lnTo>
                    <a:pt x="546" y="400"/>
                  </a:lnTo>
                  <a:lnTo>
                    <a:pt x="608" y="370"/>
                  </a:lnTo>
                  <a:lnTo>
                    <a:pt x="672" y="341"/>
                  </a:lnTo>
                  <a:lnTo>
                    <a:pt x="740" y="313"/>
                  </a:lnTo>
                  <a:lnTo>
                    <a:pt x="810" y="286"/>
                  </a:lnTo>
                  <a:lnTo>
                    <a:pt x="882" y="260"/>
                  </a:lnTo>
                  <a:lnTo>
                    <a:pt x="957" y="235"/>
                  </a:lnTo>
                  <a:lnTo>
                    <a:pt x="1035" y="211"/>
                  </a:lnTo>
                  <a:lnTo>
                    <a:pt x="1114" y="188"/>
                  </a:lnTo>
                  <a:lnTo>
                    <a:pt x="1196" y="166"/>
                  </a:lnTo>
                  <a:lnTo>
                    <a:pt x="1281" y="146"/>
                  </a:lnTo>
                  <a:lnTo>
                    <a:pt x="1367" y="126"/>
                  </a:lnTo>
                  <a:lnTo>
                    <a:pt x="1455" y="108"/>
                  </a:lnTo>
                  <a:lnTo>
                    <a:pt x="1545" y="92"/>
                  </a:lnTo>
                  <a:lnTo>
                    <a:pt x="1637" y="76"/>
                  </a:lnTo>
                  <a:lnTo>
                    <a:pt x="1731" y="62"/>
                  </a:lnTo>
                  <a:lnTo>
                    <a:pt x="1827" y="49"/>
                  </a:lnTo>
                  <a:lnTo>
                    <a:pt x="1924" y="38"/>
                  </a:lnTo>
                  <a:lnTo>
                    <a:pt x="2023" y="28"/>
                  </a:lnTo>
                  <a:lnTo>
                    <a:pt x="2123" y="19"/>
                  </a:lnTo>
                  <a:lnTo>
                    <a:pt x="2224" y="12"/>
                  </a:lnTo>
                  <a:lnTo>
                    <a:pt x="2327" y="7"/>
                  </a:lnTo>
                  <a:lnTo>
                    <a:pt x="2431" y="3"/>
                  </a:lnTo>
                  <a:lnTo>
                    <a:pt x="2537" y="0"/>
                  </a:lnTo>
                  <a:lnTo>
                    <a:pt x="2643" y="0"/>
                  </a:lnTo>
                  <a:lnTo>
                    <a:pt x="2749" y="0"/>
                  </a:lnTo>
                  <a:lnTo>
                    <a:pt x="2854" y="3"/>
                  </a:lnTo>
                  <a:lnTo>
                    <a:pt x="2958" y="7"/>
                  </a:lnTo>
                  <a:lnTo>
                    <a:pt x="3061" y="12"/>
                  </a:lnTo>
                  <a:lnTo>
                    <a:pt x="3163" y="19"/>
                  </a:lnTo>
                  <a:lnTo>
                    <a:pt x="3263" y="28"/>
                  </a:lnTo>
                  <a:lnTo>
                    <a:pt x="3362" y="38"/>
                  </a:lnTo>
                  <a:lnTo>
                    <a:pt x="3459" y="49"/>
                  </a:lnTo>
                  <a:lnTo>
                    <a:pt x="3554" y="62"/>
                  </a:lnTo>
                  <a:lnTo>
                    <a:pt x="3648" y="76"/>
                  </a:lnTo>
                  <a:lnTo>
                    <a:pt x="3740" y="92"/>
                  </a:lnTo>
                  <a:lnTo>
                    <a:pt x="3830" y="108"/>
                  </a:lnTo>
                  <a:lnTo>
                    <a:pt x="3919" y="126"/>
                  </a:lnTo>
                  <a:lnTo>
                    <a:pt x="4005" y="146"/>
                  </a:lnTo>
                  <a:lnTo>
                    <a:pt x="4089" y="166"/>
                  </a:lnTo>
                  <a:lnTo>
                    <a:pt x="4171" y="188"/>
                  </a:lnTo>
                  <a:lnTo>
                    <a:pt x="4251" y="211"/>
                  </a:lnTo>
                  <a:lnTo>
                    <a:pt x="4328" y="235"/>
                  </a:lnTo>
                  <a:lnTo>
                    <a:pt x="4403" y="260"/>
                  </a:lnTo>
                  <a:lnTo>
                    <a:pt x="4476" y="286"/>
                  </a:lnTo>
                  <a:lnTo>
                    <a:pt x="4546" y="313"/>
                  </a:lnTo>
                  <a:lnTo>
                    <a:pt x="4613" y="341"/>
                  </a:lnTo>
                  <a:lnTo>
                    <a:pt x="4678" y="370"/>
                  </a:lnTo>
                  <a:lnTo>
                    <a:pt x="4740" y="400"/>
                  </a:lnTo>
                  <a:lnTo>
                    <a:pt x="4799" y="431"/>
                  </a:lnTo>
                  <a:lnTo>
                    <a:pt x="4855" y="462"/>
                  </a:lnTo>
                  <a:lnTo>
                    <a:pt x="4907" y="495"/>
                  </a:lnTo>
                  <a:lnTo>
                    <a:pt x="5004" y="563"/>
                  </a:lnTo>
                  <a:lnTo>
                    <a:pt x="5087" y="633"/>
                  </a:lnTo>
                  <a:lnTo>
                    <a:pt x="5157" y="706"/>
                  </a:lnTo>
                  <a:lnTo>
                    <a:pt x="5212" y="782"/>
                  </a:lnTo>
                  <a:lnTo>
                    <a:pt x="5252" y="860"/>
                  </a:lnTo>
                  <a:lnTo>
                    <a:pt x="5277" y="940"/>
                  </a:lnTo>
                  <a:lnTo>
                    <a:pt x="5285" y="1022"/>
                  </a:lnTo>
                  <a:lnTo>
                    <a:pt x="5283" y="1063"/>
                  </a:lnTo>
                  <a:lnTo>
                    <a:pt x="5267" y="1144"/>
                  </a:lnTo>
                  <a:lnTo>
                    <a:pt x="5234" y="1223"/>
                  </a:lnTo>
                  <a:lnTo>
                    <a:pt x="5186" y="1300"/>
                  </a:lnTo>
                  <a:lnTo>
                    <a:pt x="5124" y="1375"/>
                  </a:lnTo>
                  <a:lnTo>
                    <a:pt x="5047" y="1447"/>
                  </a:lnTo>
                  <a:lnTo>
                    <a:pt x="4957" y="1516"/>
                  </a:lnTo>
                  <a:lnTo>
                    <a:pt x="4855" y="1582"/>
                  </a:lnTo>
                  <a:lnTo>
                    <a:pt x="4799" y="1613"/>
                  </a:lnTo>
                  <a:lnTo>
                    <a:pt x="4740" y="1644"/>
                  </a:lnTo>
                  <a:lnTo>
                    <a:pt x="4678" y="1674"/>
                  </a:lnTo>
                  <a:lnTo>
                    <a:pt x="4613" y="1703"/>
                  </a:lnTo>
                  <a:lnTo>
                    <a:pt x="4546" y="1731"/>
                  </a:lnTo>
                  <a:lnTo>
                    <a:pt x="4476" y="1758"/>
                  </a:lnTo>
                  <a:lnTo>
                    <a:pt x="4403" y="1784"/>
                  </a:lnTo>
                  <a:lnTo>
                    <a:pt x="4328" y="1809"/>
                  </a:lnTo>
                  <a:lnTo>
                    <a:pt x="4251" y="1833"/>
                  </a:lnTo>
                  <a:lnTo>
                    <a:pt x="4171" y="1856"/>
                  </a:lnTo>
                  <a:lnTo>
                    <a:pt x="4089" y="1878"/>
                  </a:lnTo>
                  <a:lnTo>
                    <a:pt x="4005" y="1898"/>
                  </a:lnTo>
                  <a:lnTo>
                    <a:pt x="3919" y="1918"/>
                  </a:lnTo>
                  <a:lnTo>
                    <a:pt x="3830" y="1936"/>
                  </a:lnTo>
                  <a:lnTo>
                    <a:pt x="3740" y="1952"/>
                  </a:lnTo>
                  <a:lnTo>
                    <a:pt x="3648" y="1968"/>
                  </a:lnTo>
                  <a:lnTo>
                    <a:pt x="3554" y="1982"/>
                  </a:lnTo>
                  <a:lnTo>
                    <a:pt x="3459" y="1995"/>
                  </a:lnTo>
                  <a:lnTo>
                    <a:pt x="3362" y="2006"/>
                  </a:lnTo>
                  <a:lnTo>
                    <a:pt x="3263" y="2016"/>
                  </a:lnTo>
                  <a:lnTo>
                    <a:pt x="3163" y="2025"/>
                  </a:lnTo>
                  <a:lnTo>
                    <a:pt x="3061" y="2032"/>
                  </a:lnTo>
                  <a:lnTo>
                    <a:pt x="2958" y="2037"/>
                  </a:lnTo>
                  <a:lnTo>
                    <a:pt x="2854" y="2041"/>
                  </a:lnTo>
                  <a:lnTo>
                    <a:pt x="2749" y="2044"/>
                  </a:lnTo>
                  <a:lnTo>
                    <a:pt x="2643" y="2044"/>
                  </a:lnTo>
                  <a:lnTo>
                    <a:pt x="2537" y="2044"/>
                  </a:lnTo>
                  <a:lnTo>
                    <a:pt x="2431" y="2041"/>
                  </a:lnTo>
                  <a:lnTo>
                    <a:pt x="2327" y="2037"/>
                  </a:lnTo>
                  <a:lnTo>
                    <a:pt x="2224" y="2032"/>
                  </a:lnTo>
                  <a:lnTo>
                    <a:pt x="2123" y="2025"/>
                  </a:lnTo>
                  <a:lnTo>
                    <a:pt x="2023" y="2016"/>
                  </a:lnTo>
                  <a:lnTo>
                    <a:pt x="1924" y="2006"/>
                  </a:lnTo>
                  <a:lnTo>
                    <a:pt x="1827" y="1995"/>
                  </a:lnTo>
                  <a:lnTo>
                    <a:pt x="1731" y="1982"/>
                  </a:lnTo>
                  <a:lnTo>
                    <a:pt x="1637" y="1968"/>
                  </a:lnTo>
                  <a:lnTo>
                    <a:pt x="1545" y="1952"/>
                  </a:lnTo>
                  <a:lnTo>
                    <a:pt x="1455" y="1936"/>
                  </a:lnTo>
                  <a:lnTo>
                    <a:pt x="1367" y="1918"/>
                  </a:lnTo>
                  <a:lnTo>
                    <a:pt x="1281" y="1898"/>
                  </a:lnTo>
                  <a:lnTo>
                    <a:pt x="1196" y="1878"/>
                  </a:lnTo>
                  <a:lnTo>
                    <a:pt x="1114" y="1856"/>
                  </a:lnTo>
                  <a:lnTo>
                    <a:pt x="1035" y="1833"/>
                  </a:lnTo>
                  <a:lnTo>
                    <a:pt x="957" y="1809"/>
                  </a:lnTo>
                  <a:lnTo>
                    <a:pt x="882" y="1784"/>
                  </a:lnTo>
                  <a:lnTo>
                    <a:pt x="810" y="1758"/>
                  </a:lnTo>
                  <a:lnTo>
                    <a:pt x="740" y="1731"/>
                  </a:lnTo>
                  <a:lnTo>
                    <a:pt x="672" y="1703"/>
                  </a:lnTo>
                  <a:lnTo>
                    <a:pt x="608" y="1674"/>
                  </a:lnTo>
                  <a:lnTo>
                    <a:pt x="546" y="1644"/>
                  </a:lnTo>
                  <a:lnTo>
                    <a:pt x="487" y="1613"/>
                  </a:lnTo>
                  <a:lnTo>
                    <a:pt x="431" y="1582"/>
                  </a:lnTo>
                  <a:lnTo>
                    <a:pt x="378" y="1549"/>
                  </a:lnTo>
                  <a:lnTo>
                    <a:pt x="282" y="1482"/>
                  </a:lnTo>
                  <a:lnTo>
                    <a:pt x="198" y="1411"/>
                  </a:lnTo>
                  <a:lnTo>
                    <a:pt x="129" y="1338"/>
                  </a:lnTo>
                  <a:lnTo>
                    <a:pt x="74" y="1262"/>
                  </a:lnTo>
                  <a:lnTo>
                    <a:pt x="33" y="1184"/>
                  </a:lnTo>
                  <a:lnTo>
                    <a:pt x="9" y="1104"/>
                  </a:lnTo>
                  <a:lnTo>
                    <a:pt x="0" y="1022"/>
                  </a:lnTo>
                  <a:close/>
                </a:path>
              </a:pathLst>
            </a:custGeom>
            <a:noFill/>
            <a:ln w="24384">
              <a:solidFill>
                <a:srgbClr val="5B6D7D"/>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029" name="docshape86"/>
            <p:cNvSpPr>
              <a:spLocks/>
            </p:cNvSpPr>
            <p:nvPr/>
          </p:nvSpPr>
          <p:spPr bwMode="auto">
            <a:xfrm>
              <a:off x="9225" y="452"/>
              <a:ext cx="5002" cy="1244"/>
            </a:xfrm>
            <a:custGeom>
              <a:avLst/>
              <a:gdLst/>
              <a:ahLst/>
              <a:cxnLst>
                <a:cxn ang="0">
                  <a:pos x="4794" y="0"/>
                </a:cxn>
                <a:cxn ang="0">
                  <a:pos x="207" y="0"/>
                </a:cxn>
                <a:cxn ang="0">
                  <a:pos x="141" y="11"/>
                </a:cxn>
                <a:cxn ang="0">
                  <a:pos x="84" y="40"/>
                </a:cxn>
                <a:cxn ang="0">
                  <a:pos x="40" y="85"/>
                </a:cxn>
                <a:cxn ang="0">
                  <a:pos x="10" y="142"/>
                </a:cxn>
                <a:cxn ang="0">
                  <a:pos x="0" y="207"/>
                </a:cxn>
                <a:cxn ang="0">
                  <a:pos x="0" y="1036"/>
                </a:cxn>
                <a:cxn ang="0">
                  <a:pos x="10" y="1101"/>
                </a:cxn>
                <a:cxn ang="0">
                  <a:pos x="40" y="1158"/>
                </a:cxn>
                <a:cxn ang="0">
                  <a:pos x="84" y="1203"/>
                </a:cxn>
                <a:cxn ang="0">
                  <a:pos x="141" y="1233"/>
                </a:cxn>
                <a:cxn ang="0">
                  <a:pos x="207" y="1243"/>
                </a:cxn>
                <a:cxn ang="0">
                  <a:pos x="4794" y="1243"/>
                </a:cxn>
                <a:cxn ang="0">
                  <a:pos x="4859" y="1233"/>
                </a:cxn>
                <a:cxn ang="0">
                  <a:pos x="4916" y="1203"/>
                </a:cxn>
                <a:cxn ang="0">
                  <a:pos x="4961" y="1158"/>
                </a:cxn>
                <a:cxn ang="0">
                  <a:pos x="4991" y="1101"/>
                </a:cxn>
                <a:cxn ang="0">
                  <a:pos x="5001" y="1036"/>
                </a:cxn>
                <a:cxn ang="0">
                  <a:pos x="5001" y="207"/>
                </a:cxn>
                <a:cxn ang="0">
                  <a:pos x="4991" y="142"/>
                </a:cxn>
                <a:cxn ang="0">
                  <a:pos x="4961" y="85"/>
                </a:cxn>
                <a:cxn ang="0">
                  <a:pos x="4916" y="40"/>
                </a:cxn>
                <a:cxn ang="0">
                  <a:pos x="4859" y="11"/>
                </a:cxn>
                <a:cxn ang="0">
                  <a:pos x="4794" y="0"/>
                </a:cxn>
              </a:cxnLst>
              <a:rect l="0" t="0" r="r" b="b"/>
              <a:pathLst>
                <a:path w="5002" h="1244">
                  <a:moveTo>
                    <a:pt x="4794" y="0"/>
                  </a:moveTo>
                  <a:lnTo>
                    <a:pt x="207" y="0"/>
                  </a:lnTo>
                  <a:lnTo>
                    <a:pt x="141" y="11"/>
                  </a:lnTo>
                  <a:lnTo>
                    <a:pt x="84" y="40"/>
                  </a:lnTo>
                  <a:lnTo>
                    <a:pt x="40" y="85"/>
                  </a:lnTo>
                  <a:lnTo>
                    <a:pt x="10" y="142"/>
                  </a:lnTo>
                  <a:lnTo>
                    <a:pt x="0" y="207"/>
                  </a:lnTo>
                  <a:lnTo>
                    <a:pt x="0" y="1036"/>
                  </a:lnTo>
                  <a:lnTo>
                    <a:pt x="10" y="1101"/>
                  </a:lnTo>
                  <a:lnTo>
                    <a:pt x="40" y="1158"/>
                  </a:lnTo>
                  <a:lnTo>
                    <a:pt x="84" y="1203"/>
                  </a:lnTo>
                  <a:lnTo>
                    <a:pt x="141" y="1233"/>
                  </a:lnTo>
                  <a:lnTo>
                    <a:pt x="207" y="1243"/>
                  </a:lnTo>
                  <a:lnTo>
                    <a:pt x="4794" y="1243"/>
                  </a:lnTo>
                  <a:lnTo>
                    <a:pt x="4859" y="1233"/>
                  </a:lnTo>
                  <a:lnTo>
                    <a:pt x="4916" y="1203"/>
                  </a:lnTo>
                  <a:lnTo>
                    <a:pt x="4961" y="1158"/>
                  </a:lnTo>
                  <a:lnTo>
                    <a:pt x="4991" y="1101"/>
                  </a:lnTo>
                  <a:lnTo>
                    <a:pt x="5001" y="1036"/>
                  </a:lnTo>
                  <a:lnTo>
                    <a:pt x="5001" y="207"/>
                  </a:lnTo>
                  <a:lnTo>
                    <a:pt x="4991" y="142"/>
                  </a:lnTo>
                  <a:lnTo>
                    <a:pt x="4961" y="85"/>
                  </a:lnTo>
                  <a:lnTo>
                    <a:pt x="4916" y="40"/>
                  </a:lnTo>
                  <a:lnTo>
                    <a:pt x="4859" y="11"/>
                  </a:lnTo>
                  <a:lnTo>
                    <a:pt x="4794" y="0"/>
                  </a:lnTo>
                  <a:close/>
                </a:path>
              </a:pathLst>
            </a:custGeom>
            <a:solidFill>
              <a:srgbClr val="EBE9E1"/>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030" name="docshape87"/>
            <p:cNvSpPr>
              <a:spLocks/>
            </p:cNvSpPr>
            <p:nvPr/>
          </p:nvSpPr>
          <p:spPr bwMode="auto">
            <a:xfrm>
              <a:off x="9225" y="452"/>
              <a:ext cx="5002" cy="1244"/>
            </a:xfrm>
            <a:custGeom>
              <a:avLst/>
              <a:gdLst/>
              <a:ahLst/>
              <a:cxnLst>
                <a:cxn ang="0">
                  <a:pos x="0" y="207"/>
                </a:cxn>
                <a:cxn ang="0">
                  <a:pos x="10" y="142"/>
                </a:cxn>
                <a:cxn ang="0">
                  <a:pos x="40" y="85"/>
                </a:cxn>
                <a:cxn ang="0">
                  <a:pos x="84" y="40"/>
                </a:cxn>
                <a:cxn ang="0">
                  <a:pos x="141" y="11"/>
                </a:cxn>
                <a:cxn ang="0">
                  <a:pos x="207" y="0"/>
                </a:cxn>
                <a:cxn ang="0">
                  <a:pos x="4794" y="0"/>
                </a:cxn>
                <a:cxn ang="0">
                  <a:pos x="4859" y="11"/>
                </a:cxn>
                <a:cxn ang="0">
                  <a:pos x="4916" y="40"/>
                </a:cxn>
                <a:cxn ang="0">
                  <a:pos x="4961" y="85"/>
                </a:cxn>
                <a:cxn ang="0">
                  <a:pos x="4991" y="142"/>
                </a:cxn>
                <a:cxn ang="0">
                  <a:pos x="5001" y="207"/>
                </a:cxn>
                <a:cxn ang="0">
                  <a:pos x="5001" y="1036"/>
                </a:cxn>
                <a:cxn ang="0">
                  <a:pos x="4991" y="1101"/>
                </a:cxn>
                <a:cxn ang="0">
                  <a:pos x="4961" y="1158"/>
                </a:cxn>
                <a:cxn ang="0">
                  <a:pos x="4916" y="1203"/>
                </a:cxn>
                <a:cxn ang="0">
                  <a:pos x="4859" y="1233"/>
                </a:cxn>
                <a:cxn ang="0">
                  <a:pos x="4794" y="1243"/>
                </a:cxn>
                <a:cxn ang="0">
                  <a:pos x="207" y="1243"/>
                </a:cxn>
                <a:cxn ang="0">
                  <a:pos x="141" y="1233"/>
                </a:cxn>
                <a:cxn ang="0">
                  <a:pos x="84" y="1203"/>
                </a:cxn>
                <a:cxn ang="0">
                  <a:pos x="40" y="1158"/>
                </a:cxn>
                <a:cxn ang="0">
                  <a:pos x="10" y="1101"/>
                </a:cxn>
                <a:cxn ang="0">
                  <a:pos x="0" y="1036"/>
                </a:cxn>
                <a:cxn ang="0">
                  <a:pos x="0" y="207"/>
                </a:cxn>
              </a:cxnLst>
              <a:rect l="0" t="0" r="r" b="b"/>
              <a:pathLst>
                <a:path w="5002" h="1244">
                  <a:moveTo>
                    <a:pt x="0" y="207"/>
                  </a:moveTo>
                  <a:lnTo>
                    <a:pt x="10" y="142"/>
                  </a:lnTo>
                  <a:lnTo>
                    <a:pt x="40" y="85"/>
                  </a:lnTo>
                  <a:lnTo>
                    <a:pt x="84" y="40"/>
                  </a:lnTo>
                  <a:lnTo>
                    <a:pt x="141" y="11"/>
                  </a:lnTo>
                  <a:lnTo>
                    <a:pt x="207" y="0"/>
                  </a:lnTo>
                  <a:lnTo>
                    <a:pt x="4794" y="0"/>
                  </a:lnTo>
                  <a:lnTo>
                    <a:pt x="4859" y="11"/>
                  </a:lnTo>
                  <a:lnTo>
                    <a:pt x="4916" y="40"/>
                  </a:lnTo>
                  <a:lnTo>
                    <a:pt x="4961" y="85"/>
                  </a:lnTo>
                  <a:lnTo>
                    <a:pt x="4991" y="142"/>
                  </a:lnTo>
                  <a:lnTo>
                    <a:pt x="5001" y="207"/>
                  </a:lnTo>
                  <a:lnTo>
                    <a:pt x="5001" y="1036"/>
                  </a:lnTo>
                  <a:lnTo>
                    <a:pt x="4991" y="1101"/>
                  </a:lnTo>
                  <a:lnTo>
                    <a:pt x="4961" y="1158"/>
                  </a:lnTo>
                  <a:lnTo>
                    <a:pt x="4916" y="1203"/>
                  </a:lnTo>
                  <a:lnTo>
                    <a:pt x="4859" y="1233"/>
                  </a:lnTo>
                  <a:lnTo>
                    <a:pt x="4794" y="1243"/>
                  </a:lnTo>
                  <a:lnTo>
                    <a:pt x="207" y="1243"/>
                  </a:lnTo>
                  <a:lnTo>
                    <a:pt x="141" y="1233"/>
                  </a:lnTo>
                  <a:lnTo>
                    <a:pt x="84" y="1203"/>
                  </a:lnTo>
                  <a:lnTo>
                    <a:pt x="40" y="1158"/>
                  </a:lnTo>
                  <a:lnTo>
                    <a:pt x="10" y="1101"/>
                  </a:lnTo>
                  <a:lnTo>
                    <a:pt x="0" y="1036"/>
                  </a:lnTo>
                  <a:lnTo>
                    <a:pt x="0" y="207"/>
                  </a:lnTo>
                  <a:close/>
                </a:path>
              </a:pathLst>
            </a:custGeom>
            <a:noFill/>
            <a:ln w="24384">
              <a:solidFill>
                <a:srgbClr val="5B6D7D"/>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031" name="docshape88"/>
            <p:cNvSpPr>
              <a:spLocks/>
            </p:cNvSpPr>
            <p:nvPr/>
          </p:nvSpPr>
          <p:spPr bwMode="auto">
            <a:xfrm>
              <a:off x="9216" y="2444"/>
              <a:ext cx="4951" cy="1248"/>
            </a:xfrm>
            <a:custGeom>
              <a:avLst/>
              <a:gdLst/>
              <a:ahLst/>
              <a:cxnLst>
                <a:cxn ang="0">
                  <a:pos x="4794" y="0"/>
                </a:cxn>
                <a:cxn ang="0">
                  <a:pos x="208" y="0"/>
                </a:cxn>
                <a:cxn ang="0">
                  <a:pos x="142" y="11"/>
                </a:cxn>
                <a:cxn ang="0">
                  <a:pos x="85" y="40"/>
                </a:cxn>
                <a:cxn ang="0">
                  <a:pos x="40" y="85"/>
                </a:cxn>
                <a:cxn ang="0">
                  <a:pos x="11" y="142"/>
                </a:cxn>
                <a:cxn ang="0">
                  <a:pos x="0" y="208"/>
                </a:cxn>
                <a:cxn ang="0">
                  <a:pos x="0" y="1040"/>
                </a:cxn>
                <a:cxn ang="0">
                  <a:pos x="11" y="1106"/>
                </a:cxn>
                <a:cxn ang="0">
                  <a:pos x="40" y="1163"/>
                </a:cxn>
                <a:cxn ang="0">
                  <a:pos x="85" y="1208"/>
                </a:cxn>
                <a:cxn ang="0">
                  <a:pos x="142" y="1237"/>
                </a:cxn>
                <a:cxn ang="0">
                  <a:pos x="208" y="1248"/>
                </a:cxn>
                <a:cxn ang="0">
                  <a:pos x="4794" y="1248"/>
                </a:cxn>
                <a:cxn ang="0">
                  <a:pos x="4859" y="1237"/>
                </a:cxn>
                <a:cxn ang="0">
                  <a:pos x="4916" y="1208"/>
                </a:cxn>
                <a:cxn ang="0">
                  <a:pos x="4961" y="1163"/>
                </a:cxn>
                <a:cxn ang="0">
                  <a:pos x="4991" y="1106"/>
                </a:cxn>
                <a:cxn ang="0">
                  <a:pos x="5002" y="1040"/>
                </a:cxn>
                <a:cxn ang="0">
                  <a:pos x="5002" y="208"/>
                </a:cxn>
                <a:cxn ang="0">
                  <a:pos x="4991" y="142"/>
                </a:cxn>
                <a:cxn ang="0">
                  <a:pos x="4961" y="85"/>
                </a:cxn>
                <a:cxn ang="0">
                  <a:pos x="4916" y="40"/>
                </a:cxn>
                <a:cxn ang="0">
                  <a:pos x="4859" y="11"/>
                </a:cxn>
                <a:cxn ang="0">
                  <a:pos x="4794" y="0"/>
                </a:cxn>
              </a:cxnLst>
              <a:rect l="0" t="0" r="r" b="b"/>
              <a:pathLst>
                <a:path w="5002" h="1248">
                  <a:moveTo>
                    <a:pt x="4794" y="0"/>
                  </a:moveTo>
                  <a:lnTo>
                    <a:pt x="208" y="0"/>
                  </a:lnTo>
                  <a:lnTo>
                    <a:pt x="142" y="11"/>
                  </a:lnTo>
                  <a:lnTo>
                    <a:pt x="85" y="40"/>
                  </a:lnTo>
                  <a:lnTo>
                    <a:pt x="40" y="85"/>
                  </a:lnTo>
                  <a:lnTo>
                    <a:pt x="11" y="142"/>
                  </a:lnTo>
                  <a:lnTo>
                    <a:pt x="0" y="208"/>
                  </a:lnTo>
                  <a:lnTo>
                    <a:pt x="0" y="1040"/>
                  </a:lnTo>
                  <a:lnTo>
                    <a:pt x="11" y="1106"/>
                  </a:lnTo>
                  <a:lnTo>
                    <a:pt x="40" y="1163"/>
                  </a:lnTo>
                  <a:lnTo>
                    <a:pt x="85" y="1208"/>
                  </a:lnTo>
                  <a:lnTo>
                    <a:pt x="142" y="1237"/>
                  </a:lnTo>
                  <a:lnTo>
                    <a:pt x="208" y="1248"/>
                  </a:lnTo>
                  <a:lnTo>
                    <a:pt x="4794" y="1248"/>
                  </a:lnTo>
                  <a:lnTo>
                    <a:pt x="4859" y="1237"/>
                  </a:lnTo>
                  <a:lnTo>
                    <a:pt x="4916" y="1208"/>
                  </a:lnTo>
                  <a:lnTo>
                    <a:pt x="4961" y="1163"/>
                  </a:lnTo>
                  <a:lnTo>
                    <a:pt x="4991" y="1106"/>
                  </a:lnTo>
                  <a:lnTo>
                    <a:pt x="5002" y="1040"/>
                  </a:lnTo>
                  <a:lnTo>
                    <a:pt x="5002" y="208"/>
                  </a:lnTo>
                  <a:lnTo>
                    <a:pt x="4991" y="142"/>
                  </a:lnTo>
                  <a:lnTo>
                    <a:pt x="4961" y="85"/>
                  </a:lnTo>
                  <a:lnTo>
                    <a:pt x="4916" y="40"/>
                  </a:lnTo>
                  <a:lnTo>
                    <a:pt x="4859" y="11"/>
                  </a:lnTo>
                  <a:lnTo>
                    <a:pt x="4794" y="0"/>
                  </a:lnTo>
                  <a:close/>
                </a:path>
              </a:pathLst>
            </a:custGeom>
            <a:solidFill>
              <a:srgbClr val="EBE9E1"/>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032" name="docshape89"/>
            <p:cNvSpPr>
              <a:spLocks/>
            </p:cNvSpPr>
            <p:nvPr/>
          </p:nvSpPr>
          <p:spPr bwMode="auto">
            <a:xfrm>
              <a:off x="9216" y="2444"/>
              <a:ext cx="5002" cy="1248"/>
            </a:xfrm>
            <a:custGeom>
              <a:avLst/>
              <a:gdLst/>
              <a:ahLst/>
              <a:cxnLst>
                <a:cxn ang="0">
                  <a:pos x="0" y="208"/>
                </a:cxn>
                <a:cxn ang="0">
                  <a:pos x="11" y="142"/>
                </a:cxn>
                <a:cxn ang="0">
                  <a:pos x="40" y="85"/>
                </a:cxn>
                <a:cxn ang="0">
                  <a:pos x="85" y="40"/>
                </a:cxn>
                <a:cxn ang="0">
                  <a:pos x="142" y="11"/>
                </a:cxn>
                <a:cxn ang="0">
                  <a:pos x="208" y="0"/>
                </a:cxn>
                <a:cxn ang="0">
                  <a:pos x="4794" y="0"/>
                </a:cxn>
                <a:cxn ang="0">
                  <a:pos x="4859" y="11"/>
                </a:cxn>
                <a:cxn ang="0">
                  <a:pos x="4916" y="40"/>
                </a:cxn>
                <a:cxn ang="0">
                  <a:pos x="4961" y="85"/>
                </a:cxn>
                <a:cxn ang="0">
                  <a:pos x="4991" y="142"/>
                </a:cxn>
                <a:cxn ang="0">
                  <a:pos x="5002" y="208"/>
                </a:cxn>
                <a:cxn ang="0">
                  <a:pos x="5002" y="1040"/>
                </a:cxn>
                <a:cxn ang="0">
                  <a:pos x="4991" y="1106"/>
                </a:cxn>
                <a:cxn ang="0">
                  <a:pos x="4961" y="1163"/>
                </a:cxn>
                <a:cxn ang="0">
                  <a:pos x="4916" y="1208"/>
                </a:cxn>
                <a:cxn ang="0">
                  <a:pos x="4859" y="1237"/>
                </a:cxn>
                <a:cxn ang="0">
                  <a:pos x="4794" y="1248"/>
                </a:cxn>
                <a:cxn ang="0">
                  <a:pos x="208" y="1248"/>
                </a:cxn>
                <a:cxn ang="0">
                  <a:pos x="142" y="1237"/>
                </a:cxn>
                <a:cxn ang="0">
                  <a:pos x="85" y="1208"/>
                </a:cxn>
                <a:cxn ang="0">
                  <a:pos x="40" y="1163"/>
                </a:cxn>
                <a:cxn ang="0">
                  <a:pos x="11" y="1106"/>
                </a:cxn>
                <a:cxn ang="0">
                  <a:pos x="0" y="1040"/>
                </a:cxn>
                <a:cxn ang="0">
                  <a:pos x="0" y="208"/>
                </a:cxn>
              </a:cxnLst>
              <a:rect l="0" t="0" r="r" b="b"/>
              <a:pathLst>
                <a:path w="5002" h="1248">
                  <a:moveTo>
                    <a:pt x="0" y="208"/>
                  </a:moveTo>
                  <a:lnTo>
                    <a:pt x="11" y="142"/>
                  </a:lnTo>
                  <a:lnTo>
                    <a:pt x="40" y="85"/>
                  </a:lnTo>
                  <a:lnTo>
                    <a:pt x="85" y="40"/>
                  </a:lnTo>
                  <a:lnTo>
                    <a:pt x="142" y="11"/>
                  </a:lnTo>
                  <a:lnTo>
                    <a:pt x="208" y="0"/>
                  </a:lnTo>
                  <a:lnTo>
                    <a:pt x="4794" y="0"/>
                  </a:lnTo>
                  <a:lnTo>
                    <a:pt x="4859" y="11"/>
                  </a:lnTo>
                  <a:lnTo>
                    <a:pt x="4916" y="40"/>
                  </a:lnTo>
                  <a:lnTo>
                    <a:pt x="4961" y="85"/>
                  </a:lnTo>
                  <a:lnTo>
                    <a:pt x="4991" y="142"/>
                  </a:lnTo>
                  <a:lnTo>
                    <a:pt x="5002" y="208"/>
                  </a:lnTo>
                  <a:lnTo>
                    <a:pt x="5002" y="1040"/>
                  </a:lnTo>
                  <a:lnTo>
                    <a:pt x="4991" y="1106"/>
                  </a:lnTo>
                  <a:lnTo>
                    <a:pt x="4961" y="1163"/>
                  </a:lnTo>
                  <a:lnTo>
                    <a:pt x="4916" y="1208"/>
                  </a:lnTo>
                  <a:lnTo>
                    <a:pt x="4859" y="1237"/>
                  </a:lnTo>
                  <a:lnTo>
                    <a:pt x="4794" y="1248"/>
                  </a:lnTo>
                  <a:lnTo>
                    <a:pt x="208" y="1248"/>
                  </a:lnTo>
                  <a:lnTo>
                    <a:pt x="142" y="1237"/>
                  </a:lnTo>
                  <a:lnTo>
                    <a:pt x="85" y="1208"/>
                  </a:lnTo>
                  <a:lnTo>
                    <a:pt x="40" y="1163"/>
                  </a:lnTo>
                  <a:lnTo>
                    <a:pt x="11" y="1106"/>
                  </a:lnTo>
                  <a:lnTo>
                    <a:pt x="0" y="1040"/>
                  </a:lnTo>
                  <a:lnTo>
                    <a:pt x="0" y="208"/>
                  </a:lnTo>
                  <a:close/>
                </a:path>
              </a:pathLst>
            </a:custGeom>
            <a:noFill/>
            <a:ln w="24384">
              <a:solidFill>
                <a:srgbClr val="5B6D7D"/>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033" name="docshape90"/>
            <p:cNvSpPr>
              <a:spLocks/>
            </p:cNvSpPr>
            <p:nvPr/>
          </p:nvSpPr>
          <p:spPr bwMode="auto">
            <a:xfrm>
              <a:off x="9225" y="4316"/>
              <a:ext cx="5002" cy="1248"/>
            </a:xfrm>
            <a:custGeom>
              <a:avLst/>
              <a:gdLst/>
              <a:ahLst/>
              <a:cxnLst>
                <a:cxn ang="0">
                  <a:pos x="4793" y="0"/>
                </a:cxn>
                <a:cxn ang="0">
                  <a:pos x="208" y="0"/>
                </a:cxn>
                <a:cxn ang="0">
                  <a:pos x="142" y="11"/>
                </a:cxn>
                <a:cxn ang="0">
                  <a:pos x="85" y="40"/>
                </a:cxn>
                <a:cxn ang="0">
                  <a:pos x="40" y="85"/>
                </a:cxn>
                <a:cxn ang="0">
                  <a:pos x="10" y="142"/>
                </a:cxn>
                <a:cxn ang="0">
                  <a:pos x="0" y="208"/>
                </a:cxn>
                <a:cxn ang="0">
                  <a:pos x="0" y="1040"/>
                </a:cxn>
                <a:cxn ang="0">
                  <a:pos x="10" y="1106"/>
                </a:cxn>
                <a:cxn ang="0">
                  <a:pos x="40" y="1163"/>
                </a:cxn>
                <a:cxn ang="0">
                  <a:pos x="85" y="1208"/>
                </a:cxn>
                <a:cxn ang="0">
                  <a:pos x="142" y="1237"/>
                </a:cxn>
                <a:cxn ang="0">
                  <a:pos x="208" y="1248"/>
                </a:cxn>
                <a:cxn ang="0">
                  <a:pos x="4793" y="1248"/>
                </a:cxn>
                <a:cxn ang="0">
                  <a:pos x="4859" y="1237"/>
                </a:cxn>
                <a:cxn ang="0">
                  <a:pos x="4916" y="1208"/>
                </a:cxn>
                <a:cxn ang="0">
                  <a:pos x="4961" y="1163"/>
                </a:cxn>
                <a:cxn ang="0">
                  <a:pos x="4991" y="1106"/>
                </a:cxn>
                <a:cxn ang="0">
                  <a:pos x="5001" y="1040"/>
                </a:cxn>
                <a:cxn ang="0">
                  <a:pos x="5001" y="208"/>
                </a:cxn>
                <a:cxn ang="0">
                  <a:pos x="4991" y="142"/>
                </a:cxn>
                <a:cxn ang="0">
                  <a:pos x="4961" y="85"/>
                </a:cxn>
                <a:cxn ang="0">
                  <a:pos x="4916" y="40"/>
                </a:cxn>
                <a:cxn ang="0">
                  <a:pos x="4859" y="11"/>
                </a:cxn>
                <a:cxn ang="0">
                  <a:pos x="4793" y="0"/>
                </a:cxn>
              </a:cxnLst>
              <a:rect l="0" t="0" r="r" b="b"/>
              <a:pathLst>
                <a:path w="5002" h="1248">
                  <a:moveTo>
                    <a:pt x="4793" y="0"/>
                  </a:moveTo>
                  <a:lnTo>
                    <a:pt x="208" y="0"/>
                  </a:lnTo>
                  <a:lnTo>
                    <a:pt x="142" y="11"/>
                  </a:lnTo>
                  <a:lnTo>
                    <a:pt x="85" y="40"/>
                  </a:lnTo>
                  <a:lnTo>
                    <a:pt x="40" y="85"/>
                  </a:lnTo>
                  <a:lnTo>
                    <a:pt x="10" y="142"/>
                  </a:lnTo>
                  <a:lnTo>
                    <a:pt x="0" y="208"/>
                  </a:lnTo>
                  <a:lnTo>
                    <a:pt x="0" y="1040"/>
                  </a:lnTo>
                  <a:lnTo>
                    <a:pt x="10" y="1106"/>
                  </a:lnTo>
                  <a:lnTo>
                    <a:pt x="40" y="1163"/>
                  </a:lnTo>
                  <a:lnTo>
                    <a:pt x="85" y="1208"/>
                  </a:lnTo>
                  <a:lnTo>
                    <a:pt x="142" y="1237"/>
                  </a:lnTo>
                  <a:lnTo>
                    <a:pt x="208" y="1248"/>
                  </a:lnTo>
                  <a:lnTo>
                    <a:pt x="4793" y="1248"/>
                  </a:lnTo>
                  <a:lnTo>
                    <a:pt x="4859" y="1237"/>
                  </a:lnTo>
                  <a:lnTo>
                    <a:pt x="4916" y="1208"/>
                  </a:lnTo>
                  <a:lnTo>
                    <a:pt x="4961" y="1163"/>
                  </a:lnTo>
                  <a:lnTo>
                    <a:pt x="4991" y="1106"/>
                  </a:lnTo>
                  <a:lnTo>
                    <a:pt x="5001" y="1040"/>
                  </a:lnTo>
                  <a:lnTo>
                    <a:pt x="5001" y="208"/>
                  </a:lnTo>
                  <a:lnTo>
                    <a:pt x="4991" y="142"/>
                  </a:lnTo>
                  <a:lnTo>
                    <a:pt x="4961" y="85"/>
                  </a:lnTo>
                  <a:lnTo>
                    <a:pt x="4916" y="40"/>
                  </a:lnTo>
                  <a:lnTo>
                    <a:pt x="4859" y="11"/>
                  </a:lnTo>
                  <a:lnTo>
                    <a:pt x="4793" y="0"/>
                  </a:lnTo>
                  <a:close/>
                </a:path>
              </a:pathLst>
            </a:custGeom>
            <a:solidFill>
              <a:srgbClr val="EBE9E1"/>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034" name="docshape91"/>
            <p:cNvSpPr>
              <a:spLocks/>
            </p:cNvSpPr>
            <p:nvPr/>
          </p:nvSpPr>
          <p:spPr bwMode="auto">
            <a:xfrm>
              <a:off x="9225" y="4316"/>
              <a:ext cx="5002" cy="1248"/>
            </a:xfrm>
            <a:custGeom>
              <a:avLst/>
              <a:gdLst/>
              <a:ahLst/>
              <a:cxnLst>
                <a:cxn ang="0">
                  <a:pos x="0" y="208"/>
                </a:cxn>
                <a:cxn ang="0">
                  <a:pos x="10" y="142"/>
                </a:cxn>
                <a:cxn ang="0">
                  <a:pos x="40" y="85"/>
                </a:cxn>
                <a:cxn ang="0">
                  <a:pos x="85" y="40"/>
                </a:cxn>
                <a:cxn ang="0">
                  <a:pos x="142" y="11"/>
                </a:cxn>
                <a:cxn ang="0">
                  <a:pos x="208" y="0"/>
                </a:cxn>
                <a:cxn ang="0">
                  <a:pos x="4793" y="0"/>
                </a:cxn>
                <a:cxn ang="0">
                  <a:pos x="4859" y="11"/>
                </a:cxn>
                <a:cxn ang="0">
                  <a:pos x="4916" y="40"/>
                </a:cxn>
                <a:cxn ang="0">
                  <a:pos x="4961" y="85"/>
                </a:cxn>
                <a:cxn ang="0">
                  <a:pos x="4991" y="142"/>
                </a:cxn>
                <a:cxn ang="0">
                  <a:pos x="5001" y="208"/>
                </a:cxn>
                <a:cxn ang="0">
                  <a:pos x="5001" y="1040"/>
                </a:cxn>
                <a:cxn ang="0">
                  <a:pos x="4991" y="1106"/>
                </a:cxn>
                <a:cxn ang="0">
                  <a:pos x="4961" y="1163"/>
                </a:cxn>
                <a:cxn ang="0">
                  <a:pos x="4916" y="1208"/>
                </a:cxn>
                <a:cxn ang="0">
                  <a:pos x="4859" y="1237"/>
                </a:cxn>
                <a:cxn ang="0">
                  <a:pos x="4793" y="1248"/>
                </a:cxn>
                <a:cxn ang="0">
                  <a:pos x="208" y="1248"/>
                </a:cxn>
                <a:cxn ang="0">
                  <a:pos x="142" y="1237"/>
                </a:cxn>
                <a:cxn ang="0">
                  <a:pos x="85" y="1208"/>
                </a:cxn>
                <a:cxn ang="0">
                  <a:pos x="40" y="1163"/>
                </a:cxn>
                <a:cxn ang="0">
                  <a:pos x="10" y="1106"/>
                </a:cxn>
                <a:cxn ang="0">
                  <a:pos x="0" y="1040"/>
                </a:cxn>
                <a:cxn ang="0">
                  <a:pos x="0" y="208"/>
                </a:cxn>
              </a:cxnLst>
              <a:rect l="0" t="0" r="r" b="b"/>
              <a:pathLst>
                <a:path w="5002" h="1248">
                  <a:moveTo>
                    <a:pt x="0" y="208"/>
                  </a:moveTo>
                  <a:lnTo>
                    <a:pt x="10" y="142"/>
                  </a:lnTo>
                  <a:lnTo>
                    <a:pt x="40" y="85"/>
                  </a:lnTo>
                  <a:lnTo>
                    <a:pt x="85" y="40"/>
                  </a:lnTo>
                  <a:lnTo>
                    <a:pt x="142" y="11"/>
                  </a:lnTo>
                  <a:lnTo>
                    <a:pt x="208" y="0"/>
                  </a:lnTo>
                  <a:lnTo>
                    <a:pt x="4793" y="0"/>
                  </a:lnTo>
                  <a:lnTo>
                    <a:pt x="4859" y="11"/>
                  </a:lnTo>
                  <a:lnTo>
                    <a:pt x="4916" y="40"/>
                  </a:lnTo>
                  <a:lnTo>
                    <a:pt x="4961" y="85"/>
                  </a:lnTo>
                  <a:lnTo>
                    <a:pt x="4991" y="142"/>
                  </a:lnTo>
                  <a:lnTo>
                    <a:pt x="5001" y="208"/>
                  </a:lnTo>
                  <a:lnTo>
                    <a:pt x="5001" y="1040"/>
                  </a:lnTo>
                  <a:lnTo>
                    <a:pt x="4991" y="1106"/>
                  </a:lnTo>
                  <a:lnTo>
                    <a:pt x="4961" y="1163"/>
                  </a:lnTo>
                  <a:lnTo>
                    <a:pt x="4916" y="1208"/>
                  </a:lnTo>
                  <a:lnTo>
                    <a:pt x="4859" y="1237"/>
                  </a:lnTo>
                  <a:lnTo>
                    <a:pt x="4793" y="1248"/>
                  </a:lnTo>
                  <a:lnTo>
                    <a:pt x="208" y="1248"/>
                  </a:lnTo>
                  <a:lnTo>
                    <a:pt x="142" y="1237"/>
                  </a:lnTo>
                  <a:lnTo>
                    <a:pt x="85" y="1208"/>
                  </a:lnTo>
                  <a:lnTo>
                    <a:pt x="40" y="1163"/>
                  </a:lnTo>
                  <a:lnTo>
                    <a:pt x="10" y="1106"/>
                  </a:lnTo>
                  <a:lnTo>
                    <a:pt x="0" y="1040"/>
                  </a:lnTo>
                  <a:lnTo>
                    <a:pt x="0" y="208"/>
                  </a:lnTo>
                  <a:close/>
                </a:path>
              </a:pathLst>
            </a:custGeom>
            <a:noFill/>
            <a:ln w="24384">
              <a:solidFill>
                <a:srgbClr val="5B6D7D"/>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035" name="docshape92"/>
            <p:cNvSpPr>
              <a:spLocks/>
            </p:cNvSpPr>
            <p:nvPr/>
          </p:nvSpPr>
          <p:spPr bwMode="auto">
            <a:xfrm>
              <a:off x="6495" y="1073"/>
              <a:ext cx="2733" cy="3868"/>
            </a:xfrm>
            <a:custGeom>
              <a:avLst/>
              <a:gdLst/>
              <a:ahLst/>
              <a:cxnLst>
                <a:cxn ang="0">
                  <a:pos x="2733" y="0"/>
                </a:cxn>
                <a:cxn ang="0">
                  <a:pos x="2572" y="16"/>
                </a:cxn>
                <a:cxn ang="0">
                  <a:pos x="2568" y="21"/>
                </a:cxn>
                <a:cxn ang="0">
                  <a:pos x="2569" y="32"/>
                </a:cxn>
                <a:cxn ang="0">
                  <a:pos x="2574" y="36"/>
                </a:cxn>
                <a:cxn ang="0">
                  <a:pos x="2681" y="25"/>
                </a:cxn>
                <a:cxn ang="0">
                  <a:pos x="0" y="1986"/>
                </a:cxn>
                <a:cxn ang="0">
                  <a:pos x="6" y="1994"/>
                </a:cxn>
                <a:cxn ang="0">
                  <a:pos x="6" y="1996"/>
                </a:cxn>
                <a:cxn ang="0">
                  <a:pos x="0" y="2005"/>
                </a:cxn>
                <a:cxn ang="0">
                  <a:pos x="2680" y="3844"/>
                </a:cxn>
                <a:cxn ang="0">
                  <a:pos x="2573" y="3836"/>
                </a:cxn>
                <a:cxn ang="0">
                  <a:pos x="2568" y="3840"/>
                </a:cxn>
                <a:cxn ang="0">
                  <a:pos x="2568" y="3844"/>
                </a:cxn>
                <a:cxn ang="0">
                  <a:pos x="2568" y="3845"/>
                </a:cxn>
                <a:cxn ang="0">
                  <a:pos x="2567" y="3851"/>
                </a:cxn>
                <a:cxn ang="0">
                  <a:pos x="2571" y="3856"/>
                </a:cxn>
                <a:cxn ang="0">
                  <a:pos x="2733" y="3867"/>
                </a:cxn>
                <a:cxn ang="0">
                  <a:pos x="2731" y="3865"/>
                </a:cxn>
                <a:cxn ang="0">
                  <a:pos x="2666" y="3726"/>
                </a:cxn>
                <a:cxn ang="0">
                  <a:pos x="2664" y="3721"/>
                </a:cxn>
                <a:cxn ang="0">
                  <a:pos x="2658" y="3719"/>
                </a:cxn>
                <a:cxn ang="0">
                  <a:pos x="2648" y="3724"/>
                </a:cxn>
                <a:cxn ang="0">
                  <a:pos x="2645" y="3730"/>
                </a:cxn>
                <a:cxn ang="0">
                  <a:pos x="2648" y="3735"/>
                </a:cxn>
                <a:cxn ang="0">
                  <a:pos x="2691" y="3827"/>
                </a:cxn>
                <a:cxn ang="0">
                  <a:pos x="38" y="2006"/>
                </a:cxn>
                <a:cxn ang="0">
                  <a:pos x="2664" y="2006"/>
                </a:cxn>
                <a:cxn ang="0">
                  <a:pos x="2681" y="1996"/>
                </a:cxn>
                <a:cxn ang="0">
                  <a:pos x="2571" y="2061"/>
                </a:cxn>
                <a:cxn ang="0">
                  <a:pos x="2569" y="2067"/>
                </a:cxn>
                <a:cxn ang="0">
                  <a:pos x="2575" y="2076"/>
                </a:cxn>
                <a:cxn ang="0">
                  <a:pos x="2581" y="2078"/>
                </a:cxn>
                <a:cxn ang="0">
                  <a:pos x="2703" y="2006"/>
                </a:cxn>
                <a:cxn ang="0">
                  <a:pos x="2721" y="1996"/>
                </a:cxn>
                <a:cxn ang="0">
                  <a:pos x="2703" y="1986"/>
                </a:cxn>
                <a:cxn ang="0">
                  <a:pos x="2581" y="1915"/>
                </a:cxn>
                <a:cxn ang="0">
                  <a:pos x="2575" y="1917"/>
                </a:cxn>
                <a:cxn ang="0">
                  <a:pos x="2569" y="1926"/>
                </a:cxn>
                <a:cxn ang="0">
                  <a:pos x="2571" y="1932"/>
                </a:cxn>
                <a:cxn ang="0">
                  <a:pos x="2664" y="1986"/>
                </a:cxn>
                <a:cxn ang="0">
                  <a:pos x="33" y="1986"/>
                </a:cxn>
                <a:cxn ang="0">
                  <a:pos x="2692" y="41"/>
                </a:cxn>
                <a:cxn ang="0">
                  <a:pos x="2650" y="140"/>
                </a:cxn>
                <a:cxn ang="0">
                  <a:pos x="2652" y="146"/>
                </a:cxn>
                <a:cxn ang="0">
                  <a:pos x="2657" y="148"/>
                </a:cxn>
                <a:cxn ang="0">
                  <a:pos x="2662" y="150"/>
                </a:cxn>
                <a:cxn ang="0">
                  <a:pos x="2668" y="148"/>
                </a:cxn>
                <a:cxn ang="0">
                  <a:pos x="2668" y="148"/>
                </a:cxn>
                <a:cxn ang="0">
                  <a:pos x="2731" y="3"/>
                </a:cxn>
                <a:cxn ang="0">
                  <a:pos x="2733" y="0"/>
                </a:cxn>
              </a:cxnLst>
              <a:rect l="0" t="0" r="r" b="b"/>
              <a:pathLst>
                <a:path w="2733" h="3868">
                  <a:moveTo>
                    <a:pt x="2733" y="0"/>
                  </a:moveTo>
                  <a:lnTo>
                    <a:pt x="2572" y="16"/>
                  </a:lnTo>
                  <a:lnTo>
                    <a:pt x="2568" y="21"/>
                  </a:lnTo>
                  <a:lnTo>
                    <a:pt x="2569" y="32"/>
                  </a:lnTo>
                  <a:lnTo>
                    <a:pt x="2574" y="36"/>
                  </a:lnTo>
                  <a:lnTo>
                    <a:pt x="2681" y="25"/>
                  </a:lnTo>
                  <a:lnTo>
                    <a:pt x="0" y="1986"/>
                  </a:lnTo>
                  <a:lnTo>
                    <a:pt x="6" y="1994"/>
                  </a:lnTo>
                  <a:lnTo>
                    <a:pt x="6" y="1996"/>
                  </a:lnTo>
                  <a:lnTo>
                    <a:pt x="0" y="2005"/>
                  </a:lnTo>
                  <a:lnTo>
                    <a:pt x="2680" y="3844"/>
                  </a:lnTo>
                  <a:lnTo>
                    <a:pt x="2573" y="3836"/>
                  </a:lnTo>
                  <a:lnTo>
                    <a:pt x="2568" y="3840"/>
                  </a:lnTo>
                  <a:lnTo>
                    <a:pt x="2568" y="3844"/>
                  </a:lnTo>
                  <a:lnTo>
                    <a:pt x="2568" y="3845"/>
                  </a:lnTo>
                  <a:lnTo>
                    <a:pt x="2567" y="3851"/>
                  </a:lnTo>
                  <a:lnTo>
                    <a:pt x="2571" y="3856"/>
                  </a:lnTo>
                  <a:lnTo>
                    <a:pt x="2733" y="3867"/>
                  </a:lnTo>
                  <a:lnTo>
                    <a:pt x="2731" y="3865"/>
                  </a:lnTo>
                  <a:lnTo>
                    <a:pt x="2666" y="3726"/>
                  </a:lnTo>
                  <a:lnTo>
                    <a:pt x="2664" y="3721"/>
                  </a:lnTo>
                  <a:lnTo>
                    <a:pt x="2658" y="3719"/>
                  </a:lnTo>
                  <a:lnTo>
                    <a:pt x="2648" y="3724"/>
                  </a:lnTo>
                  <a:lnTo>
                    <a:pt x="2645" y="3730"/>
                  </a:lnTo>
                  <a:lnTo>
                    <a:pt x="2648" y="3735"/>
                  </a:lnTo>
                  <a:lnTo>
                    <a:pt x="2691" y="3827"/>
                  </a:lnTo>
                  <a:lnTo>
                    <a:pt x="38" y="2006"/>
                  </a:lnTo>
                  <a:lnTo>
                    <a:pt x="2664" y="2006"/>
                  </a:lnTo>
                  <a:lnTo>
                    <a:pt x="2681" y="1996"/>
                  </a:lnTo>
                  <a:lnTo>
                    <a:pt x="2571" y="2061"/>
                  </a:lnTo>
                  <a:lnTo>
                    <a:pt x="2569" y="2067"/>
                  </a:lnTo>
                  <a:lnTo>
                    <a:pt x="2575" y="2076"/>
                  </a:lnTo>
                  <a:lnTo>
                    <a:pt x="2581" y="2078"/>
                  </a:lnTo>
                  <a:lnTo>
                    <a:pt x="2703" y="2006"/>
                  </a:lnTo>
                  <a:lnTo>
                    <a:pt x="2721" y="1996"/>
                  </a:lnTo>
                  <a:lnTo>
                    <a:pt x="2703" y="1986"/>
                  </a:lnTo>
                  <a:lnTo>
                    <a:pt x="2581" y="1915"/>
                  </a:lnTo>
                  <a:lnTo>
                    <a:pt x="2575" y="1917"/>
                  </a:lnTo>
                  <a:lnTo>
                    <a:pt x="2569" y="1926"/>
                  </a:lnTo>
                  <a:lnTo>
                    <a:pt x="2571" y="1932"/>
                  </a:lnTo>
                  <a:lnTo>
                    <a:pt x="2664" y="1986"/>
                  </a:lnTo>
                  <a:lnTo>
                    <a:pt x="33" y="1986"/>
                  </a:lnTo>
                  <a:lnTo>
                    <a:pt x="2692" y="41"/>
                  </a:lnTo>
                  <a:lnTo>
                    <a:pt x="2650" y="140"/>
                  </a:lnTo>
                  <a:lnTo>
                    <a:pt x="2652" y="146"/>
                  </a:lnTo>
                  <a:lnTo>
                    <a:pt x="2657" y="148"/>
                  </a:lnTo>
                  <a:lnTo>
                    <a:pt x="2662" y="150"/>
                  </a:lnTo>
                  <a:lnTo>
                    <a:pt x="2668" y="148"/>
                  </a:lnTo>
                  <a:lnTo>
                    <a:pt x="2731" y="3"/>
                  </a:lnTo>
                  <a:lnTo>
                    <a:pt x="2733" y="0"/>
                  </a:lnTo>
                  <a:close/>
                </a:path>
              </a:pathLst>
            </a:custGeom>
            <a:solidFill>
              <a:srgbClr val="7996B1"/>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036" name="docshape93"/>
            <p:cNvSpPr txBox="1">
              <a:spLocks noChangeArrowheads="1"/>
            </p:cNvSpPr>
            <p:nvPr/>
          </p:nvSpPr>
          <p:spPr bwMode="auto">
            <a:xfrm>
              <a:off x="9627" y="591"/>
              <a:ext cx="4223" cy="109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457200" marR="28575" lvl="1" indent="0" algn="ctr" defTabSz="914400" rtl="0" eaLnBrk="1" fontAlgn="base" latinLnBrk="0" hangingPunct="1">
                <a:spcBef>
                  <a:spcPct val="0"/>
                </a:spcBef>
                <a:buClrTx/>
                <a:buSzTx/>
                <a:buFontTx/>
                <a:buNone/>
                <a:tabLst/>
              </a:pPr>
              <a:r>
                <a:rPr kumimoji="0" lang="fr-FR" sz="1400" b="1" i="0" u="none" strike="noStrike" cap="none" normalizeH="0" baseline="0" dirty="0" smtClean="0">
                  <a:ln>
                    <a:noFill/>
                  </a:ln>
                  <a:solidFill>
                    <a:schemeClr val="tx1"/>
                  </a:solidFill>
                  <a:effectLst/>
                  <a:latin typeface="Tahoma" pitchFamily="34" charset="0"/>
                  <a:ea typeface="Arial" pitchFamily="34" charset="0"/>
                  <a:cs typeface="Arial" pitchFamily="34" charset="0"/>
                </a:rPr>
                <a:t>Un moyen privilégié du</a:t>
              </a:r>
            </a:p>
            <a:p>
              <a:pPr marR="28575" lvl="1" algn="ctr" fontAlgn="base">
                <a:spcBef>
                  <a:spcPct val="0"/>
                </a:spcBef>
              </a:pPr>
              <a:r>
                <a:rPr lang="fr-FR" sz="1400" b="1" dirty="0" smtClean="0">
                  <a:latin typeface="Tahoma" pitchFamily="34" charset="0"/>
                  <a:ea typeface="Arial" pitchFamily="34" charset="0"/>
                  <a:cs typeface="Arial" pitchFamily="34" charset="0"/>
                </a:rPr>
                <a:t>développement de l’entreprise</a:t>
              </a:r>
              <a:endParaRPr lang="fr-FR" dirty="0" smtClean="0">
                <a:latin typeface="Arial" pitchFamily="34" charset="0"/>
                <a:cs typeface="Arial" pitchFamily="34" charset="0"/>
              </a:endParaRPr>
            </a:p>
            <a:p>
              <a:pPr marL="457200" marR="28575" lvl="1" indent="0" algn="ctr" defTabSz="914400" rtl="0" eaLnBrk="1" fontAlgn="base" latinLnBrk="0" hangingPunct="1">
                <a:lnSpc>
                  <a:spcPct val="134000"/>
                </a:lnSpc>
                <a:spcBef>
                  <a:spcPct val="0"/>
                </a:spcBef>
                <a:spcAft>
                  <a:spcPts val="1000"/>
                </a:spcAft>
                <a:buClrTx/>
                <a:buSzTx/>
                <a:buFontTx/>
                <a:buNone/>
                <a:tabLst/>
              </a:pPr>
              <a:endParaRPr kumimoji="0" lang="fr-FR" sz="1400" b="1" i="0" u="none" strike="noStrike" cap="none" normalizeH="0" baseline="0" dirty="0" smtClean="0">
                <a:ln>
                  <a:noFill/>
                </a:ln>
                <a:solidFill>
                  <a:schemeClr val="tx1"/>
                </a:solidFill>
                <a:effectLst/>
                <a:latin typeface="Tahoma" pitchFamily="34" charset="0"/>
                <a:ea typeface="Arial" pitchFamily="34" charset="0"/>
                <a:cs typeface="Arial" pitchFamily="34" charset="0"/>
              </a:endParaRPr>
            </a:p>
            <a:p>
              <a:pPr marL="457200" marR="28575" lvl="1" indent="0" algn="ctr" defTabSz="914400" rtl="0" eaLnBrk="1" fontAlgn="base" latinLnBrk="0" hangingPunct="1">
                <a:lnSpc>
                  <a:spcPct val="134000"/>
                </a:lnSpc>
                <a:spcBef>
                  <a:spcPct val="0"/>
                </a:spcBef>
                <a:spcAft>
                  <a:spcPts val="1000"/>
                </a:spcAft>
                <a:buClrTx/>
                <a:buSzTx/>
                <a:buFontTx/>
                <a:buNone/>
                <a:tabLst/>
              </a:pPr>
              <a:endParaRPr kumimoji="0" lang="fr-FR" sz="1400" b="1" i="0" u="none" strike="noStrike" cap="none" normalizeH="0" baseline="0" dirty="0" smtClean="0">
                <a:ln>
                  <a:noFill/>
                </a:ln>
                <a:solidFill>
                  <a:schemeClr val="tx1"/>
                </a:solidFill>
                <a:effectLst/>
                <a:latin typeface="Tahoma" pitchFamily="34" charset="0"/>
                <a:ea typeface="Arial" pitchFamily="34" charset="0"/>
                <a:cs typeface="Arial" pitchFamily="34" charset="0"/>
              </a:endParaRPr>
            </a:p>
          </p:txBody>
        </p:sp>
        <p:sp>
          <p:nvSpPr>
            <p:cNvPr id="1037" name="docshape94"/>
            <p:cNvSpPr txBox="1">
              <a:spLocks noChangeArrowheads="1"/>
            </p:cNvSpPr>
            <p:nvPr/>
          </p:nvSpPr>
          <p:spPr bwMode="auto">
            <a:xfrm>
              <a:off x="1706" y="2616"/>
              <a:ext cx="4587" cy="86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72000"/>
                </a:lnSpc>
                <a:spcBef>
                  <a:spcPct val="0"/>
                </a:spcBef>
                <a:spcAft>
                  <a:spcPts val="1000"/>
                </a:spcAft>
                <a:buClrTx/>
                <a:buSzTx/>
                <a:buFontTx/>
                <a:buNone/>
                <a:tabLst/>
              </a:pPr>
              <a:r>
                <a:rPr kumimoji="0" lang="fr-FR" sz="1800" b="1" i="0" u="none" strike="noStrike" cap="none" normalizeH="0" baseline="0" dirty="0" smtClean="0">
                  <a:ln>
                    <a:noFill/>
                  </a:ln>
                  <a:solidFill>
                    <a:srgbClr val="FFFFFF"/>
                  </a:solidFill>
                  <a:effectLst/>
                  <a:latin typeface="Tahoma" pitchFamily="34" charset="0"/>
                  <a:ea typeface="Arial" pitchFamily="34" charset="0"/>
                  <a:cs typeface="Arial" pitchFamily="34" charset="0"/>
                </a:rPr>
                <a:t>Les enjeux de l’innovation</a:t>
              </a:r>
              <a:endParaRPr kumimoji="0" lang="fr-FR" sz="1800" b="1" i="0" u="none" strike="noStrike" cap="none" normalizeH="0" baseline="0" dirty="0" smtClean="0">
                <a:ln>
                  <a:noFill/>
                </a:ln>
                <a:solidFill>
                  <a:schemeClr val="tx1"/>
                </a:solidFill>
                <a:effectLst/>
                <a:latin typeface="Tahoma" pitchFamily="34" charset="0"/>
                <a:ea typeface="Arial" pitchFamily="34" charset="0"/>
                <a:cs typeface="Arial" pitchFamily="34" charset="0"/>
              </a:endParaRPr>
            </a:p>
          </p:txBody>
        </p:sp>
        <p:sp>
          <p:nvSpPr>
            <p:cNvPr id="1038" name="docshape95"/>
            <p:cNvSpPr txBox="1">
              <a:spLocks noChangeArrowheads="1"/>
            </p:cNvSpPr>
            <p:nvPr/>
          </p:nvSpPr>
          <p:spPr bwMode="auto">
            <a:xfrm>
              <a:off x="9495" y="2548"/>
              <a:ext cx="4658" cy="113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28575" lvl="0" indent="0" algn="l" defTabSz="914400" rtl="0" eaLnBrk="1" fontAlgn="base" latinLnBrk="0" hangingPunct="1">
                <a:lnSpc>
                  <a:spcPct val="100000"/>
                </a:lnSpc>
                <a:spcBef>
                  <a:spcPct val="0"/>
                </a:spcBef>
                <a:spcAft>
                  <a:spcPts val="1000"/>
                </a:spcAft>
                <a:buClrTx/>
                <a:buSzTx/>
                <a:buFontTx/>
                <a:buNone/>
                <a:tabLst/>
              </a:pPr>
              <a:r>
                <a:rPr kumimoji="0" lang="fr-FR" sz="1300" b="1" i="0" u="none" strike="noStrike" cap="none" normalizeH="0" baseline="0" dirty="0" smtClean="0">
                  <a:ln>
                    <a:noFill/>
                  </a:ln>
                  <a:solidFill>
                    <a:schemeClr val="tx1"/>
                  </a:solidFill>
                  <a:effectLst/>
                  <a:latin typeface="Tahoma" pitchFamily="34" charset="0"/>
                  <a:ea typeface="Arial" pitchFamily="34" charset="0"/>
                  <a:cs typeface="Arial" pitchFamily="34" charset="0"/>
                </a:rPr>
                <a:t>Un moyen d’adaptation de l’entreprise</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039" name="docshape96"/>
            <p:cNvSpPr txBox="1">
              <a:spLocks noChangeArrowheads="1"/>
            </p:cNvSpPr>
            <p:nvPr/>
          </p:nvSpPr>
          <p:spPr bwMode="auto">
            <a:xfrm>
              <a:off x="9354" y="2860"/>
              <a:ext cx="4612" cy="82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fr-FR" sz="1300" b="1" i="0" u="none" strike="noStrike" cap="none" normalizeH="0" baseline="0" dirty="0" smtClean="0">
                  <a:ln>
                    <a:noFill/>
                  </a:ln>
                  <a:solidFill>
                    <a:schemeClr val="tx1"/>
                  </a:solidFill>
                  <a:effectLst/>
                  <a:latin typeface="Tahoma" pitchFamily="34" charset="0"/>
                  <a:ea typeface="Arial" pitchFamily="34" charset="0"/>
                  <a:cs typeface="Arial" pitchFamily="34" charset="0"/>
                </a:rPr>
                <a:t>aux changements de </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040" name="docshape97"/>
            <p:cNvSpPr txBox="1">
              <a:spLocks noChangeArrowheads="1"/>
            </p:cNvSpPr>
            <p:nvPr/>
          </p:nvSpPr>
          <p:spPr bwMode="auto">
            <a:xfrm>
              <a:off x="11863" y="2857"/>
              <a:ext cx="2424" cy="319"/>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fr-FR" sz="1300" b="1" i="0" u="none" strike="noStrike" cap="none" normalizeH="0" baseline="0" dirty="0" smtClean="0">
                  <a:ln>
                    <a:noFill/>
                  </a:ln>
                  <a:solidFill>
                    <a:schemeClr val="tx1"/>
                  </a:solidFill>
                  <a:effectLst/>
                  <a:latin typeface="Tahoma" pitchFamily="34" charset="0"/>
                  <a:ea typeface="Arial" pitchFamily="34" charset="0"/>
                  <a:cs typeface="Arial" pitchFamily="34" charset="0"/>
                </a:rPr>
                <a:t>son environnement</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041" name="docshape98"/>
            <p:cNvSpPr txBox="1">
              <a:spLocks noChangeArrowheads="1"/>
            </p:cNvSpPr>
            <p:nvPr/>
          </p:nvSpPr>
          <p:spPr bwMode="auto">
            <a:xfrm>
              <a:off x="9314" y="4600"/>
              <a:ext cx="4839" cy="67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457200" marR="28575" lvl="1" indent="0" algn="ctr" defTabSz="914400" rtl="0" eaLnBrk="1" fontAlgn="base" latinLnBrk="0" hangingPunct="1">
                <a:lnSpc>
                  <a:spcPct val="100000"/>
                </a:lnSpc>
                <a:spcBef>
                  <a:spcPct val="0"/>
                </a:spcBef>
                <a:spcAft>
                  <a:spcPts val="1000"/>
                </a:spcAft>
                <a:buClrTx/>
                <a:buSzTx/>
                <a:buFontTx/>
                <a:buNone/>
                <a:tabLst/>
              </a:pPr>
              <a:r>
                <a:rPr kumimoji="0" lang="fr-FR" sz="1400" b="1" i="0" u="none" strike="noStrike" cap="none" normalizeH="0" baseline="0" dirty="0" smtClean="0">
                  <a:ln>
                    <a:noFill/>
                  </a:ln>
                  <a:solidFill>
                    <a:schemeClr val="tx1"/>
                  </a:solidFill>
                  <a:effectLst/>
                  <a:latin typeface="Tahoma" pitchFamily="34" charset="0"/>
                  <a:ea typeface="Arial" pitchFamily="34" charset="0"/>
                  <a:cs typeface="Arial" pitchFamily="34" charset="0"/>
                </a:rPr>
                <a:t>Un facteur de différenciation compétitive</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grpSp>
      <p:pic>
        <p:nvPicPr>
          <p:cNvPr id="19" name="Image 18"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1"/>
          <p:cNvSpPr>
            <a:spLocks noChangeArrowheads="1"/>
          </p:cNvSpPr>
          <p:nvPr/>
        </p:nvSpPr>
        <p:spPr bwMode="auto">
          <a:xfrm>
            <a:off x="838200" y="1047750"/>
            <a:ext cx="10629900" cy="1754326"/>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914400" marR="0" lvl="2" indent="0" algn="justLow" defTabSz="914400" rtl="0" eaLnBrk="1" fontAlgn="base" latinLnBrk="0" hangingPunct="1">
              <a:lnSpc>
                <a:spcPct val="100000"/>
              </a:lnSpc>
              <a:spcBef>
                <a:spcPct val="0"/>
              </a:spcBef>
              <a:spcAft>
                <a:spcPct val="0"/>
              </a:spcAft>
              <a:buClrTx/>
              <a:buSzTx/>
              <a:buFont typeface="Wingdings" pitchFamily="2" charset="2"/>
              <a:buChar char="v"/>
              <a:tabLst>
                <a:tab pos="228600" algn="l"/>
                <a:tab pos="1204913" algn="l"/>
              </a:tabLst>
            </a:pPr>
            <a:r>
              <a:rPr lang="fr-FR" sz="2000" dirty="0" smtClean="0">
                <a:solidFill>
                  <a:schemeClr val="dk1"/>
                </a:solidFill>
                <a:latin typeface="Arial" pitchFamily="34" charset="0"/>
                <a:cs typeface="Arial" pitchFamily="34" charset="0"/>
              </a:rPr>
              <a:t> </a:t>
            </a:r>
            <a:r>
              <a:rPr lang="fr-FR" sz="2000" b="1" dirty="0" smtClean="0">
                <a:solidFill>
                  <a:schemeClr val="dk1"/>
                </a:solidFill>
                <a:latin typeface="Arial" pitchFamily="34" charset="0"/>
                <a:cs typeface="Arial" pitchFamily="34" charset="0"/>
              </a:rPr>
              <a:t>l’innovation est le moyen privilégié du développement de l’entreprise</a:t>
            </a:r>
          </a:p>
          <a:p>
            <a:pPr marL="914400" marR="0" lvl="2" indent="0" algn="justLow" defTabSz="914400" rtl="0" eaLnBrk="1" fontAlgn="base" latinLnBrk="0" hangingPunct="1">
              <a:lnSpc>
                <a:spcPct val="100000"/>
              </a:lnSpc>
              <a:spcBef>
                <a:spcPct val="0"/>
              </a:spcBef>
              <a:spcAft>
                <a:spcPct val="0"/>
              </a:spcAft>
              <a:buClrTx/>
              <a:buSzTx/>
              <a:tabLst>
                <a:tab pos="228600" algn="l"/>
                <a:tab pos="1204913" algn="l"/>
              </a:tabLst>
            </a:pPr>
            <a:endParaRPr lang="fr-FR" sz="800" dirty="0" smtClean="0">
              <a:solidFill>
                <a:schemeClr val="dk1"/>
              </a:solidFill>
              <a:latin typeface="Arial" pitchFamily="34" charset="0"/>
              <a:cs typeface="Arial" pitchFamily="34" charset="0"/>
            </a:endParaRPr>
          </a:p>
          <a:p>
            <a:pPr marL="0" marR="0" lvl="0" indent="0" algn="justLow" defTabSz="914400" rtl="0" eaLnBrk="0" fontAlgn="base" latinLnBrk="0" hangingPunct="0">
              <a:lnSpc>
                <a:spcPct val="100000"/>
              </a:lnSpc>
              <a:spcBef>
                <a:spcPct val="0"/>
              </a:spcBef>
              <a:spcAft>
                <a:spcPct val="0"/>
              </a:spcAft>
              <a:buClrTx/>
              <a:buSzTx/>
              <a:buFontTx/>
              <a:buNone/>
              <a:tabLst>
                <a:tab pos="228600" algn="l"/>
                <a:tab pos="1204913" algn="l"/>
              </a:tabLst>
            </a:pPr>
            <a:r>
              <a:rPr lang="fr-FR" sz="2000" dirty="0" smtClean="0">
                <a:solidFill>
                  <a:schemeClr val="dk1"/>
                </a:solidFill>
                <a:latin typeface="Arial" pitchFamily="34" charset="0"/>
                <a:cs typeface="Arial" pitchFamily="34" charset="0"/>
              </a:rPr>
              <a:t>La façon la plus efficace, pour les entreprises, de s’adapter à une économie mondiale de plus en plus intégrée, est de miser sur l’innovation en valorisant leur capacité technologique : innovation de produits pour stimuler la demande en lançant sur le marché des produits nouveaux, et innovation de procédés qui améliore les processus de production existants.</a:t>
            </a:r>
          </a:p>
        </p:txBody>
      </p:sp>
      <p:pic>
        <p:nvPicPr>
          <p:cNvPr id="4" name="Image 3" descr="C:\Users\rouijel\Downloads\zzzzzzzzzz.png"/>
          <p:cNvPicPr/>
          <p:nvPr/>
        </p:nvPicPr>
        <p:blipFill>
          <a:blip r:embed="rId2" cstate="print"/>
          <a:stretch>
            <a:fillRect/>
          </a:stretch>
        </p:blipFill>
        <p:spPr>
          <a:xfrm>
            <a:off x="1205865" y="3049326"/>
            <a:ext cx="9875520" cy="3808674"/>
          </a:xfrm>
          <a:prstGeom prst="rect">
            <a:avLst/>
          </a:prstGeom>
        </p:spPr>
      </p:pic>
      <p:pic>
        <p:nvPicPr>
          <p:cNvPr id="6" name="Image 5" descr="C:\Users\ma.mejri\Desktop\téléchargement (1).png"/>
          <p:cNvPicPr/>
          <p:nvPr/>
        </p:nvPicPr>
        <p:blipFill>
          <a:blip r:embed="rId3"/>
          <a:srcRect/>
          <a:stretch>
            <a:fillRect/>
          </a:stretch>
        </p:blipFill>
        <p:spPr bwMode="auto">
          <a:xfrm>
            <a:off x="889000" y="267607"/>
            <a:ext cx="1079500" cy="387350"/>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866775" y="962024"/>
            <a:ext cx="10515600" cy="5386090"/>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Wingdings" pitchFamily="2" charset="2"/>
              <a:buChar char="v"/>
              <a:tabLst>
                <a:tab pos="1128713" algn="l"/>
              </a:tabLst>
            </a:pPr>
            <a:r>
              <a:rPr lang="fr-FR" sz="2000" b="1" dirty="0" smtClean="0">
                <a:solidFill>
                  <a:schemeClr val="dk1"/>
                </a:solidFill>
                <a:latin typeface="Arial" pitchFamily="34" charset="0"/>
                <a:cs typeface="Arial" pitchFamily="34" charset="0"/>
              </a:rPr>
              <a:t>L’innovation comme moyen d’adaptation de l’entreprise aux changements dans son environnement</a:t>
            </a:r>
          </a:p>
          <a:p>
            <a:pPr marL="0" marR="0" lvl="0" indent="0" algn="just" defTabSz="914400" rtl="0" eaLnBrk="0" fontAlgn="base" latinLnBrk="0" hangingPunct="0">
              <a:lnSpc>
                <a:spcPct val="100000"/>
              </a:lnSpc>
              <a:spcBef>
                <a:spcPct val="0"/>
              </a:spcBef>
              <a:spcAft>
                <a:spcPct val="0"/>
              </a:spcAft>
              <a:buClrTx/>
              <a:buSzTx/>
              <a:buFontTx/>
              <a:buNone/>
              <a:tabLst>
                <a:tab pos="1128713" algn="l"/>
              </a:tabLst>
            </a:pPr>
            <a:endParaRPr lang="fr-FR" sz="2000" dirty="0" smtClean="0">
              <a:solidFill>
                <a:schemeClr val="dk1"/>
              </a:solidFill>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1128713" algn="l"/>
              </a:tabLst>
            </a:pPr>
            <a:r>
              <a:rPr lang="fr-FR" sz="2000" dirty="0" smtClean="0">
                <a:solidFill>
                  <a:schemeClr val="dk1"/>
                </a:solidFill>
                <a:latin typeface="Arial" pitchFamily="34" charset="0"/>
                <a:cs typeface="Arial" pitchFamily="34" charset="0"/>
              </a:rPr>
              <a:t>De multiples changements sont à l’œuvre dans nos sociétés, qui obligent les entreprises à un «redéploiement industriel </a:t>
            </a:r>
            <a:r>
              <a:rPr lang="fr-FR" sz="2000" dirty="0" err="1" smtClean="0">
                <a:solidFill>
                  <a:schemeClr val="dk1"/>
                </a:solidFill>
                <a:latin typeface="Arial" pitchFamily="34" charset="0"/>
                <a:cs typeface="Arial" pitchFamily="34" charset="0"/>
              </a:rPr>
              <a:t>constant.On</a:t>
            </a:r>
            <a:r>
              <a:rPr lang="fr-FR" sz="2000" dirty="0" smtClean="0">
                <a:solidFill>
                  <a:schemeClr val="dk1"/>
                </a:solidFill>
                <a:latin typeface="Arial" pitchFamily="34" charset="0"/>
                <a:cs typeface="Arial" pitchFamily="34" charset="0"/>
              </a:rPr>
              <a:t> peut regrouper ces changements en trois catégories:</a:t>
            </a:r>
            <a:endParaRPr lang="fr-FR" sz="2000" dirty="0" smtClean="0">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tab pos="1128713" algn="l"/>
              </a:tabLst>
            </a:pPr>
            <a:endParaRPr lang="fr-FR" sz="2000" dirty="0" smtClean="0">
              <a:solidFill>
                <a:schemeClr val="dk1"/>
              </a:solidFill>
              <a:latin typeface="Arial" pitchFamily="34" charset="0"/>
              <a:cs typeface="Arial" pitchFamily="34" charset="0"/>
            </a:endParaRPr>
          </a:p>
          <a:p>
            <a:pPr marL="714375" marR="0" lvl="0" indent="-171450" algn="just" defTabSz="914400" rtl="0" eaLnBrk="0" fontAlgn="base" latinLnBrk="0" hangingPunct="0">
              <a:lnSpc>
                <a:spcPct val="100000"/>
              </a:lnSpc>
              <a:spcBef>
                <a:spcPct val="0"/>
              </a:spcBef>
              <a:spcAft>
                <a:spcPct val="0"/>
              </a:spcAft>
              <a:buClrTx/>
              <a:buSzTx/>
              <a:buFont typeface="Wingdings" pitchFamily="2" charset="2"/>
              <a:buChar char="§"/>
              <a:tabLst>
                <a:tab pos="1128713" algn="l"/>
              </a:tabLst>
            </a:pPr>
            <a:r>
              <a:rPr lang="fr-FR" sz="2000" dirty="0" smtClean="0">
                <a:solidFill>
                  <a:schemeClr val="dk1"/>
                </a:solidFill>
                <a:latin typeface="Arial" pitchFamily="34" charset="0"/>
                <a:cs typeface="Arial" pitchFamily="34" charset="0"/>
              </a:rPr>
              <a:t>La saturation des marchés dans les pays industriellement développés, la raréfaction des ressources naturelles (pétrole, eau), les changements sociaux (réduction du cycle de vie des produits et à l’obligation d’en accroître la diversité ) ;</a:t>
            </a:r>
          </a:p>
          <a:p>
            <a:pPr marL="714375" marR="0" lvl="0" indent="-171450" algn="just" defTabSz="914400" rtl="0" eaLnBrk="0" fontAlgn="base" latinLnBrk="0" hangingPunct="0">
              <a:lnSpc>
                <a:spcPct val="100000"/>
              </a:lnSpc>
              <a:spcBef>
                <a:spcPct val="0"/>
              </a:spcBef>
              <a:spcAft>
                <a:spcPct val="0"/>
              </a:spcAft>
              <a:buClrTx/>
              <a:buSzTx/>
              <a:tabLst>
                <a:tab pos="1128713" algn="l"/>
              </a:tabLst>
            </a:pPr>
            <a:endParaRPr lang="fr-FR" sz="800" dirty="0" smtClean="0">
              <a:solidFill>
                <a:schemeClr val="dk1"/>
              </a:solidFill>
              <a:latin typeface="Arial" pitchFamily="34" charset="0"/>
              <a:cs typeface="Arial" pitchFamily="34" charset="0"/>
            </a:endParaRPr>
          </a:p>
          <a:p>
            <a:pPr marL="714375" marR="0" lvl="0" indent="-171450" algn="just" defTabSz="914400" rtl="0" eaLnBrk="0" fontAlgn="base" latinLnBrk="0" hangingPunct="0">
              <a:lnSpc>
                <a:spcPct val="100000"/>
              </a:lnSpc>
              <a:spcBef>
                <a:spcPct val="0"/>
              </a:spcBef>
              <a:spcAft>
                <a:spcPct val="0"/>
              </a:spcAft>
              <a:buClrTx/>
              <a:buSzTx/>
              <a:buFont typeface="Wingdings" pitchFamily="2" charset="2"/>
              <a:buChar char="§"/>
              <a:tabLst>
                <a:tab pos="1128713" algn="l"/>
              </a:tabLst>
            </a:pPr>
            <a:r>
              <a:rPr lang="fr-FR" sz="2000" dirty="0" smtClean="0">
                <a:latin typeface="Arial" pitchFamily="34" charset="0"/>
                <a:cs typeface="Arial" pitchFamily="34" charset="0"/>
              </a:rPr>
              <a:t>La libre circulation internationale des biens et la déréglementation de certains secteurs instaurent une concurrence directe entre pays développés et pays en voie de développement (Chine et Inde par rapport aux États-Unis , à l’Europe ou au Japon);</a:t>
            </a:r>
          </a:p>
          <a:p>
            <a:pPr marL="714375" marR="0" lvl="0" indent="-171450" algn="just" defTabSz="914400" rtl="0" eaLnBrk="0" fontAlgn="base" latinLnBrk="0" hangingPunct="0">
              <a:lnSpc>
                <a:spcPct val="100000"/>
              </a:lnSpc>
              <a:spcBef>
                <a:spcPct val="0"/>
              </a:spcBef>
              <a:spcAft>
                <a:spcPct val="0"/>
              </a:spcAft>
              <a:buClrTx/>
              <a:buSzTx/>
              <a:tabLst>
                <a:tab pos="1128713" algn="l"/>
              </a:tabLst>
            </a:pPr>
            <a:endParaRPr lang="fr-FR" sz="800" dirty="0" smtClean="0">
              <a:latin typeface="Arial" pitchFamily="34" charset="0"/>
              <a:cs typeface="Arial" pitchFamily="34" charset="0"/>
            </a:endParaRPr>
          </a:p>
          <a:p>
            <a:pPr marL="714375" marR="0" lvl="0" indent="-171450" algn="just" defTabSz="914400" rtl="0" eaLnBrk="0" fontAlgn="base" latinLnBrk="0" hangingPunct="0">
              <a:lnSpc>
                <a:spcPct val="100000"/>
              </a:lnSpc>
              <a:spcBef>
                <a:spcPct val="0"/>
              </a:spcBef>
              <a:spcAft>
                <a:spcPct val="0"/>
              </a:spcAft>
              <a:buClrTx/>
              <a:buSzTx/>
              <a:buFont typeface="Wingdings" pitchFamily="2" charset="2"/>
              <a:buChar char="§"/>
              <a:tabLst>
                <a:tab pos="1128713" algn="l"/>
              </a:tabLst>
            </a:pPr>
            <a:r>
              <a:rPr lang="fr-FR" sz="2000" dirty="0" smtClean="0">
                <a:latin typeface="Arial" pitchFamily="34" charset="0"/>
                <a:cs typeface="Arial" pitchFamily="34" charset="0"/>
              </a:rPr>
              <a:t>l’évolution de plus en plus rapide des techniques, chaque entreprise essayant d’en tirer parti pour distancer ses concurrents, implique une croissance des coûts de R&amp;D</a:t>
            </a:r>
          </a:p>
          <a:p>
            <a:pPr marL="714375" marR="0" lvl="0" indent="-171450" algn="just" defTabSz="914400" rtl="0" eaLnBrk="0" fontAlgn="base" latinLnBrk="0" hangingPunct="0">
              <a:lnSpc>
                <a:spcPct val="100000"/>
              </a:lnSpc>
              <a:spcBef>
                <a:spcPct val="0"/>
              </a:spcBef>
              <a:spcAft>
                <a:spcPct val="0"/>
              </a:spcAft>
              <a:buClrTx/>
              <a:buSzTx/>
              <a:tabLst>
                <a:tab pos="1128713" algn="l"/>
              </a:tabLst>
            </a:pPr>
            <a:endParaRPr lang="fr-FR" sz="800" dirty="0" smtClean="0">
              <a:solidFill>
                <a:schemeClr val="dk1"/>
              </a:solidFill>
              <a:latin typeface="Arial" pitchFamily="34" charset="0"/>
              <a:cs typeface="Arial" pitchFamily="34" charset="0"/>
            </a:endParaRPr>
          </a:p>
        </p:txBody>
      </p:sp>
      <p:pic>
        <p:nvPicPr>
          <p:cNvPr id="4" name="Image 3" descr="C:\Users\ma.mejri\Desktop\téléchargement (1).png"/>
          <p:cNvPicPr/>
          <p:nvPr/>
        </p:nvPicPr>
        <p:blipFill>
          <a:blip r:embed="rId2"/>
          <a:srcRect/>
          <a:stretch>
            <a:fillRect/>
          </a:stretch>
        </p:blipFill>
        <p:spPr bwMode="auto">
          <a:xfrm>
            <a:off x="917575" y="296182"/>
            <a:ext cx="1079500" cy="387350"/>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 name="Rectangle 1"/>
          <p:cNvSpPr>
            <a:spLocks noChangeArrowheads="1"/>
          </p:cNvSpPr>
          <p:nvPr/>
        </p:nvSpPr>
        <p:spPr bwMode="auto">
          <a:xfrm>
            <a:off x="838200" y="828675"/>
            <a:ext cx="10601325" cy="4462760"/>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Wingdings" pitchFamily="2" charset="2"/>
              <a:buChar char="v"/>
              <a:tabLst/>
            </a:pPr>
            <a:r>
              <a:rPr lang="fr-FR" sz="2000" b="1" dirty="0" smtClean="0">
                <a:solidFill>
                  <a:schemeClr val="dk1"/>
                </a:solidFill>
                <a:latin typeface="Arial" pitchFamily="34" charset="0"/>
                <a:cs typeface="Arial" pitchFamily="34" charset="0"/>
              </a:rPr>
              <a:t>L’innovation comme facteur de différenciation compétitive</a:t>
            </a:r>
          </a:p>
          <a:p>
            <a:pPr marL="0" marR="0" lvl="0" indent="0" algn="l" defTabSz="914400" rtl="0" eaLnBrk="1" fontAlgn="base" latinLnBrk="0" hangingPunct="1">
              <a:lnSpc>
                <a:spcPct val="100000"/>
              </a:lnSpc>
              <a:spcBef>
                <a:spcPct val="0"/>
              </a:spcBef>
              <a:spcAft>
                <a:spcPct val="0"/>
              </a:spcAft>
              <a:buClrTx/>
              <a:buSzTx/>
              <a:tabLst/>
            </a:pPr>
            <a:endParaRPr lang="fr-FR" sz="800" dirty="0" smtClean="0">
              <a:solidFill>
                <a:schemeClr val="dk1"/>
              </a:solidFill>
              <a:latin typeface="Arial" pitchFamily="34" charset="0"/>
              <a:cs typeface="Arial" pitchFamily="34" charset="0"/>
            </a:endParaRPr>
          </a:p>
          <a:p>
            <a:pPr lvl="0" algn="just" eaLnBrk="0" fontAlgn="base" hangingPunct="0">
              <a:spcBef>
                <a:spcPct val="0"/>
              </a:spcBef>
              <a:spcAft>
                <a:spcPct val="0"/>
              </a:spcAft>
            </a:pPr>
            <a:r>
              <a:rPr lang="fr-FR" sz="2000" dirty="0" smtClean="0">
                <a:latin typeface="Arial" pitchFamily="34" charset="0"/>
                <a:cs typeface="Arial" pitchFamily="34" charset="0"/>
              </a:rPr>
              <a:t>L'innovation est un élément clé pour les entreprises qui cherchent à se différencier sur le marché. Elle permet non seulement de répondre aux besoins changeants</a:t>
            </a:r>
            <a:br>
              <a:rPr lang="fr-FR" sz="2000" dirty="0" smtClean="0">
                <a:latin typeface="Arial" pitchFamily="34" charset="0"/>
                <a:cs typeface="Arial" pitchFamily="34" charset="0"/>
              </a:rPr>
            </a:br>
            <a:r>
              <a:rPr lang="fr-FR" sz="2000" dirty="0" smtClean="0">
                <a:latin typeface="Arial" pitchFamily="34" charset="0"/>
                <a:cs typeface="Arial" pitchFamily="34" charset="0"/>
              </a:rPr>
              <a:t>des consommateurs, mais aussi de se démarquer de la concurrence. Voici quelques exemples illustrant comment l'innovation peut servir de facteur de différenciation</a:t>
            </a:r>
            <a:br>
              <a:rPr lang="fr-FR" sz="2000" dirty="0" smtClean="0">
                <a:latin typeface="Arial" pitchFamily="34" charset="0"/>
                <a:cs typeface="Arial" pitchFamily="34" charset="0"/>
              </a:rPr>
            </a:br>
            <a:r>
              <a:rPr lang="fr-FR" sz="2000" dirty="0" smtClean="0">
                <a:latin typeface="Arial" pitchFamily="34" charset="0"/>
                <a:cs typeface="Arial" pitchFamily="34" charset="0"/>
              </a:rPr>
              <a:t>compétitive </a:t>
            </a:r>
            <a:r>
              <a:rPr lang="fr-FR" sz="2000" dirty="0" smtClean="0"/>
              <a:t>:</a:t>
            </a:r>
          </a:p>
          <a:p>
            <a:pPr algn="just" eaLnBrk="0" fontAlgn="base" hangingPunct="0">
              <a:spcBef>
                <a:spcPct val="0"/>
              </a:spcBef>
              <a:spcAft>
                <a:spcPct val="0"/>
              </a:spcAft>
            </a:pPr>
            <a:r>
              <a:rPr lang="fr-FR" sz="800" dirty="0" smtClean="0"/>
              <a:t/>
            </a:r>
            <a:br>
              <a:rPr lang="fr-FR" sz="800" dirty="0" smtClean="0"/>
            </a:br>
            <a:endParaRPr lang="fr-FR" sz="2000" dirty="0" smtClean="0">
              <a:latin typeface="Arial" pitchFamily="34" charset="0"/>
              <a:cs typeface="Arial" pitchFamily="34" charset="0"/>
            </a:endParaRPr>
          </a:p>
          <a:p>
            <a:pPr lvl="0" algn="just" eaLnBrk="0" fontAlgn="base" hangingPunct="0">
              <a:spcBef>
                <a:spcPct val="0"/>
              </a:spcBef>
              <a:spcAft>
                <a:spcPct val="0"/>
              </a:spcAft>
            </a:pPr>
            <a:r>
              <a:rPr lang="fr-FR" sz="800" dirty="0" smtClean="0"/>
              <a:t/>
            </a:r>
            <a:br>
              <a:rPr lang="fr-FR" sz="800" dirty="0" smtClean="0"/>
            </a:br>
            <a:r>
              <a:rPr lang="fr-FR" sz="2000" b="1" dirty="0" smtClean="0">
                <a:latin typeface="Arial" pitchFamily="34" charset="0"/>
                <a:cs typeface="Arial" pitchFamily="34" charset="0"/>
              </a:rPr>
              <a:t>Tesla</a:t>
            </a:r>
            <a:r>
              <a:rPr lang="fr-FR" sz="2000" dirty="0" smtClean="0">
                <a:latin typeface="Arial" pitchFamily="34" charset="0"/>
                <a:cs typeface="Arial" pitchFamily="34" charset="0"/>
              </a:rPr>
              <a:t> : Dans le secteur automobile, Tesla a innové non seulement avec ses véhicules électriques, mais aussi avec son modèle de vente directe et ses</a:t>
            </a:r>
            <a:br>
              <a:rPr lang="fr-FR" sz="2000" dirty="0" smtClean="0">
                <a:latin typeface="Arial" pitchFamily="34" charset="0"/>
                <a:cs typeface="Arial" pitchFamily="34" charset="0"/>
              </a:rPr>
            </a:br>
            <a:r>
              <a:rPr lang="fr-FR" sz="2000" dirty="0" smtClean="0">
                <a:latin typeface="Arial" pitchFamily="34" charset="0"/>
                <a:cs typeface="Arial" pitchFamily="34" charset="0"/>
              </a:rPr>
              <a:t>mises à jour logicielles à distance. En se concentrant sur la durabilité et la technologie avancée, Tesla a su attirer une clientèle soucieuse de l'environnement</a:t>
            </a:r>
            <a:br>
              <a:rPr lang="fr-FR" sz="2000" dirty="0" smtClean="0">
                <a:latin typeface="Arial" pitchFamily="34" charset="0"/>
                <a:cs typeface="Arial" pitchFamily="34" charset="0"/>
              </a:rPr>
            </a:br>
            <a:r>
              <a:rPr lang="fr-FR" sz="2000" dirty="0" smtClean="0">
                <a:latin typeface="Arial" pitchFamily="34" charset="0"/>
                <a:cs typeface="Arial" pitchFamily="34" charset="0"/>
              </a:rPr>
              <a:t>tout en se différenciant des constructeurs automobiles traditionnels.</a:t>
            </a:r>
          </a:p>
          <a:p>
            <a:pPr lvl="0" algn="just" eaLnBrk="0" fontAlgn="base" hangingPunct="0">
              <a:spcBef>
                <a:spcPct val="0"/>
              </a:spcBef>
              <a:spcAft>
                <a:spcPct val="0"/>
              </a:spcAft>
            </a:pPr>
            <a:endParaRPr lang="fr-FR" sz="2000" dirty="0" smtClean="0">
              <a:solidFill>
                <a:schemeClr val="dk1"/>
              </a:solidFill>
              <a:latin typeface="Arial" pitchFamily="34" charset="0"/>
              <a:cs typeface="Arial" pitchFamily="34" charset="0"/>
            </a:endParaRPr>
          </a:p>
        </p:txBody>
      </p:sp>
      <p:pic>
        <p:nvPicPr>
          <p:cNvPr id="4" name="Image 3" descr="C:\Users\ma.mejri\Desktop\téléchargement (1).png"/>
          <p:cNvPicPr/>
          <p:nvPr/>
        </p:nvPicPr>
        <p:blipFill>
          <a:blip r:embed="rId2"/>
          <a:srcRect/>
          <a:stretch>
            <a:fillRect/>
          </a:stretch>
        </p:blipFill>
        <p:spPr bwMode="auto">
          <a:xfrm>
            <a:off x="822325" y="248557"/>
            <a:ext cx="1079500" cy="38735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23899" y="1002328"/>
            <a:ext cx="10744201" cy="529375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lvl="1" algn="just"/>
            <a:endParaRPr lang="fr-FR" sz="2000" b="1" dirty="0" smtClean="0">
              <a:solidFill>
                <a:srgbClr val="0066CC"/>
              </a:solidFill>
              <a:latin typeface="Tahoma" pitchFamily="34" charset="0"/>
              <a:ea typeface="Verdana" pitchFamily="34" charset="0"/>
              <a:cs typeface="Tahoma" pitchFamily="34" charset="0"/>
            </a:endParaRPr>
          </a:p>
          <a:p>
            <a:pPr marL="0" lvl="1" fontAlgn="base">
              <a:spcBef>
                <a:spcPct val="0"/>
              </a:spcBef>
              <a:spcAft>
                <a:spcPct val="0"/>
              </a:spcAft>
              <a:tabLst>
                <a:tab pos="1328738" algn="l"/>
              </a:tabLst>
            </a:pPr>
            <a:r>
              <a:rPr lang="fr-FR" sz="2000" b="1" dirty="0" smtClean="0">
                <a:solidFill>
                  <a:schemeClr val="accent4">
                    <a:lumMod val="75000"/>
                  </a:schemeClr>
                </a:solidFill>
                <a:latin typeface="Tahoma" pitchFamily="34" charset="0"/>
                <a:ea typeface="Verdana" pitchFamily="34" charset="0"/>
                <a:cs typeface="Tahoma" pitchFamily="34" charset="0"/>
              </a:rPr>
              <a:t>b) Les sources de l’innovation</a:t>
            </a:r>
          </a:p>
          <a:p>
            <a:pPr algn="just"/>
            <a:endParaRPr lang="fr-FR" sz="2000" dirty="0" smtClean="0">
              <a:solidFill>
                <a:schemeClr val="dk1"/>
              </a:solidFill>
              <a:latin typeface="Arial" pitchFamily="34" charset="0"/>
              <a:cs typeface="Arial" pitchFamily="34" charset="0"/>
            </a:endParaRPr>
          </a:p>
          <a:p>
            <a:pPr algn="just"/>
            <a:endParaRPr lang="fr-FR" sz="2000" dirty="0" smtClean="0">
              <a:latin typeface="Arial" pitchFamily="34" charset="0"/>
              <a:cs typeface="Arial" pitchFamily="34" charset="0"/>
            </a:endParaRPr>
          </a:p>
          <a:p>
            <a:pPr algn="just"/>
            <a:r>
              <a:rPr lang="fr-FR" sz="2000" dirty="0" smtClean="0">
                <a:solidFill>
                  <a:schemeClr val="dk1"/>
                </a:solidFill>
                <a:latin typeface="Arial" pitchFamily="34" charset="0"/>
                <a:cs typeface="Arial" pitchFamily="34" charset="0"/>
              </a:rPr>
              <a:t>Joseph Schumpeter, économiste autrichien, a identifié plusieurs sources de l'innovation . Selon lui, l'innovation est un moteur essentiel du développement</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économique et peut se manifester sous différentes formes. Voici les principales sources d'innovation selon Schumpeter :</a:t>
            </a:r>
          </a:p>
          <a:p>
            <a:pPr algn="just"/>
            <a:endParaRPr lang="fr-FR" sz="2000" dirty="0" smtClean="0">
              <a:solidFill>
                <a:schemeClr val="dk1"/>
              </a:solidFill>
              <a:latin typeface="Arial" pitchFamily="34" charset="0"/>
              <a:cs typeface="Arial" pitchFamily="34" charset="0"/>
            </a:endParaRPr>
          </a:p>
          <a:p>
            <a:pPr marL="1162050" indent="-352425" algn="just">
              <a:buFont typeface="Symbol" pitchFamily="18" charset="2"/>
              <a:buChar char="&amp;"/>
            </a:pPr>
            <a:r>
              <a:rPr lang="fr-FR" sz="2000" b="1" dirty="0" smtClean="0">
                <a:latin typeface="Arial" pitchFamily="34" charset="0"/>
                <a:cs typeface="Arial" pitchFamily="34" charset="0"/>
              </a:rPr>
              <a:t>La fabrication de biens nouveaux </a:t>
            </a:r>
            <a:r>
              <a:rPr lang="fr-FR" sz="2000" dirty="0" smtClean="0">
                <a:solidFill>
                  <a:schemeClr val="dk1"/>
                </a:solidFill>
                <a:latin typeface="Arial" pitchFamily="34" charset="0"/>
                <a:cs typeface="Arial" pitchFamily="34" charset="0"/>
              </a:rPr>
              <a:t>: L'introduction de nouveaux biens ou services sur le marché qui répondent à des besoins non satisfaits ou qui améliorent des produits existants.</a:t>
            </a:r>
          </a:p>
          <a:p>
            <a:pPr marL="1162050" indent="-352425" algn="just">
              <a:buFont typeface="Symbol" pitchFamily="18" charset="2"/>
              <a:buChar char="&amp;"/>
            </a:pPr>
            <a:endParaRPr lang="fr-FR" sz="2000" dirty="0" smtClean="0">
              <a:solidFill>
                <a:schemeClr val="dk1"/>
              </a:solidFill>
              <a:latin typeface="Arial" pitchFamily="34" charset="0"/>
              <a:cs typeface="Arial" pitchFamily="34" charset="0"/>
            </a:endParaRPr>
          </a:p>
          <a:p>
            <a:pPr marL="1162050" indent="-352425" algn="just">
              <a:buFont typeface="Symbol" pitchFamily="18" charset="2"/>
              <a:buChar char="&amp;"/>
            </a:pPr>
            <a:r>
              <a:rPr lang="fr-FR" sz="2000" b="1" dirty="0" smtClean="0">
                <a:latin typeface="Arial" pitchFamily="34" charset="0"/>
                <a:cs typeface="Arial" pitchFamily="34" charset="0"/>
              </a:rPr>
              <a:t>Les nouvelles méthodes de production </a:t>
            </a:r>
            <a:r>
              <a:rPr lang="fr-FR" sz="2000" dirty="0" smtClean="0">
                <a:solidFill>
                  <a:schemeClr val="dk1"/>
                </a:solidFill>
                <a:latin typeface="Arial" pitchFamily="34" charset="0"/>
                <a:cs typeface="Arial" pitchFamily="34" charset="0"/>
              </a:rPr>
              <a:t>: L'innovation peut également résider dans l'amélioration des méthodes de fabrication, rendant la production plus efficace ou moins coûteuse.</a:t>
            </a:r>
          </a:p>
          <a:p>
            <a:pPr marL="1162050" indent="-352425" algn="just"/>
            <a:endParaRPr lang="fr-FR" dirty="0"/>
          </a:p>
        </p:txBody>
      </p:sp>
      <p:pic>
        <p:nvPicPr>
          <p:cNvPr id="6" name="Image 5" descr="C:\Users\ma.mejri\Desktop\téléchargement (1).png"/>
          <p:cNvPicPr/>
          <p:nvPr/>
        </p:nvPicPr>
        <p:blipFill>
          <a:blip r:embed="rId2"/>
          <a:srcRect/>
          <a:stretch>
            <a:fillRect/>
          </a:stretch>
        </p:blipFill>
        <p:spPr bwMode="auto">
          <a:xfrm>
            <a:off x="917575" y="334282"/>
            <a:ext cx="1079500" cy="387350"/>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66776" y="1100941"/>
            <a:ext cx="10458450" cy="501675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1257300" indent="-266700" algn="just">
              <a:buFont typeface="Symbol" pitchFamily="18" charset="2"/>
              <a:buChar char="&amp;"/>
            </a:pPr>
            <a:r>
              <a:rPr lang="fr-FR" sz="2000" b="1" dirty="0" smtClean="0">
                <a:latin typeface="Arial" pitchFamily="34" charset="0"/>
                <a:cs typeface="Arial" pitchFamily="34" charset="0"/>
              </a:rPr>
              <a:t>L'ouverture d'un nouveau débouché</a:t>
            </a:r>
            <a:r>
              <a:rPr lang="fr-FR" dirty="0" smtClean="0"/>
              <a:t>: </a:t>
            </a:r>
            <a:r>
              <a:rPr lang="fr-FR" sz="2000" dirty="0" smtClean="0">
                <a:solidFill>
                  <a:schemeClr val="dk1"/>
                </a:solidFill>
                <a:latin typeface="Arial" pitchFamily="34" charset="0"/>
                <a:cs typeface="Arial" pitchFamily="34" charset="0"/>
              </a:rPr>
              <a:t>L'exploration de nouveaux marchés, que ce soit géographiquement ou en ciblant de nouveaux segments de consommateurs, constitue une source d’innovation.</a:t>
            </a:r>
          </a:p>
          <a:p>
            <a:pPr marL="1257300" indent="-266700" algn="just"/>
            <a:endParaRPr lang="fr-FR" sz="2000" dirty="0" smtClean="0">
              <a:solidFill>
                <a:schemeClr val="dk1"/>
              </a:solidFill>
              <a:latin typeface="Arial" pitchFamily="34" charset="0"/>
              <a:cs typeface="Arial" pitchFamily="34" charset="0"/>
            </a:endParaRPr>
          </a:p>
          <a:p>
            <a:pPr marL="1257300" indent="-266700" algn="just">
              <a:buFont typeface="Symbol" pitchFamily="18" charset="2"/>
              <a:buChar char="&amp;"/>
            </a:pPr>
            <a:r>
              <a:rPr lang="fr-FR" sz="2000" b="1" dirty="0" smtClean="0">
                <a:latin typeface="Arial" pitchFamily="34" charset="0"/>
                <a:cs typeface="Arial" pitchFamily="34" charset="0"/>
              </a:rPr>
              <a:t>L'utilisation de nouvelles matières premières</a:t>
            </a:r>
            <a:r>
              <a:rPr lang="fr-FR" sz="2000" dirty="0" smtClean="0">
                <a:latin typeface="Arial" pitchFamily="34" charset="0"/>
                <a:cs typeface="Arial" pitchFamily="34" charset="0"/>
              </a:rPr>
              <a:t>: L'utilisation de nouvelles sources de matières premières ou de nouveaux fournisseurs peut également être une source d'innovation;</a:t>
            </a:r>
          </a:p>
          <a:p>
            <a:pPr marL="1257300" indent="-266700" algn="just"/>
            <a:endParaRPr lang="fr-FR" sz="2000" dirty="0" smtClean="0">
              <a:latin typeface="Arial" pitchFamily="34" charset="0"/>
              <a:cs typeface="Arial" pitchFamily="34" charset="0"/>
            </a:endParaRPr>
          </a:p>
          <a:p>
            <a:pPr marL="1257300" indent="-266700" algn="just">
              <a:buFont typeface="Symbol" pitchFamily="18" charset="2"/>
              <a:buChar char="&amp;"/>
            </a:pPr>
            <a:r>
              <a:rPr lang="fr-FR" sz="2000" b="1" dirty="0" smtClean="0">
                <a:latin typeface="Arial" pitchFamily="34" charset="0"/>
                <a:cs typeface="Arial" pitchFamily="34" charset="0"/>
              </a:rPr>
              <a:t>La réalisation d'une nouvelle organisation du travail </a:t>
            </a:r>
            <a:r>
              <a:rPr lang="fr-FR" sz="2000" dirty="0" smtClean="0">
                <a:latin typeface="Arial" pitchFamily="34" charset="0"/>
                <a:cs typeface="Arial" pitchFamily="34" charset="0"/>
              </a:rPr>
              <a:t>: L'innovation peut se manifester par des changements dans la structure organisationnelle des entreprises, permettant une meilleure gestion et une plus grande efficacité.</a:t>
            </a:r>
          </a:p>
          <a:p>
            <a:pPr algn="just"/>
            <a:r>
              <a:rPr lang="fr-FR" sz="2000" dirty="0" smtClean="0">
                <a:solidFill>
                  <a:schemeClr val="dk1"/>
                </a:solidFill>
                <a:latin typeface="Arial" pitchFamily="34" charset="0"/>
                <a:cs typeface="Arial" pitchFamily="34" charset="0"/>
              </a:rPr>
              <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Schumpeter a également introduit le concept de "destruction créatrice", qui décrit le processus par lequel les innovations remplacent les anciennes technologies</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et structures économiques, entraînant ainsi un changement dynamique dans l'économie.</a:t>
            </a:r>
            <a:endParaRPr lang="fr-FR" sz="2000" dirty="0" smtClean="0">
              <a:latin typeface="Arial" pitchFamily="34" charset="0"/>
              <a:cs typeface="Arial" pitchFamily="34" charset="0"/>
            </a:endParaRPr>
          </a:p>
          <a:p>
            <a:pPr algn="just"/>
            <a:endParaRPr lang="fr-FR" sz="2000" dirty="0" smtClean="0">
              <a:solidFill>
                <a:schemeClr val="dk1"/>
              </a:solidFill>
              <a:latin typeface="Arial" pitchFamily="34" charset="0"/>
              <a:cs typeface="Arial" pitchFamily="34" charset="0"/>
            </a:endParaRPr>
          </a:p>
        </p:txBody>
      </p:sp>
      <p:pic>
        <p:nvPicPr>
          <p:cNvPr id="6" name="Image 5" descr="C:\Users\ma.mejri\Desktop\téléchargement (1).png"/>
          <p:cNvPicPr/>
          <p:nvPr/>
        </p:nvPicPr>
        <p:blipFill>
          <a:blip r:embed="rId2"/>
          <a:srcRect/>
          <a:stretch>
            <a:fillRect/>
          </a:stretch>
        </p:blipFill>
        <p:spPr bwMode="auto">
          <a:xfrm>
            <a:off x="812800" y="334282"/>
            <a:ext cx="1079500" cy="387350"/>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1"/>
          <p:cNvSpPr>
            <a:spLocks noChangeArrowheads="1"/>
          </p:cNvSpPr>
          <p:nvPr/>
        </p:nvSpPr>
        <p:spPr bwMode="auto">
          <a:xfrm>
            <a:off x="876300" y="1000125"/>
            <a:ext cx="10620375" cy="5078313"/>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fontAlgn="base">
              <a:spcBef>
                <a:spcPct val="0"/>
              </a:spcBef>
              <a:spcAft>
                <a:spcPct val="0"/>
              </a:spcAft>
              <a:tabLst>
                <a:tab pos="1328738" algn="l"/>
              </a:tabLst>
            </a:pPr>
            <a:r>
              <a:rPr lang="fr-FR" sz="2000" b="1" dirty="0" smtClean="0">
                <a:solidFill>
                  <a:schemeClr val="accent4">
                    <a:lumMod val="75000"/>
                  </a:schemeClr>
                </a:solidFill>
                <a:latin typeface="Tahoma" pitchFamily="34" charset="0"/>
                <a:ea typeface="Verdana" pitchFamily="34" charset="0"/>
                <a:cs typeface="Tahoma" pitchFamily="34" charset="0"/>
              </a:rPr>
              <a:t>c) Les piliers de l’innovation</a:t>
            </a:r>
          </a:p>
          <a:p>
            <a:pPr marL="0" marR="0" lvl="0" indent="0" algn="l" defTabSz="914400" rtl="0" eaLnBrk="1" fontAlgn="base" latinLnBrk="0" hangingPunct="1">
              <a:lnSpc>
                <a:spcPct val="100000"/>
              </a:lnSpc>
              <a:spcBef>
                <a:spcPct val="0"/>
              </a:spcBef>
              <a:spcAft>
                <a:spcPct val="0"/>
              </a:spcAft>
              <a:buClrTx/>
              <a:buSzTx/>
              <a:buFontTx/>
              <a:buNone/>
              <a:tabLst>
                <a:tab pos="1328738" algn="l"/>
              </a:tabLst>
            </a:pPr>
            <a:endParaRPr lang="fr-FR" sz="2400" dirty="0" smtClean="0">
              <a:latin typeface="Arial" pitchFamily="34" charset="0"/>
              <a:ea typeface="Verdana" pitchFamily="34" charset="0"/>
              <a:cs typeface="Verdana"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tab pos="1328738" algn="l"/>
              </a:tabLst>
            </a:pPr>
            <a:r>
              <a:rPr lang="fr-FR" sz="2000" dirty="0" smtClean="0">
                <a:solidFill>
                  <a:schemeClr val="dk1"/>
                </a:solidFill>
                <a:latin typeface="Arial" pitchFamily="34" charset="0"/>
                <a:cs typeface="Arial" pitchFamily="34" charset="0"/>
              </a:rPr>
              <a:t>Sur la base des origines du mot innovation on peut affirmer que l’innovation est donc une démarche structurée autour d’un processus(donc pilotée) et qui doit aboutir à un résultat. Ce résultat doit :</a:t>
            </a:r>
          </a:p>
          <a:p>
            <a:pPr marL="1076325" marR="0" lvl="0" indent="361950" algn="l" defTabSz="914400" rtl="0" eaLnBrk="0" fontAlgn="base" latinLnBrk="0" hangingPunct="0">
              <a:lnSpc>
                <a:spcPct val="100000"/>
              </a:lnSpc>
              <a:spcBef>
                <a:spcPct val="0"/>
              </a:spcBef>
              <a:spcAft>
                <a:spcPct val="0"/>
              </a:spcAft>
              <a:buClrTx/>
              <a:buSzTx/>
              <a:buFont typeface="Wingdings" pitchFamily="2" charset="2"/>
              <a:buChar char="Ø"/>
              <a:tabLst>
                <a:tab pos="1328738" algn="l"/>
              </a:tabLst>
            </a:pPr>
            <a:r>
              <a:rPr lang="fr-FR" sz="2000" dirty="0" smtClean="0">
                <a:solidFill>
                  <a:schemeClr val="dk1"/>
                </a:solidFill>
                <a:latin typeface="Arial" pitchFamily="34" charset="0"/>
                <a:cs typeface="Arial" pitchFamily="34" charset="0"/>
              </a:rPr>
              <a:t> </a:t>
            </a:r>
            <a:r>
              <a:rPr lang="fr-FR" sz="2000" b="1" dirty="0" smtClean="0">
                <a:solidFill>
                  <a:schemeClr val="dk1"/>
                </a:solidFill>
                <a:latin typeface="Arial" pitchFamily="34" charset="0"/>
                <a:cs typeface="Arial" pitchFamily="34" charset="0"/>
              </a:rPr>
              <a:t>Être nouveau dans le domaine considéré.</a:t>
            </a:r>
          </a:p>
          <a:p>
            <a:pPr marL="1076325" marR="0" lvl="0" indent="361950" algn="l" defTabSz="914400" rtl="0" eaLnBrk="0" fontAlgn="base" latinLnBrk="0" hangingPunct="0">
              <a:lnSpc>
                <a:spcPct val="100000"/>
              </a:lnSpc>
              <a:spcBef>
                <a:spcPct val="0"/>
              </a:spcBef>
              <a:spcAft>
                <a:spcPct val="0"/>
              </a:spcAft>
              <a:buClrTx/>
              <a:buSzTx/>
              <a:buFont typeface="Wingdings" pitchFamily="2" charset="2"/>
              <a:buChar char="Ø"/>
              <a:tabLst>
                <a:tab pos="1328738" algn="l"/>
              </a:tabLst>
            </a:pPr>
            <a:r>
              <a:rPr lang="fr-FR" sz="2000" b="1" dirty="0" smtClean="0">
                <a:solidFill>
                  <a:schemeClr val="dk1"/>
                </a:solidFill>
                <a:latin typeface="Arial" pitchFamily="34" charset="0"/>
                <a:cs typeface="Arial" pitchFamily="34" charset="0"/>
              </a:rPr>
              <a:t> Créer de la valeur.</a:t>
            </a:r>
          </a:p>
          <a:p>
            <a:pPr marL="1076325" marR="0" lvl="0" indent="361950" algn="l" defTabSz="914400" rtl="0" eaLnBrk="0" fontAlgn="base" latinLnBrk="0" hangingPunct="0">
              <a:lnSpc>
                <a:spcPct val="100000"/>
              </a:lnSpc>
              <a:spcBef>
                <a:spcPct val="0"/>
              </a:spcBef>
              <a:spcAft>
                <a:spcPct val="0"/>
              </a:spcAft>
              <a:buClrTx/>
              <a:buSzTx/>
              <a:buFont typeface="Wingdings" pitchFamily="2" charset="2"/>
              <a:buChar char="Ø"/>
              <a:tabLst>
                <a:tab pos="1328738" algn="l"/>
              </a:tabLst>
            </a:pPr>
            <a:r>
              <a:rPr lang="fr-FR" sz="2000" b="1" dirty="0" smtClean="0">
                <a:solidFill>
                  <a:schemeClr val="dk1"/>
                </a:solidFill>
                <a:latin typeface="Arial" pitchFamily="34" charset="0"/>
                <a:cs typeface="Arial" pitchFamily="34" charset="0"/>
              </a:rPr>
              <a:t> Être socialisé</a:t>
            </a:r>
          </a:p>
          <a:p>
            <a:pPr marL="0" marR="0" lvl="0" indent="0" algn="just" defTabSz="914400" rtl="0" eaLnBrk="0" fontAlgn="base" latinLnBrk="0" hangingPunct="0">
              <a:lnSpc>
                <a:spcPct val="100000"/>
              </a:lnSpc>
              <a:spcBef>
                <a:spcPct val="0"/>
              </a:spcBef>
              <a:spcAft>
                <a:spcPct val="0"/>
              </a:spcAft>
              <a:buClrTx/>
              <a:buSzTx/>
              <a:tabLst>
                <a:tab pos="1328738" algn="l"/>
              </a:tabLst>
            </a:pPr>
            <a:endParaRPr lang="fr-FR" sz="2000" dirty="0" smtClean="0">
              <a:solidFill>
                <a:schemeClr val="dk1"/>
              </a:solidFill>
              <a:latin typeface="Arial" pitchFamily="34" charset="0"/>
              <a:cs typeface="Arial" pitchFamily="34" charset="0"/>
            </a:endParaRPr>
          </a:p>
          <a:p>
            <a:pPr algn="just"/>
            <a:r>
              <a:rPr lang="fr-FR" sz="2000" dirty="0" smtClean="0">
                <a:solidFill>
                  <a:schemeClr val="dk1"/>
                </a:solidFill>
                <a:latin typeface="Arial" pitchFamily="34" charset="0"/>
                <a:cs typeface="Arial" pitchFamily="34" charset="0"/>
              </a:rPr>
              <a:t>Cette définition du mot « innovation » nous indique donc qu’il existe 3 notions clés dans la naissance d’une innovation. Nous appelons ces éléments les 3piliers fondateurs de l’innovation :</a:t>
            </a:r>
          </a:p>
          <a:p>
            <a:pPr marL="1076325" lvl="0" indent="447675">
              <a:buFont typeface="Wingdings" pitchFamily="2" charset="2"/>
              <a:buChar char="q"/>
            </a:pPr>
            <a:r>
              <a:rPr lang="fr-FR" sz="2000" b="1" dirty="0" smtClean="0">
                <a:solidFill>
                  <a:schemeClr val="dk1"/>
                </a:solidFill>
                <a:latin typeface="Arial" pitchFamily="34" charset="0"/>
                <a:cs typeface="Arial" pitchFamily="34" charset="0"/>
              </a:rPr>
              <a:t> La créativité.</a:t>
            </a:r>
          </a:p>
          <a:p>
            <a:pPr marL="1076325" lvl="0" indent="447675">
              <a:buFont typeface="Wingdings" pitchFamily="2" charset="2"/>
              <a:buChar char="q"/>
            </a:pPr>
            <a:r>
              <a:rPr lang="fr-FR" sz="2000" b="1" dirty="0" smtClean="0">
                <a:solidFill>
                  <a:schemeClr val="dk1"/>
                </a:solidFill>
                <a:latin typeface="Arial" pitchFamily="34" charset="0"/>
                <a:cs typeface="Arial" pitchFamily="34" charset="0"/>
              </a:rPr>
              <a:t> La valeur.</a:t>
            </a:r>
          </a:p>
          <a:p>
            <a:pPr marL="1076325" lvl="0" indent="447675">
              <a:buFont typeface="Wingdings" pitchFamily="2" charset="2"/>
              <a:buChar char="q"/>
            </a:pPr>
            <a:r>
              <a:rPr lang="fr-FR" sz="2000" b="1" dirty="0" smtClean="0">
                <a:solidFill>
                  <a:schemeClr val="dk1"/>
                </a:solidFill>
                <a:latin typeface="Arial" pitchFamily="34" charset="0"/>
                <a:cs typeface="Arial" pitchFamily="34" charset="0"/>
              </a:rPr>
              <a:t> La conduite du changement «Nouveauté».</a:t>
            </a:r>
          </a:p>
          <a:p>
            <a:pPr marL="0" marR="0" lvl="0" indent="0" algn="l" defTabSz="914400" rtl="0" eaLnBrk="0" fontAlgn="base" latinLnBrk="0" hangingPunct="0">
              <a:lnSpc>
                <a:spcPct val="100000"/>
              </a:lnSpc>
              <a:spcBef>
                <a:spcPct val="0"/>
              </a:spcBef>
              <a:spcAft>
                <a:spcPct val="0"/>
              </a:spcAft>
              <a:buClrTx/>
              <a:buSzTx/>
              <a:tabLst>
                <a:tab pos="1328738" algn="l"/>
              </a:tabLst>
            </a:pP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4" name="Image 3" descr="C:\Users\ma.mejri\Desktop\téléchargement (1).png"/>
          <p:cNvPicPr/>
          <p:nvPr/>
        </p:nvPicPr>
        <p:blipFill>
          <a:blip r:embed="rId2"/>
          <a:srcRect/>
          <a:stretch>
            <a:fillRect/>
          </a:stretch>
        </p:blipFill>
        <p:spPr bwMode="auto">
          <a:xfrm>
            <a:off x="984250" y="381907"/>
            <a:ext cx="1079500" cy="387350"/>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04849" y="899636"/>
            <a:ext cx="10915651" cy="489364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lvl="1" indent="895350" algn="justLow" fontAlgn="base">
              <a:spcBef>
                <a:spcPct val="0"/>
              </a:spcBef>
              <a:spcAft>
                <a:spcPct val="0"/>
              </a:spcAft>
              <a:buClr>
                <a:srgbClr val="0066CC"/>
              </a:buClr>
              <a:tabLst>
                <a:tab pos="773113" algn="l"/>
              </a:tabLst>
            </a:pPr>
            <a:r>
              <a:rPr lang="fr-FR" sz="1600" b="1" dirty="0" smtClean="0">
                <a:solidFill>
                  <a:srgbClr val="00B0F0"/>
                </a:solidFill>
                <a:latin typeface="Source Sans Pro"/>
              </a:rPr>
              <a:t>4- LE PROCESSUS DE L’INNOVATION : De l’idée à la mise au marché</a:t>
            </a:r>
          </a:p>
          <a:p>
            <a:pPr marL="342900" lvl="0" indent="-342900" algn="just"/>
            <a:endParaRPr lang="fr-FR" sz="1400" b="1" dirty="0" smtClean="0">
              <a:solidFill>
                <a:schemeClr val="accent4">
                  <a:lumMod val="75000"/>
                </a:schemeClr>
              </a:solidFill>
              <a:latin typeface="Arial" pitchFamily="34" charset="0"/>
              <a:cs typeface="Arial" pitchFamily="34" charset="0"/>
            </a:endParaRPr>
          </a:p>
          <a:p>
            <a:pPr marL="342900" lvl="0" indent="-342900"/>
            <a:r>
              <a:rPr lang="fr-FR" sz="2000" b="1" dirty="0" smtClean="0">
                <a:solidFill>
                  <a:srgbClr val="00B050"/>
                </a:solidFill>
                <a:latin typeface="Arial" pitchFamily="34" charset="0"/>
                <a:cs typeface="Arial" pitchFamily="34" charset="0"/>
              </a:rPr>
              <a:t> </a:t>
            </a:r>
          </a:p>
          <a:p>
            <a:pPr marL="342900" lvl="0" indent="-342900"/>
            <a:endParaRPr lang="fr-FR" sz="2000" b="1" dirty="0" smtClean="0">
              <a:solidFill>
                <a:srgbClr val="00B050"/>
              </a:solidFill>
              <a:latin typeface="Arial" pitchFamily="34" charset="0"/>
              <a:cs typeface="Arial" pitchFamily="34" charset="0"/>
            </a:endParaRPr>
          </a:p>
          <a:p>
            <a:pPr marL="342900" lvl="0" indent="-342900"/>
            <a:endParaRPr lang="fr-FR" sz="2000" b="1" dirty="0" smtClean="0">
              <a:solidFill>
                <a:srgbClr val="00B050"/>
              </a:solidFill>
              <a:latin typeface="Arial" pitchFamily="34" charset="0"/>
              <a:cs typeface="Arial" pitchFamily="34" charset="0"/>
            </a:endParaRPr>
          </a:p>
          <a:p>
            <a:pPr marL="342900" lvl="0" indent="-342900"/>
            <a:endParaRPr lang="fr-FR" sz="2000" b="1" dirty="0" smtClean="0">
              <a:solidFill>
                <a:srgbClr val="00B050"/>
              </a:solidFill>
              <a:latin typeface="Arial" pitchFamily="34" charset="0"/>
              <a:cs typeface="Arial" pitchFamily="34" charset="0"/>
            </a:endParaRPr>
          </a:p>
          <a:p>
            <a:pPr marL="342900" lvl="0" indent="-342900"/>
            <a:endParaRPr lang="fr-FR" sz="2000" b="1" dirty="0" smtClean="0">
              <a:solidFill>
                <a:srgbClr val="00B050"/>
              </a:solidFill>
              <a:latin typeface="Arial" pitchFamily="34" charset="0"/>
              <a:cs typeface="Arial" pitchFamily="34" charset="0"/>
            </a:endParaRPr>
          </a:p>
          <a:p>
            <a:pPr marL="342900" lvl="0" indent="-342900"/>
            <a:endParaRPr lang="fr-FR" sz="2000" b="1" dirty="0" smtClean="0">
              <a:solidFill>
                <a:srgbClr val="00B050"/>
              </a:solidFill>
              <a:latin typeface="Arial" pitchFamily="34" charset="0"/>
              <a:cs typeface="Arial" pitchFamily="34" charset="0"/>
            </a:endParaRPr>
          </a:p>
          <a:p>
            <a:pPr marL="342900" lvl="0" indent="-342900"/>
            <a:endParaRPr lang="fr-FR" sz="2000" b="1" dirty="0" smtClean="0">
              <a:solidFill>
                <a:srgbClr val="00B050"/>
              </a:solidFill>
              <a:latin typeface="Arial" pitchFamily="34" charset="0"/>
              <a:cs typeface="Arial" pitchFamily="34" charset="0"/>
            </a:endParaRPr>
          </a:p>
          <a:p>
            <a:pPr marL="342900" lvl="0" indent="-342900"/>
            <a:endParaRPr lang="fr-FR" sz="2000" b="1" dirty="0" smtClean="0">
              <a:solidFill>
                <a:srgbClr val="00B050"/>
              </a:solidFill>
              <a:latin typeface="Arial" pitchFamily="34" charset="0"/>
              <a:cs typeface="Arial" pitchFamily="34" charset="0"/>
            </a:endParaRPr>
          </a:p>
          <a:p>
            <a:pPr marL="342900" lvl="0" indent="-342900"/>
            <a:endParaRPr lang="fr-FR" sz="2000" b="1" dirty="0" smtClean="0">
              <a:solidFill>
                <a:srgbClr val="00B050"/>
              </a:solidFill>
              <a:latin typeface="Arial" pitchFamily="34" charset="0"/>
              <a:cs typeface="Arial" pitchFamily="34" charset="0"/>
            </a:endParaRPr>
          </a:p>
          <a:p>
            <a:pPr marL="342900" lvl="0" indent="-342900"/>
            <a:endParaRPr lang="fr-FR" sz="2000" b="1" dirty="0" smtClean="0">
              <a:solidFill>
                <a:srgbClr val="00B050"/>
              </a:solidFill>
              <a:latin typeface="Arial" pitchFamily="34" charset="0"/>
              <a:cs typeface="Arial" pitchFamily="34" charset="0"/>
            </a:endParaRPr>
          </a:p>
          <a:p>
            <a:pPr marL="342900" lvl="0" indent="-342900"/>
            <a:endParaRPr lang="fr-FR" sz="2000" b="1" dirty="0" smtClean="0">
              <a:solidFill>
                <a:srgbClr val="00B050"/>
              </a:solidFill>
              <a:latin typeface="Arial" pitchFamily="34" charset="0"/>
              <a:cs typeface="Arial" pitchFamily="34" charset="0"/>
            </a:endParaRPr>
          </a:p>
          <a:p>
            <a:pPr marL="342900" lvl="0" indent="-342900"/>
            <a:endParaRPr lang="fr-FR" sz="2000" b="1" dirty="0" smtClean="0">
              <a:solidFill>
                <a:srgbClr val="00B050"/>
              </a:solidFill>
              <a:latin typeface="Arial" pitchFamily="34" charset="0"/>
              <a:cs typeface="Arial" pitchFamily="34" charset="0"/>
            </a:endParaRPr>
          </a:p>
          <a:p>
            <a:pPr marL="342900" lvl="0" indent="-342900"/>
            <a:endParaRPr lang="fr-FR" sz="2000" b="1" dirty="0" smtClean="0">
              <a:solidFill>
                <a:srgbClr val="00B050"/>
              </a:solidFill>
              <a:latin typeface="Arial" pitchFamily="34" charset="0"/>
              <a:cs typeface="Arial" pitchFamily="34" charset="0"/>
            </a:endParaRPr>
          </a:p>
          <a:p>
            <a:pPr marL="342900" lvl="0" indent="-342900"/>
            <a:endParaRPr lang="fr-FR" sz="2000" b="1" dirty="0" smtClean="0">
              <a:solidFill>
                <a:srgbClr val="00B050"/>
              </a:solidFill>
              <a:latin typeface="Arial" pitchFamily="34" charset="0"/>
              <a:cs typeface="Arial" pitchFamily="34" charset="0"/>
            </a:endParaRPr>
          </a:p>
        </p:txBody>
      </p:sp>
      <p:pic>
        <p:nvPicPr>
          <p:cNvPr id="6" name="Picture 2" descr="C:\Users\ma.mejri\Desktop\processMethodesInnovation.png"/>
          <p:cNvPicPr>
            <a:picLocks noChangeAspect="1" noChangeArrowheads="1"/>
          </p:cNvPicPr>
          <p:nvPr/>
        </p:nvPicPr>
        <p:blipFill>
          <a:blip r:embed="rId2"/>
          <a:srcRect/>
          <a:stretch>
            <a:fillRect/>
          </a:stretch>
        </p:blipFill>
        <p:spPr bwMode="auto">
          <a:xfrm>
            <a:off x="1522639" y="1481818"/>
            <a:ext cx="7983311" cy="3942669"/>
          </a:xfrm>
          <a:prstGeom prst="rect">
            <a:avLst/>
          </a:prstGeom>
          <a:noFill/>
        </p:spPr>
      </p:pic>
      <p:pic>
        <p:nvPicPr>
          <p:cNvPr id="7" name="Image 6" descr="C:\Users\ma.mejri\Desktop\téléchargement (1).png"/>
          <p:cNvPicPr/>
          <p:nvPr/>
        </p:nvPicPr>
        <p:blipFill>
          <a:blip r:embed="rId3"/>
          <a:srcRect/>
          <a:stretch>
            <a:fillRect/>
          </a:stretch>
        </p:blipFill>
        <p:spPr bwMode="auto">
          <a:xfrm>
            <a:off x="793750" y="200932"/>
            <a:ext cx="1079500" cy="387350"/>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723900" y="875824"/>
            <a:ext cx="10725150" cy="446276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342900" lvl="0" indent="-342900"/>
            <a:r>
              <a:rPr lang="fr-FR" b="1" dirty="0" smtClean="0">
                <a:solidFill>
                  <a:srgbClr val="00B050"/>
                </a:solidFill>
                <a:latin typeface="Arial" pitchFamily="34" charset="0"/>
                <a:cs typeface="Arial" pitchFamily="34" charset="0"/>
              </a:rPr>
              <a:t>1. Génération d'idées</a:t>
            </a:r>
          </a:p>
          <a:p>
            <a:pPr marL="342900" lvl="0" indent="-342900"/>
            <a:endParaRPr lang="fr-FR" sz="700" dirty="0" smtClean="0">
              <a:latin typeface="Arial" pitchFamily="34" charset="0"/>
              <a:cs typeface="Arial" pitchFamily="34" charset="0"/>
            </a:endParaRPr>
          </a:p>
          <a:p>
            <a:pPr marL="342900" lvl="0" indent="-342900">
              <a:buFont typeface="Wingdings" pitchFamily="2" charset="2"/>
              <a:buChar char="§"/>
            </a:pPr>
            <a:r>
              <a:rPr lang="fr-FR" b="1" dirty="0" smtClean="0">
                <a:latin typeface="Arial" pitchFamily="34" charset="0"/>
                <a:cs typeface="Arial" pitchFamily="34" charset="0"/>
              </a:rPr>
              <a:t>Sources d'idées :</a:t>
            </a:r>
          </a:p>
          <a:p>
            <a:pPr marL="342900" lvl="0" indent="-342900"/>
            <a:endParaRPr lang="fr-FR" sz="700" dirty="0" smtClean="0">
              <a:latin typeface="Arial" pitchFamily="34" charset="0"/>
              <a:cs typeface="Arial" pitchFamily="34" charset="0"/>
            </a:endParaRPr>
          </a:p>
          <a:p>
            <a:pPr marL="1162050" lvl="0" indent="-266700" algn="just">
              <a:buFont typeface="Arial" pitchFamily="34" charset="0"/>
              <a:buChar char="–"/>
            </a:pPr>
            <a:r>
              <a:rPr lang="fr-FR" dirty="0" smtClean="0">
                <a:latin typeface="Arial" pitchFamily="34" charset="0"/>
                <a:cs typeface="Arial" pitchFamily="34" charset="0"/>
              </a:rPr>
              <a:t>Recherche et développement (R&amp;D)</a:t>
            </a:r>
          </a:p>
          <a:p>
            <a:pPr marL="1162050" lvl="0" indent="-266700" algn="just">
              <a:buFont typeface="Arial" pitchFamily="34" charset="0"/>
              <a:buChar char="–"/>
              <a:tabLst>
                <a:tab pos="3943350" algn="l"/>
              </a:tabLst>
            </a:pPr>
            <a:r>
              <a:rPr lang="fr-FR" dirty="0" smtClean="0">
                <a:latin typeface="Arial" pitchFamily="34" charset="0"/>
                <a:cs typeface="Arial" pitchFamily="34" charset="0"/>
              </a:rPr>
              <a:t>Feedback des clients : (Écoutez les besoins et les frustrations de vos clients à travers     des enquêtes, des groupes de discussion ou des réseaux sociaux.) </a:t>
            </a:r>
          </a:p>
          <a:p>
            <a:pPr marL="1162050" lvl="0" indent="-266700" algn="just">
              <a:buFont typeface="Arial" pitchFamily="34" charset="0"/>
              <a:buChar char="–"/>
            </a:pPr>
            <a:r>
              <a:rPr lang="fr-FR" dirty="0" smtClean="0">
                <a:latin typeface="Arial" pitchFamily="34" charset="0"/>
                <a:cs typeface="Arial" pitchFamily="34" charset="0"/>
              </a:rPr>
              <a:t>Analyse de la concurrence : (Étudiez ce que font vos concurrents et identifiez les lacunes ou les opportunités non exploitées )</a:t>
            </a:r>
          </a:p>
          <a:p>
            <a:pPr marL="1162050" lvl="0" indent="-266700" algn="just">
              <a:buFont typeface="Arial" pitchFamily="34" charset="0"/>
              <a:buChar char="–"/>
            </a:pPr>
            <a:r>
              <a:rPr lang="fr-FR" dirty="0" smtClean="0">
                <a:latin typeface="Arial" pitchFamily="34" charset="0"/>
                <a:cs typeface="Arial" pitchFamily="34" charset="0"/>
              </a:rPr>
              <a:t>Analyse des tendances du marché</a:t>
            </a:r>
          </a:p>
          <a:p>
            <a:pPr marL="342900" lvl="0" indent="-342900">
              <a:buFont typeface="Wingdings" pitchFamily="2" charset="2"/>
              <a:buChar char="§"/>
            </a:pPr>
            <a:r>
              <a:rPr lang="fr-FR" b="1" dirty="0" smtClean="0">
                <a:latin typeface="Arial" pitchFamily="34" charset="0"/>
                <a:cs typeface="Arial" pitchFamily="34" charset="0"/>
              </a:rPr>
              <a:t>Outils : </a:t>
            </a:r>
          </a:p>
          <a:p>
            <a:pPr marL="1162050" lvl="0" indent="-266700" algn="just">
              <a:buFont typeface="Wingdings" pitchFamily="2" charset="2"/>
              <a:buChar char="v"/>
            </a:pPr>
            <a:r>
              <a:rPr lang="fr-FR" dirty="0" smtClean="0">
                <a:latin typeface="Arial" pitchFamily="34" charset="0"/>
                <a:cs typeface="Arial" pitchFamily="34" charset="0"/>
              </a:rPr>
              <a:t>Brainstorming et ateliers créatifs (Organisez des sessions de brainstorming où toutes les idées sont les bienvenues, sans jugement initial.)</a:t>
            </a:r>
          </a:p>
          <a:p>
            <a:pPr marL="1162050" lvl="0" indent="-266700" algn="just">
              <a:buFont typeface="Wingdings" pitchFamily="2" charset="2"/>
              <a:buChar char="v"/>
            </a:pPr>
            <a:r>
              <a:rPr lang="fr-FR" dirty="0" err="1" smtClean="0">
                <a:latin typeface="Arial" pitchFamily="34" charset="0"/>
                <a:cs typeface="Arial" pitchFamily="34" charset="0"/>
              </a:rPr>
              <a:t>Hackathons</a:t>
            </a:r>
            <a:r>
              <a:rPr lang="fr-FR" dirty="0" smtClean="0">
                <a:latin typeface="Arial" pitchFamily="34" charset="0"/>
                <a:cs typeface="Arial" pitchFamily="34" charset="0"/>
              </a:rPr>
              <a:t> (Organisez des événements où des équipes se réunissent pour développer des solutions en un temps limité) </a:t>
            </a:r>
            <a:endParaRPr lang="fr-FR" sz="1200" dirty="0" smtClean="0">
              <a:latin typeface="Arial" pitchFamily="34" charset="0"/>
              <a:cs typeface="Arial" pitchFamily="34" charset="0"/>
            </a:endParaRPr>
          </a:p>
          <a:p>
            <a:pPr marL="1162050" lvl="0" indent="-266700" algn="just">
              <a:buFont typeface="Wingdings" pitchFamily="2" charset="2"/>
              <a:buChar char="v"/>
            </a:pPr>
            <a:r>
              <a:rPr lang="fr-FR" dirty="0" smtClean="0">
                <a:latin typeface="Arial" pitchFamily="34" charset="0"/>
                <a:cs typeface="Arial" pitchFamily="34" charset="0"/>
              </a:rPr>
              <a:t>Sondages et questionnaires (Utilisez des outils comme Google </a:t>
            </a:r>
            <a:r>
              <a:rPr lang="fr-FR" dirty="0" err="1" smtClean="0">
                <a:latin typeface="Arial" pitchFamily="34" charset="0"/>
                <a:cs typeface="Arial" pitchFamily="34" charset="0"/>
              </a:rPr>
              <a:t>Forms</a:t>
            </a:r>
            <a:r>
              <a:rPr lang="fr-FR" dirty="0" smtClean="0">
                <a:latin typeface="Arial" pitchFamily="34" charset="0"/>
                <a:cs typeface="Arial" pitchFamily="34" charset="0"/>
              </a:rPr>
              <a:t> pour recueillir des idées et des opinions auprès d'un large public)</a:t>
            </a:r>
            <a:endParaRPr lang="fr-FR" b="1" dirty="0" smtClean="0">
              <a:solidFill>
                <a:schemeClr val="accent4">
                  <a:lumMod val="75000"/>
                </a:schemeClr>
              </a:solidFill>
              <a:latin typeface="Arial" pitchFamily="34" charset="0"/>
              <a:cs typeface="Arial" pitchFamily="34" charset="0"/>
            </a:endParaRPr>
          </a:p>
        </p:txBody>
      </p:sp>
      <p:pic>
        <p:nvPicPr>
          <p:cNvPr id="4" name="Image 3" descr="C:\Users\ma.mejri\Desktop\téléchargement (1).png"/>
          <p:cNvPicPr/>
          <p:nvPr/>
        </p:nvPicPr>
        <p:blipFill>
          <a:blip r:embed="rId2"/>
          <a:srcRect/>
          <a:stretch>
            <a:fillRect/>
          </a:stretch>
        </p:blipFill>
        <p:spPr bwMode="auto">
          <a:xfrm>
            <a:off x="831850" y="153307"/>
            <a:ext cx="1079500" cy="387350"/>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857250" y="758190"/>
            <a:ext cx="10725150" cy="575542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fr-FR" sz="2000" b="1" dirty="0" smtClean="0">
                <a:solidFill>
                  <a:srgbClr val="00B050"/>
                </a:solidFill>
                <a:latin typeface="Arial" pitchFamily="34" charset="0"/>
                <a:cs typeface="Arial" pitchFamily="34" charset="0"/>
              </a:rPr>
              <a:t>2. Sélection et évaluation des idées</a:t>
            </a:r>
            <a:r>
              <a:rPr lang="fr-FR" dirty="0" smtClean="0"/>
              <a:t/>
            </a:r>
            <a:br>
              <a:rPr lang="fr-FR" dirty="0" smtClean="0"/>
            </a:br>
            <a:endParaRPr lang="fr-FR" sz="800" dirty="0" smtClean="0"/>
          </a:p>
          <a:p>
            <a:pPr>
              <a:buFont typeface="Wingdings" pitchFamily="2" charset="2"/>
              <a:buChar char="§"/>
            </a:pPr>
            <a:r>
              <a:rPr lang="fr-FR" sz="2000" dirty="0" smtClean="0">
                <a:latin typeface="Arial" pitchFamily="34" charset="0"/>
                <a:cs typeface="Arial" pitchFamily="34" charset="0"/>
              </a:rPr>
              <a:t> </a:t>
            </a:r>
            <a:r>
              <a:rPr lang="fr-FR" sz="2000" b="1" dirty="0" smtClean="0">
                <a:latin typeface="Arial" pitchFamily="34" charset="0"/>
                <a:cs typeface="Arial" pitchFamily="34" charset="0"/>
              </a:rPr>
              <a:t>Critères de sélection :</a:t>
            </a:r>
          </a:p>
          <a:p>
            <a:pPr marL="1257300" indent="-266700" algn="just">
              <a:buFont typeface="Arial" pitchFamily="34" charset="0"/>
              <a:buChar char="–"/>
            </a:pPr>
            <a:r>
              <a:rPr lang="fr-FR" sz="2000" dirty="0" smtClean="0">
                <a:latin typeface="Arial" pitchFamily="34" charset="0"/>
                <a:cs typeface="Arial" pitchFamily="34" charset="0"/>
              </a:rPr>
              <a:t> Faisabilité technique :  Cela concerne la capacité à réaliser l'idée sur le plan technique. Il s'agit d'évaluer si les technologies nécessaires existent ou peuvent être développées, et si l'équipe dispose des compétences requises. Les éléments à considérer sont :</a:t>
            </a:r>
          </a:p>
          <a:p>
            <a:pPr marL="2695575" indent="-276225" algn="just">
              <a:buFont typeface="Wingdings" pitchFamily="2" charset="2"/>
              <a:buChar char="ü"/>
            </a:pPr>
            <a:r>
              <a:rPr lang="fr-FR" sz="2000" dirty="0" smtClean="0">
                <a:latin typeface="Arial" pitchFamily="34" charset="0"/>
                <a:cs typeface="Arial" pitchFamily="34" charset="0"/>
              </a:rPr>
              <a:t>Disponibilité des ressources techniques et humaines.</a:t>
            </a:r>
          </a:p>
          <a:p>
            <a:pPr marL="2695575" indent="-276225" algn="just">
              <a:buFont typeface="Wingdings" pitchFamily="2" charset="2"/>
              <a:buChar char="ü"/>
            </a:pPr>
            <a:r>
              <a:rPr lang="fr-FR" sz="2000" dirty="0" smtClean="0">
                <a:latin typeface="Arial" pitchFamily="34" charset="0"/>
                <a:cs typeface="Arial" pitchFamily="34" charset="0"/>
              </a:rPr>
              <a:t>Complexité de la mise en œuvre.</a:t>
            </a:r>
          </a:p>
          <a:p>
            <a:pPr marL="2695575" indent="-276225" algn="just">
              <a:buFont typeface="Wingdings" pitchFamily="2" charset="2"/>
              <a:buChar char="ü"/>
            </a:pPr>
            <a:r>
              <a:rPr lang="fr-FR" sz="2000" dirty="0" smtClean="0">
                <a:latin typeface="Arial" pitchFamily="34" charset="0"/>
                <a:cs typeface="Arial" pitchFamily="34" charset="0"/>
              </a:rPr>
              <a:t>Risques techniques associés.</a:t>
            </a:r>
          </a:p>
          <a:p>
            <a:pPr marL="1257300" indent="-266700" algn="just">
              <a:buFont typeface="Arial" pitchFamily="34" charset="0"/>
              <a:buChar char="–"/>
            </a:pPr>
            <a:r>
              <a:rPr lang="fr-FR" sz="2000" dirty="0" smtClean="0">
                <a:latin typeface="Arial" pitchFamily="34" charset="0"/>
                <a:cs typeface="Arial" pitchFamily="34" charset="0"/>
              </a:rPr>
              <a:t> Viabilité économique : </a:t>
            </a:r>
            <a:r>
              <a:rPr lang="fr-FR" sz="2000" dirty="0" smtClean="0"/>
              <a:t>Ce critère évalue si l'idée peut générer des revenus suffisants pour couvrir les coûts et réaliser un bénéfice. Il s'agit d'analyser le modèle économique. Les éléments à considérer sont :</a:t>
            </a:r>
          </a:p>
          <a:p>
            <a:pPr marL="2695575" indent="-276225" algn="just">
              <a:buFont typeface="Wingdings" pitchFamily="2" charset="2"/>
              <a:buChar char="ü"/>
            </a:pPr>
            <a:r>
              <a:rPr lang="fr-FR" sz="2000" dirty="0" smtClean="0">
                <a:latin typeface="Arial" pitchFamily="34" charset="0"/>
                <a:cs typeface="Arial" pitchFamily="34" charset="0"/>
              </a:rPr>
              <a:t>Analyse de marché : taille marché, concurrence, besoins des clients.</a:t>
            </a:r>
          </a:p>
          <a:p>
            <a:pPr marL="2695575" indent="-276225" algn="just">
              <a:buFont typeface="Wingdings" pitchFamily="2" charset="2"/>
              <a:buChar char="ü"/>
            </a:pPr>
            <a:r>
              <a:rPr lang="fr-FR" sz="2000" dirty="0" smtClean="0">
                <a:latin typeface="Arial" pitchFamily="34" charset="0"/>
                <a:cs typeface="Arial" pitchFamily="34" charset="0"/>
              </a:rPr>
              <a:t>Coûts de développement et d'exploitation.</a:t>
            </a:r>
          </a:p>
          <a:p>
            <a:pPr marL="2695575" indent="-276225" algn="just">
              <a:buFont typeface="Wingdings" pitchFamily="2" charset="2"/>
              <a:buChar char="ü"/>
            </a:pPr>
            <a:r>
              <a:rPr lang="fr-FR" sz="2000" dirty="0" smtClean="0">
                <a:latin typeface="Arial" pitchFamily="34" charset="0"/>
                <a:cs typeface="Arial" pitchFamily="34" charset="0"/>
              </a:rPr>
              <a:t>Prévisions financières : retour sur investissement, rentabilité ….</a:t>
            </a:r>
          </a:p>
          <a:p>
            <a:pPr marL="361950" indent="-361950">
              <a:buFont typeface="Wingdings" pitchFamily="2" charset="2"/>
              <a:buChar char="v"/>
            </a:pPr>
            <a:r>
              <a:rPr lang="fr-FR" sz="2000" dirty="0" smtClean="0">
                <a:latin typeface="Arial" pitchFamily="34" charset="0"/>
                <a:cs typeface="Arial" pitchFamily="34" charset="0"/>
              </a:rPr>
              <a:t> </a:t>
            </a:r>
            <a:r>
              <a:rPr lang="fr-FR" sz="2000" b="1" dirty="0" smtClean="0">
                <a:latin typeface="Arial" pitchFamily="34" charset="0"/>
                <a:cs typeface="Arial" pitchFamily="34" charset="0"/>
              </a:rPr>
              <a:t>Outils d'évaluation :</a:t>
            </a:r>
            <a:r>
              <a:rPr lang="fr-FR" sz="2000" dirty="0" smtClean="0">
                <a:latin typeface="Arial" pitchFamily="34" charset="0"/>
                <a:cs typeface="Arial" pitchFamily="34" charset="0"/>
              </a:rPr>
              <a:t/>
            </a:r>
            <a:br>
              <a:rPr lang="fr-FR" sz="2000" dirty="0" smtClean="0">
                <a:latin typeface="Arial" pitchFamily="34" charset="0"/>
                <a:cs typeface="Arial" pitchFamily="34" charset="0"/>
              </a:rPr>
            </a:br>
            <a:r>
              <a:rPr lang="fr-FR" sz="2000" dirty="0" smtClean="0">
                <a:latin typeface="Arial" pitchFamily="34" charset="0"/>
                <a:cs typeface="Arial" pitchFamily="34" charset="0"/>
              </a:rPr>
              <a:t>  Analyses SWOT (forces, faiblesses, opportunités, menaces)</a:t>
            </a:r>
          </a:p>
          <a:p>
            <a:pPr marL="361950" indent="-361950"/>
            <a:endParaRPr lang="fr-FR" sz="800" dirty="0" smtClean="0">
              <a:latin typeface="Arial" pitchFamily="34" charset="0"/>
              <a:cs typeface="Arial" pitchFamily="34" charset="0"/>
            </a:endParaRPr>
          </a:p>
        </p:txBody>
      </p:sp>
      <p:pic>
        <p:nvPicPr>
          <p:cNvPr id="4" name="Image 3" descr="C:\Users\ma.mejri\Desktop\téléchargement (1).png"/>
          <p:cNvPicPr/>
          <p:nvPr/>
        </p:nvPicPr>
        <p:blipFill>
          <a:blip r:embed="rId2"/>
          <a:srcRect/>
          <a:stretch>
            <a:fillRect/>
          </a:stretch>
        </p:blipFill>
        <p:spPr bwMode="auto">
          <a:xfrm>
            <a:off x="917575" y="172357"/>
            <a:ext cx="1079500" cy="387350"/>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71500" y="685799"/>
            <a:ext cx="11087099" cy="532453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buFont typeface="Wingdings" pitchFamily="2" charset="2"/>
              <a:buChar char="q"/>
            </a:pPr>
            <a:r>
              <a:rPr lang="fr-FR" sz="1600" dirty="0" smtClean="0">
                <a:latin typeface="Arial" pitchFamily="34" charset="0"/>
                <a:cs typeface="Arial" pitchFamily="34" charset="0"/>
              </a:rPr>
              <a:t> Exemple d'analyse SWOT (forces, faiblesses, opportunités, menaces) pour une startup logistique en phase d'étude de création :</a:t>
            </a:r>
            <a:br>
              <a:rPr lang="fr-FR" sz="1600" dirty="0" smtClean="0">
                <a:latin typeface="Arial" pitchFamily="34" charset="0"/>
                <a:cs typeface="Arial" pitchFamily="34" charset="0"/>
              </a:rPr>
            </a:br>
            <a:r>
              <a:rPr lang="fr-FR" sz="1600" dirty="0" smtClean="0">
                <a:latin typeface="Arial" pitchFamily="34" charset="0"/>
                <a:cs typeface="Arial" pitchFamily="34" charset="0"/>
              </a:rPr>
              <a:t/>
            </a:r>
            <a:br>
              <a:rPr lang="fr-FR" sz="1600" dirty="0" smtClean="0">
                <a:latin typeface="Arial" pitchFamily="34" charset="0"/>
                <a:cs typeface="Arial" pitchFamily="34" charset="0"/>
              </a:rPr>
            </a:br>
            <a:r>
              <a:rPr lang="fr-FR" sz="1600" dirty="0" smtClean="0">
                <a:latin typeface="Arial" pitchFamily="34" charset="0"/>
                <a:cs typeface="Arial" pitchFamily="34" charset="0"/>
              </a:rPr>
              <a:t>Analyse SWOT d'une Startup Logistique</a:t>
            </a:r>
            <a:br>
              <a:rPr lang="fr-FR" sz="1600" dirty="0" smtClean="0">
                <a:latin typeface="Arial" pitchFamily="34" charset="0"/>
                <a:cs typeface="Arial" pitchFamily="34" charset="0"/>
              </a:rPr>
            </a:br>
            <a:r>
              <a:rPr lang="fr-FR" sz="1600" dirty="0" smtClean="0">
                <a:latin typeface="Arial" pitchFamily="34" charset="0"/>
                <a:cs typeface="Arial" pitchFamily="34" charset="0"/>
              </a:rPr>
              <a:t/>
            </a:r>
            <a:br>
              <a:rPr lang="fr-FR" sz="1600" dirty="0" smtClean="0">
                <a:latin typeface="Arial" pitchFamily="34" charset="0"/>
                <a:cs typeface="Arial" pitchFamily="34" charset="0"/>
              </a:rPr>
            </a:br>
            <a:r>
              <a:rPr lang="fr-FR" b="1" dirty="0" smtClean="0">
                <a:solidFill>
                  <a:srgbClr val="C00000"/>
                </a:solidFill>
                <a:latin typeface="Arial" pitchFamily="34" charset="0"/>
                <a:cs typeface="Arial" pitchFamily="34" charset="0"/>
              </a:rPr>
              <a:t>Forces (</a:t>
            </a:r>
            <a:r>
              <a:rPr lang="fr-FR" b="1" dirty="0" err="1" smtClean="0">
                <a:solidFill>
                  <a:srgbClr val="C00000"/>
                </a:solidFill>
                <a:latin typeface="Arial" pitchFamily="34" charset="0"/>
                <a:cs typeface="Arial" pitchFamily="34" charset="0"/>
              </a:rPr>
              <a:t>Strengths</a:t>
            </a:r>
            <a:r>
              <a:rPr lang="fr-FR" b="1" dirty="0" smtClean="0">
                <a:solidFill>
                  <a:srgbClr val="C00000"/>
                </a:solidFill>
                <a:latin typeface="Arial" pitchFamily="34" charset="0"/>
                <a:cs typeface="Arial" pitchFamily="34" charset="0"/>
              </a:rPr>
              <a:t>)</a:t>
            </a:r>
            <a:r>
              <a:rPr lang="fr-FR" sz="1600" dirty="0" smtClean="0">
                <a:latin typeface="Arial" pitchFamily="34" charset="0"/>
                <a:cs typeface="Arial" pitchFamily="34" charset="0"/>
              </a:rPr>
              <a:t/>
            </a:r>
            <a:br>
              <a:rPr lang="fr-FR" sz="1600" dirty="0" smtClean="0">
                <a:latin typeface="Arial" pitchFamily="34" charset="0"/>
                <a:cs typeface="Arial" pitchFamily="34" charset="0"/>
              </a:rPr>
            </a:br>
            <a:r>
              <a:rPr lang="fr-FR" sz="1600" dirty="0" smtClean="0">
                <a:latin typeface="Arial" pitchFamily="34" charset="0"/>
                <a:cs typeface="Arial" pitchFamily="34" charset="0"/>
              </a:rPr>
              <a:t>1. Innovation technologique : Utilisation de technologies avancées (IA, </a:t>
            </a:r>
            <a:r>
              <a:rPr lang="fr-FR" sz="1600" dirty="0" err="1" smtClean="0">
                <a:latin typeface="Arial" pitchFamily="34" charset="0"/>
                <a:cs typeface="Arial" pitchFamily="34" charset="0"/>
              </a:rPr>
              <a:t>IoT</a:t>
            </a:r>
            <a:r>
              <a:rPr lang="fr-FR" sz="1600" dirty="0" smtClean="0">
                <a:latin typeface="Arial" pitchFamily="34" charset="0"/>
                <a:cs typeface="Arial" pitchFamily="34" charset="0"/>
              </a:rPr>
              <a:t>, </a:t>
            </a:r>
            <a:r>
              <a:rPr lang="fr-FR" sz="1600" dirty="0" err="1" smtClean="0">
                <a:latin typeface="Arial" pitchFamily="34" charset="0"/>
                <a:cs typeface="Arial" pitchFamily="34" charset="0"/>
              </a:rPr>
              <a:t>blockchain</a:t>
            </a:r>
            <a:r>
              <a:rPr lang="fr-FR" sz="1600" dirty="0" smtClean="0">
                <a:latin typeface="Arial" pitchFamily="34" charset="0"/>
                <a:cs typeface="Arial" pitchFamily="34" charset="0"/>
              </a:rPr>
              <a:t>) pour optimiser les opérations logistiques.</a:t>
            </a:r>
            <a:br>
              <a:rPr lang="fr-FR" sz="1600" dirty="0" smtClean="0">
                <a:latin typeface="Arial" pitchFamily="34" charset="0"/>
                <a:cs typeface="Arial" pitchFamily="34" charset="0"/>
              </a:rPr>
            </a:br>
            <a:r>
              <a:rPr lang="fr-FR" sz="1600" dirty="0" smtClean="0">
                <a:latin typeface="Arial" pitchFamily="34" charset="0"/>
                <a:cs typeface="Arial" pitchFamily="34" charset="0"/>
              </a:rPr>
              <a:t>2. Flexibilité : Capacité à s'adapter rapidement aux besoins des clients et aux changements du marché.</a:t>
            </a:r>
            <a:br>
              <a:rPr lang="fr-FR" sz="1600" dirty="0" smtClean="0">
                <a:latin typeface="Arial" pitchFamily="34" charset="0"/>
                <a:cs typeface="Arial" pitchFamily="34" charset="0"/>
              </a:rPr>
            </a:br>
            <a:r>
              <a:rPr lang="fr-FR" sz="1600" dirty="0" smtClean="0">
                <a:latin typeface="Arial" pitchFamily="34" charset="0"/>
                <a:cs typeface="Arial" pitchFamily="34" charset="0"/>
              </a:rPr>
              <a:t>3. Équipe expérimentée : Membres fondateurs ayant une solide expérience dans le secteur de la logistique et de la </a:t>
            </a:r>
            <a:r>
              <a:rPr lang="fr-FR" sz="1600" dirty="0" err="1" smtClean="0">
                <a:latin typeface="Arial" pitchFamily="34" charset="0"/>
                <a:cs typeface="Arial" pitchFamily="34" charset="0"/>
              </a:rPr>
              <a:t>supply</a:t>
            </a:r>
            <a:r>
              <a:rPr lang="fr-FR" sz="1600" dirty="0" smtClean="0">
                <a:latin typeface="Arial" pitchFamily="34" charset="0"/>
                <a:cs typeface="Arial" pitchFamily="34" charset="0"/>
              </a:rPr>
              <a:t> </a:t>
            </a:r>
            <a:r>
              <a:rPr lang="fr-FR" sz="1600" dirty="0" err="1" smtClean="0">
                <a:latin typeface="Arial" pitchFamily="34" charset="0"/>
                <a:cs typeface="Arial" pitchFamily="34" charset="0"/>
              </a:rPr>
              <a:t>chain</a:t>
            </a:r>
            <a:r>
              <a:rPr lang="fr-FR" sz="1600" dirty="0" smtClean="0">
                <a:latin typeface="Arial" pitchFamily="34" charset="0"/>
                <a:cs typeface="Arial" pitchFamily="34" charset="0"/>
              </a:rPr>
              <a:t>.</a:t>
            </a:r>
            <a:br>
              <a:rPr lang="fr-FR" sz="1600" dirty="0" smtClean="0">
                <a:latin typeface="Arial" pitchFamily="34" charset="0"/>
                <a:cs typeface="Arial" pitchFamily="34" charset="0"/>
              </a:rPr>
            </a:br>
            <a:r>
              <a:rPr lang="fr-FR" sz="1600" dirty="0" smtClean="0">
                <a:latin typeface="Arial" pitchFamily="34" charset="0"/>
                <a:cs typeface="Arial" pitchFamily="34" charset="0"/>
              </a:rPr>
              <a:t>4. Service client personnalisé : Approche centrée sur le client, offrant des solutions sur mesure.</a:t>
            </a:r>
            <a:br>
              <a:rPr lang="fr-FR" sz="1600" dirty="0" smtClean="0">
                <a:latin typeface="Arial" pitchFamily="34" charset="0"/>
                <a:cs typeface="Arial" pitchFamily="34" charset="0"/>
              </a:rPr>
            </a:br>
            <a:r>
              <a:rPr lang="fr-FR" sz="1600" dirty="0" smtClean="0">
                <a:latin typeface="Arial" pitchFamily="34" charset="0"/>
                <a:cs typeface="Arial" pitchFamily="34" charset="0"/>
              </a:rPr>
              <a:t/>
            </a:r>
            <a:br>
              <a:rPr lang="fr-FR" sz="1600" dirty="0" smtClean="0">
                <a:latin typeface="Arial" pitchFamily="34" charset="0"/>
                <a:cs typeface="Arial" pitchFamily="34" charset="0"/>
              </a:rPr>
            </a:br>
            <a:r>
              <a:rPr lang="fr-FR" b="1" dirty="0" smtClean="0">
                <a:solidFill>
                  <a:srgbClr val="C00000"/>
                </a:solidFill>
                <a:latin typeface="Arial" pitchFamily="34" charset="0"/>
                <a:cs typeface="Arial" pitchFamily="34" charset="0"/>
              </a:rPr>
              <a:t>Faiblesses (</a:t>
            </a:r>
            <a:r>
              <a:rPr lang="fr-FR" b="1" dirty="0" err="1" smtClean="0">
                <a:solidFill>
                  <a:srgbClr val="C00000"/>
                </a:solidFill>
                <a:latin typeface="Arial" pitchFamily="34" charset="0"/>
                <a:cs typeface="Arial" pitchFamily="34" charset="0"/>
              </a:rPr>
              <a:t>Weaknesses</a:t>
            </a:r>
            <a:r>
              <a:rPr lang="fr-FR" b="1" dirty="0" smtClean="0">
                <a:solidFill>
                  <a:srgbClr val="C00000"/>
                </a:solidFill>
                <a:latin typeface="Arial" pitchFamily="34" charset="0"/>
                <a:cs typeface="Arial" pitchFamily="34" charset="0"/>
              </a:rPr>
              <a:t>)</a:t>
            </a:r>
            <a:r>
              <a:rPr lang="fr-FR" sz="1600" dirty="0" smtClean="0">
                <a:latin typeface="Arial" pitchFamily="34" charset="0"/>
                <a:cs typeface="Arial" pitchFamily="34" charset="0"/>
              </a:rPr>
              <a:t/>
            </a:r>
            <a:br>
              <a:rPr lang="fr-FR" sz="1600" dirty="0" smtClean="0">
                <a:latin typeface="Arial" pitchFamily="34" charset="0"/>
                <a:cs typeface="Arial" pitchFamily="34" charset="0"/>
              </a:rPr>
            </a:br>
            <a:r>
              <a:rPr lang="fr-FR" sz="1600" dirty="0" smtClean="0">
                <a:latin typeface="Arial" pitchFamily="34" charset="0"/>
                <a:cs typeface="Arial" pitchFamily="34" charset="0"/>
              </a:rPr>
              <a:t>1. Ressources financières limitées : En phase de démarrage, la startup peut avoir des difficultés à obtenir des financements suffisants.</a:t>
            </a:r>
            <a:br>
              <a:rPr lang="fr-FR" sz="1600" dirty="0" smtClean="0">
                <a:latin typeface="Arial" pitchFamily="34" charset="0"/>
                <a:cs typeface="Arial" pitchFamily="34" charset="0"/>
              </a:rPr>
            </a:br>
            <a:r>
              <a:rPr lang="fr-FR" sz="1600" dirty="0" smtClean="0">
                <a:latin typeface="Arial" pitchFamily="34" charset="0"/>
                <a:cs typeface="Arial" pitchFamily="34" charset="0"/>
              </a:rPr>
              <a:t>2. Manque de notoriété : En tant que nouvelle entreprise, elle doit construire sa réputation sur le marché.</a:t>
            </a:r>
            <a:br>
              <a:rPr lang="fr-FR" sz="1600" dirty="0" smtClean="0">
                <a:latin typeface="Arial" pitchFamily="34" charset="0"/>
                <a:cs typeface="Arial" pitchFamily="34" charset="0"/>
              </a:rPr>
            </a:br>
            <a:r>
              <a:rPr lang="fr-FR" sz="1600" dirty="0" smtClean="0">
                <a:latin typeface="Arial" pitchFamily="34" charset="0"/>
                <a:cs typeface="Arial" pitchFamily="34" charset="0"/>
              </a:rPr>
              <a:t>3. **Infrastructure initiale** : Besoin d'investissements importants pour établir des infrastructures logistiques (entrepôts, véhicules, etc.).</a:t>
            </a:r>
            <a:br>
              <a:rPr lang="fr-FR" sz="1600" dirty="0" smtClean="0">
                <a:latin typeface="Arial" pitchFamily="34" charset="0"/>
                <a:cs typeface="Arial" pitchFamily="34" charset="0"/>
              </a:rPr>
            </a:br>
            <a:r>
              <a:rPr lang="fr-FR" sz="1600" dirty="0" smtClean="0">
                <a:latin typeface="Arial" pitchFamily="34" charset="0"/>
                <a:cs typeface="Arial" pitchFamily="34" charset="0"/>
              </a:rPr>
              <a:t>4. Dépendance à des partenaires : Risque lié à la dépendance envers des fournisseurs ou partenaires pour certaines opérations.</a:t>
            </a:r>
            <a:endParaRPr lang="fr-FR" sz="1600" dirty="0">
              <a:latin typeface="Arial" pitchFamily="34" charset="0"/>
              <a:cs typeface="Arial" pitchFamily="34" charset="0"/>
            </a:endParaRPr>
          </a:p>
        </p:txBody>
      </p:sp>
      <p:pic>
        <p:nvPicPr>
          <p:cNvPr id="4" name="Image 3" descr="C:\Users\ma.mejri\Desktop\téléchargement (1).png"/>
          <p:cNvPicPr/>
          <p:nvPr/>
        </p:nvPicPr>
        <p:blipFill>
          <a:blip r:embed="rId2"/>
          <a:srcRect/>
          <a:stretch>
            <a:fillRect/>
          </a:stretch>
        </p:blipFill>
        <p:spPr bwMode="auto">
          <a:xfrm>
            <a:off x="793750" y="124732"/>
            <a:ext cx="1079500" cy="387350"/>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66725" y="844272"/>
            <a:ext cx="11287125" cy="563231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fr-FR" b="1" dirty="0" smtClean="0">
                <a:solidFill>
                  <a:srgbClr val="C00000"/>
                </a:solidFill>
                <a:latin typeface="Arial" pitchFamily="34" charset="0"/>
                <a:cs typeface="Arial" pitchFamily="34" charset="0"/>
              </a:rPr>
              <a:t> Opportunités (</a:t>
            </a:r>
            <a:r>
              <a:rPr lang="fr-FR" b="1" dirty="0" err="1" smtClean="0">
                <a:solidFill>
                  <a:srgbClr val="C00000"/>
                </a:solidFill>
                <a:latin typeface="Arial" pitchFamily="34" charset="0"/>
                <a:cs typeface="Arial" pitchFamily="34" charset="0"/>
              </a:rPr>
              <a:t>Opportunities</a:t>
            </a:r>
            <a:r>
              <a:rPr lang="fr-FR" b="1" dirty="0" smtClean="0">
                <a:solidFill>
                  <a:srgbClr val="C00000"/>
                </a:solidFill>
                <a:latin typeface="Arial" pitchFamily="34" charset="0"/>
                <a:cs typeface="Arial" pitchFamily="34" charset="0"/>
              </a:rPr>
              <a:t>)</a:t>
            </a:r>
            <a:r>
              <a:rPr lang="fr-FR" dirty="0" smtClean="0"/>
              <a:t/>
            </a:r>
            <a:br>
              <a:rPr lang="fr-FR" dirty="0" smtClean="0"/>
            </a:br>
            <a:r>
              <a:rPr lang="fr-FR" dirty="0" smtClean="0"/>
              <a:t>1. Croissance du e-commerce : Augmentation de la demande pour des solutions logistiques efficaces en raison de la croissance du commerce en ligne.</a:t>
            </a:r>
            <a:br>
              <a:rPr lang="fr-FR" dirty="0" smtClean="0"/>
            </a:br>
            <a:r>
              <a:rPr lang="fr-FR" dirty="0" smtClean="0"/>
              <a:t>2. Partenariats stratégiques : Possibilité de collaborer avec d'autres entreprises pour élargir l'offre de services.</a:t>
            </a:r>
          </a:p>
          <a:p>
            <a:r>
              <a:rPr lang="fr-FR" dirty="0" smtClean="0"/>
              <a:t>3. Soutien gouvernemental : Accès à des subventions ou des programmes d'aide pour les startups dans le secteur logistique.</a:t>
            </a:r>
            <a:br>
              <a:rPr lang="fr-FR" dirty="0" smtClean="0"/>
            </a:br>
            <a:r>
              <a:rPr lang="fr-FR" dirty="0" smtClean="0"/>
              <a:t>4. Tendances durables : Opportunité de se positionner sur le marché avec des solutions logistiques écologiques et durables.</a:t>
            </a:r>
            <a:br>
              <a:rPr lang="fr-FR" dirty="0" smtClean="0"/>
            </a:br>
            <a:r>
              <a:rPr lang="fr-FR" dirty="0" smtClean="0"/>
              <a:t/>
            </a:r>
            <a:br>
              <a:rPr lang="fr-FR" dirty="0" smtClean="0"/>
            </a:br>
            <a:r>
              <a:rPr lang="fr-FR" b="1" dirty="0" smtClean="0">
                <a:solidFill>
                  <a:srgbClr val="C00000"/>
                </a:solidFill>
                <a:latin typeface="Arial" pitchFamily="34" charset="0"/>
                <a:cs typeface="Arial" pitchFamily="34" charset="0"/>
              </a:rPr>
              <a:t>#### Menaces (</a:t>
            </a:r>
            <a:r>
              <a:rPr lang="fr-FR" b="1" dirty="0" err="1" smtClean="0">
                <a:solidFill>
                  <a:srgbClr val="C00000"/>
                </a:solidFill>
                <a:latin typeface="Arial" pitchFamily="34" charset="0"/>
                <a:cs typeface="Arial" pitchFamily="34" charset="0"/>
              </a:rPr>
              <a:t>Threats</a:t>
            </a:r>
            <a:r>
              <a:rPr lang="fr-FR" b="1" dirty="0" smtClean="0">
                <a:solidFill>
                  <a:srgbClr val="C00000"/>
                </a:solidFill>
                <a:latin typeface="Arial" pitchFamily="34" charset="0"/>
                <a:cs typeface="Arial" pitchFamily="34" charset="0"/>
              </a:rPr>
              <a:t>)</a:t>
            </a:r>
            <a:r>
              <a:rPr lang="fr-FR" dirty="0" smtClean="0"/>
              <a:t/>
            </a:r>
            <a:br>
              <a:rPr lang="fr-FR" dirty="0" smtClean="0"/>
            </a:br>
            <a:r>
              <a:rPr lang="fr-FR" dirty="0" smtClean="0"/>
              <a:t>1. Concurrence intense : Présence de grandes entreprises bien établies et de startups concurrentes sur le marché.</a:t>
            </a:r>
            <a:br>
              <a:rPr lang="fr-FR" dirty="0" smtClean="0"/>
            </a:br>
            <a:r>
              <a:rPr lang="fr-FR" dirty="0" smtClean="0"/>
              <a:t>2. Fluctuations économiques : Impact des crises économiques sur la demande de services logistiques.</a:t>
            </a:r>
            <a:br>
              <a:rPr lang="fr-FR" dirty="0" smtClean="0"/>
            </a:br>
            <a:r>
              <a:rPr lang="fr-FR" dirty="0" smtClean="0"/>
              <a:t>3. Réglementations strictes : Évolution des lois et règlements pouvant affecter les opérations logistiques.</a:t>
            </a:r>
            <a:br>
              <a:rPr lang="fr-FR" dirty="0" smtClean="0"/>
            </a:br>
            <a:r>
              <a:rPr lang="fr-FR" dirty="0" smtClean="0"/>
              <a:t>4. Technologie en constante évolution : Nécessité de rester à jour avec les nouvelles technologies et les innovations du secteur.</a:t>
            </a:r>
            <a:br>
              <a:rPr lang="fr-FR" dirty="0" smtClean="0"/>
            </a:br>
            <a:r>
              <a:rPr lang="fr-FR" b="1" dirty="0" smtClean="0"/>
              <a:t/>
            </a:r>
            <a:br>
              <a:rPr lang="fr-FR" b="1" dirty="0" smtClean="0"/>
            </a:br>
            <a:r>
              <a:rPr lang="fr-FR" b="1" dirty="0" smtClean="0"/>
              <a:t>Conclusion</a:t>
            </a:r>
            <a:br>
              <a:rPr lang="fr-FR" b="1" dirty="0" smtClean="0"/>
            </a:br>
            <a:r>
              <a:rPr lang="fr-FR" dirty="0" smtClean="0"/>
              <a:t>Cette analyse SWOT permet à la startup logistique de mieux comprendre son environnement interne et externe. En capitalisant sur ses forces et en exploitant les opportunités, tout en adressant ses faiblesses et en se préparant aux menaces, elle pourra élaborer une stratégie solide pour sa création et son développement.</a:t>
            </a:r>
            <a:endParaRPr lang="fr-FR" dirty="0"/>
          </a:p>
        </p:txBody>
      </p:sp>
      <p:pic>
        <p:nvPicPr>
          <p:cNvPr id="4" name="Image 3" descr="C:\Users\ma.mejri\Desktop\téléchargement (1).png"/>
          <p:cNvPicPr/>
          <p:nvPr/>
        </p:nvPicPr>
        <p:blipFill>
          <a:blip r:embed="rId2"/>
          <a:srcRect/>
          <a:stretch>
            <a:fillRect/>
          </a:stretch>
        </p:blipFill>
        <p:spPr bwMode="auto">
          <a:xfrm>
            <a:off x="774700" y="305707"/>
            <a:ext cx="1079500" cy="387350"/>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71500" y="816442"/>
            <a:ext cx="11315700" cy="492442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fr-FR" sz="1600" dirty="0" smtClean="0">
                <a:solidFill>
                  <a:schemeClr val="dk1"/>
                </a:solidFill>
                <a:latin typeface="Arial" pitchFamily="34" charset="0"/>
                <a:cs typeface="Arial" pitchFamily="34" charset="0"/>
              </a:rPr>
              <a:t>Salut ! Voici un exemple d'analyse SWOT (forces, faiblesses, opportunités, menaces) pour une startup qui développe une solution de suivi de la santé personnelle,</a:t>
            </a:r>
            <a:br>
              <a:rPr lang="fr-FR" sz="1600" dirty="0" smtClean="0">
                <a:solidFill>
                  <a:schemeClr val="dk1"/>
                </a:solidFill>
                <a:latin typeface="Arial" pitchFamily="34" charset="0"/>
                <a:cs typeface="Arial" pitchFamily="34" charset="0"/>
              </a:rPr>
            </a:br>
            <a:r>
              <a:rPr lang="fr-FR" sz="1600" dirty="0" smtClean="0">
                <a:solidFill>
                  <a:schemeClr val="dk1"/>
                </a:solidFill>
                <a:latin typeface="Arial" pitchFamily="34" charset="0"/>
                <a:cs typeface="Arial" pitchFamily="34" charset="0"/>
              </a:rPr>
              <a:t>en phase d'étude de création . </a:t>
            </a:r>
            <a:br>
              <a:rPr lang="fr-FR" sz="1600" dirty="0" smtClean="0">
                <a:solidFill>
                  <a:schemeClr val="dk1"/>
                </a:solidFill>
                <a:latin typeface="Arial" pitchFamily="34" charset="0"/>
                <a:cs typeface="Arial" pitchFamily="34" charset="0"/>
              </a:rPr>
            </a:br>
            <a:r>
              <a:rPr lang="fr-FR" sz="1600" dirty="0" smtClean="0">
                <a:solidFill>
                  <a:schemeClr val="dk1"/>
                </a:solidFill>
                <a:latin typeface="Arial" pitchFamily="34" charset="0"/>
                <a:cs typeface="Arial" pitchFamily="34" charset="0"/>
              </a:rPr>
              <a:t/>
            </a:r>
            <a:br>
              <a:rPr lang="fr-FR" sz="1600" dirty="0" smtClean="0">
                <a:solidFill>
                  <a:schemeClr val="dk1"/>
                </a:solidFill>
                <a:latin typeface="Arial" pitchFamily="34" charset="0"/>
                <a:cs typeface="Arial" pitchFamily="34" charset="0"/>
              </a:rPr>
            </a:br>
            <a:r>
              <a:rPr lang="fr-FR" b="1" dirty="0" smtClean="0">
                <a:solidFill>
                  <a:srgbClr val="C00000"/>
                </a:solidFill>
                <a:latin typeface="Arial" pitchFamily="34" charset="0"/>
                <a:cs typeface="Arial" pitchFamily="34" charset="0"/>
              </a:rPr>
              <a:t>Forces</a:t>
            </a:r>
            <a:r>
              <a:rPr lang="fr-FR" sz="1600" dirty="0" smtClean="0">
                <a:solidFill>
                  <a:schemeClr val="dk1"/>
                </a:solidFill>
                <a:latin typeface="Arial" pitchFamily="34" charset="0"/>
                <a:cs typeface="Arial" pitchFamily="34" charset="0"/>
              </a:rPr>
              <a:t/>
            </a:r>
            <a:br>
              <a:rPr lang="fr-FR" sz="1600" dirty="0" smtClean="0">
                <a:solidFill>
                  <a:schemeClr val="dk1"/>
                </a:solidFill>
                <a:latin typeface="Arial" pitchFamily="34" charset="0"/>
                <a:cs typeface="Arial" pitchFamily="34" charset="0"/>
              </a:rPr>
            </a:br>
            <a:r>
              <a:rPr lang="fr-FR" sz="1600" dirty="0" smtClean="0">
                <a:solidFill>
                  <a:schemeClr val="dk1"/>
                </a:solidFill>
                <a:latin typeface="Arial" pitchFamily="34" charset="0"/>
                <a:cs typeface="Arial" pitchFamily="34" charset="0"/>
              </a:rPr>
              <a:t>1. Innovation technologique : Utilisation de technologies avancées (IA, </a:t>
            </a:r>
            <a:r>
              <a:rPr lang="fr-FR" sz="1600" dirty="0" err="1" smtClean="0">
                <a:solidFill>
                  <a:schemeClr val="dk1"/>
                </a:solidFill>
                <a:latin typeface="Arial" pitchFamily="34" charset="0"/>
                <a:cs typeface="Arial" pitchFamily="34" charset="0"/>
              </a:rPr>
              <a:t>IoT</a:t>
            </a:r>
            <a:r>
              <a:rPr lang="fr-FR" sz="1600" dirty="0" smtClean="0">
                <a:solidFill>
                  <a:schemeClr val="dk1"/>
                </a:solidFill>
                <a:latin typeface="Arial" pitchFamily="34" charset="0"/>
                <a:cs typeface="Arial" pitchFamily="34" charset="0"/>
              </a:rPr>
              <a:t>) pour offrir des fonctionnalités uniques.</a:t>
            </a:r>
            <a:br>
              <a:rPr lang="fr-FR" sz="1600" dirty="0" smtClean="0">
                <a:solidFill>
                  <a:schemeClr val="dk1"/>
                </a:solidFill>
                <a:latin typeface="Arial" pitchFamily="34" charset="0"/>
                <a:cs typeface="Arial" pitchFamily="34" charset="0"/>
              </a:rPr>
            </a:br>
            <a:r>
              <a:rPr lang="fr-FR" sz="1600" dirty="0" smtClean="0">
                <a:solidFill>
                  <a:schemeClr val="dk1"/>
                </a:solidFill>
                <a:latin typeface="Arial" pitchFamily="34" charset="0"/>
                <a:cs typeface="Arial" pitchFamily="34" charset="0"/>
              </a:rPr>
              <a:t>2. Équipe compétente : Membres de l'équipe avec des compétences variées en santé, technologie et marketing.</a:t>
            </a:r>
            <a:br>
              <a:rPr lang="fr-FR" sz="1600" dirty="0" smtClean="0">
                <a:solidFill>
                  <a:schemeClr val="dk1"/>
                </a:solidFill>
                <a:latin typeface="Arial" pitchFamily="34" charset="0"/>
                <a:cs typeface="Arial" pitchFamily="34" charset="0"/>
              </a:rPr>
            </a:br>
            <a:r>
              <a:rPr lang="fr-FR" sz="1600" dirty="0" smtClean="0">
                <a:solidFill>
                  <a:schemeClr val="dk1"/>
                </a:solidFill>
                <a:latin typeface="Arial" pitchFamily="34" charset="0"/>
                <a:cs typeface="Arial" pitchFamily="34" charset="0"/>
              </a:rPr>
              <a:t>3. Croissance du marché : Augmentation de la demande pour les solutions de santé personnelle et de bien-être.</a:t>
            </a:r>
            <a:br>
              <a:rPr lang="fr-FR" sz="1600" dirty="0" smtClean="0">
                <a:solidFill>
                  <a:schemeClr val="dk1"/>
                </a:solidFill>
                <a:latin typeface="Arial" pitchFamily="34" charset="0"/>
                <a:cs typeface="Arial" pitchFamily="34" charset="0"/>
              </a:rPr>
            </a:br>
            <a:r>
              <a:rPr lang="fr-FR" sz="1600" dirty="0" smtClean="0">
                <a:solidFill>
                  <a:schemeClr val="dk1"/>
                </a:solidFill>
                <a:latin typeface="Arial" pitchFamily="34" charset="0"/>
                <a:cs typeface="Arial" pitchFamily="34" charset="0"/>
              </a:rPr>
              <a:t>4. Personnalisation : Capacité à offrir des recommandations personnalisées basées sur les données de l'utilisateur.</a:t>
            </a:r>
            <a:br>
              <a:rPr lang="fr-FR" sz="1600" dirty="0" smtClean="0">
                <a:solidFill>
                  <a:schemeClr val="dk1"/>
                </a:solidFill>
                <a:latin typeface="Arial" pitchFamily="34" charset="0"/>
                <a:cs typeface="Arial" pitchFamily="34" charset="0"/>
              </a:rPr>
            </a:br>
            <a:r>
              <a:rPr lang="fr-FR" sz="1600" dirty="0" smtClean="0">
                <a:solidFill>
                  <a:schemeClr val="dk1"/>
                </a:solidFill>
                <a:latin typeface="Arial" pitchFamily="34" charset="0"/>
                <a:cs typeface="Arial" pitchFamily="34" charset="0"/>
              </a:rPr>
              <a:t/>
            </a:r>
            <a:br>
              <a:rPr lang="fr-FR" sz="1600" dirty="0" smtClean="0">
                <a:solidFill>
                  <a:schemeClr val="dk1"/>
                </a:solidFill>
                <a:latin typeface="Arial" pitchFamily="34" charset="0"/>
                <a:cs typeface="Arial" pitchFamily="34" charset="0"/>
              </a:rPr>
            </a:br>
            <a:r>
              <a:rPr lang="fr-FR" b="1" dirty="0" smtClean="0">
                <a:solidFill>
                  <a:srgbClr val="C00000"/>
                </a:solidFill>
                <a:latin typeface="Arial" pitchFamily="34" charset="0"/>
                <a:cs typeface="Arial" pitchFamily="34" charset="0"/>
              </a:rPr>
              <a:t>Faiblesses</a:t>
            </a:r>
            <a:r>
              <a:rPr lang="fr-FR" sz="1600" dirty="0" smtClean="0">
                <a:solidFill>
                  <a:schemeClr val="dk1"/>
                </a:solidFill>
                <a:latin typeface="Arial" pitchFamily="34" charset="0"/>
                <a:cs typeface="Arial" pitchFamily="34" charset="0"/>
              </a:rPr>
              <a:t/>
            </a:r>
            <a:br>
              <a:rPr lang="fr-FR" sz="1600" dirty="0" smtClean="0">
                <a:solidFill>
                  <a:schemeClr val="dk1"/>
                </a:solidFill>
                <a:latin typeface="Arial" pitchFamily="34" charset="0"/>
                <a:cs typeface="Arial" pitchFamily="34" charset="0"/>
              </a:rPr>
            </a:br>
            <a:r>
              <a:rPr lang="fr-FR" sz="1600" dirty="0" smtClean="0">
                <a:solidFill>
                  <a:schemeClr val="dk1"/>
                </a:solidFill>
                <a:latin typeface="Arial" pitchFamily="34" charset="0"/>
                <a:cs typeface="Arial" pitchFamily="34" charset="0"/>
              </a:rPr>
              <a:t>1. Ressources limitées : Budget restreint pour le développement et le marketing.</a:t>
            </a:r>
            <a:br>
              <a:rPr lang="fr-FR" sz="1600" dirty="0" smtClean="0">
                <a:solidFill>
                  <a:schemeClr val="dk1"/>
                </a:solidFill>
                <a:latin typeface="Arial" pitchFamily="34" charset="0"/>
                <a:cs typeface="Arial" pitchFamily="34" charset="0"/>
              </a:rPr>
            </a:br>
            <a:r>
              <a:rPr lang="fr-FR" sz="1600" dirty="0" smtClean="0">
                <a:solidFill>
                  <a:schemeClr val="dk1"/>
                </a:solidFill>
                <a:latin typeface="Arial" pitchFamily="34" charset="0"/>
                <a:cs typeface="Arial" pitchFamily="34" charset="0"/>
              </a:rPr>
              <a:t>2. Manque de notoriété : En tant que nouvelle startup, il peut être difficile de se faire connaître sur le marché.</a:t>
            </a:r>
            <a:br>
              <a:rPr lang="fr-FR" sz="1600" dirty="0" smtClean="0">
                <a:solidFill>
                  <a:schemeClr val="dk1"/>
                </a:solidFill>
                <a:latin typeface="Arial" pitchFamily="34" charset="0"/>
                <a:cs typeface="Arial" pitchFamily="34" charset="0"/>
              </a:rPr>
            </a:br>
            <a:r>
              <a:rPr lang="fr-FR" sz="1600" dirty="0" smtClean="0">
                <a:solidFill>
                  <a:schemeClr val="dk1"/>
                </a:solidFill>
                <a:latin typeface="Arial" pitchFamily="34" charset="0"/>
                <a:cs typeface="Arial" pitchFamily="34" charset="0"/>
              </a:rPr>
              <a:t>3. Dépendance à la technologie : Risques liés à la fiabilité des technologies utilisées et à la protection des données personnelles.</a:t>
            </a:r>
            <a:br>
              <a:rPr lang="fr-FR" sz="1600" dirty="0" smtClean="0">
                <a:solidFill>
                  <a:schemeClr val="dk1"/>
                </a:solidFill>
                <a:latin typeface="Arial" pitchFamily="34" charset="0"/>
                <a:cs typeface="Arial" pitchFamily="34" charset="0"/>
              </a:rPr>
            </a:br>
            <a:r>
              <a:rPr lang="fr-FR" sz="1600" dirty="0" smtClean="0">
                <a:solidFill>
                  <a:schemeClr val="dk1"/>
                </a:solidFill>
                <a:latin typeface="Arial" pitchFamily="34" charset="0"/>
                <a:cs typeface="Arial" pitchFamily="34" charset="0"/>
              </a:rPr>
              <a:t>4. Éducation du marché : Nécessité d'éduquer les utilisateurs sur l'importance du suivi de la santé personnelle.</a:t>
            </a:r>
            <a:br>
              <a:rPr lang="fr-FR" sz="1600" dirty="0" smtClean="0">
                <a:solidFill>
                  <a:schemeClr val="dk1"/>
                </a:solidFill>
                <a:latin typeface="Arial" pitchFamily="34" charset="0"/>
                <a:cs typeface="Arial" pitchFamily="34" charset="0"/>
              </a:rPr>
            </a:br>
            <a:r>
              <a:rPr lang="fr-FR" dirty="0" smtClean="0"/>
              <a:t/>
            </a:r>
            <a:br>
              <a:rPr lang="fr-FR" dirty="0" smtClean="0"/>
            </a:br>
            <a:r>
              <a:rPr lang="fr-FR" dirty="0" smtClean="0"/>
              <a:t>sur ses forces et opportunités tout en adressant ses faiblesses et menaces, la startup peut élaborer une stratégie solide pour son lancement et sa croissance future.</a:t>
            </a:r>
            <a:endParaRPr lang="fr-FR" dirty="0"/>
          </a:p>
        </p:txBody>
      </p:sp>
      <p:pic>
        <p:nvPicPr>
          <p:cNvPr id="6" name="Image 5" descr="C:\Users\ma.mejri\Desktop\téléchargement (1).png"/>
          <p:cNvPicPr/>
          <p:nvPr/>
        </p:nvPicPr>
        <p:blipFill>
          <a:blip r:embed="rId2"/>
          <a:srcRect/>
          <a:stretch>
            <a:fillRect/>
          </a:stretch>
        </p:blipFill>
        <p:spPr bwMode="auto">
          <a:xfrm>
            <a:off x="860425" y="200932"/>
            <a:ext cx="1079500" cy="387350"/>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62000" y="1147941"/>
            <a:ext cx="10572750" cy="507831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fr-FR" b="1" dirty="0" smtClean="0">
                <a:solidFill>
                  <a:srgbClr val="C00000"/>
                </a:solidFill>
                <a:latin typeface="Arial" pitchFamily="34" charset="0"/>
                <a:cs typeface="Arial" pitchFamily="34" charset="0"/>
              </a:rPr>
              <a:t> Opportunités</a:t>
            </a:r>
            <a:r>
              <a:rPr lang="fr-FR" sz="1600" dirty="0" smtClean="0">
                <a:latin typeface="Arial" pitchFamily="34" charset="0"/>
                <a:cs typeface="Arial" pitchFamily="34" charset="0"/>
              </a:rPr>
              <a:t/>
            </a:r>
            <a:br>
              <a:rPr lang="fr-FR" sz="1600" dirty="0" smtClean="0">
                <a:latin typeface="Arial" pitchFamily="34" charset="0"/>
                <a:cs typeface="Arial" pitchFamily="34" charset="0"/>
              </a:rPr>
            </a:br>
            <a:r>
              <a:rPr lang="fr-FR" sz="1600" dirty="0" smtClean="0">
                <a:latin typeface="Arial" pitchFamily="34" charset="0"/>
                <a:cs typeface="Arial" pitchFamily="34" charset="0"/>
              </a:rPr>
              <a:t>1. Partenariats stratégiques : Collaboration avec des professionnels de la santé, des assureurs ou des entreprises de fitness.</a:t>
            </a:r>
            <a:br>
              <a:rPr lang="fr-FR" sz="1600" dirty="0" smtClean="0">
                <a:latin typeface="Arial" pitchFamily="34" charset="0"/>
                <a:cs typeface="Arial" pitchFamily="34" charset="0"/>
              </a:rPr>
            </a:br>
            <a:r>
              <a:rPr lang="fr-FR" sz="1600" dirty="0" smtClean="0">
                <a:latin typeface="Arial" pitchFamily="34" charset="0"/>
                <a:cs typeface="Arial" pitchFamily="34" charset="0"/>
              </a:rPr>
              <a:t>2. Tendances de santé : Croissance des préoccupations liées à la santé et au bien-être, surtout après la pandémie.</a:t>
            </a:r>
            <a:br>
              <a:rPr lang="fr-FR" sz="1600" dirty="0" smtClean="0">
                <a:latin typeface="Arial" pitchFamily="34" charset="0"/>
                <a:cs typeface="Arial" pitchFamily="34" charset="0"/>
              </a:rPr>
            </a:br>
            <a:r>
              <a:rPr lang="fr-FR" sz="1600" dirty="0" smtClean="0">
                <a:latin typeface="Arial" pitchFamily="34" charset="0"/>
                <a:cs typeface="Arial" pitchFamily="34" charset="0"/>
              </a:rPr>
              <a:t>3. Expansion internationale : Possibilité d'étendre la solution à d'autres marchés géographiques.</a:t>
            </a:r>
            <a:br>
              <a:rPr lang="fr-FR" sz="1600" dirty="0" smtClean="0">
                <a:latin typeface="Arial" pitchFamily="34" charset="0"/>
                <a:cs typeface="Arial" pitchFamily="34" charset="0"/>
              </a:rPr>
            </a:br>
            <a:r>
              <a:rPr lang="fr-FR" sz="1600" dirty="0" smtClean="0">
                <a:latin typeface="Arial" pitchFamily="34" charset="0"/>
                <a:cs typeface="Arial" pitchFamily="34" charset="0"/>
              </a:rPr>
              <a:t>4. Financements et subventions : Accès à des fonds pour les startups innovantes dans le secteur de la santé.</a:t>
            </a:r>
            <a:br>
              <a:rPr lang="fr-FR" sz="1600" dirty="0" smtClean="0">
                <a:latin typeface="Arial" pitchFamily="34" charset="0"/>
                <a:cs typeface="Arial" pitchFamily="34" charset="0"/>
              </a:rPr>
            </a:br>
            <a:r>
              <a:rPr lang="fr-FR" sz="1600" dirty="0" smtClean="0">
                <a:latin typeface="Arial" pitchFamily="34" charset="0"/>
                <a:cs typeface="Arial" pitchFamily="34" charset="0"/>
              </a:rPr>
              <a:t/>
            </a:r>
            <a:br>
              <a:rPr lang="fr-FR" sz="1600" dirty="0" smtClean="0">
                <a:latin typeface="Arial" pitchFamily="34" charset="0"/>
                <a:cs typeface="Arial" pitchFamily="34" charset="0"/>
              </a:rPr>
            </a:br>
            <a:r>
              <a:rPr lang="fr-FR" b="1" dirty="0" smtClean="0">
                <a:solidFill>
                  <a:srgbClr val="C00000"/>
                </a:solidFill>
                <a:latin typeface="Arial" pitchFamily="34" charset="0"/>
                <a:cs typeface="Arial" pitchFamily="34" charset="0"/>
              </a:rPr>
              <a:t>#### Menaces</a:t>
            </a:r>
            <a:r>
              <a:rPr lang="fr-FR" sz="1600" dirty="0" smtClean="0">
                <a:latin typeface="Arial" pitchFamily="34" charset="0"/>
                <a:cs typeface="Arial" pitchFamily="34" charset="0"/>
              </a:rPr>
              <a:t/>
            </a:r>
            <a:br>
              <a:rPr lang="fr-FR" sz="1600" dirty="0" smtClean="0">
                <a:latin typeface="Arial" pitchFamily="34" charset="0"/>
                <a:cs typeface="Arial" pitchFamily="34" charset="0"/>
              </a:rPr>
            </a:br>
            <a:r>
              <a:rPr lang="fr-FR" sz="1600" dirty="0" smtClean="0">
                <a:latin typeface="Arial" pitchFamily="34" charset="0"/>
                <a:cs typeface="Arial" pitchFamily="34" charset="0"/>
              </a:rPr>
              <a:t>1. Concurrence accrue : Présence de nombreux acteurs établis et émergents sur le marché des applications de santé.</a:t>
            </a:r>
            <a:br>
              <a:rPr lang="fr-FR" sz="1600" dirty="0" smtClean="0">
                <a:latin typeface="Arial" pitchFamily="34" charset="0"/>
                <a:cs typeface="Arial" pitchFamily="34" charset="0"/>
              </a:rPr>
            </a:br>
            <a:r>
              <a:rPr lang="fr-FR" sz="1600" dirty="0" smtClean="0">
                <a:latin typeface="Arial" pitchFamily="34" charset="0"/>
                <a:cs typeface="Arial" pitchFamily="34" charset="0"/>
              </a:rPr>
              <a:t>2. Réglementations strictes : Nécessité de se conformer à des réglementations sur la protection des données et la santé.</a:t>
            </a:r>
            <a:br>
              <a:rPr lang="fr-FR" sz="1600" dirty="0" smtClean="0">
                <a:latin typeface="Arial" pitchFamily="34" charset="0"/>
                <a:cs typeface="Arial" pitchFamily="34" charset="0"/>
              </a:rPr>
            </a:br>
            <a:r>
              <a:rPr lang="fr-FR" sz="1600" dirty="0" smtClean="0">
                <a:latin typeface="Arial" pitchFamily="34" charset="0"/>
                <a:cs typeface="Arial" pitchFamily="34" charset="0"/>
              </a:rPr>
              <a:t>3. Évolution rapide de la technologie : Risque de devenir obsolète si la startup ne s'adapte pas rapidement aux nouvelles tendances.</a:t>
            </a:r>
            <a:br>
              <a:rPr lang="fr-FR" sz="1600" dirty="0" smtClean="0">
                <a:latin typeface="Arial" pitchFamily="34" charset="0"/>
                <a:cs typeface="Arial" pitchFamily="34" charset="0"/>
              </a:rPr>
            </a:br>
            <a:r>
              <a:rPr lang="fr-FR" sz="1600" dirty="0" smtClean="0">
                <a:latin typeface="Arial" pitchFamily="34" charset="0"/>
                <a:cs typeface="Arial" pitchFamily="34" charset="0"/>
              </a:rPr>
              <a:t>4. Scepticisme des utilisateurs : Les utilisateurs peuvent être réticents à adopter de nouvelles technologies pour le suivi de leur santé.</a:t>
            </a:r>
            <a:br>
              <a:rPr lang="fr-FR" sz="1600" dirty="0" smtClean="0">
                <a:latin typeface="Arial" pitchFamily="34" charset="0"/>
                <a:cs typeface="Arial" pitchFamily="34" charset="0"/>
              </a:rPr>
            </a:br>
            <a:r>
              <a:rPr lang="fr-FR" sz="1600" dirty="0" smtClean="0">
                <a:latin typeface="Arial" pitchFamily="34" charset="0"/>
                <a:cs typeface="Arial" pitchFamily="34" charset="0"/>
              </a:rPr>
              <a:t/>
            </a:r>
            <a:br>
              <a:rPr lang="fr-FR" sz="1600" dirty="0" smtClean="0">
                <a:latin typeface="Arial" pitchFamily="34" charset="0"/>
                <a:cs typeface="Arial" pitchFamily="34" charset="0"/>
              </a:rPr>
            </a:br>
            <a:r>
              <a:rPr lang="fr-FR" sz="1600" b="1" dirty="0" smtClean="0">
                <a:latin typeface="Arial" pitchFamily="34" charset="0"/>
                <a:cs typeface="Arial" pitchFamily="34" charset="0"/>
              </a:rPr>
              <a:t> Conclusion</a:t>
            </a:r>
            <a:r>
              <a:rPr lang="fr-FR" sz="1600" dirty="0" smtClean="0">
                <a:latin typeface="Arial" pitchFamily="34" charset="0"/>
                <a:cs typeface="Arial" pitchFamily="34" charset="0"/>
              </a:rPr>
              <a:t/>
            </a:r>
            <a:br>
              <a:rPr lang="fr-FR" sz="1600" dirty="0" smtClean="0">
                <a:latin typeface="Arial" pitchFamily="34" charset="0"/>
                <a:cs typeface="Arial" pitchFamily="34" charset="0"/>
              </a:rPr>
            </a:br>
            <a:r>
              <a:rPr lang="fr-FR" sz="1600" dirty="0" smtClean="0">
                <a:latin typeface="Arial" pitchFamily="34" charset="0"/>
                <a:cs typeface="Arial" pitchFamily="34" charset="0"/>
              </a:rPr>
              <a:t>Cette analyse SWOT permet à la startup de mieux comprendre son positionnement sur le marché et d'identifier les domaines à renforcer ou à surveiller. En capitalisant</a:t>
            </a:r>
          </a:p>
        </p:txBody>
      </p:sp>
      <p:pic>
        <p:nvPicPr>
          <p:cNvPr id="4" name="Image 3"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90575" y="734020"/>
            <a:ext cx="10687050" cy="550920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endParaRPr lang="fr-FR" sz="1200" dirty="0" smtClean="0"/>
          </a:p>
          <a:p>
            <a:r>
              <a:rPr lang="fr-FR" sz="2000" b="1" dirty="0" smtClean="0">
                <a:solidFill>
                  <a:srgbClr val="00B050"/>
                </a:solidFill>
                <a:latin typeface="Arial" pitchFamily="34" charset="0"/>
                <a:cs typeface="Arial" pitchFamily="34" charset="0"/>
              </a:rPr>
              <a:t>3. Développement du concept</a:t>
            </a:r>
            <a:r>
              <a:rPr lang="fr-FR" sz="1200" dirty="0" smtClean="0"/>
              <a:t/>
            </a:r>
            <a:br>
              <a:rPr lang="fr-FR" sz="1200" dirty="0" smtClean="0"/>
            </a:br>
            <a:endParaRPr lang="fr-FR" sz="1200" dirty="0" smtClean="0">
              <a:latin typeface="Arial" pitchFamily="34" charset="0"/>
              <a:cs typeface="Arial" pitchFamily="34" charset="0"/>
            </a:endParaRPr>
          </a:p>
          <a:p>
            <a:pPr>
              <a:buFont typeface="Wingdings" pitchFamily="2" charset="2"/>
              <a:buChar char="§"/>
            </a:pPr>
            <a:r>
              <a:rPr lang="fr-FR" sz="2000" b="1" dirty="0" smtClean="0">
                <a:latin typeface="Arial" pitchFamily="34" charset="0"/>
                <a:cs typeface="Arial" pitchFamily="34" charset="0"/>
              </a:rPr>
              <a:t> Prototypage </a:t>
            </a:r>
            <a:r>
              <a:rPr lang="fr-FR" sz="2000" dirty="0" smtClean="0">
                <a:latin typeface="Arial" pitchFamily="34" charset="0"/>
                <a:cs typeface="Arial" pitchFamily="34" charset="0"/>
              </a:rPr>
              <a:t>:</a:t>
            </a:r>
            <a:br>
              <a:rPr lang="fr-FR" sz="2000" dirty="0" smtClean="0">
                <a:latin typeface="Arial" pitchFamily="34" charset="0"/>
                <a:cs typeface="Arial" pitchFamily="34" charset="0"/>
              </a:rPr>
            </a:br>
            <a:r>
              <a:rPr lang="fr-FR" sz="2000" dirty="0" smtClean="0">
                <a:latin typeface="Arial" pitchFamily="34" charset="0"/>
                <a:cs typeface="Arial" pitchFamily="34" charset="0"/>
              </a:rPr>
              <a:t> - Création de maquettes ou prototypes fonctionnels.</a:t>
            </a:r>
            <a:br>
              <a:rPr lang="fr-FR" sz="2000" dirty="0" smtClean="0">
                <a:latin typeface="Arial" pitchFamily="34" charset="0"/>
                <a:cs typeface="Arial" pitchFamily="34" charset="0"/>
              </a:rPr>
            </a:br>
            <a:r>
              <a:rPr lang="fr-FR" sz="2000" dirty="0" smtClean="0">
                <a:latin typeface="Arial" pitchFamily="34" charset="0"/>
                <a:cs typeface="Arial" pitchFamily="34" charset="0"/>
              </a:rPr>
              <a:t> - Tests utilisateurs pour recueillir des retours.</a:t>
            </a:r>
            <a:br>
              <a:rPr lang="fr-FR" sz="2000" dirty="0" smtClean="0">
                <a:latin typeface="Arial" pitchFamily="34" charset="0"/>
                <a:cs typeface="Arial" pitchFamily="34" charset="0"/>
              </a:rPr>
            </a:br>
            <a:r>
              <a:rPr lang="fr-FR" sz="2000" b="1" dirty="0" smtClean="0">
                <a:latin typeface="Arial" pitchFamily="34" charset="0"/>
                <a:cs typeface="Arial" pitchFamily="34" charset="0"/>
              </a:rPr>
              <a:t> Affinage du concept : </a:t>
            </a:r>
            <a:r>
              <a:rPr lang="fr-FR" sz="2000" dirty="0" smtClean="0">
                <a:latin typeface="Arial" pitchFamily="34" charset="0"/>
                <a:cs typeface="Arial" pitchFamily="34" charset="0"/>
              </a:rPr>
              <a:t/>
            </a:r>
            <a:br>
              <a:rPr lang="fr-FR" sz="2000" dirty="0" smtClean="0">
                <a:latin typeface="Arial" pitchFamily="34" charset="0"/>
                <a:cs typeface="Arial" pitchFamily="34" charset="0"/>
              </a:rPr>
            </a:br>
            <a:r>
              <a:rPr lang="fr-FR" sz="2000" dirty="0" smtClean="0">
                <a:latin typeface="Arial" pitchFamily="34" charset="0"/>
                <a:cs typeface="Arial" pitchFamily="34" charset="0"/>
              </a:rPr>
              <a:t> - Amélioration basée sur les retours d'expérience.</a:t>
            </a:r>
            <a:br>
              <a:rPr lang="fr-FR" sz="2000" dirty="0" smtClean="0">
                <a:latin typeface="Arial" pitchFamily="34" charset="0"/>
                <a:cs typeface="Arial" pitchFamily="34" charset="0"/>
              </a:rPr>
            </a:br>
            <a:r>
              <a:rPr lang="fr-FR" sz="2000" dirty="0" smtClean="0">
                <a:latin typeface="Arial" pitchFamily="34" charset="0"/>
                <a:cs typeface="Arial" pitchFamily="34" charset="0"/>
              </a:rPr>
              <a:t> - Élaboration d'un business model.</a:t>
            </a:r>
            <a:br>
              <a:rPr lang="fr-FR" sz="2000" dirty="0" smtClean="0">
                <a:latin typeface="Arial" pitchFamily="34" charset="0"/>
                <a:cs typeface="Arial" pitchFamily="34" charset="0"/>
              </a:rPr>
            </a:br>
            <a:r>
              <a:rPr lang="fr-FR" sz="1200" dirty="0" smtClean="0"/>
              <a:t/>
            </a:r>
            <a:br>
              <a:rPr lang="fr-FR" sz="1200" dirty="0" smtClean="0"/>
            </a:br>
            <a:r>
              <a:rPr lang="fr-FR" sz="2000" b="1" dirty="0" smtClean="0">
                <a:solidFill>
                  <a:srgbClr val="00B050"/>
                </a:solidFill>
                <a:latin typeface="Arial" pitchFamily="34" charset="0"/>
                <a:cs typeface="Arial" pitchFamily="34" charset="0"/>
              </a:rPr>
              <a:t>4. Validation du marché</a:t>
            </a:r>
            <a:r>
              <a:rPr lang="fr-FR" sz="1200" dirty="0" smtClean="0"/>
              <a:t/>
            </a:r>
            <a:br>
              <a:rPr lang="fr-FR" sz="1200" dirty="0" smtClean="0"/>
            </a:br>
            <a:endParaRPr lang="fr-FR" sz="800" dirty="0" smtClean="0">
              <a:latin typeface="Arial" pitchFamily="34" charset="0"/>
              <a:cs typeface="Arial" pitchFamily="34" charset="0"/>
            </a:endParaRPr>
          </a:p>
          <a:p>
            <a:pPr>
              <a:buFont typeface="Wingdings" pitchFamily="2" charset="2"/>
              <a:buChar char="§"/>
            </a:pPr>
            <a:r>
              <a:rPr lang="fr-FR" sz="2000" dirty="0" smtClean="0">
                <a:latin typeface="Arial" pitchFamily="34" charset="0"/>
                <a:cs typeface="Arial" pitchFamily="34" charset="0"/>
              </a:rPr>
              <a:t> </a:t>
            </a:r>
            <a:r>
              <a:rPr lang="fr-FR" sz="2000" b="1" dirty="0" smtClean="0">
                <a:latin typeface="Arial" pitchFamily="34" charset="0"/>
                <a:cs typeface="Arial" pitchFamily="34" charset="0"/>
              </a:rPr>
              <a:t>Études de marché : </a:t>
            </a:r>
            <a:r>
              <a:rPr lang="fr-FR" sz="2000" dirty="0" smtClean="0">
                <a:latin typeface="Arial" pitchFamily="34" charset="0"/>
                <a:cs typeface="Arial" pitchFamily="34" charset="0"/>
              </a:rPr>
              <a:t/>
            </a:r>
            <a:br>
              <a:rPr lang="fr-FR" sz="2000" dirty="0" smtClean="0">
                <a:latin typeface="Arial" pitchFamily="34" charset="0"/>
                <a:cs typeface="Arial" pitchFamily="34" charset="0"/>
              </a:rPr>
            </a:br>
            <a:r>
              <a:rPr lang="fr-FR" sz="2000" dirty="0" smtClean="0">
                <a:latin typeface="Arial" pitchFamily="34" charset="0"/>
                <a:cs typeface="Arial" pitchFamily="34" charset="0"/>
              </a:rPr>
              <a:t> - Analyse de la demande et des comportements des consommateurs.</a:t>
            </a:r>
            <a:br>
              <a:rPr lang="fr-FR" sz="2000" dirty="0" smtClean="0">
                <a:latin typeface="Arial" pitchFamily="34" charset="0"/>
                <a:cs typeface="Arial" pitchFamily="34" charset="0"/>
              </a:rPr>
            </a:br>
            <a:r>
              <a:rPr lang="fr-FR" sz="2000" dirty="0" smtClean="0">
                <a:latin typeface="Arial" pitchFamily="34" charset="0"/>
                <a:cs typeface="Arial" pitchFamily="34" charset="0"/>
              </a:rPr>
              <a:t> - Identification des segments de marché cibles.</a:t>
            </a:r>
          </a:p>
          <a:p>
            <a:pPr>
              <a:buFont typeface="Wingdings" pitchFamily="2" charset="2"/>
              <a:buChar char="§"/>
            </a:pPr>
            <a:r>
              <a:rPr lang="fr-FR" sz="2000" b="1" dirty="0" smtClean="0">
                <a:latin typeface="Arial" pitchFamily="34" charset="0"/>
                <a:cs typeface="Arial" pitchFamily="34" charset="0"/>
              </a:rPr>
              <a:t>Tests de marché :</a:t>
            </a:r>
            <a:r>
              <a:rPr lang="fr-FR" sz="2000" dirty="0" smtClean="0">
                <a:latin typeface="Arial" pitchFamily="34" charset="0"/>
                <a:cs typeface="Arial" pitchFamily="34" charset="0"/>
              </a:rPr>
              <a:t/>
            </a:r>
            <a:br>
              <a:rPr lang="fr-FR" sz="2000" dirty="0" smtClean="0">
                <a:latin typeface="Arial" pitchFamily="34" charset="0"/>
                <a:cs typeface="Arial" pitchFamily="34" charset="0"/>
              </a:rPr>
            </a:br>
            <a:r>
              <a:rPr lang="fr-FR" sz="2000" dirty="0" smtClean="0">
                <a:latin typeface="Arial" pitchFamily="34" charset="0"/>
                <a:cs typeface="Arial" pitchFamily="34" charset="0"/>
              </a:rPr>
              <a:t> - Lancements pilotes pour évaluer l'acceptation du produit.</a:t>
            </a:r>
            <a:r>
              <a:rPr lang="fr-FR" sz="1200" dirty="0" smtClean="0"/>
              <a:t/>
            </a:r>
            <a:br>
              <a:rPr lang="fr-FR" sz="1200" dirty="0" smtClean="0"/>
            </a:br>
            <a:r>
              <a:rPr lang="fr-FR" sz="1200" dirty="0" smtClean="0"/>
              <a:t/>
            </a:r>
            <a:br>
              <a:rPr lang="fr-FR" sz="1200" dirty="0" smtClean="0"/>
            </a:br>
            <a:r>
              <a:rPr lang="fr-FR" dirty="0" smtClean="0"/>
              <a:t/>
            </a:r>
            <a:br>
              <a:rPr lang="fr-FR" dirty="0" smtClean="0"/>
            </a:br>
            <a:endParaRPr lang="fr-FR" dirty="0"/>
          </a:p>
        </p:txBody>
      </p:sp>
      <p:pic>
        <p:nvPicPr>
          <p:cNvPr id="6" name="Image 5" descr="C:\Users\ma.mejri\Desktop\téléchargement (1).png"/>
          <p:cNvPicPr/>
          <p:nvPr/>
        </p:nvPicPr>
        <p:blipFill>
          <a:blip r:embed="rId2"/>
          <a:srcRect/>
          <a:stretch>
            <a:fillRect/>
          </a:stretch>
        </p:blipFill>
        <p:spPr bwMode="auto">
          <a:xfrm>
            <a:off x="727075" y="229507"/>
            <a:ext cx="1079500" cy="387350"/>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33424" y="750302"/>
            <a:ext cx="10829925" cy="513986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endParaRPr lang="fr-FR" sz="1200" dirty="0" smtClean="0"/>
          </a:p>
          <a:p>
            <a:r>
              <a:rPr lang="fr-FR" sz="2000" b="1" dirty="0" smtClean="0">
                <a:solidFill>
                  <a:srgbClr val="00B050"/>
                </a:solidFill>
                <a:latin typeface="Arial" pitchFamily="34" charset="0"/>
                <a:cs typeface="Arial" pitchFamily="34" charset="0"/>
              </a:rPr>
              <a:t>5. Mise en production</a:t>
            </a:r>
          </a:p>
          <a:p>
            <a:endParaRPr lang="fr-FR" sz="800" b="1" dirty="0" smtClean="0">
              <a:solidFill>
                <a:srgbClr val="00B050"/>
              </a:solidFill>
              <a:latin typeface="Arial" pitchFamily="34" charset="0"/>
              <a:cs typeface="Arial" pitchFamily="34" charset="0"/>
            </a:endParaRPr>
          </a:p>
          <a:p>
            <a:pPr>
              <a:buFont typeface="Wingdings" pitchFamily="2" charset="2"/>
              <a:buChar char="§"/>
            </a:pPr>
            <a:r>
              <a:rPr lang="fr-FR" sz="2000" b="1" dirty="0" smtClean="0">
                <a:latin typeface="Arial" pitchFamily="34" charset="0"/>
                <a:cs typeface="Arial" pitchFamily="34" charset="0"/>
              </a:rPr>
              <a:t> Planification de la production :</a:t>
            </a:r>
            <a:r>
              <a:rPr lang="fr-FR" sz="2000" dirty="0" smtClean="0">
                <a:latin typeface="Arial" pitchFamily="34" charset="0"/>
                <a:cs typeface="Arial" pitchFamily="34" charset="0"/>
              </a:rPr>
              <a:t/>
            </a:r>
            <a:br>
              <a:rPr lang="fr-FR" sz="2000" dirty="0" smtClean="0">
                <a:latin typeface="Arial" pitchFamily="34" charset="0"/>
                <a:cs typeface="Arial" pitchFamily="34" charset="0"/>
              </a:rPr>
            </a:br>
            <a:r>
              <a:rPr lang="fr-FR" sz="2000" dirty="0" smtClean="0">
                <a:latin typeface="Arial" pitchFamily="34" charset="0"/>
                <a:cs typeface="Arial" pitchFamily="34" charset="0"/>
              </a:rPr>
              <a:t> - Choix des méthodes de fabrication.</a:t>
            </a:r>
            <a:br>
              <a:rPr lang="fr-FR" sz="2000" dirty="0" smtClean="0">
                <a:latin typeface="Arial" pitchFamily="34" charset="0"/>
                <a:cs typeface="Arial" pitchFamily="34" charset="0"/>
              </a:rPr>
            </a:br>
            <a:r>
              <a:rPr lang="fr-FR" sz="2000" dirty="0" smtClean="0">
                <a:latin typeface="Arial" pitchFamily="34" charset="0"/>
                <a:cs typeface="Arial" pitchFamily="34" charset="0"/>
              </a:rPr>
              <a:t> - Gestion des ressources et des fournisseurs.</a:t>
            </a:r>
            <a:br>
              <a:rPr lang="fr-FR" sz="2000" dirty="0" smtClean="0">
                <a:latin typeface="Arial" pitchFamily="34" charset="0"/>
                <a:cs typeface="Arial" pitchFamily="34" charset="0"/>
              </a:rPr>
            </a:br>
            <a:endParaRPr lang="fr-FR" sz="800" b="1" dirty="0" smtClean="0">
              <a:latin typeface="Arial" pitchFamily="34" charset="0"/>
              <a:cs typeface="Arial" pitchFamily="34" charset="0"/>
            </a:endParaRPr>
          </a:p>
          <a:p>
            <a:pPr>
              <a:buFont typeface="Wingdings" pitchFamily="2" charset="2"/>
              <a:buChar char="§"/>
            </a:pPr>
            <a:r>
              <a:rPr lang="fr-FR" sz="2000" b="1" dirty="0" smtClean="0">
                <a:latin typeface="Arial" pitchFamily="34" charset="0"/>
                <a:cs typeface="Arial" pitchFamily="34" charset="0"/>
              </a:rPr>
              <a:t> Contrôle qualité : </a:t>
            </a:r>
            <a:r>
              <a:rPr lang="fr-FR" sz="2000" dirty="0" smtClean="0">
                <a:latin typeface="Arial" pitchFamily="34" charset="0"/>
                <a:cs typeface="Arial" pitchFamily="34" charset="0"/>
              </a:rPr>
              <a:t/>
            </a:r>
            <a:br>
              <a:rPr lang="fr-FR" sz="2000" dirty="0" smtClean="0">
                <a:latin typeface="Arial" pitchFamily="34" charset="0"/>
                <a:cs typeface="Arial" pitchFamily="34" charset="0"/>
              </a:rPr>
            </a:br>
            <a:r>
              <a:rPr lang="fr-FR" sz="2000" dirty="0" smtClean="0">
                <a:latin typeface="Arial" pitchFamily="34" charset="0"/>
                <a:cs typeface="Arial" pitchFamily="34" charset="0"/>
              </a:rPr>
              <a:t> - Mise en place de standards de qualité.</a:t>
            </a:r>
            <a:br>
              <a:rPr lang="fr-FR" sz="2000" dirty="0" smtClean="0">
                <a:latin typeface="Arial" pitchFamily="34" charset="0"/>
                <a:cs typeface="Arial" pitchFamily="34" charset="0"/>
              </a:rPr>
            </a:br>
            <a:r>
              <a:rPr lang="fr-FR" sz="800" dirty="0" smtClean="0">
                <a:latin typeface="Arial" pitchFamily="34" charset="0"/>
                <a:cs typeface="Arial" pitchFamily="34" charset="0"/>
              </a:rPr>
              <a:t/>
            </a:r>
            <a:br>
              <a:rPr lang="fr-FR" sz="800" dirty="0" smtClean="0">
                <a:latin typeface="Arial" pitchFamily="34" charset="0"/>
                <a:cs typeface="Arial" pitchFamily="34" charset="0"/>
              </a:rPr>
            </a:br>
            <a:r>
              <a:rPr lang="fr-FR" sz="2000" b="1" dirty="0" smtClean="0">
                <a:solidFill>
                  <a:srgbClr val="00B050"/>
                </a:solidFill>
                <a:latin typeface="Arial" pitchFamily="34" charset="0"/>
                <a:cs typeface="Arial" pitchFamily="34" charset="0"/>
              </a:rPr>
              <a:t>6. Lancement sur le marché</a:t>
            </a:r>
          </a:p>
          <a:p>
            <a:endParaRPr lang="fr-FR" sz="2000" b="1" dirty="0" smtClean="0">
              <a:solidFill>
                <a:srgbClr val="00B050"/>
              </a:solidFill>
              <a:latin typeface="Arial" pitchFamily="34" charset="0"/>
              <a:cs typeface="Arial" pitchFamily="34" charset="0"/>
            </a:endParaRPr>
          </a:p>
          <a:p>
            <a:pPr>
              <a:buFont typeface="Wingdings" pitchFamily="2" charset="2"/>
              <a:buChar char="§"/>
            </a:pPr>
            <a:r>
              <a:rPr lang="fr-FR" sz="2000" b="1" dirty="0" smtClean="0">
                <a:solidFill>
                  <a:srgbClr val="00B050"/>
                </a:solidFill>
                <a:latin typeface="Arial" pitchFamily="34" charset="0"/>
                <a:cs typeface="Arial" pitchFamily="34" charset="0"/>
              </a:rPr>
              <a:t> </a:t>
            </a:r>
            <a:r>
              <a:rPr lang="fr-FR" sz="2000" b="1" dirty="0" smtClean="0">
                <a:latin typeface="Arial" pitchFamily="34" charset="0"/>
                <a:cs typeface="Arial" pitchFamily="34" charset="0"/>
              </a:rPr>
              <a:t>Stratégie de marketing :</a:t>
            </a:r>
            <a:r>
              <a:rPr lang="fr-FR" sz="2000" dirty="0" smtClean="0">
                <a:latin typeface="Arial" pitchFamily="34" charset="0"/>
                <a:cs typeface="Arial" pitchFamily="34" charset="0"/>
              </a:rPr>
              <a:t/>
            </a:r>
            <a:br>
              <a:rPr lang="fr-FR" sz="2000" dirty="0" smtClean="0">
                <a:latin typeface="Arial" pitchFamily="34" charset="0"/>
                <a:cs typeface="Arial" pitchFamily="34" charset="0"/>
              </a:rPr>
            </a:br>
            <a:r>
              <a:rPr lang="fr-FR" sz="2000" dirty="0" smtClean="0">
                <a:latin typeface="Arial" pitchFamily="34" charset="0"/>
                <a:cs typeface="Arial" pitchFamily="34" charset="0"/>
              </a:rPr>
              <a:t> - Positionnement du produit.</a:t>
            </a:r>
            <a:br>
              <a:rPr lang="fr-FR" sz="2000" dirty="0" smtClean="0">
                <a:latin typeface="Arial" pitchFamily="34" charset="0"/>
                <a:cs typeface="Arial" pitchFamily="34" charset="0"/>
              </a:rPr>
            </a:br>
            <a:r>
              <a:rPr lang="fr-FR" sz="2000" dirty="0" smtClean="0">
                <a:latin typeface="Arial" pitchFamily="34" charset="0"/>
                <a:cs typeface="Arial" pitchFamily="34" charset="0"/>
              </a:rPr>
              <a:t> - Campagnes de communication et de promotion.</a:t>
            </a:r>
          </a:p>
          <a:p>
            <a:pPr>
              <a:buFont typeface="Wingdings" pitchFamily="2" charset="2"/>
              <a:buChar char="§"/>
            </a:pPr>
            <a:r>
              <a:rPr lang="fr-FR" sz="2000" dirty="0" smtClean="0">
                <a:latin typeface="Arial" pitchFamily="34" charset="0"/>
                <a:cs typeface="Arial" pitchFamily="34" charset="0"/>
              </a:rPr>
              <a:t> </a:t>
            </a:r>
            <a:r>
              <a:rPr lang="fr-FR" sz="2000" b="1" dirty="0" smtClean="0">
                <a:solidFill>
                  <a:schemeClr val="tx1"/>
                </a:solidFill>
                <a:latin typeface="Arial" pitchFamily="34" charset="0"/>
                <a:cs typeface="Arial" pitchFamily="34" charset="0"/>
              </a:rPr>
              <a:t>Distribution :</a:t>
            </a:r>
            <a:r>
              <a:rPr lang="fr-FR" sz="2000" dirty="0" smtClean="0">
                <a:latin typeface="Arial" pitchFamily="34" charset="0"/>
                <a:cs typeface="Arial" pitchFamily="34" charset="0"/>
              </a:rPr>
              <a:t/>
            </a:r>
            <a:br>
              <a:rPr lang="fr-FR" sz="2000" dirty="0" smtClean="0">
                <a:latin typeface="Arial" pitchFamily="34" charset="0"/>
                <a:cs typeface="Arial" pitchFamily="34" charset="0"/>
              </a:rPr>
            </a:br>
            <a:r>
              <a:rPr lang="fr-FR" sz="2000" dirty="0" smtClean="0">
                <a:latin typeface="Arial" pitchFamily="34" charset="0"/>
                <a:cs typeface="Arial" pitchFamily="34" charset="0"/>
              </a:rPr>
              <a:t> - Choix des canaux de distribution (en ligne, physique, etc.).</a:t>
            </a:r>
          </a:p>
          <a:p>
            <a:pPr algn="just"/>
            <a:r>
              <a:rPr lang="fr-FR" sz="1200" dirty="0" smtClean="0"/>
              <a:t/>
            </a:r>
            <a:br>
              <a:rPr lang="fr-FR" sz="1200" dirty="0" smtClean="0"/>
            </a:br>
            <a:endParaRPr lang="fr-FR" sz="2000" b="1" dirty="0" smtClean="0">
              <a:latin typeface="Arial" pitchFamily="34" charset="0"/>
              <a:cs typeface="Arial" pitchFamily="34" charset="0"/>
            </a:endParaRPr>
          </a:p>
        </p:txBody>
      </p:sp>
      <p:pic>
        <p:nvPicPr>
          <p:cNvPr id="4" name="Image 3" descr="C:\Users\ma.mejri\Desktop\téléchargement (1).png"/>
          <p:cNvPicPr/>
          <p:nvPr/>
        </p:nvPicPr>
        <p:blipFill>
          <a:blip r:embed="rId2"/>
          <a:srcRect/>
          <a:stretch>
            <a:fillRect/>
          </a:stretch>
        </p:blipFill>
        <p:spPr bwMode="auto">
          <a:xfrm>
            <a:off x="927100" y="229507"/>
            <a:ext cx="1079500" cy="387350"/>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me 5"/>
          <p:cNvGraphicFramePr/>
          <p:nvPr/>
        </p:nvGraphicFramePr>
        <p:xfrm>
          <a:off x="1933575" y="1162050"/>
          <a:ext cx="6553200" cy="3200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Image 3" descr="C:\Users\ma.mejri\Desktop\téléchargement (1).png"/>
          <p:cNvPicPr/>
          <p:nvPr/>
        </p:nvPicPr>
        <p:blipFill>
          <a:blip r:embed="rId6"/>
          <a:srcRect/>
          <a:stretch>
            <a:fillRect/>
          </a:stretch>
        </p:blipFill>
        <p:spPr bwMode="auto">
          <a:xfrm>
            <a:off x="784225" y="400957"/>
            <a:ext cx="1079500" cy="387350"/>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au 2"/>
          <p:cNvGraphicFramePr>
            <a:graphicFrameLocks noGrp="1"/>
          </p:cNvGraphicFramePr>
          <p:nvPr/>
        </p:nvGraphicFramePr>
        <p:xfrm>
          <a:off x="3091180" y="2194559"/>
          <a:ext cx="6009640" cy="2468880"/>
        </p:xfrm>
        <a:graphic>
          <a:graphicData uri="http://schemas.openxmlformats.org/drawingml/2006/table">
            <a:tbl>
              <a:tblPr/>
              <a:tblGrid>
                <a:gridCol w="1800860"/>
                <a:gridCol w="4208780"/>
              </a:tblGrid>
              <a:tr h="0">
                <a:tc>
                  <a:txBody>
                    <a:bodyPr/>
                    <a:lstStyle/>
                    <a:p>
                      <a:pPr marL="15240" algn="ctr">
                        <a:spcBef>
                          <a:spcPts val="295"/>
                        </a:spcBef>
                        <a:spcAft>
                          <a:spcPts val="0"/>
                        </a:spcAft>
                      </a:pPr>
                      <a:r>
                        <a:rPr lang="fr-FR" sz="1800" b="1" spc="-10">
                          <a:solidFill>
                            <a:srgbClr val="C00000"/>
                          </a:solidFill>
                          <a:latin typeface="Tahoma"/>
                          <a:ea typeface="Verdana"/>
                          <a:cs typeface="Verdana"/>
                        </a:rPr>
                        <a:t>Processus</a:t>
                      </a:r>
                      <a:endParaRPr lang="fr-FR" sz="1100">
                        <a:latin typeface="Verdana"/>
                        <a:ea typeface="Verdana"/>
                        <a:cs typeface="Verdan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5875" algn="ctr">
                        <a:spcBef>
                          <a:spcPts val="295"/>
                        </a:spcBef>
                        <a:spcAft>
                          <a:spcPts val="0"/>
                        </a:spcAft>
                      </a:pPr>
                      <a:r>
                        <a:rPr lang="fr-FR" sz="1800" b="1" spc="-10">
                          <a:solidFill>
                            <a:srgbClr val="C00000"/>
                          </a:solidFill>
                          <a:latin typeface="Tahoma"/>
                          <a:ea typeface="Verdana"/>
                          <a:cs typeface="Verdana"/>
                        </a:rPr>
                        <a:t>commentaires</a:t>
                      </a:r>
                      <a:endParaRPr lang="fr-FR" sz="1100">
                        <a:latin typeface="Verdana"/>
                        <a:ea typeface="Verdana"/>
                        <a:cs typeface="Verdan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78740" marR="123190" algn="ctr">
                        <a:spcBef>
                          <a:spcPts val="195"/>
                        </a:spcBef>
                        <a:spcAft>
                          <a:spcPts val="0"/>
                        </a:spcAft>
                      </a:pPr>
                      <a:r>
                        <a:rPr lang="fr-FR" sz="1600" b="1">
                          <a:latin typeface="Tahoma"/>
                          <a:ea typeface="Verdana"/>
                          <a:cs typeface="Verdana"/>
                        </a:rPr>
                        <a:t>Connaissance et </a:t>
                      </a:r>
                      <a:r>
                        <a:rPr lang="fr-FR" sz="1600" b="1" spc="-10">
                          <a:latin typeface="Tahoma"/>
                          <a:ea typeface="Verdana"/>
                          <a:cs typeface="Verdana"/>
                        </a:rPr>
                        <a:t>intelligence</a:t>
                      </a:r>
                      <a:endParaRPr lang="fr-FR" sz="1100">
                        <a:latin typeface="Verdana"/>
                        <a:ea typeface="Verdana"/>
                        <a:cs typeface="Verdan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fr-FR" sz="1600" spc="-20">
                          <a:latin typeface="Verdana"/>
                          <a:ea typeface="Verdana"/>
                          <a:cs typeface="Verdana"/>
                        </a:rPr>
                        <a:t>Pour identifier un vrai problème, se poser la bonne question </a:t>
                      </a:r>
                      <a:r>
                        <a:rPr lang="fr-FR" sz="1600">
                          <a:latin typeface="Verdana"/>
                          <a:ea typeface="Verdana"/>
                          <a:cs typeface="Verdana"/>
                        </a:rPr>
                        <a:t>et trouver la bonne réponse.</a:t>
                      </a:r>
                      <a:endParaRPr lang="fr-FR" sz="1100">
                        <a:latin typeface="Verdana"/>
                        <a:ea typeface="Verdana"/>
                        <a:cs typeface="Verdan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14605" algn="ctr">
                        <a:spcBef>
                          <a:spcPts val="295"/>
                        </a:spcBef>
                        <a:spcAft>
                          <a:spcPts val="0"/>
                        </a:spcAft>
                      </a:pPr>
                      <a:r>
                        <a:rPr lang="fr-FR" sz="1600" b="1" spc="-10">
                          <a:latin typeface="Tahoma"/>
                          <a:ea typeface="Verdana"/>
                          <a:cs typeface="Verdana"/>
                        </a:rPr>
                        <a:t>Créativité</a:t>
                      </a:r>
                      <a:endParaRPr lang="fr-FR" sz="1100">
                        <a:latin typeface="Verdana"/>
                        <a:ea typeface="Verdana"/>
                        <a:cs typeface="Verdan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fr-FR" sz="1600" spc="-20">
                          <a:latin typeface="Verdana"/>
                          <a:ea typeface="Verdana"/>
                          <a:cs typeface="Verdana"/>
                        </a:rPr>
                        <a:t>Pour générer des idées et des solutions.</a:t>
                      </a:r>
                      <a:endParaRPr lang="fr-FR" sz="1100">
                        <a:latin typeface="Verdana"/>
                        <a:ea typeface="Verdana"/>
                        <a:cs typeface="Verdan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70485" marR="123190" algn="ctr">
                        <a:spcBef>
                          <a:spcPts val="280"/>
                        </a:spcBef>
                        <a:spcAft>
                          <a:spcPts val="0"/>
                        </a:spcAft>
                      </a:pPr>
                      <a:r>
                        <a:rPr lang="fr-FR" sz="1600" b="1" spc="-10">
                          <a:latin typeface="Tahoma"/>
                          <a:ea typeface="Verdana"/>
                          <a:cs typeface="Verdana"/>
                        </a:rPr>
                        <a:t>Une invention</a:t>
                      </a:r>
                      <a:endParaRPr lang="fr-FR" sz="1100">
                        <a:latin typeface="Verdana"/>
                        <a:ea typeface="Verdana"/>
                        <a:cs typeface="Verdan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fr-FR" sz="1600" spc="-20">
                          <a:latin typeface="Verdana"/>
                          <a:ea typeface="Verdana"/>
                          <a:cs typeface="Verdana"/>
                        </a:rPr>
                        <a:t>Qui matérialise le concept de la solution trouvée</a:t>
                      </a:r>
                      <a:endParaRPr lang="fr-FR" sz="1100">
                        <a:latin typeface="Verdana"/>
                        <a:ea typeface="Verdana"/>
                        <a:cs typeface="Verdan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70485" marR="123190" algn="ctr">
                        <a:spcBef>
                          <a:spcPts val="280"/>
                        </a:spcBef>
                        <a:spcAft>
                          <a:spcPts val="0"/>
                        </a:spcAft>
                      </a:pPr>
                      <a:r>
                        <a:rPr lang="fr-FR" sz="1600" b="1" spc="-10">
                          <a:latin typeface="Tahoma"/>
                          <a:ea typeface="Verdana"/>
                          <a:cs typeface="Verdana"/>
                        </a:rPr>
                        <a:t>Trouver un marché au concept</a:t>
                      </a:r>
                      <a:endParaRPr lang="fr-FR" sz="1100">
                        <a:latin typeface="Verdana"/>
                        <a:ea typeface="Verdana"/>
                        <a:cs typeface="Verdan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fr-FR" sz="1600" spc="-20" dirty="0">
                          <a:latin typeface="Verdana"/>
                          <a:ea typeface="Verdana"/>
                          <a:cs typeface="Verdana"/>
                        </a:rPr>
                        <a:t>Pour en tirer profit(et être réinvesti pour donner vie à d’autres innovations).</a:t>
                      </a:r>
                      <a:endParaRPr lang="fr-FR" sz="1100" dirty="0">
                        <a:latin typeface="Verdana"/>
                        <a:ea typeface="Verdana"/>
                        <a:cs typeface="Verdan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049" name="Rectangle 1"/>
          <p:cNvSpPr>
            <a:spLocks noChangeArrowheads="1"/>
          </p:cNvSpPr>
          <p:nvPr/>
        </p:nvSpPr>
        <p:spPr bwMode="auto">
          <a:xfrm>
            <a:off x="2124075" y="1076325"/>
            <a:ext cx="6943725"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800" b="1" i="0" u="none" strike="noStrike" cap="none" normalizeH="0" baseline="0" dirty="0" smtClean="0">
                <a:ln>
                  <a:noFill/>
                </a:ln>
                <a:solidFill>
                  <a:schemeClr val="tx1"/>
                </a:solidFill>
                <a:effectLst/>
                <a:latin typeface="Tahoma" pitchFamily="34" charset="0"/>
                <a:ea typeface="Verdana" pitchFamily="34" charset="0"/>
                <a:cs typeface="Tahoma" pitchFamily="34" charset="0"/>
              </a:rPr>
              <a:t>Tableau qui résume le processus de l’innovation</a:t>
            </a:r>
            <a:endParaRPr kumimoji="0" lang="fr-FR" sz="9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6" name="Rectangle 5"/>
          <p:cNvSpPr/>
          <p:nvPr/>
        </p:nvSpPr>
        <p:spPr>
          <a:xfrm>
            <a:off x="819150" y="4985861"/>
            <a:ext cx="10153649" cy="707886"/>
          </a:xfrm>
          <a:prstGeom prst="rect">
            <a:avLst/>
          </a:prstGeom>
        </p:spPr>
        <p:txBody>
          <a:bodyPr wrap="square">
            <a:spAutoFit/>
          </a:bodyPr>
          <a:lstStyle/>
          <a:p>
            <a:pPr algn="just"/>
            <a:r>
              <a:rPr lang="fr-FR" sz="2000" dirty="0" smtClean="0">
                <a:latin typeface="Arial" pitchFamily="34" charset="0"/>
                <a:cs typeface="Arial" pitchFamily="34" charset="0"/>
              </a:rPr>
              <a:t>Le processus d'innovation est complexe et nécessite une approche méthodique pour transformer une idée en un produit ou service viable. </a:t>
            </a:r>
            <a:endParaRPr lang="fr-FR" sz="2000" dirty="0"/>
          </a:p>
        </p:txBody>
      </p:sp>
      <p:pic>
        <p:nvPicPr>
          <p:cNvPr id="7" name="Image 6" descr="C:\Users\ma.mejri\Desktop\téléchargement (1).png"/>
          <p:cNvPicPr/>
          <p:nvPr/>
        </p:nvPicPr>
        <p:blipFill>
          <a:blip r:embed="rId2"/>
          <a:srcRect/>
          <a:stretch>
            <a:fillRect/>
          </a:stretch>
        </p:blipFill>
        <p:spPr bwMode="auto">
          <a:xfrm>
            <a:off x="679450" y="420007"/>
            <a:ext cx="1079500" cy="387350"/>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p:nvPr/>
        </p:nvPicPr>
        <p:blipFill>
          <a:blip r:embed="rId2" cstate="print"/>
          <a:stretch>
            <a:fillRect/>
          </a:stretch>
        </p:blipFill>
        <p:spPr>
          <a:xfrm>
            <a:off x="1167001" y="1428750"/>
            <a:ext cx="9934198" cy="5060156"/>
          </a:xfrm>
          <a:prstGeom prst="rect">
            <a:avLst/>
          </a:prstGeom>
        </p:spPr>
      </p:pic>
      <p:pic>
        <p:nvPicPr>
          <p:cNvPr id="4" name="Image 3" descr="C:\Users\ma.mejri\Desktop\téléchargement (1).png"/>
          <p:cNvPicPr/>
          <p:nvPr/>
        </p:nvPicPr>
        <p:blipFill>
          <a:blip r:embed="rId3"/>
          <a:srcRect/>
          <a:stretch>
            <a:fillRect/>
          </a:stretch>
        </p:blipFill>
        <p:spPr bwMode="auto">
          <a:xfrm>
            <a:off x="984250" y="677182"/>
            <a:ext cx="1079500" cy="387350"/>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653143" y="2087463"/>
            <a:ext cx="10771414" cy="4462760"/>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buFontTx/>
              <a:buNone/>
              <a:tabLst/>
            </a:pPr>
            <a:r>
              <a:rPr lang="fr-FR" sz="2000" dirty="0" smtClean="0">
                <a:solidFill>
                  <a:schemeClr val="dk1"/>
                </a:solidFill>
                <a:latin typeface="Arial" pitchFamily="34" charset="0"/>
                <a:cs typeface="Arial" pitchFamily="34" charset="0"/>
              </a:rPr>
              <a:t>L’économie contemporaine est caractérisée par des mutations culturelles, technologiques et commerciales qui ont affecté les attentes, les modes d’achat et les habitudes des clients, ce qui offre aux entrepreneurs des opportunités pour innover, chercher dans de nouveaux horizons et s’approprier de nouvelles aptitudes.</a:t>
            </a:r>
          </a:p>
          <a:p>
            <a:pPr marL="0" marR="0" lvl="0" indent="0" algn="justLow" defTabSz="914400" rtl="0" eaLnBrk="0" fontAlgn="base" latinLnBrk="0" hangingPunct="0">
              <a:lnSpc>
                <a:spcPct val="100000"/>
              </a:lnSpc>
              <a:spcBef>
                <a:spcPct val="0"/>
              </a:spcBef>
              <a:spcAft>
                <a:spcPct val="0"/>
              </a:spcAft>
              <a:buClrTx/>
              <a:buSzTx/>
              <a:buFontTx/>
              <a:buNone/>
              <a:tabLst/>
            </a:pPr>
            <a:r>
              <a:rPr lang="fr-FR" sz="2000" dirty="0" smtClean="0">
                <a:solidFill>
                  <a:schemeClr val="dk1"/>
                </a:solidFill>
                <a:latin typeface="Arial" pitchFamily="34" charset="0"/>
                <a:cs typeface="Arial" pitchFamily="34" charset="0"/>
              </a:rPr>
              <a:t>Mots-clés : Entrepreneuriat, innovation, opportunité, valorisation, aventure, idée d’affaires, créativité;</a:t>
            </a:r>
          </a:p>
          <a:p>
            <a:pPr algn="just"/>
            <a:endParaRPr lang="fr-FR" sz="800" dirty="0" smtClean="0">
              <a:solidFill>
                <a:schemeClr val="dk1"/>
              </a:solidFill>
              <a:latin typeface="Arial" pitchFamily="34" charset="0"/>
              <a:cs typeface="Arial" pitchFamily="34" charset="0"/>
            </a:endParaRPr>
          </a:p>
          <a:p>
            <a:pPr algn="just"/>
            <a:r>
              <a:rPr lang="fr-FR" sz="2000" dirty="0" smtClean="0">
                <a:solidFill>
                  <a:schemeClr val="dk1"/>
                </a:solidFill>
                <a:latin typeface="Arial" pitchFamily="34" charset="0"/>
                <a:cs typeface="Arial" pitchFamily="34" charset="0"/>
              </a:rPr>
              <a:t>L’innovation et l’entrepreneuriat sont des moteurs fondamentaux de l’économie. </a:t>
            </a:r>
          </a:p>
          <a:p>
            <a:pPr algn="just"/>
            <a:endParaRPr lang="fr-FR" sz="800" dirty="0" smtClean="0">
              <a:latin typeface="Arial" pitchFamily="34" charset="0"/>
              <a:cs typeface="Arial" pitchFamily="34" charset="0"/>
            </a:endParaRPr>
          </a:p>
          <a:p>
            <a:pPr algn="just"/>
            <a:r>
              <a:rPr lang="fr-FR" sz="2000" dirty="0" smtClean="0">
                <a:solidFill>
                  <a:schemeClr val="dk1"/>
                </a:solidFill>
                <a:latin typeface="Arial" pitchFamily="34" charset="0"/>
                <a:cs typeface="Arial" pitchFamily="34" charset="0"/>
              </a:rPr>
              <a:t>Steve Jobs est un entrepreneur technologique dont la créativité dans les ordinateurs, l’électronique grand public et le cinéma d’animation l’a conduit à fonder Apple et à faire de </a:t>
            </a:r>
            <a:r>
              <a:rPr lang="fr-FR" sz="2000" dirty="0" err="1" smtClean="0">
                <a:solidFill>
                  <a:schemeClr val="dk1"/>
                </a:solidFill>
                <a:latin typeface="Arial" pitchFamily="34" charset="0"/>
                <a:cs typeface="Arial" pitchFamily="34" charset="0"/>
              </a:rPr>
              <a:t>Pixar</a:t>
            </a:r>
            <a:r>
              <a:rPr lang="fr-FR" sz="2000" dirty="0" smtClean="0">
                <a:solidFill>
                  <a:schemeClr val="dk1"/>
                </a:solidFill>
                <a:latin typeface="Arial" pitchFamily="34" charset="0"/>
                <a:cs typeface="Arial" pitchFamily="34" charset="0"/>
              </a:rPr>
              <a:t> un des leaders mondiaux de l’industrie du divertissement. </a:t>
            </a:r>
          </a:p>
          <a:p>
            <a:pPr algn="just"/>
            <a:endParaRPr lang="fr-FR" sz="800" dirty="0" smtClean="0">
              <a:solidFill>
                <a:schemeClr val="dk1"/>
              </a:solidFill>
              <a:latin typeface="Arial" pitchFamily="34" charset="0"/>
              <a:cs typeface="Arial" pitchFamily="34" charset="0"/>
            </a:endParaRPr>
          </a:p>
          <a:p>
            <a:pPr algn="just"/>
            <a:r>
              <a:rPr lang="fr-FR" sz="2000" dirty="0" smtClean="0">
                <a:solidFill>
                  <a:schemeClr val="dk1"/>
                </a:solidFill>
                <a:latin typeface="Arial" pitchFamily="34" charset="0"/>
                <a:cs typeface="Arial" pitchFamily="34" charset="0"/>
              </a:rPr>
              <a:t>Le Prix Nobel Muhammad </a:t>
            </a:r>
            <a:r>
              <a:rPr lang="fr-FR" sz="2000" dirty="0" err="1" smtClean="0">
                <a:solidFill>
                  <a:schemeClr val="dk1"/>
                </a:solidFill>
                <a:latin typeface="Arial" pitchFamily="34" charset="0"/>
                <a:cs typeface="Arial" pitchFamily="34" charset="0"/>
              </a:rPr>
              <a:t>Yunus</a:t>
            </a:r>
            <a:r>
              <a:rPr lang="fr-FR" sz="2000" dirty="0" smtClean="0">
                <a:solidFill>
                  <a:schemeClr val="dk1"/>
                </a:solidFill>
                <a:latin typeface="Arial" pitchFamily="34" charset="0"/>
                <a:cs typeface="Arial" pitchFamily="34" charset="0"/>
              </a:rPr>
              <a:t> est un entrepreneur social et un innovateur, pionnier du microcrédit – des prêts de faible montant accordés à des entrepreneurs trop pauvres pour s’adresser à des banques classiques – et le fondateur de la banque </a:t>
            </a:r>
            <a:r>
              <a:rPr lang="fr-FR" sz="2000" dirty="0" err="1" smtClean="0">
                <a:solidFill>
                  <a:schemeClr val="dk1"/>
                </a:solidFill>
                <a:latin typeface="Arial" pitchFamily="34" charset="0"/>
                <a:cs typeface="Arial" pitchFamily="34" charset="0"/>
              </a:rPr>
              <a:t>Grameen</a:t>
            </a:r>
            <a:r>
              <a:rPr lang="fr-FR" sz="2000" dirty="0" smtClean="0">
                <a:solidFill>
                  <a:schemeClr val="dk1"/>
                </a:solidFill>
                <a:latin typeface="Arial" pitchFamily="34" charset="0"/>
                <a:cs typeface="Arial" pitchFamily="34" charset="0"/>
              </a:rPr>
              <a:t> au Bangladesh. </a:t>
            </a:r>
          </a:p>
        </p:txBody>
      </p:sp>
      <p:sp>
        <p:nvSpPr>
          <p:cNvPr id="4" name="Rectangle 3"/>
          <p:cNvSpPr/>
          <p:nvPr/>
        </p:nvSpPr>
        <p:spPr>
          <a:xfrm>
            <a:off x="924594" y="1328448"/>
            <a:ext cx="10581605" cy="338554"/>
          </a:xfrm>
          <a:prstGeom prst="rect">
            <a:avLst/>
          </a:prstGeom>
        </p:spPr>
        <p:txBody>
          <a:bodyPr wrap="square">
            <a:spAutoFit/>
          </a:bodyPr>
          <a:lstStyle/>
          <a:p>
            <a:pPr lvl="1" indent="895350" algn="justLow" fontAlgn="base">
              <a:spcBef>
                <a:spcPct val="0"/>
              </a:spcBef>
              <a:spcAft>
                <a:spcPct val="0"/>
              </a:spcAft>
              <a:buClr>
                <a:srgbClr val="0066CC"/>
              </a:buClr>
              <a:tabLst>
                <a:tab pos="773113" algn="l"/>
              </a:tabLst>
            </a:pPr>
            <a:r>
              <a:rPr lang="fr-FR" sz="1600" b="1" dirty="0" smtClean="0">
                <a:solidFill>
                  <a:srgbClr val="00B0F0"/>
                </a:solidFill>
                <a:latin typeface="Source Sans Pro"/>
              </a:rPr>
              <a:t>                  5- ENTREPRENEURIAT ET INNOVATION    </a:t>
            </a:r>
          </a:p>
        </p:txBody>
      </p:sp>
      <p:pic>
        <p:nvPicPr>
          <p:cNvPr id="5" name="Image 4"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6" name="Espace réservé de la date 5"/>
          <p:cNvSpPr>
            <a:spLocks noGrp="1"/>
          </p:cNvSpPr>
          <p:nvPr>
            <p:ph type="dt" sz="half" idx="10"/>
          </p:nvPr>
        </p:nvSpPr>
        <p:spPr/>
        <p:txBody>
          <a:bodyPr/>
          <a:lstStyle/>
          <a:p>
            <a:pPr lvl="0"/>
            <a:fld id="{BF0AB627-D513-48CF-96AC-8E87A398CAA6}" type="datetime1">
              <a:rPr lang="en-US" smtClean="0"/>
              <a:pPr lvl="0"/>
              <a:t>11/16/2025</a:t>
            </a:fld>
            <a:endParaRPr lang="en-US"/>
          </a:p>
        </p:txBody>
      </p:sp>
      <p:sp>
        <p:nvSpPr>
          <p:cNvPr id="7" name="Espace réservé du numéro de diapositive 6"/>
          <p:cNvSpPr>
            <a:spLocks noGrp="1"/>
          </p:cNvSpPr>
          <p:nvPr>
            <p:ph type="sldNum" sz="quarter" idx="12"/>
          </p:nvPr>
        </p:nvSpPr>
        <p:spPr/>
        <p:txBody>
          <a:bodyPr/>
          <a:lstStyle/>
          <a:p>
            <a:pPr lvl="0"/>
            <a:fld id="{2390AFF8-1E19-449A-AA82-B5E4E90108F1}" type="slidenum">
              <a:rPr lang="fr-FR" smtClean="0"/>
              <a:pPr lvl="0"/>
              <a:t>52</a:t>
            </a:fld>
            <a:endParaRPr lang="fr-F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99407" y="1786848"/>
            <a:ext cx="10839449" cy="366254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b="1" dirty="0" smtClean="0">
                <a:solidFill>
                  <a:schemeClr val="dk1"/>
                </a:solidFill>
                <a:latin typeface="Arial" pitchFamily="34" charset="0"/>
                <a:cs typeface="Arial" pitchFamily="34" charset="0"/>
              </a:rPr>
              <a:t>Stimuler l’esprit d’entreprendre</a:t>
            </a:r>
          </a:p>
          <a:p>
            <a:pPr algn="just"/>
            <a:endParaRPr lang="fr-FR" sz="800" dirty="0" smtClean="0">
              <a:solidFill>
                <a:schemeClr val="dk1"/>
              </a:solidFill>
              <a:latin typeface="Arial" pitchFamily="34" charset="0"/>
              <a:cs typeface="Arial" pitchFamily="34" charset="0"/>
            </a:endParaRPr>
          </a:p>
          <a:p>
            <a:pPr algn="just"/>
            <a:r>
              <a:rPr lang="fr-FR" sz="2000" dirty="0" smtClean="0">
                <a:solidFill>
                  <a:schemeClr val="dk1"/>
                </a:solidFill>
                <a:latin typeface="Arial" pitchFamily="34" charset="0"/>
                <a:cs typeface="Arial" pitchFamily="34" charset="0"/>
              </a:rPr>
              <a:t>En irlandais le concept d’"entrepreneuriat" est inclus dans le cursus éducatif dès l’âge de 10-12 ans.</a:t>
            </a:r>
          </a:p>
          <a:p>
            <a:pPr algn="just"/>
            <a:endParaRPr lang="fr-FR" sz="800" dirty="0" smtClean="0">
              <a:solidFill>
                <a:schemeClr val="dk1"/>
              </a:solidFill>
              <a:latin typeface="Arial" pitchFamily="34" charset="0"/>
              <a:cs typeface="Arial" pitchFamily="34" charset="0"/>
            </a:endParaRPr>
          </a:p>
          <a:p>
            <a:pPr algn="just"/>
            <a:endParaRPr lang="fr-FR" sz="800" dirty="0" smtClean="0">
              <a:latin typeface="Arial" pitchFamily="34" charset="0"/>
              <a:cs typeface="Arial" pitchFamily="34" charset="0"/>
            </a:endParaRPr>
          </a:p>
          <a:p>
            <a:pPr algn="just"/>
            <a:r>
              <a:rPr lang="fr-FR" sz="2000" dirty="0" smtClean="0">
                <a:solidFill>
                  <a:schemeClr val="dk1"/>
                </a:solidFill>
                <a:latin typeface="Arial" pitchFamily="34" charset="0"/>
                <a:cs typeface="Arial" pitchFamily="34" charset="0"/>
              </a:rPr>
              <a:t>L’introduction du concept d’entrepreneuriat dans le programme éducatif aide les jeunes à se doter de connaissances nécessaires sur l’orientation professionnelle, à saisir l’esprit entrepreneurial et le fonctionnement d’une start-up, ainsi qu’à développer leur enthousiasme. Le but affiché est aussi de préparer les jeunes à une trajectoire professionnelle non linéaire dans un contexte d’incertitude économique et d’évolution permanente. </a:t>
            </a:r>
          </a:p>
          <a:p>
            <a:pPr algn="just"/>
            <a:endParaRPr lang="fr-FR" sz="800" dirty="0" smtClean="0">
              <a:latin typeface="Arial" pitchFamily="34" charset="0"/>
              <a:cs typeface="Arial" pitchFamily="34" charset="0"/>
            </a:endParaRPr>
          </a:p>
          <a:p>
            <a:pPr algn="just"/>
            <a:r>
              <a:rPr lang="fr-FR" sz="2000" dirty="0" smtClean="0">
                <a:solidFill>
                  <a:schemeClr val="dk1"/>
                </a:solidFill>
                <a:latin typeface="Arial" pitchFamily="34" charset="0"/>
                <a:cs typeface="Arial" pitchFamily="34" charset="0"/>
              </a:rPr>
              <a:t>L’esprit d’entreprendre est d’ailleurs l’une des huit compétences clés définies par l’Union européenne pour la formation tout au long de la vie</a:t>
            </a:r>
          </a:p>
        </p:txBody>
      </p:sp>
      <p:pic>
        <p:nvPicPr>
          <p:cNvPr id="5" name="Image 4"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4" name="Espace réservé de la date 3"/>
          <p:cNvSpPr>
            <a:spLocks noGrp="1"/>
          </p:cNvSpPr>
          <p:nvPr>
            <p:ph type="dt" sz="half" idx="10"/>
          </p:nvPr>
        </p:nvSpPr>
        <p:spPr/>
        <p:txBody>
          <a:bodyPr/>
          <a:lstStyle/>
          <a:p>
            <a:pPr lvl="0"/>
            <a:fld id="{B2002958-A439-40D8-B356-DD064C7CD8FD}" type="datetime1">
              <a:rPr lang="en-US" smtClean="0"/>
              <a:pPr lvl="0"/>
              <a:t>11/16/2025</a:t>
            </a:fld>
            <a:endParaRPr lang="en-US"/>
          </a:p>
        </p:txBody>
      </p:sp>
      <p:sp>
        <p:nvSpPr>
          <p:cNvPr id="6" name="Espace réservé du numéro de diapositive 5"/>
          <p:cNvSpPr>
            <a:spLocks noGrp="1"/>
          </p:cNvSpPr>
          <p:nvPr>
            <p:ph type="sldNum" sz="quarter" idx="12"/>
          </p:nvPr>
        </p:nvSpPr>
        <p:spPr/>
        <p:txBody>
          <a:bodyPr/>
          <a:lstStyle/>
          <a:p>
            <a:pPr lvl="0"/>
            <a:fld id="{2390AFF8-1E19-449A-AA82-B5E4E90108F1}" type="slidenum">
              <a:rPr lang="fr-FR" smtClean="0"/>
              <a:pPr lvl="0"/>
              <a:t>53</a:t>
            </a:fld>
            <a:endParaRPr lang="fr-F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982436" y="2440765"/>
            <a:ext cx="10325100" cy="255454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tabLst>
                <a:tab pos="10134600" algn="l"/>
              </a:tabLst>
            </a:pPr>
            <a:r>
              <a:rPr lang="fr-FR" sz="2000" dirty="0" smtClean="0">
                <a:solidFill>
                  <a:schemeClr val="dk1"/>
                </a:solidFill>
                <a:latin typeface="Arial" pitchFamily="34" charset="0"/>
                <a:cs typeface="Arial" pitchFamily="34" charset="0"/>
              </a:rPr>
              <a:t>L'innovation et l'entrepreneuriat sont liés par le même souci de créativité, qu'il s'agisse d'élaborer de nouveaux produits, de nouveaux procédés ou de nouvelles organisations.</a:t>
            </a:r>
          </a:p>
          <a:p>
            <a:pPr algn="just">
              <a:tabLst>
                <a:tab pos="10134600" algn="l"/>
              </a:tabLst>
            </a:pPr>
            <a:endParaRPr lang="fr-FR" sz="2000" dirty="0" smtClean="0">
              <a:solidFill>
                <a:schemeClr val="dk1"/>
              </a:solidFill>
              <a:latin typeface="Arial" pitchFamily="34" charset="0"/>
              <a:cs typeface="Arial" pitchFamily="34" charset="0"/>
            </a:endParaRPr>
          </a:p>
          <a:p>
            <a:pPr algn="just">
              <a:tabLst>
                <a:tab pos="10134600" algn="l"/>
              </a:tabLst>
            </a:pPr>
            <a:r>
              <a:rPr lang="fr-FR" sz="2000" dirty="0" smtClean="0">
                <a:solidFill>
                  <a:schemeClr val="dk1"/>
                </a:solidFill>
                <a:latin typeface="Arial" pitchFamily="34" charset="0"/>
                <a:cs typeface="Arial" pitchFamily="34" charset="0"/>
              </a:rPr>
              <a:t>L’innovation est très importante et constitue la fonction de l’entreprise et celle de l’entrepreneur. L’évolution économique est fondée sur l’entrepreneur et l’innovation</a:t>
            </a:r>
            <a:r>
              <a:rPr lang="fr-FR" sz="2000" dirty="0" smtClean="0">
                <a:latin typeface="Arial" pitchFamily="34" charset="0"/>
                <a:cs typeface="Arial" pitchFamily="34" charset="0"/>
              </a:rPr>
              <a:t>.</a:t>
            </a:r>
          </a:p>
          <a:p>
            <a:pPr algn="just">
              <a:tabLst>
                <a:tab pos="10134600" algn="l"/>
              </a:tabLst>
            </a:pPr>
            <a:endParaRPr lang="fr-FR" sz="2000" dirty="0" smtClean="0">
              <a:solidFill>
                <a:schemeClr val="dk1"/>
              </a:solidFill>
              <a:latin typeface="Arial" pitchFamily="34" charset="0"/>
              <a:cs typeface="Arial" pitchFamily="34" charset="0"/>
            </a:endParaRPr>
          </a:p>
          <a:p>
            <a:pPr algn="just">
              <a:tabLst>
                <a:tab pos="10134600" algn="l"/>
              </a:tabLst>
            </a:pPr>
            <a:r>
              <a:rPr lang="fr-FR" sz="2000" dirty="0" smtClean="0">
                <a:solidFill>
                  <a:schemeClr val="dk1"/>
                </a:solidFill>
                <a:latin typeface="Arial" pitchFamily="34" charset="0"/>
                <a:cs typeface="Arial" pitchFamily="34" charset="0"/>
              </a:rPr>
              <a:t>L’entrepreneur est considéré comme le vecteur du développement, alors que l’innovation sera la clé de la stratégie de croissance des entreprises.</a:t>
            </a:r>
          </a:p>
        </p:txBody>
      </p:sp>
      <p:pic>
        <p:nvPicPr>
          <p:cNvPr id="6" name="Image 5"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7" name="Espace réservé de la date 6"/>
          <p:cNvSpPr>
            <a:spLocks noGrp="1"/>
          </p:cNvSpPr>
          <p:nvPr>
            <p:ph type="dt" sz="half" idx="10"/>
          </p:nvPr>
        </p:nvSpPr>
        <p:spPr/>
        <p:txBody>
          <a:bodyPr/>
          <a:lstStyle/>
          <a:p>
            <a:pPr lvl="0"/>
            <a:fld id="{FBFDD002-604B-4CCF-84DC-8B927208BFB2}" type="datetime1">
              <a:rPr lang="en-US" smtClean="0"/>
              <a:pPr lvl="0"/>
              <a:t>11/16/2025</a:t>
            </a:fld>
            <a:endParaRPr lang="en-US"/>
          </a:p>
        </p:txBody>
      </p:sp>
      <p:sp>
        <p:nvSpPr>
          <p:cNvPr id="8" name="Espace réservé du numéro de diapositive 7"/>
          <p:cNvSpPr>
            <a:spLocks noGrp="1"/>
          </p:cNvSpPr>
          <p:nvPr>
            <p:ph type="sldNum" sz="quarter" idx="12"/>
          </p:nvPr>
        </p:nvSpPr>
        <p:spPr/>
        <p:txBody>
          <a:bodyPr/>
          <a:lstStyle/>
          <a:p>
            <a:pPr lvl="0"/>
            <a:fld id="{2390AFF8-1E19-449A-AA82-B5E4E90108F1}" type="slidenum">
              <a:rPr lang="fr-FR" smtClean="0"/>
              <a:pPr lvl="0"/>
              <a:t>54</a:t>
            </a:fld>
            <a:endParaRPr lang="fr-F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64745" y="1655313"/>
            <a:ext cx="9039225" cy="369332"/>
          </a:xfrm>
          <a:prstGeom prst="rect">
            <a:avLst/>
          </a:prstGeom>
        </p:spPr>
        <p:txBody>
          <a:bodyPr wrap="square">
            <a:spAutoFit/>
          </a:bodyPr>
          <a:lstStyle/>
          <a:p>
            <a:r>
              <a:rPr lang="fr-FR" b="1" dirty="0" smtClean="0">
                <a:solidFill>
                  <a:srgbClr val="C00000"/>
                </a:solidFill>
                <a:latin typeface="Source Sans Pro"/>
              </a:rPr>
              <a:t>III- LES SOFT SKILS</a:t>
            </a:r>
          </a:p>
        </p:txBody>
      </p:sp>
      <p:sp>
        <p:nvSpPr>
          <p:cNvPr id="6" name="Rectangle 1"/>
          <p:cNvSpPr>
            <a:spLocks noChangeArrowheads="1"/>
          </p:cNvSpPr>
          <p:nvPr/>
        </p:nvSpPr>
        <p:spPr bwMode="auto">
          <a:xfrm>
            <a:off x="3234418" y="2611211"/>
            <a:ext cx="6753225" cy="1225868"/>
          </a:xfrm>
          <a:prstGeom prst="wedgeRoundRectCallout">
            <a:avLst/>
          </a:prstGeom>
          <a:ln>
            <a:headEnd/>
            <a:tailEnd/>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fr-FR" sz="2200" b="1" i="0" u="none" strike="noStrike" cap="none" normalizeH="0" baseline="0" dirty="0" smtClean="0">
                <a:ln>
                  <a:noFill/>
                </a:ln>
                <a:solidFill>
                  <a:srgbClr val="00B0F0"/>
                </a:solidFill>
                <a:effectLst/>
                <a:latin typeface="Calibri" pitchFamily="34" charset="0"/>
                <a:ea typeface="Calibri" pitchFamily="34" charset="0"/>
                <a:cs typeface="Arial" pitchFamily="34" charset="0"/>
              </a:rPr>
              <a:t> “L’innovateur est ingénieux et créatif. C’est un expérimentateur, un entrepreneur, un leader. C’est un agent du changement.”</a:t>
            </a:r>
            <a:endParaRPr kumimoji="0" lang="fr-FR" sz="1800" b="1" i="0" u="none" strike="noStrike" cap="none" normalizeH="0" baseline="0" dirty="0" smtClean="0">
              <a:ln>
                <a:noFill/>
              </a:ln>
              <a:solidFill>
                <a:schemeClr val="tx1"/>
              </a:solidFill>
              <a:effectLst/>
              <a:latin typeface="Arial" pitchFamily="34" charset="0"/>
              <a:cs typeface="Arial" pitchFamily="34" charset="0"/>
            </a:endParaRPr>
          </a:p>
        </p:txBody>
      </p:sp>
      <p:pic>
        <p:nvPicPr>
          <p:cNvPr id="5" name="Picture 2" descr="Innovation Skills"/>
          <p:cNvPicPr>
            <a:picLocks noChangeAspect="1" noChangeArrowheads="1"/>
          </p:cNvPicPr>
          <p:nvPr/>
        </p:nvPicPr>
        <p:blipFill>
          <a:blip r:embed="rId2"/>
          <a:srcRect/>
          <a:stretch>
            <a:fillRect/>
          </a:stretch>
        </p:blipFill>
        <p:spPr bwMode="auto">
          <a:xfrm>
            <a:off x="608693" y="2466974"/>
            <a:ext cx="1714500" cy="1600200"/>
          </a:xfrm>
          <a:prstGeom prst="rect">
            <a:avLst/>
          </a:prstGeom>
          <a:noFill/>
        </p:spPr>
      </p:pic>
      <p:pic>
        <p:nvPicPr>
          <p:cNvPr id="8" name="Image 7" descr="C:\Users\ma.mejri\Desktop\téléchargement (1).png"/>
          <p:cNvPicPr/>
          <p:nvPr/>
        </p:nvPicPr>
        <p:blipFill>
          <a:blip r:embed="rId3"/>
          <a:srcRect/>
          <a:stretch>
            <a:fillRect/>
          </a:stretch>
        </p:blipFill>
        <p:spPr bwMode="auto">
          <a:xfrm>
            <a:off x="984250" y="677182"/>
            <a:ext cx="1079500" cy="387350"/>
          </a:xfrm>
          <a:prstGeom prst="rect">
            <a:avLst/>
          </a:prstGeom>
          <a:noFill/>
          <a:ln w="9525">
            <a:noFill/>
            <a:miter lim="800000"/>
            <a:headEnd/>
            <a:tailEnd/>
          </a:ln>
        </p:spPr>
      </p:pic>
      <p:sp>
        <p:nvSpPr>
          <p:cNvPr id="7" name="Espace réservé de la date 6"/>
          <p:cNvSpPr>
            <a:spLocks noGrp="1"/>
          </p:cNvSpPr>
          <p:nvPr>
            <p:ph type="dt" sz="half" idx="10"/>
          </p:nvPr>
        </p:nvSpPr>
        <p:spPr/>
        <p:txBody>
          <a:bodyPr/>
          <a:lstStyle/>
          <a:p>
            <a:pPr lvl="0"/>
            <a:fld id="{B4DE5645-0570-4864-A3AC-8CE8CEEFD8C7}" type="datetime1">
              <a:rPr lang="en-US" smtClean="0"/>
              <a:pPr lvl="0"/>
              <a:t>11/16/2025</a:t>
            </a:fld>
            <a:endParaRPr lang="en-US"/>
          </a:p>
        </p:txBody>
      </p:sp>
      <p:sp>
        <p:nvSpPr>
          <p:cNvPr id="9" name="Espace réservé du numéro de diapositive 8"/>
          <p:cNvSpPr>
            <a:spLocks noGrp="1"/>
          </p:cNvSpPr>
          <p:nvPr>
            <p:ph type="sldNum" sz="quarter" idx="12"/>
          </p:nvPr>
        </p:nvSpPr>
        <p:spPr/>
        <p:txBody>
          <a:bodyPr/>
          <a:lstStyle/>
          <a:p>
            <a:pPr lvl="0"/>
            <a:fld id="{2390AFF8-1E19-449A-AA82-B5E4E90108F1}" type="slidenum">
              <a:rPr lang="fr-FR" smtClean="0"/>
              <a:pPr lvl="0"/>
              <a:t>55</a:t>
            </a:fld>
            <a:endParaRPr lang="fr-F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90575" y="1535222"/>
            <a:ext cx="10782300" cy="470898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lvl="1" algn="justLow" fontAlgn="base">
              <a:spcBef>
                <a:spcPct val="0"/>
              </a:spcBef>
              <a:spcAft>
                <a:spcPct val="0"/>
              </a:spcAft>
              <a:buClr>
                <a:srgbClr val="0066CC"/>
              </a:buClr>
              <a:tabLst>
                <a:tab pos="773113" algn="l"/>
              </a:tabLst>
            </a:pPr>
            <a:r>
              <a:rPr lang="fr-FR" sz="1600" b="1" dirty="0" smtClean="0">
                <a:solidFill>
                  <a:schemeClr val="accent2">
                    <a:lumMod val="75000"/>
                  </a:schemeClr>
                </a:solidFill>
                <a:latin typeface="Source Sans Pro"/>
              </a:rPr>
              <a:t>1- DEFINITION</a:t>
            </a:r>
          </a:p>
          <a:p>
            <a:pPr algn="just" fontAlgn="base">
              <a:spcBef>
                <a:spcPct val="0"/>
              </a:spcBef>
              <a:spcAft>
                <a:spcPct val="0"/>
              </a:spcAft>
            </a:pPr>
            <a:endParaRPr lang="fr-FR" sz="2000" dirty="0" smtClean="0">
              <a:latin typeface="Arial" pitchFamily="34" charset="0"/>
              <a:cs typeface="Arial" pitchFamily="34" charset="0"/>
            </a:endParaRPr>
          </a:p>
          <a:p>
            <a:pPr algn="just" fontAlgn="base">
              <a:spcBef>
                <a:spcPct val="0"/>
              </a:spcBef>
              <a:spcAft>
                <a:spcPct val="0"/>
              </a:spcAft>
            </a:pPr>
            <a:r>
              <a:rPr lang="fr-FR" sz="2000" dirty="0" smtClean="0">
                <a:latin typeface="Arial" pitchFamily="34" charset="0"/>
                <a:cs typeface="Arial" pitchFamily="34" charset="0"/>
              </a:rPr>
              <a:t>Les « </a:t>
            </a:r>
            <a:r>
              <a:rPr lang="fr-FR" sz="2000" b="1" dirty="0" smtClean="0">
                <a:latin typeface="Arial" pitchFamily="34" charset="0"/>
                <a:cs typeface="Arial" pitchFamily="34" charset="0"/>
              </a:rPr>
              <a:t>soft </a:t>
            </a:r>
            <a:r>
              <a:rPr lang="fr-FR" sz="2000" b="1" dirty="0" err="1" smtClean="0">
                <a:latin typeface="Arial" pitchFamily="34" charset="0"/>
                <a:cs typeface="Arial" pitchFamily="34" charset="0"/>
              </a:rPr>
              <a:t>skills</a:t>
            </a:r>
            <a:r>
              <a:rPr lang="fr-FR" sz="2000" b="1" dirty="0" smtClean="0">
                <a:latin typeface="Arial" pitchFamily="34" charset="0"/>
                <a:cs typeface="Arial" pitchFamily="34" charset="0"/>
              </a:rPr>
              <a:t> »</a:t>
            </a:r>
            <a:r>
              <a:rPr lang="fr-FR" sz="2000" dirty="0" smtClean="0">
                <a:latin typeface="Arial" pitchFamily="34" charset="0"/>
                <a:cs typeface="Arial" pitchFamily="34" charset="0"/>
              </a:rPr>
              <a:t>, ou compétences douces, désignent un ensemble de compétences interpersonnelles et comportementales qui influencent la manière dont une personne</a:t>
            </a:r>
            <a:br>
              <a:rPr lang="fr-FR" sz="2000" dirty="0" smtClean="0">
                <a:latin typeface="Arial" pitchFamily="34" charset="0"/>
                <a:cs typeface="Arial" pitchFamily="34" charset="0"/>
              </a:rPr>
            </a:br>
            <a:r>
              <a:rPr lang="fr-FR" sz="2000" dirty="0" smtClean="0">
                <a:latin typeface="Arial" pitchFamily="34" charset="0"/>
                <a:cs typeface="Arial" pitchFamily="34" charset="0"/>
              </a:rPr>
              <a:t>interagit avec les autres et s'adapte à son environnement. Contrairement aux « </a:t>
            </a:r>
            <a:r>
              <a:rPr lang="fr-FR" sz="2000" b="1" dirty="0" smtClean="0">
                <a:latin typeface="Arial" pitchFamily="34" charset="0"/>
                <a:cs typeface="Arial" pitchFamily="34" charset="0"/>
              </a:rPr>
              <a:t>hard </a:t>
            </a:r>
            <a:r>
              <a:rPr lang="fr-FR" sz="2000" b="1" dirty="0" err="1" smtClean="0">
                <a:latin typeface="Arial" pitchFamily="34" charset="0"/>
                <a:cs typeface="Arial" pitchFamily="34" charset="0"/>
              </a:rPr>
              <a:t>skills</a:t>
            </a:r>
            <a:r>
              <a:rPr lang="fr-FR" sz="2000" b="1" dirty="0" smtClean="0">
                <a:latin typeface="Arial" pitchFamily="34" charset="0"/>
                <a:cs typeface="Arial" pitchFamily="34" charset="0"/>
              </a:rPr>
              <a:t> </a:t>
            </a:r>
            <a:r>
              <a:rPr lang="fr-FR" sz="2000" dirty="0" smtClean="0">
                <a:latin typeface="Arial" pitchFamily="34" charset="0"/>
                <a:cs typeface="Arial" pitchFamily="34" charset="0"/>
              </a:rPr>
              <a:t>», qui sont des compétences techniques et spécifiques à un domaine (comme</a:t>
            </a:r>
            <a:br>
              <a:rPr lang="fr-FR" sz="2000" dirty="0" smtClean="0">
                <a:latin typeface="Arial" pitchFamily="34" charset="0"/>
                <a:cs typeface="Arial" pitchFamily="34" charset="0"/>
              </a:rPr>
            </a:br>
            <a:r>
              <a:rPr lang="fr-FR" sz="2000" dirty="0" smtClean="0">
                <a:latin typeface="Arial" pitchFamily="34" charset="0"/>
                <a:cs typeface="Arial" pitchFamily="34" charset="0"/>
              </a:rPr>
              <a:t>la programmation, la comptabilité, etc.), les soft </a:t>
            </a:r>
            <a:r>
              <a:rPr lang="fr-FR" sz="2000" dirty="0" err="1" smtClean="0">
                <a:latin typeface="Arial" pitchFamily="34" charset="0"/>
                <a:cs typeface="Arial" pitchFamily="34" charset="0"/>
              </a:rPr>
              <a:t>skills</a:t>
            </a:r>
            <a:r>
              <a:rPr lang="fr-FR" sz="2000" dirty="0" smtClean="0">
                <a:latin typeface="Arial" pitchFamily="34" charset="0"/>
                <a:cs typeface="Arial" pitchFamily="34" charset="0"/>
              </a:rPr>
              <a:t> incluent des qualités telles que :</a:t>
            </a:r>
          </a:p>
          <a:p>
            <a:pPr algn="just" fontAlgn="base">
              <a:spcBef>
                <a:spcPct val="0"/>
              </a:spcBef>
              <a:spcAft>
                <a:spcPct val="0"/>
              </a:spcAft>
            </a:pPr>
            <a:r>
              <a:rPr lang="fr-FR" sz="2000" dirty="0" smtClean="0">
                <a:latin typeface="Arial" pitchFamily="34" charset="0"/>
                <a:cs typeface="Arial" pitchFamily="34" charset="0"/>
              </a:rPr>
              <a:t/>
            </a:r>
            <a:br>
              <a:rPr lang="fr-FR" sz="2000" dirty="0" smtClean="0">
                <a:latin typeface="Arial" pitchFamily="34" charset="0"/>
                <a:cs typeface="Arial" pitchFamily="34" charset="0"/>
              </a:rPr>
            </a:br>
            <a:r>
              <a:rPr lang="fr-FR" sz="2000" b="1" dirty="0" smtClean="0">
                <a:latin typeface="Arial" pitchFamily="34" charset="0"/>
                <a:cs typeface="Arial" pitchFamily="34" charset="0"/>
              </a:rPr>
              <a:t>- La communication </a:t>
            </a:r>
            <a:r>
              <a:rPr lang="fr-FR" sz="2000" dirty="0" smtClean="0">
                <a:latin typeface="Arial" pitchFamily="34" charset="0"/>
                <a:cs typeface="Arial" pitchFamily="34" charset="0"/>
              </a:rPr>
              <a:t>: capacité à exprimer des idées clairement et à écouter les autres.</a:t>
            </a:r>
          </a:p>
          <a:p>
            <a:pPr algn="just" fontAlgn="base">
              <a:spcBef>
                <a:spcPct val="0"/>
              </a:spcBef>
              <a:spcAft>
                <a:spcPct val="0"/>
              </a:spcAft>
              <a:buFontTx/>
              <a:buChar char="-"/>
            </a:pPr>
            <a:r>
              <a:rPr lang="fr-FR" sz="2000" dirty="0" smtClean="0">
                <a:latin typeface="Arial" pitchFamily="34" charset="0"/>
                <a:cs typeface="Arial" pitchFamily="34" charset="0"/>
              </a:rPr>
              <a:t> </a:t>
            </a:r>
            <a:r>
              <a:rPr lang="fr-FR" sz="2000" b="1" dirty="0" smtClean="0">
                <a:latin typeface="Arial" pitchFamily="34" charset="0"/>
                <a:cs typeface="Arial" pitchFamily="34" charset="0"/>
              </a:rPr>
              <a:t>Le travail en équipe </a:t>
            </a:r>
            <a:r>
              <a:rPr lang="fr-FR" sz="2000" dirty="0" smtClean="0">
                <a:latin typeface="Arial" pitchFamily="34" charset="0"/>
                <a:cs typeface="Arial" pitchFamily="34" charset="0"/>
              </a:rPr>
              <a:t>: aptitude à collaborer efficacement avec d'autres.</a:t>
            </a:r>
          </a:p>
          <a:p>
            <a:pPr fontAlgn="base">
              <a:spcBef>
                <a:spcPct val="0"/>
              </a:spcBef>
              <a:spcAft>
                <a:spcPct val="0"/>
              </a:spcAft>
            </a:pPr>
            <a:r>
              <a:rPr lang="fr-FR" sz="2000" dirty="0" smtClean="0">
                <a:latin typeface="Arial" pitchFamily="34" charset="0"/>
                <a:cs typeface="Arial" pitchFamily="34" charset="0"/>
              </a:rPr>
              <a:t>- </a:t>
            </a:r>
            <a:r>
              <a:rPr lang="fr-FR" sz="2000" b="1" dirty="0" smtClean="0">
                <a:latin typeface="Arial" pitchFamily="34" charset="0"/>
                <a:cs typeface="Arial" pitchFamily="34" charset="0"/>
              </a:rPr>
              <a:t>La créativité </a:t>
            </a:r>
            <a:r>
              <a:rPr lang="fr-FR" sz="2000" dirty="0" smtClean="0">
                <a:latin typeface="Arial" pitchFamily="34" charset="0"/>
                <a:cs typeface="Arial" pitchFamily="34" charset="0"/>
              </a:rPr>
              <a:t>: capacité à penser de manière innovante et à générer de nouvelles idées.</a:t>
            </a:r>
          </a:p>
          <a:p>
            <a:pPr algn="just" fontAlgn="base">
              <a:spcBef>
                <a:spcPct val="0"/>
              </a:spcBef>
              <a:spcAft>
                <a:spcPct val="0"/>
              </a:spcAft>
              <a:buFontTx/>
              <a:buChar char="-"/>
            </a:pPr>
            <a:r>
              <a:rPr lang="fr-FR" sz="2000" dirty="0" smtClean="0">
                <a:latin typeface="Arial" pitchFamily="34" charset="0"/>
                <a:cs typeface="Arial" pitchFamily="34" charset="0"/>
              </a:rPr>
              <a:t> </a:t>
            </a:r>
            <a:r>
              <a:rPr lang="fr-FR" sz="2000" b="1" dirty="0" smtClean="0">
                <a:latin typeface="Arial" pitchFamily="34" charset="0"/>
                <a:cs typeface="Arial" pitchFamily="34" charset="0"/>
              </a:rPr>
              <a:t>La résolution de problèmes </a:t>
            </a:r>
            <a:r>
              <a:rPr lang="fr-FR" sz="2000" dirty="0" smtClean="0">
                <a:latin typeface="Arial" pitchFamily="34" charset="0"/>
                <a:cs typeface="Arial" pitchFamily="34" charset="0"/>
              </a:rPr>
              <a:t>: compétence à identifier des problèmes et à trouver des solutions.</a:t>
            </a:r>
          </a:p>
          <a:p>
            <a:pPr fontAlgn="base">
              <a:spcBef>
                <a:spcPct val="0"/>
              </a:spcBef>
              <a:spcAft>
                <a:spcPct val="0"/>
              </a:spcAft>
            </a:pPr>
            <a:r>
              <a:rPr lang="fr-FR" sz="2000" dirty="0" smtClean="0">
                <a:latin typeface="Arial" pitchFamily="34" charset="0"/>
                <a:cs typeface="Arial" pitchFamily="34" charset="0"/>
              </a:rPr>
              <a:t>- </a:t>
            </a:r>
            <a:r>
              <a:rPr lang="fr-FR" sz="2000" b="1" dirty="0" smtClean="0">
                <a:latin typeface="Arial" pitchFamily="34" charset="0"/>
                <a:cs typeface="Arial" pitchFamily="34" charset="0"/>
              </a:rPr>
              <a:t>L'empathie</a:t>
            </a:r>
            <a:r>
              <a:rPr lang="fr-FR" sz="2000" dirty="0" smtClean="0">
                <a:latin typeface="Arial" pitchFamily="34" charset="0"/>
                <a:cs typeface="Arial" pitchFamily="34" charset="0"/>
              </a:rPr>
              <a:t> : capacité à comprendre et à partager les sentiments des autres.</a:t>
            </a:r>
            <a:br>
              <a:rPr lang="fr-FR" sz="2000" dirty="0" smtClean="0">
                <a:latin typeface="Arial" pitchFamily="34" charset="0"/>
                <a:cs typeface="Arial" pitchFamily="34" charset="0"/>
              </a:rPr>
            </a:br>
            <a:r>
              <a:rPr lang="fr-FR" sz="2000" b="1" dirty="0" smtClean="0">
                <a:latin typeface="Arial" pitchFamily="34" charset="0"/>
                <a:cs typeface="Arial" pitchFamily="34" charset="0"/>
              </a:rPr>
              <a:t>- L'adaptabilité </a:t>
            </a:r>
            <a:r>
              <a:rPr lang="fr-FR" sz="2000" dirty="0" smtClean="0">
                <a:latin typeface="Arial" pitchFamily="34" charset="0"/>
                <a:cs typeface="Arial" pitchFamily="34" charset="0"/>
              </a:rPr>
              <a:t>: aptitude à s'ajuster aux changements et à faire face à l'incertitude</a:t>
            </a:r>
          </a:p>
        </p:txBody>
      </p:sp>
      <p:pic>
        <p:nvPicPr>
          <p:cNvPr id="4" name="Image 3"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6" name="Espace réservé de la date 5"/>
          <p:cNvSpPr>
            <a:spLocks noGrp="1"/>
          </p:cNvSpPr>
          <p:nvPr>
            <p:ph type="dt" sz="half" idx="10"/>
          </p:nvPr>
        </p:nvSpPr>
        <p:spPr/>
        <p:txBody>
          <a:bodyPr/>
          <a:lstStyle/>
          <a:p>
            <a:pPr lvl="0"/>
            <a:fld id="{923A98AF-5A17-4611-B2AF-CACDC96BF191}" type="datetime1">
              <a:rPr lang="en-US" smtClean="0"/>
              <a:pPr lvl="0"/>
              <a:t>11/16/2025</a:t>
            </a:fld>
            <a:endParaRPr lang="en-US"/>
          </a:p>
        </p:txBody>
      </p:sp>
      <p:sp>
        <p:nvSpPr>
          <p:cNvPr id="7" name="Espace réservé du numéro de diapositive 6"/>
          <p:cNvSpPr>
            <a:spLocks noGrp="1"/>
          </p:cNvSpPr>
          <p:nvPr>
            <p:ph type="sldNum" sz="quarter" idx="12"/>
          </p:nvPr>
        </p:nvSpPr>
        <p:spPr/>
        <p:txBody>
          <a:bodyPr/>
          <a:lstStyle/>
          <a:p>
            <a:pPr lvl="0"/>
            <a:fld id="{2390AFF8-1E19-449A-AA82-B5E4E90108F1}" type="slidenum">
              <a:rPr lang="fr-FR" smtClean="0"/>
              <a:pPr lvl="0"/>
              <a:t>56</a:t>
            </a:fld>
            <a:endParaRPr lang="fr-F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45003" y="1702253"/>
            <a:ext cx="10677525" cy="455509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lvl="1" algn="justLow" fontAlgn="base">
              <a:spcBef>
                <a:spcPct val="0"/>
              </a:spcBef>
              <a:spcAft>
                <a:spcPct val="0"/>
              </a:spcAft>
              <a:buClr>
                <a:srgbClr val="0066CC"/>
              </a:buClr>
              <a:tabLst>
                <a:tab pos="773113" algn="l"/>
              </a:tabLst>
            </a:pPr>
            <a:r>
              <a:rPr lang="fr-FR" sz="1600" b="1" dirty="0" smtClean="0">
                <a:solidFill>
                  <a:schemeClr val="accent2">
                    <a:lumMod val="75000"/>
                  </a:schemeClr>
                </a:solidFill>
                <a:latin typeface="Source Sans Pro"/>
              </a:rPr>
              <a:t>2- IMPORTANCE DES SOFT SKILLS DANS UNE DEMARCHE D’INNOVATION</a:t>
            </a:r>
          </a:p>
          <a:p>
            <a:pPr algn="just"/>
            <a:r>
              <a:rPr lang="fr-FR" dirty="0" smtClean="0"/>
              <a:t> </a:t>
            </a:r>
          </a:p>
          <a:p>
            <a:pPr algn="just">
              <a:buFont typeface="Wingdings" pitchFamily="2" charset="2"/>
              <a:buChar char="v"/>
            </a:pPr>
            <a:r>
              <a:rPr lang="fr-FR" sz="2000" b="1" dirty="0" smtClean="0">
                <a:latin typeface="Arial" pitchFamily="34" charset="0"/>
                <a:cs typeface="Arial" pitchFamily="34" charset="0"/>
              </a:rPr>
              <a:t>Facilitation de la Collaboration </a:t>
            </a:r>
            <a:r>
              <a:rPr lang="fr-FR" sz="2000" dirty="0" smtClean="0">
                <a:latin typeface="Arial" pitchFamily="34" charset="0"/>
                <a:cs typeface="Arial" pitchFamily="34" charset="0"/>
              </a:rPr>
              <a:t>: L'innovation nécessite souvent le travail d'équipes pluridisciplinaires. Les soft </a:t>
            </a:r>
            <a:r>
              <a:rPr lang="fr-FR" sz="2000" dirty="0" err="1" smtClean="0">
                <a:latin typeface="Arial" pitchFamily="34" charset="0"/>
                <a:cs typeface="Arial" pitchFamily="34" charset="0"/>
              </a:rPr>
              <a:t>skills</a:t>
            </a:r>
            <a:r>
              <a:rPr lang="fr-FR" sz="2000" dirty="0" smtClean="0">
                <a:latin typeface="Arial" pitchFamily="34" charset="0"/>
                <a:cs typeface="Arial" pitchFamily="34" charset="0"/>
              </a:rPr>
              <a:t>, comme la communication et le travail en équipe, sont essentielles pour favoriser un environnement collaboratif où les idées peuvent être partagées librement.</a:t>
            </a:r>
          </a:p>
          <a:p>
            <a:pPr algn="just"/>
            <a:endParaRPr lang="fr-FR" sz="800" dirty="0" smtClean="0">
              <a:latin typeface="Arial" pitchFamily="34" charset="0"/>
              <a:cs typeface="Arial" pitchFamily="34" charset="0"/>
            </a:endParaRPr>
          </a:p>
          <a:p>
            <a:pPr algn="just">
              <a:buFont typeface="Wingdings" pitchFamily="2" charset="2"/>
              <a:buChar char="v"/>
            </a:pPr>
            <a:r>
              <a:rPr lang="fr-FR" sz="2000" b="1" dirty="0" smtClean="0">
                <a:latin typeface="Arial" pitchFamily="34" charset="0"/>
                <a:cs typeface="Arial" pitchFamily="34" charset="0"/>
              </a:rPr>
              <a:t>Encouragement de la Créativité </a:t>
            </a:r>
            <a:r>
              <a:rPr lang="fr-FR" sz="2000" dirty="0" smtClean="0">
                <a:latin typeface="Arial" pitchFamily="34" charset="0"/>
                <a:cs typeface="Arial" pitchFamily="34" charset="0"/>
              </a:rPr>
              <a:t>: Les soft </a:t>
            </a:r>
            <a:r>
              <a:rPr lang="fr-FR" sz="2000" dirty="0" err="1" smtClean="0">
                <a:latin typeface="Arial" pitchFamily="34" charset="0"/>
                <a:cs typeface="Arial" pitchFamily="34" charset="0"/>
              </a:rPr>
              <a:t>skills</a:t>
            </a:r>
            <a:r>
              <a:rPr lang="fr-FR" sz="2000" dirty="0" smtClean="0">
                <a:latin typeface="Arial" pitchFamily="34" charset="0"/>
                <a:cs typeface="Arial" pitchFamily="34" charset="0"/>
              </a:rPr>
              <a:t>, notamment la créativité et l'ouverture d'esprit, permettent aux individus de penser en dehors des sentiers</a:t>
            </a:r>
            <a:br>
              <a:rPr lang="fr-FR" sz="2000" dirty="0" smtClean="0">
                <a:latin typeface="Arial" pitchFamily="34" charset="0"/>
                <a:cs typeface="Arial" pitchFamily="34" charset="0"/>
              </a:rPr>
            </a:br>
            <a:r>
              <a:rPr lang="fr-FR" sz="2000" dirty="0" smtClean="0">
                <a:latin typeface="Arial" pitchFamily="34" charset="0"/>
                <a:cs typeface="Arial" pitchFamily="34" charset="0"/>
              </a:rPr>
              <a:t>battus. Cela est crucial pour générer des idées novatrices et trouver des solutions uniques aux problèmes.</a:t>
            </a:r>
          </a:p>
          <a:p>
            <a:pPr algn="just"/>
            <a:endParaRPr lang="fr-FR" sz="800" dirty="0" smtClean="0">
              <a:latin typeface="Arial" pitchFamily="34" charset="0"/>
              <a:cs typeface="Arial" pitchFamily="34" charset="0"/>
            </a:endParaRPr>
          </a:p>
          <a:p>
            <a:pPr algn="just">
              <a:buFont typeface="Wingdings" pitchFamily="2" charset="2"/>
              <a:buChar char="v"/>
            </a:pPr>
            <a:r>
              <a:rPr lang="fr-FR" sz="2000" b="1" dirty="0" smtClean="0">
                <a:latin typeface="Arial" pitchFamily="34" charset="0"/>
                <a:cs typeface="Arial" pitchFamily="34" charset="0"/>
              </a:rPr>
              <a:t>Gestion du Changement </a:t>
            </a:r>
            <a:r>
              <a:rPr lang="fr-FR" sz="2000" dirty="0" smtClean="0">
                <a:latin typeface="Arial" pitchFamily="34" charset="0"/>
                <a:cs typeface="Arial" pitchFamily="34" charset="0"/>
              </a:rPr>
              <a:t>: L'innovation implique souvent des changements dans les processus, les produits ou les services. Les compétences d'adaptabilité et</a:t>
            </a:r>
            <a:br>
              <a:rPr lang="fr-FR" sz="2000" dirty="0" smtClean="0">
                <a:latin typeface="Arial" pitchFamily="34" charset="0"/>
                <a:cs typeface="Arial" pitchFamily="34" charset="0"/>
              </a:rPr>
            </a:br>
            <a:r>
              <a:rPr lang="fr-FR" sz="2000" dirty="0" smtClean="0">
                <a:latin typeface="Arial" pitchFamily="34" charset="0"/>
                <a:cs typeface="Arial" pitchFamily="34" charset="0"/>
              </a:rPr>
              <a:t>de gestion du stress aident les équipes à naviguer dans ces transitions et à rester productives.</a:t>
            </a:r>
            <a:endParaRPr lang="fr-FR" dirty="0"/>
          </a:p>
        </p:txBody>
      </p:sp>
      <p:pic>
        <p:nvPicPr>
          <p:cNvPr id="4" name="Image 3"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5" name="Espace réservé de la date 4"/>
          <p:cNvSpPr>
            <a:spLocks noGrp="1"/>
          </p:cNvSpPr>
          <p:nvPr>
            <p:ph type="dt" sz="half" idx="10"/>
          </p:nvPr>
        </p:nvSpPr>
        <p:spPr/>
        <p:txBody>
          <a:bodyPr/>
          <a:lstStyle/>
          <a:p>
            <a:pPr lvl="0"/>
            <a:fld id="{BE0F5133-AF46-4CED-9CDD-DEF8A276C2BC}" type="datetime1">
              <a:rPr lang="en-US" smtClean="0"/>
              <a:pPr lvl="0"/>
              <a:t>11/16/2025</a:t>
            </a:fld>
            <a:endParaRPr lang="en-US"/>
          </a:p>
        </p:txBody>
      </p:sp>
      <p:sp>
        <p:nvSpPr>
          <p:cNvPr id="6" name="Espace réservé du numéro de diapositive 5"/>
          <p:cNvSpPr>
            <a:spLocks noGrp="1"/>
          </p:cNvSpPr>
          <p:nvPr>
            <p:ph type="sldNum" sz="quarter" idx="12"/>
          </p:nvPr>
        </p:nvSpPr>
        <p:spPr/>
        <p:txBody>
          <a:bodyPr/>
          <a:lstStyle/>
          <a:p>
            <a:pPr lvl="0"/>
            <a:fld id="{2390AFF8-1E19-449A-AA82-B5E4E90108F1}" type="slidenum">
              <a:rPr lang="fr-FR" smtClean="0"/>
              <a:pPr lvl="0"/>
              <a:t>57</a:t>
            </a:fld>
            <a:endParaRPr lang="fr-F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2563" y="1464392"/>
            <a:ext cx="10610850" cy="526297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buFont typeface="Wingdings" pitchFamily="2" charset="2"/>
              <a:buChar char="v"/>
            </a:pPr>
            <a:r>
              <a:rPr lang="fr-FR" sz="2000" b="1" dirty="0" smtClean="0">
                <a:latin typeface="Arial" pitchFamily="34" charset="0"/>
                <a:cs typeface="Arial" pitchFamily="34" charset="0"/>
              </a:rPr>
              <a:t> Résolution de Conflits </a:t>
            </a:r>
            <a:r>
              <a:rPr lang="fr-FR" sz="2000" dirty="0" smtClean="0">
                <a:latin typeface="Arial" pitchFamily="34" charset="0"/>
                <a:cs typeface="Arial" pitchFamily="34" charset="0"/>
              </a:rPr>
              <a:t>: Dans un environnement innovant, des divergences d'opinion peuvent survenir. Les compétences en résolution de conflits et en empathie</a:t>
            </a:r>
            <a:br>
              <a:rPr lang="fr-FR" sz="2000" dirty="0" smtClean="0">
                <a:latin typeface="Arial" pitchFamily="34" charset="0"/>
                <a:cs typeface="Arial" pitchFamily="34" charset="0"/>
              </a:rPr>
            </a:br>
            <a:r>
              <a:rPr lang="fr-FR" sz="2000" dirty="0" smtClean="0">
                <a:latin typeface="Arial" pitchFamily="34" charset="0"/>
                <a:cs typeface="Arial" pitchFamily="34" charset="0"/>
              </a:rPr>
              <a:t>permettent de gérer ces situations de manière constructive, en transformant les désaccords en opportunités d'apprentissage.</a:t>
            </a:r>
          </a:p>
          <a:p>
            <a:pPr algn="just"/>
            <a:endParaRPr lang="fr-FR" sz="800" dirty="0" smtClean="0">
              <a:latin typeface="Arial" pitchFamily="34" charset="0"/>
              <a:cs typeface="Arial" pitchFamily="34" charset="0"/>
            </a:endParaRPr>
          </a:p>
          <a:p>
            <a:pPr algn="just">
              <a:buFont typeface="Wingdings" pitchFamily="2" charset="2"/>
              <a:buChar char="v"/>
            </a:pPr>
            <a:r>
              <a:rPr lang="fr-FR" sz="2000" b="1" dirty="0" smtClean="0">
                <a:latin typeface="Arial" pitchFamily="34" charset="0"/>
                <a:cs typeface="Arial" pitchFamily="34" charset="0"/>
              </a:rPr>
              <a:t> Leadership Inspirant </a:t>
            </a:r>
            <a:r>
              <a:rPr lang="fr-FR" sz="2000" dirty="0" smtClean="0">
                <a:latin typeface="Arial" pitchFamily="34" charset="0"/>
                <a:cs typeface="Arial" pitchFamily="34" charset="0"/>
              </a:rPr>
              <a:t>: Les leaders qui possèdent des soft </a:t>
            </a:r>
            <a:r>
              <a:rPr lang="fr-FR" sz="2000" dirty="0" err="1" smtClean="0">
                <a:latin typeface="Arial" pitchFamily="34" charset="0"/>
                <a:cs typeface="Arial" pitchFamily="34" charset="0"/>
              </a:rPr>
              <a:t>skills</a:t>
            </a:r>
            <a:r>
              <a:rPr lang="fr-FR" sz="2000" dirty="0" smtClean="0">
                <a:latin typeface="Arial" pitchFamily="34" charset="0"/>
                <a:cs typeface="Arial" pitchFamily="34" charset="0"/>
              </a:rPr>
              <a:t> solides sont mieux équipés pour inspirer et motiver leurs équipes. Un bon leader sait</a:t>
            </a:r>
            <a:br>
              <a:rPr lang="fr-FR" sz="2000" dirty="0" smtClean="0">
                <a:latin typeface="Arial" pitchFamily="34" charset="0"/>
                <a:cs typeface="Arial" pitchFamily="34" charset="0"/>
              </a:rPr>
            </a:br>
            <a:r>
              <a:rPr lang="fr-FR" sz="2000" dirty="0" smtClean="0">
                <a:latin typeface="Arial" pitchFamily="34" charset="0"/>
                <a:cs typeface="Arial" pitchFamily="34" charset="0"/>
              </a:rPr>
              <a:t>comment encourager la participation et valoriser les contributions de chacun, ce qui est essentiel pour une culture d'innovation.</a:t>
            </a:r>
          </a:p>
          <a:p>
            <a:pPr algn="just"/>
            <a:endParaRPr lang="fr-FR" sz="800" dirty="0" smtClean="0">
              <a:latin typeface="Arial" pitchFamily="34" charset="0"/>
              <a:cs typeface="Arial" pitchFamily="34" charset="0"/>
            </a:endParaRPr>
          </a:p>
          <a:p>
            <a:pPr algn="just">
              <a:buFont typeface="Wingdings" pitchFamily="2" charset="2"/>
              <a:buChar char="v"/>
            </a:pPr>
            <a:r>
              <a:rPr lang="fr-FR" sz="2000" b="1" dirty="0" smtClean="0">
                <a:latin typeface="Arial" pitchFamily="34" charset="0"/>
                <a:cs typeface="Arial" pitchFamily="34" charset="0"/>
              </a:rPr>
              <a:t> Amélioration de l'Engagement </a:t>
            </a:r>
            <a:r>
              <a:rPr lang="fr-FR" sz="2000" dirty="0" smtClean="0">
                <a:latin typeface="Arial" pitchFamily="34" charset="0"/>
                <a:cs typeface="Arial" pitchFamily="34" charset="0"/>
              </a:rPr>
              <a:t>: Les employés qui se sentent écoutés et valorisés sont plus susceptibles de s'engager dans le processus d'innovation. Les</a:t>
            </a:r>
            <a:br>
              <a:rPr lang="fr-FR" sz="2000" dirty="0" smtClean="0">
                <a:latin typeface="Arial" pitchFamily="34" charset="0"/>
                <a:cs typeface="Arial" pitchFamily="34" charset="0"/>
              </a:rPr>
            </a:br>
            <a:r>
              <a:rPr lang="fr-FR" sz="2000" dirty="0" smtClean="0">
                <a:latin typeface="Arial" pitchFamily="34" charset="0"/>
                <a:cs typeface="Arial" pitchFamily="34" charset="0"/>
              </a:rPr>
              <a:t>soft </a:t>
            </a:r>
            <a:r>
              <a:rPr lang="fr-FR" sz="2000" dirty="0" err="1" smtClean="0">
                <a:latin typeface="Arial" pitchFamily="34" charset="0"/>
                <a:cs typeface="Arial" pitchFamily="34" charset="0"/>
              </a:rPr>
              <a:t>skills</a:t>
            </a:r>
            <a:r>
              <a:rPr lang="fr-FR" sz="2000" dirty="0" smtClean="0">
                <a:latin typeface="Arial" pitchFamily="34" charset="0"/>
                <a:cs typeface="Arial" pitchFamily="34" charset="0"/>
              </a:rPr>
              <a:t> favorisent un environnement de travail positif où chacun se sent impliqué.</a:t>
            </a:r>
          </a:p>
          <a:p>
            <a:pPr algn="just"/>
            <a:endParaRPr lang="fr-FR" sz="800" b="1" dirty="0" smtClean="0">
              <a:latin typeface="Arial" pitchFamily="34" charset="0"/>
              <a:cs typeface="Arial" pitchFamily="34" charset="0"/>
            </a:endParaRPr>
          </a:p>
          <a:p>
            <a:pPr algn="just">
              <a:buFont typeface="Wingdings" pitchFamily="2" charset="2"/>
              <a:buChar char="v"/>
            </a:pPr>
            <a:r>
              <a:rPr lang="fr-FR" sz="2000" b="1" dirty="0" smtClean="0">
                <a:latin typeface="Arial" pitchFamily="34" charset="0"/>
                <a:cs typeface="Arial" pitchFamily="34" charset="0"/>
              </a:rPr>
              <a:t>Adaptation aux Retours </a:t>
            </a:r>
            <a:r>
              <a:rPr lang="fr-FR" sz="2000" dirty="0" smtClean="0">
                <a:latin typeface="Arial" pitchFamily="34" charset="0"/>
                <a:cs typeface="Arial" pitchFamily="34" charset="0"/>
              </a:rPr>
              <a:t>: L'innovation implique souvent des essais et des erreurs. Les compétences en feedback et en écoute active permettent aux équipes</a:t>
            </a:r>
            <a:br>
              <a:rPr lang="fr-FR" sz="2000" dirty="0" smtClean="0">
                <a:latin typeface="Arial" pitchFamily="34" charset="0"/>
                <a:cs typeface="Arial" pitchFamily="34" charset="0"/>
              </a:rPr>
            </a:br>
            <a:r>
              <a:rPr lang="fr-FR" sz="2000" dirty="0" smtClean="0">
                <a:latin typeface="Arial" pitchFamily="34" charset="0"/>
                <a:cs typeface="Arial" pitchFamily="34" charset="0"/>
              </a:rPr>
              <a:t>de s'ajuster rapidement en fonction des retours reçus, améliorant ainsi le processus d'innovation.</a:t>
            </a:r>
            <a:endParaRPr lang="fr-FR" dirty="0"/>
          </a:p>
        </p:txBody>
      </p:sp>
      <p:pic>
        <p:nvPicPr>
          <p:cNvPr id="4" name="Image 3"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5" name="Espace réservé de la date 4"/>
          <p:cNvSpPr>
            <a:spLocks noGrp="1"/>
          </p:cNvSpPr>
          <p:nvPr>
            <p:ph type="dt" sz="half" idx="10"/>
          </p:nvPr>
        </p:nvSpPr>
        <p:spPr/>
        <p:txBody>
          <a:bodyPr/>
          <a:lstStyle/>
          <a:p>
            <a:pPr lvl="0"/>
            <a:fld id="{D18C1F5E-6E3E-4825-8364-76B38721018E}" type="datetime1">
              <a:rPr lang="en-US" smtClean="0"/>
              <a:pPr lvl="0"/>
              <a:t>11/16/2025</a:t>
            </a:fld>
            <a:endParaRPr lang="en-US"/>
          </a:p>
        </p:txBody>
      </p:sp>
      <p:sp>
        <p:nvSpPr>
          <p:cNvPr id="6" name="Espace réservé du numéro de diapositive 5"/>
          <p:cNvSpPr>
            <a:spLocks noGrp="1"/>
          </p:cNvSpPr>
          <p:nvPr>
            <p:ph type="sldNum" sz="quarter" idx="12"/>
          </p:nvPr>
        </p:nvSpPr>
        <p:spPr/>
        <p:txBody>
          <a:bodyPr/>
          <a:lstStyle/>
          <a:p>
            <a:pPr lvl="0"/>
            <a:fld id="{2390AFF8-1E19-449A-AA82-B5E4E90108F1}" type="slidenum">
              <a:rPr lang="fr-FR" smtClean="0"/>
              <a:pPr lvl="0"/>
              <a:t>58</a:t>
            </a:fld>
            <a:endParaRPr lang="fr-F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à coins arrondis 2"/>
          <p:cNvSpPr/>
          <p:nvPr/>
        </p:nvSpPr>
        <p:spPr>
          <a:xfrm>
            <a:off x="1389289" y="1475031"/>
            <a:ext cx="8782050" cy="3439239"/>
          </a:xfrm>
          <a:prstGeom prst="round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dirty="0" smtClean="0"/>
              <a:t/>
            </a:r>
            <a:br>
              <a:rPr lang="fr-FR" dirty="0" smtClean="0"/>
            </a:br>
            <a:r>
              <a:rPr lang="fr-FR" dirty="0" smtClean="0"/>
              <a:t/>
            </a:r>
            <a:br>
              <a:rPr lang="fr-FR" dirty="0" smtClean="0"/>
            </a:br>
            <a:r>
              <a:rPr lang="fr-FR" sz="2000" b="1" dirty="0" smtClean="0">
                <a:solidFill>
                  <a:schemeClr val="dk1"/>
                </a:solidFill>
                <a:latin typeface="Arial" pitchFamily="34" charset="0"/>
                <a:cs typeface="Arial" pitchFamily="34" charset="0"/>
              </a:rPr>
              <a:t>Les soft </a:t>
            </a:r>
            <a:r>
              <a:rPr lang="fr-FR" sz="2000" b="1" dirty="0" err="1" smtClean="0">
                <a:solidFill>
                  <a:schemeClr val="dk1"/>
                </a:solidFill>
                <a:latin typeface="Arial" pitchFamily="34" charset="0"/>
                <a:cs typeface="Arial" pitchFamily="34" charset="0"/>
              </a:rPr>
              <a:t>skills</a:t>
            </a:r>
            <a:r>
              <a:rPr lang="fr-FR" sz="2000" b="1" dirty="0" smtClean="0">
                <a:solidFill>
                  <a:schemeClr val="dk1"/>
                </a:solidFill>
                <a:latin typeface="Arial" pitchFamily="34" charset="0"/>
                <a:cs typeface="Arial" pitchFamily="34" charset="0"/>
              </a:rPr>
              <a:t> jouent un rôle crucial dans une démarche d'innovation. Elles favorisent la collaboration, la créativité, et la résilience, permettant aux équipes</a:t>
            </a:r>
            <a:br>
              <a:rPr lang="fr-FR" sz="2000" b="1" dirty="0" smtClean="0">
                <a:solidFill>
                  <a:schemeClr val="dk1"/>
                </a:solidFill>
                <a:latin typeface="Arial" pitchFamily="34" charset="0"/>
                <a:cs typeface="Arial" pitchFamily="34" charset="0"/>
              </a:rPr>
            </a:br>
            <a:r>
              <a:rPr lang="fr-FR" sz="2000" b="1" dirty="0" smtClean="0">
                <a:solidFill>
                  <a:schemeClr val="dk1"/>
                </a:solidFill>
                <a:latin typeface="Arial" pitchFamily="34" charset="0"/>
                <a:cs typeface="Arial" pitchFamily="34" charset="0"/>
              </a:rPr>
              <a:t>de surmonter les défis et de tirer parti des opportunités. Dans un monde en constante évolution, le développement de ces compétences est essentiel pour réussir</a:t>
            </a:r>
            <a:br>
              <a:rPr lang="fr-FR" sz="2000" b="1" dirty="0" smtClean="0">
                <a:solidFill>
                  <a:schemeClr val="dk1"/>
                </a:solidFill>
                <a:latin typeface="Arial" pitchFamily="34" charset="0"/>
                <a:cs typeface="Arial" pitchFamily="34" charset="0"/>
              </a:rPr>
            </a:br>
            <a:r>
              <a:rPr lang="fr-FR" sz="2000" b="1" dirty="0" smtClean="0">
                <a:solidFill>
                  <a:schemeClr val="dk1"/>
                </a:solidFill>
                <a:latin typeface="Arial" pitchFamily="34" charset="0"/>
                <a:cs typeface="Arial" pitchFamily="34" charset="0"/>
              </a:rPr>
              <a:t>dans un environnement innovant.</a:t>
            </a:r>
          </a:p>
          <a:p>
            <a:pPr algn="just"/>
            <a:endParaRPr lang="fr-FR" sz="2000" b="1" dirty="0" smtClean="0">
              <a:solidFill>
                <a:schemeClr val="dk1"/>
              </a:solidFill>
              <a:latin typeface="Arial" pitchFamily="34" charset="0"/>
              <a:cs typeface="Arial" pitchFamily="34" charset="0"/>
            </a:endParaRPr>
          </a:p>
        </p:txBody>
      </p:sp>
      <p:pic>
        <p:nvPicPr>
          <p:cNvPr id="5" name="Image 4"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4" name="Espace réservé de la date 3"/>
          <p:cNvSpPr>
            <a:spLocks noGrp="1"/>
          </p:cNvSpPr>
          <p:nvPr>
            <p:ph type="dt" sz="half" idx="10"/>
          </p:nvPr>
        </p:nvSpPr>
        <p:spPr/>
        <p:txBody>
          <a:bodyPr/>
          <a:lstStyle/>
          <a:p>
            <a:pPr lvl="0"/>
            <a:fld id="{C5578BB8-C302-47F3-9DE5-48491D780506}" type="datetime1">
              <a:rPr lang="en-US" smtClean="0"/>
              <a:pPr lvl="0"/>
              <a:t>11/16/2025</a:t>
            </a:fld>
            <a:endParaRPr lang="en-US"/>
          </a:p>
        </p:txBody>
      </p:sp>
      <p:sp>
        <p:nvSpPr>
          <p:cNvPr id="6" name="Espace réservé du numéro de diapositive 5"/>
          <p:cNvSpPr>
            <a:spLocks noGrp="1"/>
          </p:cNvSpPr>
          <p:nvPr>
            <p:ph type="sldNum" sz="quarter" idx="12"/>
          </p:nvPr>
        </p:nvSpPr>
        <p:spPr/>
        <p:txBody>
          <a:bodyPr/>
          <a:lstStyle/>
          <a:p>
            <a:pPr lvl="0"/>
            <a:fld id="{2390AFF8-1E19-449A-AA82-B5E4E90108F1}" type="slidenum">
              <a:rPr lang="fr-FR" smtClean="0"/>
              <a:pPr lvl="0"/>
              <a:t>59</a:t>
            </a:fld>
            <a:endParaRPr lang="fr-F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06236" y="1468896"/>
            <a:ext cx="10448925" cy="501675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buFont typeface="Wingdings" pitchFamily="2" charset="2"/>
              <a:buChar char="q"/>
            </a:pPr>
            <a:r>
              <a:rPr lang="fr-FR" b="1" dirty="0" smtClean="0">
                <a:solidFill>
                  <a:schemeClr val="accent6"/>
                </a:solidFill>
                <a:latin typeface="Source Sans Pro"/>
              </a:rPr>
              <a:t> Illustration</a:t>
            </a:r>
          </a:p>
          <a:p>
            <a:pPr algn="just"/>
            <a:endParaRPr lang="fr-FR" sz="2000" b="1" dirty="0" smtClean="0">
              <a:solidFill>
                <a:schemeClr val="accent6">
                  <a:lumMod val="50000"/>
                </a:schemeClr>
              </a:solidFill>
              <a:latin typeface="Arial" pitchFamily="34" charset="0"/>
              <a:cs typeface="Arial" pitchFamily="34" charset="0"/>
            </a:endParaRPr>
          </a:p>
          <a:p>
            <a:pPr algn="just"/>
            <a:r>
              <a:rPr lang="fr-FR" sz="2000" dirty="0" smtClean="0">
                <a:latin typeface="Arial" pitchFamily="34" charset="0"/>
                <a:cs typeface="Arial" pitchFamily="34" charset="0"/>
              </a:rPr>
              <a:t>L’enquête menée par un institut français de recherche sur l’innovation et qui a concerné 2000 intra preneurs et créateurs de startups a permis  en particulier de mettre en lumière trois dimensions fondamentales de l’expérience concrète de l’innovation :</a:t>
            </a:r>
          </a:p>
          <a:p>
            <a:pPr algn="just"/>
            <a:endParaRPr lang="fr-FR" sz="2000" dirty="0" smtClean="0">
              <a:latin typeface="Arial" pitchFamily="34" charset="0"/>
              <a:cs typeface="Arial" pitchFamily="34" charset="0"/>
            </a:endParaRPr>
          </a:p>
          <a:p>
            <a:pPr>
              <a:buFont typeface="Arial" pitchFamily="34" charset="0"/>
              <a:buChar char="•"/>
            </a:pPr>
            <a:r>
              <a:rPr lang="fr-FR" sz="2000" b="1" dirty="0" smtClean="0">
                <a:solidFill>
                  <a:srgbClr val="00B050"/>
                </a:solidFill>
              </a:rPr>
              <a:t> </a:t>
            </a:r>
            <a:r>
              <a:rPr lang="fr-FR" sz="2000" b="1" dirty="0" smtClean="0">
                <a:solidFill>
                  <a:schemeClr val="tx1"/>
                </a:solidFill>
                <a:latin typeface="Arial" pitchFamily="34" charset="0"/>
                <a:cs typeface="Arial" pitchFamily="34" charset="0"/>
              </a:rPr>
              <a:t>Importance des compétences transversales</a:t>
            </a:r>
          </a:p>
          <a:p>
            <a:endParaRPr lang="fr-FR" sz="2000" b="1" dirty="0" smtClean="0">
              <a:latin typeface="Arial" pitchFamily="34" charset="0"/>
              <a:cs typeface="Arial" pitchFamily="34" charset="0"/>
            </a:endParaRPr>
          </a:p>
          <a:p>
            <a:pPr algn="just"/>
            <a:r>
              <a:rPr lang="fr-FR" sz="2000" dirty="0" smtClean="0">
                <a:latin typeface="Arial" pitchFamily="34" charset="0"/>
                <a:cs typeface="Arial" pitchFamily="34" charset="0"/>
              </a:rPr>
              <a:t>La première met en avant en premier </a:t>
            </a:r>
            <a:r>
              <a:rPr lang="fr-FR" sz="2000" u="sng" dirty="0" smtClean="0">
                <a:latin typeface="Arial" pitchFamily="34" charset="0"/>
                <a:cs typeface="Arial" pitchFamily="34" charset="0"/>
              </a:rPr>
              <a:t>les qualités et relations humaines </a:t>
            </a:r>
            <a:r>
              <a:rPr lang="fr-FR" sz="2000" dirty="0" smtClean="0">
                <a:latin typeface="Arial" pitchFamily="34" charset="0"/>
                <a:cs typeface="Arial" pitchFamily="34" charset="0"/>
              </a:rPr>
              <a:t>(29 %). Cette approche est privilégiée par près de la moitié des intra preneurs.</a:t>
            </a:r>
          </a:p>
          <a:p>
            <a:pPr algn="just"/>
            <a:endParaRPr lang="fr-FR" sz="2000" dirty="0" smtClean="0">
              <a:latin typeface="Arial" pitchFamily="34" charset="0"/>
              <a:cs typeface="Arial" pitchFamily="34" charset="0"/>
            </a:endParaRPr>
          </a:p>
          <a:p>
            <a:pPr algn="just"/>
            <a:r>
              <a:rPr lang="fr-FR" sz="2000" dirty="0" smtClean="0">
                <a:latin typeface="Arial" pitchFamily="34" charset="0"/>
                <a:cs typeface="Arial" pitchFamily="34" charset="0"/>
              </a:rPr>
              <a:t>Un intra preneur présente ainsi sa vision de la personne innovante :</a:t>
            </a:r>
          </a:p>
          <a:p>
            <a:pPr algn="just"/>
            <a:endParaRPr lang="fr-FR" sz="2000" dirty="0" smtClean="0">
              <a:latin typeface="Arial" pitchFamily="34" charset="0"/>
              <a:cs typeface="Arial" pitchFamily="34" charset="0"/>
            </a:endParaRPr>
          </a:p>
          <a:p>
            <a:pPr algn="just"/>
            <a:r>
              <a:rPr lang="fr-FR" sz="2000" dirty="0" smtClean="0">
                <a:latin typeface="Arial" pitchFamily="34" charset="0"/>
                <a:cs typeface="Arial" pitchFamily="34" charset="0"/>
              </a:rPr>
              <a:t> “Une personne curieuse, ouverte et active pour chercher de nouvelles idées, rencontrer de nouvelles personnes dans des univers qui ne sont pas forcément familiers.” [</a:t>
            </a:r>
            <a:r>
              <a:rPr lang="fr-FR" sz="2000" dirty="0" err="1" smtClean="0">
                <a:latin typeface="Arial" pitchFamily="34" charset="0"/>
                <a:cs typeface="Arial" pitchFamily="34" charset="0"/>
              </a:rPr>
              <a:t>intrapreneur</a:t>
            </a:r>
            <a:r>
              <a:rPr lang="fr-FR" sz="2000" dirty="0" smtClean="0">
                <a:latin typeface="Arial" pitchFamily="34" charset="0"/>
                <a:cs typeface="Arial" pitchFamily="34" charset="0"/>
              </a:rPr>
              <a:t>, industrie pharmaceutique] </a:t>
            </a:r>
            <a:endParaRPr lang="fr-FR" sz="2000" b="1" dirty="0" smtClean="0">
              <a:solidFill>
                <a:schemeClr val="accent6">
                  <a:lumMod val="50000"/>
                </a:schemeClr>
              </a:solidFill>
              <a:latin typeface="Arial" pitchFamily="34" charset="0"/>
              <a:cs typeface="Arial" pitchFamily="34" charset="0"/>
            </a:endParaRPr>
          </a:p>
        </p:txBody>
      </p:sp>
      <p:pic>
        <p:nvPicPr>
          <p:cNvPr id="5" name="Image 4"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6" name="Espace réservé de la date 5"/>
          <p:cNvSpPr>
            <a:spLocks noGrp="1"/>
          </p:cNvSpPr>
          <p:nvPr>
            <p:ph type="dt" sz="half" idx="10"/>
          </p:nvPr>
        </p:nvSpPr>
        <p:spPr/>
        <p:txBody>
          <a:bodyPr/>
          <a:lstStyle/>
          <a:p>
            <a:pPr lvl="0"/>
            <a:fld id="{B89ED873-03D1-49A8-91ED-5C365E20E213}" type="datetime1">
              <a:rPr lang="en-US" smtClean="0"/>
              <a:pPr lvl="0"/>
              <a:t>11/16/2025</a:t>
            </a:fld>
            <a:endParaRPr lang="en-US"/>
          </a:p>
        </p:txBody>
      </p:sp>
      <p:sp>
        <p:nvSpPr>
          <p:cNvPr id="7" name="Espace réservé du numéro de diapositive 6"/>
          <p:cNvSpPr>
            <a:spLocks noGrp="1"/>
          </p:cNvSpPr>
          <p:nvPr>
            <p:ph type="sldNum" sz="quarter" idx="12"/>
          </p:nvPr>
        </p:nvSpPr>
        <p:spPr/>
        <p:txBody>
          <a:bodyPr/>
          <a:lstStyle/>
          <a:p>
            <a:pPr lvl="0"/>
            <a:fld id="{2390AFF8-1E19-449A-AA82-B5E4E90108F1}" type="slidenum">
              <a:rPr lang="fr-FR" smtClean="0"/>
              <a:pPr lvl="0"/>
              <a:t>60</a:t>
            </a:fld>
            <a:endParaRPr lang="fr-F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1"/>
          <p:cNvSpPr>
            <a:spLocks noChangeArrowheads="1"/>
          </p:cNvSpPr>
          <p:nvPr/>
        </p:nvSpPr>
        <p:spPr bwMode="auto">
          <a:xfrm>
            <a:off x="606878" y="1620611"/>
            <a:ext cx="10763251" cy="2246769"/>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lang="fr-FR" sz="2000" b="1" dirty="0" smtClean="0">
                <a:solidFill>
                  <a:srgbClr val="00B050"/>
                </a:solidFill>
                <a:latin typeface="Arial" pitchFamily="34" charset="0"/>
                <a:cs typeface="Arial" pitchFamily="34" charset="0"/>
              </a:rPr>
              <a:t>la deuxième insiste avant tout sur la prise de risque. </a:t>
            </a:r>
          </a:p>
          <a:p>
            <a:pPr marL="0" marR="0" lvl="0" indent="0" algn="justLow" defTabSz="914400" rtl="0" eaLnBrk="1" fontAlgn="base" latinLnBrk="0" hangingPunct="1">
              <a:lnSpc>
                <a:spcPct val="100000"/>
              </a:lnSpc>
              <a:spcBef>
                <a:spcPct val="0"/>
              </a:spcBef>
              <a:spcAft>
                <a:spcPct val="0"/>
              </a:spcAft>
              <a:buClrTx/>
              <a:buSzTx/>
              <a:buFontTx/>
              <a:buNone/>
              <a:tabLst/>
            </a:pPr>
            <a:endParaRPr lang="fr-FR" sz="2000" b="1" dirty="0" smtClean="0">
              <a:solidFill>
                <a:srgbClr val="00B050"/>
              </a:solidFill>
              <a:latin typeface="Arial" pitchFamily="34" charset="0"/>
              <a:cs typeface="Arial" pitchFamily="34" charset="0"/>
            </a:endParaRPr>
          </a:p>
          <a:p>
            <a:pPr marL="0" marR="0" lvl="0" indent="0" algn="justLow" defTabSz="914400" rtl="0" eaLnBrk="0" fontAlgn="base" latinLnBrk="0" hangingPunct="0">
              <a:lnSpc>
                <a:spcPct val="100000"/>
              </a:lnSpc>
              <a:spcBef>
                <a:spcPct val="0"/>
              </a:spcBef>
              <a:spcAft>
                <a:spcPct val="0"/>
              </a:spcAft>
              <a:buClrTx/>
              <a:buSzTx/>
              <a:buFontTx/>
              <a:buNone/>
              <a:tabLst/>
            </a:pPr>
            <a:r>
              <a:rPr lang="fr-FR" sz="2000" dirty="0" smtClean="0">
                <a:solidFill>
                  <a:schemeClr val="dk1"/>
                </a:solidFill>
                <a:latin typeface="Arial" pitchFamily="34" charset="0"/>
                <a:cs typeface="Arial" pitchFamily="34" charset="0"/>
              </a:rPr>
              <a:t>Un </a:t>
            </a:r>
            <a:r>
              <a:rPr lang="fr-FR" sz="2000" dirty="0" err="1" smtClean="0">
                <a:solidFill>
                  <a:schemeClr val="dk1"/>
                </a:solidFill>
                <a:latin typeface="Arial" pitchFamily="34" charset="0"/>
                <a:cs typeface="Arial" pitchFamily="34" charset="0"/>
              </a:rPr>
              <a:t>startuper</a:t>
            </a:r>
            <a:r>
              <a:rPr lang="fr-FR" sz="2000" dirty="0" smtClean="0">
                <a:solidFill>
                  <a:schemeClr val="dk1"/>
                </a:solidFill>
                <a:latin typeface="Arial" pitchFamily="34" charset="0"/>
                <a:cs typeface="Arial" pitchFamily="34" charset="0"/>
              </a:rPr>
              <a:t>, qui par ailleurs ne se définit pas spécialement comme innovateur, explique : “ on dit souvent "</a:t>
            </a:r>
            <a:r>
              <a:rPr lang="fr-FR" sz="2000" dirty="0" err="1" smtClean="0">
                <a:solidFill>
                  <a:schemeClr val="dk1"/>
                </a:solidFill>
                <a:latin typeface="Arial" pitchFamily="34" charset="0"/>
                <a:cs typeface="Arial" pitchFamily="34" charset="0"/>
              </a:rPr>
              <a:t>think</a:t>
            </a:r>
            <a:r>
              <a:rPr lang="fr-FR" sz="2000" dirty="0" smtClean="0">
                <a:solidFill>
                  <a:schemeClr val="dk1"/>
                </a:solidFill>
                <a:latin typeface="Arial" pitchFamily="34" charset="0"/>
                <a:cs typeface="Arial" pitchFamily="34" charset="0"/>
              </a:rPr>
              <a:t> out of the box". Moi, me mettre dans une démarche de créativité, c'est plutôt une zone d'inconfort. Donc quelqu'un qui a des idées et capable de se projeter, sans avoir à l'esprit les principales contraintes face à ce type de projet, c'est quelqu'un pour qui le rêve est autorisé.” [</a:t>
            </a:r>
            <a:r>
              <a:rPr lang="fr-FR" sz="2000" dirty="0" err="1" smtClean="0">
                <a:solidFill>
                  <a:schemeClr val="dk1"/>
                </a:solidFill>
                <a:latin typeface="Arial" pitchFamily="34" charset="0"/>
                <a:cs typeface="Arial" pitchFamily="34" charset="0"/>
              </a:rPr>
              <a:t>startuper</a:t>
            </a:r>
            <a:r>
              <a:rPr lang="fr-FR" sz="2000" dirty="0" smtClean="0">
                <a:solidFill>
                  <a:schemeClr val="dk1"/>
                </a:solidFill>
                <a:latin typeface="Arial" pitchFamily="34" charset="0"/>
                <a:cs typeface="Arial" pitchFamily="34" charset="0"/>
              </a:rPr>
              <a:t>, services juridiques] </a:t>
            </a:r>
          </a:p>
        </p:txBody>
      </p:sp>
      <p:pic>
        <p:nvPicPr>
          <p:cNvPr id="3" name="Picture 15"/>
          <p:cNvPicPr>
            <a:picLocks noChangeAspect="1" noChangeArrowheads="1"/>
          </p:cNvPicPr>
          <p:nvPr/>
        </p:nvPicPr>
        <p:blipFill>
          <a:blip r:embed="rId2"/>
          <a:srcRect/>
          <a:stretch>
            <a:fillRect/>
          </a:stretch>
        </p:blipFill>
        <p:spPr bwMode="auto">
          <a:xfrm rot="21221645">
            <a:off x="606877" y="4050895"/>
            <a:ext cx="9305925" cy="1604875"/>
          </a:xfrm>
          <a:prstGeom prst="rect">
            <a:avLst/>
          </a:prstGeom>
          <a:noFill/>
        </p:spPr>
      </p:pic>
      <p:pic>
        <p:nvPicPr>
          <p:cNvPr id="5" name="Image 4" descr="C:\Users\ma.mejri\Desktop\téléchargement (1).png"/>
          <p:cNvPicPr/>
          <p:nvPr/>
        </p:nvPicPr>
        <p:blipFill>
          <a:blip r:embed="rId3"/>
          <a:srcRect/>
          <a:stretch>
            <a:fillRect/>
          </a:stretch>
        </p:blipFill>
        <p:spPr bwMode="auto">
          <a:xfrm>
            <a:off x="984250" y="677182"/>
            <a:ext cx="1079500" cy="387350"/>
          </a:xfrm>
          <a:prstGeom prst="rect">
            <a:avLst/>
          </a:prstGeom>
          <a:noFill/>
          <a:ln w="9525">
            <a:noFill/>
            <a:miter lim="800000"/>
            <a:headEnd/>
            <a:tailEnd/>
          </a:ln>
        </p:spPr>
      </p:pic>
      <p:sp>
        <p:nvSpPr>
          <p:cNvPr id="6" name="Espace réservé de la date 5"/>
          <p:cNvSpPr>
            <a:spLocks noGrp="1"/>
          </p:cNvSpPr>
          <p:nvPr>
            <p:ph type="dt" sz="half" idx="10"/>
          </p:nvPr>
        </p:nvSpPr>
        <p:spPr/>
        <p:txBody>
          <a:bodyPr/>
          <a:lstStyle/>
          <a:p>
            <a:pPr lvl="0"/>
            <a:fld id="{AFB9DF27-6615-4920-AFE8-DC4F852F7A23}" type="datetime1">
              <a:rPr lang="en-US" smtClean="0"/>
              <a:pPr lvl="0"/>
              <a:t>11/16/2025</a:t>
            </a:fld>
            <a:endParaRPr lang="en-US"/>
          </a:p>
        </p:txBody>
      </p:sp>
      <p:sp>
        <p:nvSpPr>
          <p:cNvPr id="7" name="Espace réservé du numéro de diapositive 6"/>
          <p:cNvSpPr>
            <a:spLocks noGrp="1"/>
          </p:cNvSpPr>
          <p:nvPr>
            <p:ph type="sldNum" sz="quarter" idx="12"/>
          </p:nvPr>
        </p:nvSpPr>
        <p:spPr/>
        <p:txBody>
          <a:bodyPr/>
          <a:lstStyle/>
          <a:p>
            <a:pPr lvl="0"/>
            <a:fld id="{2390AFF8-1E19-449A-AA82-B5E4E90108F1}" type="slidenum">
              <a:rPr lang="fr-FR" smtClean="0"/>
              <a:pPr lvl="0"/>
              <a:t>61</a:t>
            </a:fld>
            <a:endParaRPr lang="fr-F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1"/>
          <p:cNvSpPr>
            <a:spLocks noChangeArrowheads="1"/>
          </p:cNvSpPr>
          <p:nvPr/>
        </p:nvSpPr>
        <p:spPr bwMode="auto">
          <a:xfrm>
            <a:off x="813707" y="1434193"/>
            <a:ext cx="10439401" cy="5016758"/>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lang="fr-FR" sz="2000" b="1" dirty="0" smtClean="0">
                <a:solidFill>
                  <a:srgbClr val="00B050"/>
                </a:solidFill>
                <a:latin typeface="Arial" pitchFamily="34" charset="0"/>
                <a:cs typeface="Arial" pitchFamily="34" charset="0"/>
              </a:rPr>
              <a:t>la troisième </a:t>
            </a:r>
            <a:r>
              <a:rPr lang="fr-FR" sz="2000" dirty="0" smtClean="0">
                <a:solidFill>
                  <a:schemeClr val="dk1"/>
                </a:solidFill>
                <a:latin typeface="Arial" pitchFamily="34" charset="0"/>
                <a:cs typeface="Arial" pitchFamily="34" charset="0"/>
              </a:rPr>
              <a:t>articule la recherche d’une solution (créative) et sa viabilité (économique et/ou d’usage) (45 %).</a:t>
            </a:r>
          </a:p>
          <a:p>
            <a:pPr marL="0" marR="0" lvl="0" indent="0" algn="justLow" defTabSz="914400" rtl="0" eaLnBrk="0" fontAlgn="base" latinLnBrk="0" hangingPunct="0">
              <a:lnSpc>
                <a:spcPct val="100000"/>
              </a:lnSpc>
              <a:spcBef>
                <a:spcPct val="0"/>
              </a:spcBef>
              <a:spcAft>
                <a:spcPct val="0"/>
              </a:spcAft>
              <a:buClrTx/>
              <a:buSzTx/>
              <a:buFontTx/>
              <a:buNone/>
              <a:tabLst/>
            </a:pPr>
            <a:r>
              <a:rPr lang="fr-FR" sz="2000" dirty="0" smtClean="0">
                <a:solidFill>
                  <a:schemeClr val="dk1"/>
                </a:solidFill>
                <a:latin typeface="Arial" pitchFamily="34" charset="0"/>
                <a:cs typeface="Arial" pitchFamily="34" charset="0"/>
              </a:rPr>
              <a:t>Cette courte description offerte par un entrepreneur résume bien cette approche :</a:t>
            </a:r>
          </a:p>
          <a:p>
            <a:pPr marL="0" marR="0" lvl="0" indent="0" algn="justLow" defTabSz="914400" rtl="0" eaLnBrk="0" fontAlgn="base" latinLnBrk="0" hangingPunct="0">
              <a:lnSpc>
                <a:spcPct val="100000"/>
              </a:lnSpc>
              <a:spcBef>
                <a:spcPct val="0"/>
              </a:spcBef>
              <a:spcAft>
                <a:spcPct val="0"/>
              </a:spcAft>
              <a:buClrTx/>
              <a:buSzTx/>
              <a:buFontTx/>
              <a:buNone/>
              <a:tabLst/>
            </a:pPr>
            <a:endParaRPr lang="fr-FR" sz="800" dirty="0" smtClean="0">
              <a:latin typeface="Arial" pitchFamily="34" charset="0"/>
              <a:cs typeface="Arial" pitchFamily="34" charset="0"/>
            </a:endParaRPr>
          </a:p>
          <a:p>
            <a:pPr marL="0" marR="0" lvl="0" indent="0" algn="justLow" defTabSz="914400" rtl="0" eaLnBrk="0" fontAlgn="base" latinLnBrk="0" hangingPunct="0">
              <a:lnSpc>
                <a:spcPct val="100000"/>
              </a:lnSpc>
              <a:spcBef>
                <a:spcPct val="0"/>
              </a:spcBef>
              <a:spcAft>
                <a:spcPct val="0"/>
              </a:spcAft>
              <a:buClrTx/>
              <a:buSzTx/>
              <a:buFontTx/>
              <a:buNone/>
              <a:tabLst/>
            </a:pPr>
            <a:r>
              <a:rPr lang="fr-FR" sz="2000" dirty="0" smtClean="0">
                <a:solidFill>
                  <a:schemeClr val="dk1"/>
                </a:solidFill>
                <a:latin typeface="Arial" pitchFamily="34" charset="0"/>
                <a:cs typeface="Arial" pitchFamily="34" charset="0"/>
              </a:rPr>
              <a:t>“L’innovateur est une personne qui allie à la fois des qualités créatives et des qualités pragmatiques, donc qui est capable de mettre en œuvre des idées créatives à partir d'un projet.” [</a:t>
            </a:r>
            <a:r>
              <a:rPr lang="fr-FR" sz="2000" dirty="0" err="1" smtClean="0">
                <a:solidFill>
                  <a:schemeClr val="dk1"/>
                </a:solidFill>
                <a:latin typeface="Arial" pitchFamily="34" charset="0"/>
                <a:cs typeface="Arial" pitchFamily="34" charset="0"/>
              </a:rPr>
              <a:t>startuper</a:t>
            </a:r>
            <a:r>
              <a:rPr lang="fr-FR" sz="2000" dirty="0" smtClean="0">
                <a:solidFill>
                  <a:schemeClr val="dk1"/>
                </a:solidFill>
                <a:latin typeface="Arial" pitchFamily="34" charset="0"/>
                <a:cs typeface="Arial" pitchFamily="34" charset="0"/>
              </a:rPr>
              <a:t>, incubateur]</a:t>
            </a:r>
          </a:p>
          <a:p>
            <a:pPr marL="0" marR="0" lvl="0" indent="0" algn="justLow" defTabSz="914400" rtl="0" eaLnBrk="0" fontAlgn="base" latinLnBrk="0" hangingPunct="0">
              <a:lnSpc>
                <a:spcPct val="100000"/>
              </a:lnSpc>
              <a:spcBef>
                <a:spcPct val="0"/>
              </a:spcBef>
              <a:spcAft>
                <a:spcPct val="0"/>
              </a:spcAft>
              <a:buClrTx/>
              <a:buSzTx/>
              <a:buFontTx/>
              <a:buNone/>
              <a:tabLst/>
            </a:pPr>
            <a:endParaRPr lang="fr-FR" sz="2000" dirty="0" smtClean="0">
              <a:latin typeface="Arial" pitchFamily="34" charset="0"/>
              <a:cs typeface="Arial" pitchFamily="34" charset="0"/>
            </a:endParaRPr>
          </a:p>
          <a:p>
            <a:pPr marL="0" marR="0" lvl="0" indent="0" algn="justLow" defTabSz="914400" rtl="0" eaLnBrk="0" fontAlgn="base" latinLnBrk="0" hangingPunct="0">
              <a:lnSpc>
                <a:spcPct val="100000"/>
              </a:lnSpc>
              <a:spcBef>
                <a:spcPct val="0"/>
              </a:spcBef>
              <a:spcAft>
                <a:spcPct val="0"/>
              </a:spcAft>
              <a:buClrTx/>
              <a:buSzTx/>
              <a:buFontTx/>
              <a:buNone/>
              <a:tabLst/>
            </a:pPr>
            <a:r>
              <a:rPr lang="fr-FR" sz="2000" dirty="0" smtClean="0">
                <a:solidFill>
                  <a:schemeClr val="dk1"/>
                </a:solidFill>
                <a:latin typeface="Arial" pitchFamily="34" charset="0"/>
                <a:cs typeface="Arial" pitchFamily="34" charset="0"/>
              </a:rPr>
              <a:t>De façon assez remarquable, les soft </a:t>
            </a:r>
            <a:r>
              <a:rPr lang="fr-FR" sz="2000" dirty="0" err="1" smtClean="0">
                <a:solidFill>
                  <a:schemeClr val="dk1"/>
                </a:solidFill>
                <a:latin typeface="Arial" pitchFamily="34" charset="0"/>
                <a:cs typeface="Arial" pitchFamily="34" charset="0"/>
              </a:rPr>
              <a:t>skills</a:t>
            </a:r>
            <a:r>
              <a:rPr lang="fr-FR" sz="2000" dirty="0" smtClean="0">
                <a:solidFill>
                  <a:schemeClr val="dk1"/>
                </a:solidFill>
                <a:latin typeface="Arial" pitchFamily="34" charset="0"/>
                <a:cs typeface="Arial" pitchFamily="34" charset="0"/>
              </a:rPr>
              <a:t> apparaissent massivement dans les réponses. </a:t>
            </a:r>
          </a:p>
          <a:p>
            <a:pPr marL="0" marR="0" lvl="0" indent="0" algn="justLow" defTabSz="914400" rtl="0" eaLnBrk="0" fontAlgn="base" latinLnBrk="0" hangingPunct="0">
              <a:lnSpc>
                <a:spcPct val="100000"/>
              </a:lnSpc>
              <a:spcBef>
                <a:spcPct val="0"/>
              </a:spcBef>
              <a:spcAft>
                <a:spcPct val="0"/>
              </a:spcAft>
              <a:buClrTx/>
              <a:buSzTx/>
              <a:buFontTx/>
              <a:buNone/>
              <a:tabLst/>
            </a:pPr>
            <a:endParaRPr lang="fr-FR" sz="2000" dirty="0" smtClean="0">
              <a:latin typeface="Arial" pitchFamily="34" charset="0"/>
              <a:cs typeface="Arial" pitchFamily="34" charset="0"/>
            </a:endParaRPr>
          </a:p>
          <a:p>
            <a:pPr marL="0" marR="0" lvl="0" indent="0" algn="justLow" defTabSz="914400" rtl="0" eaLnBrk="0" fontAlgn="base" latinLnBrk="0" hangingPunct="0">
              <a:lnSpc>
                <a:spcPct val="100000"/>
              </a:lnSpc>
              <a:spcBef>
                <a:spcPct val="0"/>
              </a:spcBef>
              <a:spcAft>
                <a:spcPct val="0"/>
              </a:spcAft>
              <a:buClrTx/>
              <a:buSzTx/>
              <a:buFontTx/>
              <a:buNone/>
              <a:tabLst/>
            </a:pPr>
            <a:r>
              <a:rPr lang="fr-FR" sz="2000" dirty="0" smtClean="0">
                <a:solidFill>
                  <a:schemeClr val="dk1"/>
                </a:solidFill>
                <a:latin typeface="Arial" pitchFamily="34" charset="0"/>
                <a:cs typeface="Arial" pitchFamily="34" charset="0"/>
              </a:rPr>
              <a:t>Presque tous mettent en avant des qualités et compétences humaines, relationnelles, émotionnelles, etc. Pour près des </a:t>
            </a:r>
            <a:r>
              <a:rPr lang="fr-FR" sz="2000" b="1" dirty="0" smtClean="0">
                <a:solidFill>
                  <a:schemeClr val="dk1"/>
                </a:solidFill>
                <a:latin typeface="Arial" pitchFamily="34" charset="0"/>
                <a:cs typeface="Arial" pitchFamily="34" charset="0"/>
              </a:rPr>
              <a:t>trois quarts </a:t>
            </a:r>
            <a:r>
              <a:rPr lang="fr-FR" sz="2000" dirty="0" smtClean="0">
                <a:solidFill>
                  <a:schemeClr val="dk1"/>
                </a:solidFill>
                <a:latin typeface="Arial" pitchFamily="34" charset="0"/>
                <a:cs typeface="Arial" pitchFamily="34" charset="0"/>
              </a:rPr>
              <a:t>des répondants, les réponses comprennent au moins des soft </a:t>
            </a:r>
            <a:r>
              <a:rPr lang="fr-FR" sz="2000" dirty="0" err="1" smtClean="0">
                <a:solidFill>
                  <a:schemeClr val="dk1"/>
                </a:solidFill>
                <a:latin typeface="Arial" pitchFamily="34" charset="0"/>
                <a:cs typeface="Arial" pitchFamily="34" charset="0"/>
              </a:rPr>
              <a:t>skills</a:t>
            </a:r>
            <a:r>
              <a:rPr lang="fr-FR" sz="2000" dirty="0" smtClean="0">
                <a:solidFill>
                  <a:schemeClr val="dk1"/>
                </a:solidFill>
                <a:latin typeface="Arial" pitchFamily="34" charset="0"/>
                <a:cs typeface="Arial" pitchFamily="34" charset="0"/>
              </a:rPr>
              <a:t>, comme par exemples </a:t>
            </a:r>
            <a:r>
              <a:rPr lang="fr-FR" sz="2000" b="1" dirty="0" smtClean="0">
                <a:solidFill>
                  <a:schemeClr val="accent6"/>
                </a:solidFill>
                <a:latin typeface="Arial" pitchFamily="34" charset="0"/>
                <a:cs typeface="Arial" pitchFamily="34" charset="0"/>
              </a:rPr>
              <a:t>: collaboratif</a:t>
            </a:r>
            <a:r>
              <a:rPr lang="fr-FR" sz="2000" dirty="0" smtClean="0">
                <a:solidFill>
                  <a:schemeClr val="dk1"/>
                </a:solidFill>
                <a:latin typeface="Arial" pitchFamily="34" charset="0"/>
                <a:cs typeface="Arial" pitchFamily="34" charset="0"/>
              </a:rPr>
              <a:t>, </a:t>
            </a:r>
            <a:r>
              <a:rPr lang="fr-FR" sz="2000" b="1" dirty="0" smtClean="0">
                <a:solidFill>
                  <a:schemeClr val="accent6"/>
                </a:solidFill>
                <a:latin typeface="Arial" pitchFamily="34" charset="0"/>
                <a:cs typeface="Arial" pitchFamily="34" charset="0"/>
              </a:rPr>
              <a:t>curiosité</a:t>
            </a:r>
            <a:r>
              <a:rPr lang="fr-FR" sz="2000" dirty="0" smtClean="0">
                <a:solidFill>
                  <a:schemeClr val="dk1"/>
                </a:solidFill>
                <a:latin typeface="Arial" pitchFamily="34" charset="0"/>
                <a:cs typeface="Arial" pitchFamily="34" charset="0"/>
              </a:rPr>
              <a:t>, </a:t>
            </a:r>
            <a:r>
              <a:rPr lang="fr-FR" sz="2000" b="1" dirty="0" smtClean="0">
                <a:solidFill>
                  <a:schemeClr val="accent6"/>
                </a:solidFill>
                <a:latin typeface="Arial" pitchFamily="34" charset="0"/>
                <a:cs typeface="Arial" pitchFamily="34" charset="0"/>
              </a:rPr>
              <a:t>organisation</a:t>
            </a:r>
            <a:r>
              <a:rPr lang="fr-FR" sz="2000" dirty="0" smtClean="0">
                <a:solidFill>
                  <a:schemeClr val="dk1"/>
                </a:solidFill>
                <a:latin typeface="Arial" pitchFamily="34" charset="0"/>
                <a:cs typeface="Arial" pitchFamily="34" charset="0"/>
              </a:rPr>
              <a:t>, </a:t>
            </a:r>
            <a:r>
              <a:rPr lang="fr-FR" sz="2000" b="1" dirty="0" smtClean="0">
                <a:solidFill>
                  <a:schemeClr val="accent6"/>
                </a:solidFill>
                <a:latin typeface="Arial" pitchFamily="34" charset="0"/>
                <a:cs typeface="Arial" pitchFamily="34" charset="0"/>
              </a:rPr>
              <a:t>communication</a:t>
            </a:r>
            <a:r>
              <a:rPr lang="fr-FR" sz="2000" dirty="0" smtClean="0">
                <a:solidFill>
                  <a:schemeClr val="dk1"/>
                </a:solidFill>
                <a:latin typeface="Arial" pitchFamily="34" charset="0"/>
                <a:cs typeface="Arial" pitchFamily="34" charset="0"/>
              </a:rPr>
              <a:t>, </a:t>
            </a:r>
            <a:r>
              <a:rPr lang="fr-FR" sz="2000" b="1" dirty="0" smtClean="0">
                <a:solidFill>
                  <a:schemeClr val="accent6"/>
                </a:solidFill>
                <a:latin typeface="Arial" pitchFamily="34" charset="0"/>
                <a:cs typeface="Arial" pitchFamily="34" charset="0"/>
              </a:rPr>
              <a:t>flexible</a:t>
            </a:r>
            <a:r>
              <a:rPr lang="fr-FR" sz="2000" dirty="0" smtClean="0">
                <a:solidFill>
                  <a:schemeClr val="dk1"/>
                </a:solidFill>
                <a:latin typeface="Arial" pitchFamily="34" charset="0"/>
                <a:cs typeface="Arial" pitchFamily="34" charset="0"/>
              </a:rPr>
              <a:t>), 23 % de traits de personnalité (exemples : joueur, </a:t>
            </a:r>
            <a:r>
              <a:rPr lang="fr-FR" sz="2000" b="1" dirty="0" smtClean="0">
                <a:solidFill>
                  <a:schemeClr val="accent6"/>
                </a:solidFill>
                <a:latin typeface="Arial" pitchFamily="34" charset="0"/>
                <a:cs typeface="Arial" pitchFamily="34" charset="0"/>
              </a:rPr>
              <a:t>passionné</a:t>
            </a:r>
            <a:r>
              <a:rPr lang="fr-FR" sz="2000" dirty="0" smtClean="0">
                <a:solidFill>
                  <a:schemeClr val="dk1"/>
                </a:solidFill>
                <a:latin typeface="Arial" pitchFamily="34" charset="0"/>
                <a:cs typeface="Arial" pitchFamily="34" charset="0"/>
              </a:rPr>
              <a:t>, </a:t>
            </a:r>
            <a:r>
              <a:rPr lang="fr-FR" sz="2000" b="1" dirty="0" smtClean="0">
                <a:solidFill>
                  <a:schemeClr val="accent6"/>
                </a:solidFill>
                <a:latin typeface="Arial" pitchFamily="34" charset="0"/>
                <a:cs typeface="Arial" pitchFamily="34" charset="0"/>
              </a:rPr>
              <a:t>enthousiaste</a:t>
            </a:r>
            <a:r>
              <a:rPr lang="fr-FR" sz="2000" dirty="0" smtClean="0">
                <a:solidFill>
                  <a:schemeClr val="dk1"/>
                </a:solidFill>
                <a:latin typeface="Arial" pitchFamily="34" charset="0"/>
                <a:cs typeface="Arial" pitchFamily="34" charset="0"/>
              </a:rPr>
              <a:t>, </a:t>
            </a:r>
            <a:r>
              <a:rPr lang="fr-FR" sz="2000" b="1" dirty="0" smtClean="0">
                <a:solidFill>
                  <a:schemeClr val="accent6"/>
                </a:solidFill>
                <a:latin typeface="Arial" pitchFamily="34" charset="0"/>
                <a:cs typeface="Arial" pitchFamily="34" charset="0"/>
              </a:rPr>
              <a:t>doute</a:t>
            </a:r>
            <a:r>
              <a:rPr lang="fr-FR" sz="2000" dirty="0" smtClean="0">
                <a:solidFill>
                  <a:schemeClr val="dk1"/>
                </a:solidFill>
                <a:latin typeface="Arial" pitchFamily="34" charset="0"/>
                <a:cs typeface="Arial" pitchFamily="34" charset="0"/>
              </a:rPr>
              <a:t>, </a:t>
            </a:r>
            <a:r>
              <a:rPr lang="fr-FR" sz="2000" b="1" dirty="0" smtClean="0">
                <a:solidFill>
                  <a:schemeClr val="accent6"/>
                </a:solidFill>
                <a:latin typeface="Arial" pitchFamily="34" charset="0"/>
                <a:cs typeface="Arial" pitchFamily="34" charset="0"/>
              </a:rPr>
              <a:t>téméraire</a:t>
            </a:r>
            <a:r>
              <a:rPr lang="fr-FR" sz="2000" dirty="0" smtClean="0">
                <a:solidFill>
                  <a:schemeClr val="dk1"/>
                </a:solidFill>
                <a:latin typeface="Arial" pitchFamily="34" charset="0"/>
                <a:cs typeface="Arial" pitchFamily="34" charset="0"/>
              </a:rPr>
              <a:t>) et 12 % renvoyant à des processus ou à des compétences métier (exemples :  </a:t>
            </a:r>
            <a:r>
              <a:rPr lang="fr-FR" sz="2000" b="1" dirty="0" smtClean="0">
                <a:solidFill>
                  <a:schemeClr val="accent6"/>
                </a:solidFill>
                <a:latin typeface="Arial" pitchFamily="34" charset="0"/>
                <a:cs typeface="Arial" pitchFamily="34" charset="0"/>
              </a:rPr>
              <a:t>savoir manager</a:t>
            </a:r>
            <a:r>
              <a:rPr lang="fr-FR" sz="2000" dirty="0" smtClean="0">
                <a:solidFill>
                  <a:schemeClr val="dk1"/>
                </a:solidFill>
                <a:latin typeface="Arial" pitchFamily="34" charset="0"/>
                <a:cs typeface="Arial" pitchFamily="34" charset="0"/>
              </a:rPr>
              <a:t>, </a:t>
            </a:r>
            <a:r>
              <a:rPr lang="fr-FR" sz="2000" b="1" dirty="0" smtClean="0">
                <a:solidFill>
                  <a:schemeClr val="accent6"/>
                </a:solidFill>
                <a:latin typeface="Arial" pitchFamily="34" charset="0"/>
                <a:cs typeface="Arial" pitchFamily="34" charset="0"/>
              </a:rPr>
              <a:t>innovation, réalisation</a:t>
            </a:r>
            <a:r>
              <a:rPr lang="fr-FR" sz="2000" dirty="0" smtClean="0">
                <a:solidFill>
                  <a:schemeClr val="dk1"/>
                </a:solidFill>
                <a:latin typeface="Arial" pitchFamily="34" charset="0"/>
                <a:cs typeface="Arial" pitchFamily="34" charset="0"/>
              </a:rPr>
              <a:t>, </a:t>
            </a:r>
            <a:r>
              <a:rPr lang="fr-FR" sz="2000" b="1" dirty="0" smtClean="0">
                <a:solidFill>
                  <a:schemeClr val="accent6"/>
                </a:solidFill>
                <a:latin typeface="Arial" pitchFamily="34" charset="0"/>
                <a:cs typeface="Arial" pitchFamily="34" charset="0"/>
              </a:rPr>
              <a:t>facilitateur</a:t>
            </a:r>
            <a:r>
              <a:rPr lang="fr-FR" sz="2000" dirty="0" smtClean="0">
                <a:solidFill>
                  <a:schemeClr val="dk1"/>
                </a:solidFill>
                <a:latin typeface="Arial" pitchFamily="34" charset="0"/>
                <a:cs typeface="Arial" pitchFamily="34" charset="0"/>
              </a:rPr>
              <a:t>).</a:t>
            </a:r>
          </a:p>
        </p:txBody>
      </p:sp>
      <p:pic>
        <p:nvPicPr>
          <p:cNvPr id="4" name="Image 3"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5" name="Espace réservé de la date 4"/>
          <p:cNvSpPr>
            <a:spLocks noGrp="1"/>
          </p:cNvSpPr>
          <p:nvPr>
            <p:ph type="dt" sz="half" idx="10"/>
          </p:nvPr>
        </p:nvSpPr>
        <p:spPr/>
        <p:txBody>
          <a:bodyPr/>
          <a:lstStyle/>
          <a:p>
            <a:pPr lvl="0"/>
            <a:fld id="{49E3891F-9D72-48C6-9378-C3A656AE8BD9}" type="datetime1">
              <a:rPr lang="en-US" smtClean="0"/>
              <a:pPr lvl="0"/>
              <a:t>11/16/2025</a:t>
            </a:fld>
            <a:endParaRPr lang="en-US"/>
          </a:p>
        </p:txBody>
      </p:sp>
      <p:sp>
        <p:nvSpPr>
          <p:cNvPr id="6" name="Espace réservé du numéro de diapositive 5"/>
          <p:cNvSpPr>
            <a:spLocks noGrp="1"/>
          </p:cNvSpPr>
          <p:nvPr>
            <p:ph type="sldNum" sz="quarter" idx="12"/>
          </p:nvPr>
        </p:nvSpPr>
        <p:spPr/>
        <p:txBody>
          <a:bodyPr/>
          <a:lstStyle/>
          <a:p>
            <a:pPr lvl="0"/>
            <a:fld id="{2390AFF8-1E19-449A-AA82-B5E4E90108F1}" type="slidenum">
              <a:rPr lang="fr-FR" smtClean="0"/>
              <a:pPr lvl="0"/>
              <a:t>62</a:t>
            </a:fld>
            <a:endParaRPr lang="fr-F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1"/>
          <p:cNvSpPr>
            <a:spLocks noChangeArrowheads="1"/>
          </p:cNvSpPr>
          <p:nvPr/>
        </p:nvSpPr>
        <p:spPr bwMode="auto">
          <a:xfrm>
            <a:off x="767442" y="1562100"/>
            <a:ext cx="10887075" cy="5016758"/>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buFontTx/>
              <a:buNone/>
              <a:tabLst/>
            </a:pPr>
            <a:r>
              <a:rPr lang="fr-FR" sz="2000" b="1" dirty="0" smtClean="0">
                <a:latin typeface="Arial" pitchFamily="34" charset="0"/>
                <a:cs typeface="Arial" pitchFamily="34" charset="0"/>
              </a:rPr>
              <a:t> Un champ sémantique accessible</a:t>
            </a:r>
          </a:p>
          <a:p>
            <a:pPr marL="0" marR="0" lvl="0" indent="0" algn="justLow" defTabSz="914400" rtl="0" eaLnBrk="1" fontAlgn="base" latinLnBrk="0" hangingPunct="1">
              <a:lnSpc>
                <a:spcPct val="100000"/>
              </a:lnSpc>
              <a:spcBef>
                <a:spcPct val="0"/>
              </a:spcBef>
              <a:spcAft>
                <a:spcPct val="0"/>
              </a:spcAft>
              <a:buClrTx/>
              <a:buSzTx/>
              <a:buFontTx/>
              <a:buNone/>
              <a:tabLst/>
            </a:pPr>
            <a:endParaRPr lang="fr-FR" sz="2000" dirty="0" smtClean="0">
              <a:latin typeface="Arial" pitchFamily="34" charset="0"/>
              <a:cs typeface="Arial" pitchFamily="34" charset="0"/>
            </a:endParaRPr>
          </a:p>
          <a:p>
            <a:pPr marL="0" marR="0" lvl="0" indent="0" algn="justLow" defTabSz="914400" rtl="0" eaLnBrk="0" fontAlgn="base" latinLnBrk="0" hangingPunct="0">
              <a:lnSpc>
                <a:spcPct val="100000"/>
              </a:lnSpc>
              <a:spcBef>
                <a:spcPct val="0"/>
              </a:spcBef>
              <a:spcAft>
                <a:spcPct val="0"/>
              </a:spcAft>
              <a:buClrTx/>
              <a:buSzTx/>
              <a:buFontTx/>
              <a:buNone/>
              <a:tabLst/>
            </a:pPr>
            <a:r>
              <a:rPr lang="fr-FR" sz="2000" dirty="0" smtClean="0">
                <a:latin typeface="Arial" pitchFamily="34" charset="0"/>
                <a:cs typeface="Arial" pitchFamily="34" charset="0"/>
              </a:rPr>
              <a:t>De façon générale, les termes employés par les innovateurs pour décrire les compétences ou les qualités d’une personne innovante sont massivement empruntés au sens commun.</a:t>
            </a:r>
          </a:p>
          <a:p>
            <a:pPr marL="0" marR="0" lvl="0" indent="0" algn="justLow" defTabSz="914400" rtl="0" eaLnBrk="0" fontAlgn="base" latinLnBrk="0" hangingPunct="0">
              <a:lnSpc>
                <a:spcPct val="100000"/>
              </a:lnSpc>
              <a:spcBef>
                <a:spcPct val="0"/>
              </a:spcBef>
              <a:spcAft>
                <a:spcPct val="0"/>
              </a:spcAft>
              <a:buClrTx/>
              <a:buSzTx/>
              <a:buFontTx/>
              <a:buNone/>
              <a:tabLst/>
            </a:pPr>
            <a:endParaRPr lang="fr-FR" sz="2000" dirty="0" smtClean="0">
              <a:latin typeface="Arial" pitchFamily="34" charset="0"/>
              <a:cs typeface="Arial" pitchFamily="34" charset="0"/>
            </a:endParaRPr>
          </a:p>
          <a:p>
            <a:pPr marL="0" marR="0" lvl="0" indent="0" algn="justLow" defTabSz="914400" rtl="0" eaLnBrk="0" fontAlgn="base" latinLnBrk="0" hangingPunct="0">
              <a:lnSpc>
                <a:spcPct val="100000"/>
              </a:lnSpc>
              <a:spcBef>
                <a:spcPct val="0"/>
              </a:spcBef>
              <a:spcAft>
                <a:spcPct val="0"/>
              </a:spcAft>
              <a:buClrTx/>
              <a:buSzTx/>
              <a:buFontTx/>
              <a:buNone/>
              <a:tabLst/>
            </a:pPr>
            <a:r>
              <a:rPr lang="fr-FR" sz="2000" dirty="0" smtClean="0">
                <a:latin typeface="Arial" pitchFamily="34" charset="0"/>
                <a:cs typeface="Arial" pitchFamily="34" charset="0"/>
              </a:rPr>
              <a:t>Curiosité, audace, rigoureux, souple, risques, etc. représentent ainsi plus de 90 % des termes employés. </a:t>
            </a:r>
          </a:p>
          <a:p>
            <a:pPr marL="0" marR="0" lvl="0" indent="0" algn="justLow" defTabSz="914400" rtl="0" eaLnBrk="0" fontAlgn="base" latinLnBrk="0" hangingPunct="0">
              <a:lnSpc>
                <a:spcPct val="100000"/>
              </a:lnSpc>
              <a:spcBef>
                <a:spcPct val="0"/>
              </a:spcBef>
              <a:spcAft>
                <a:spcPct val="0"/>
              </a:spcAft>
              <a:buClrTx/>
              <a:buSzTx/>
              <a:buFontTx/>
              <a:buNone/>
              <a:tabLst/>
            </a:pPr>
            <a:endParaRPr lang="fr-FR" sz="2000" dirty="0" smtClean="0">
              <a:latin typeface="Arial" pitchFamily="34" charset="0"/>
              <a:cs typeface="Arial" pitchFamily="34" charset="0"/>
            </a:endParaRPr>
          </a:p>
          <a:p>
            <a:pPr marL="0" marR="0" lvl="0" indent="0" algn="justLow" defTabSz="914400" rtl="0" eaLnBrk="0" fontAlgn="base" latinLnBrk="0" hangingPunct="0">
              <a:lnSpc>
                <a:spcPct val="100000"/>
              </a:lnSpc>
              <a:spcBef>
                <a:spcPct val="0"/>
              </a:spcBef>
              <a:spcAft>
                <a:spcPct val="0"/>
              </a:spcAft>
              <a:buClrTx/>
              <a:buSzTx/>
              <a:buFontTx/>
              <a:buNone/>
              <a:tabLst/>
            </a:pPr>
            <a:r>
              <a:rPr lang="fr-FR" sz="2000" dirty="0" smtClean="0">
                <a:latin typeface="Arial" pitchFamily="34" charset="0"/>
                <a:cs typeface="Arial" pitchFamily="34" charset="0"/>
              </a:rPr>
              <a:t>Plus de la moitié des personnes interrogées évoquent spontanément </a:t>
            </a:r>
            <a:r>
              <a:rPr lang="fr-FR" sz="2000" b="1" dirty="0" smtClean="0">
                <a:solidFill>
                  <a:schemeClr val="accent6"/>
                </a:solidFill>
                <a:latin typeface="Arial" pitchFamily="34" charset="0"/>
                <a:cs typeface="Arial" pitchFamily="34" charset="0"/>
              </a:rPr>
              <a:t>la curiosité </a:t>
            </a:r>
            <a:r>
              <a:rPr lang="fr-FR" sz="2000" dirty="0" smtClean="0">
                <a:latin typeface="Arial" pitchFamily="34" charset="0"/>
                <a:cs typeface="Arial" pitchFamily="34" charset="0"/>
              </a:rPr>
              <a:t>dans leurs définitions spontanées et celle-ci est également citée parmi les six qualités ou les compétences de l’innovateur, et plus du tiers parlent d’ouverture (d’esprit/socioculturelle). </a:t>
            </a:r>
          </a:p>
          <a:p>
            <a:pPr marL="0" marR="0" lvl="0" indent="0" algn="justLow" defTabSz="914400" rtl="0" eaLnBrk="0" fontAlgn="base" latinLnBrk="0" hangingPunct="0">
              <a:lnSpc>
                <a:spcPct val="100000"/>
              </a:lnSpc>
              <a:spcBef>
                <a:spcPct val="0"/>
              </a:spcBef>
              <a:spcAft>
                <a:spcPct val="0"/>
              </a:spcAft>
              <a:buClrTx/>
              <a:buSzTx/>
              <a:buFontTx/>
              <a:buNone/>
              <a:tabLst/>
            </a:pPr>
            <a:endParaRPr lang="fr-FR" sz="2000" dirty="0" smtClean="0">
              <a:latin typeface="Arial" pitchFamily="34" charset="0"/>
              <a:cs typeface="Arial" pitchFamily="34" charset="0"/>
            </a:endParaRPr>
          </a:p>
          <a:p>
            <a:pPr marL="0" marR="0" lvl="0" indent="0" algn="justLow" defTabSz="914400" rtl="0" eaLnBrk="0" fontAlgn="base" latinLnBrk="0" hangingPunct="0">
              <a:lnSpc>
                <a:spcPct val="100000"/>
              </a:lnSpc>
              <a:spcBef>
                <a:spcPct val="0"/>
              </a:spcBef>
              <a:spcAft>
                <a:spcPct val="0"/>
              </a:spcAft>
              <a:buClrTx/>
              <a:buSzTx/>
              <a:buFontTx/>
              <a:buNone/>
              <a:tabLst/>
            </a:pPr>
            <a:r>
              <a:rPr lang="fr-FR" sz="2000" dirty="0" smtClean="0">
                <a:latin typeface="Arial" pitchFamily="34" charset="0"/>
                <a:cs typeface="Arial" pitchFamily="34" charset="0"/>
              </a:rPr>
              <a:t>37 % des </a:t>
            </a:r>
            <a:r>
              <a:rPr lang="fr-FR" sz="2000" dirty="0" err="1" smtClean="0">
                <a:latin typeface="Arial" pitchFamily="34" charset="0"/>
                <a:cs typeface="Arial" pitchFamily="34" charset="0"/>
              </a:rPr>
              <a:t>startupers</a:t>
            </a:r>
            <a:r>
              <a:rPr lang="fr-FR" sz="2000" dirty="0" smtClean="0">
                <a:latin typeface="Arial" pitchFamily="34" charset="0"/>
                <a:cs typeface="Arial" pitchFamily="34" charset="0"/>
              </a:rPr>
              <a:t> citent spontanément </a:t>
            </a:r>
            <a:r>
              <a:rPr lang="fr-FR" sz="2000" b="1" dirty="0" smtClean="0">
                <a:solidFill>
                  <a:schemeClr val="accent6"/>
                </a:solidFill>
                <a:latin typeface="Arial" pitchFamily="34" charset="0"/>
                <a:cs typeface="Arial" pitchFamily="34" charset="0"/>
              </a:rPr>
              <a:t>la communication </a:t>
            </a:r>
            <a:r>
              <a:rPr lang="fr-FR" sz="2000" dirty="0" smtClean="0">
                <a:latin typeface="Arial" pitchFamily="34" charset="0"/>
                <a:cs typeface="Arial" pitchFamily="34" charset="0"/>
              </a:rPr>
              <a:t>.</a:t>
            </a:r>
          </a:p>
          <a:p>
            <a:endParaRPr lang="fr-FR" sz="2000" dirty="0" smtClean="0"/>
          </a:p>
          <a:p>
            <a:pPr algn="just"/>
            <a:r>
              <a:rPr lang="fr-FR" sz="2000" dirty="0" smtClean="0">
                <a:latin typeface="Arial" pitchFamily="34" charset="0"/>
                <a:cs typeface="Arial" pitchFamily="34" charset="0"/>
              </a:rPr>
              <a:t>35 % des personnes interrogées citent la </a:t>
            </a:r>
            <a:r>
              <a:rPr lang="fr-FR" sz="2000" b="1" dirty="0" smtClean="0">
                <a:solidFill>
                  <a:schemeClr val="accent6"/>
                </a:solidFill>
                <a:latin typeface="Arial" pitchFamily="34" charset="0"/>
                <a:cs typeface="Arial" pitchFamily="34" charset="0"/>
              </a:rPr>
              <a:t>persévérance</a:t>
            </a:r>
            <a:r>
              <a:rPr lang="fr-FR" sz="2000" dirty="0" smtClean="0">
                <a:latin typeface="Arial" pitchFamily="34" charset="0"/>
                <a:cs typeface="Arial" pitchFamily="34" charset="0"/>
              </a:rPr>
              <a:t> (ou une notion proche comme la volonté, la ténacité) comme compétence nécessaire à l’innovation</a:t>
            </a:r>
          </a:p>
        </p:txBody>
      </p:sp>
      <p:pic>
        <p:nvPicPr>
          <p:cNvPr id="4" name="Image 3"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5" name="Espace réservé de la date 4"/>
          <p:cNvSpPr>
            <a:spLocks noGrp="1"/>
          </p:cNvSpPr>
          <p:nvPr>
            <p:ph type="dt" sz="half" idx="10"/>
          </p:nvPr>
        </p:nvSpPr>
        <p:spPr/>
        <p:txBody>
          <a:bodyPr/>
          <a:lstStyle/>
          <a:p>
            <a:pPr lvl="0"/>
            <a:fld id="{5F32495E-DCB2-4909-B436-ECC411E32971}" type="datetime1">
              <a:rPr lang="en-US" smtClean="0"/>
              <a:pPr lvl="0"/>
              <a:t>11/16/2025</a:t>
            </a:fld>
            <a:endParaRPr lang="en-US"/>
          </a:p>
        </p:txBody>
      </p:sp>
      <p:sp>
        <p:nvSpPr>
          <p:cNvPr id="6" name="Espace réservé du numéro de diapositive 5"/>
          <p:cNvSpPr>
            <a:spLocks noGrp="1"/>
          </p:cNvSpPr>
          <p:nvPr>
            <p:ph type="sldNum" sz="quarter" idx="12"/>
          </p:nvPr>
        </p:nvSpPr>
        <p:spPr/>
        <p:txBody>
          <a:bodyPr/>
          <a:lstStyle/>
          <a:p>
            <a:pPr lvl="0"/>
            <a:fld id="{2390AFF8-1E19-449A-AA82-B5E4E90108F1}" type="slidenum">
              <a:rPr lang="fr-FR" smtClean="0"/>
              <a:pPr lvl="0"/>
              <a:t>63</a:t>
            </a:fld>
            <a:endParaRPr lang="fr-F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1397" y="1888288"/>
            <a:ext cx="10715624" cy="440120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dirty="0" smtClean="0">
                <a:solidFill>
                  <a:schemeClr val="dk1"/>
                </a:solidFill>
                <a:latin typeface="Arial" pitchFamily="34" charset="0"/>
                <a:cs typeface="Arial" pitchFamily="34" charset="0"/>
              </a:rPr>
              <a:t>38 % abordent le registre du travail en équipe, décliné dans des termes assez hétérogènes (collaborer, manager, fédérer, motiver, s’entourer). </a:t>
            </a:r>
          </a:p>
          <a:p>
            <a:pPr algn="just"/>
            <a:endParaRPr lang="fr-FR" sz="2000" dirty="0" smtClean="0">
              <a:latin typeface="Arial" pitchFamily="34" charset="0"/>
              <a:cs typeface="Arial" pitchFamily="34" charset="0"/>
            </a:endParaRPr>
          </a:p>
          <a:p>
            <a:pPr algn="just"/>
            <a:endParaRPr lang="fr-FR" sz="2000" dirty="0" smtClean="0">
              <a:latin typeface="Arial" pitchFamily="34" charset="0"/>
              <a:cs typeface="Arial" pitchFamily="34" charset="0"/>
            </a:endParaRPr>
          </a:p>
          <a:p>
            <a:pPr>
              <a:buFont typeface="Wingdings" pitchFamily="2" charset="2"/>
              <a:buChar char="v"/>
            </a:pPr>
            <a:r>
              <a:rPr lang="fr-FR" sz="2000" b="1" dirty="0" smtClean="0">
                <a:latin typeface="Arial" pitchFamily="34" charset="0"/>
                <a:cs typeface="Arial" pitchFamily="34" charset="0"/>
              </a:rPr>
              <a:t> Équipes et contextes favorables selon les innovateurs </a:t>
            </a:r>
          </a:p>
          <a:p>
            <a:r>
              <a:rPr lang="fr-FR" sz="2000" dirty="0" smtClean="0"/>
              <a:t> </a:t>
            </a:r>
          </a:p>
          <a:p>
            <a:pPr algn="just"/>
            <a:r>
              <a:rPr lang="fr-FR" sz="2000" dirty="0" smtClean="0">
                <a:latin typeface="Arial" pitchFamily="34" charset="0"/>
                <a:cs typeface="Arial" pitchFamily="34" charset="0"/>
              </a:rPr>
              <a:t>Les innovateurs confirment l’importance du groupe et de l’environnement de travail pour la réussite de l’innovation. S’ils peuvent attribuer des qualités aux individus, ce sont bien les équipes et les contextes qui freinent ou favorisent les résultats des processus d’innovation. </a:t>
            </a:r>
          </a:p>
          <a:p>
            <a:pPr algn="just"/>
            <a:endParaRPr lang="fr-FR" sz="2000" dirty="0" smtClean="0">
              <a:latin typeface="Arial" pitchFamily="34" charset="0"/>
              <a:cs typeface="Arial" pitchFamily="34" charset="0"/>
            </a:endParaRPr>
          </a:p>
          <a:p>
            <a:pPr algn="just"/>
            <a:r>
              <a:rPr lang="fr-FR" sz="2000" dirty="0" smtClean="0">
                <a:latin typeface="Arial" pitchFamily="34" charset="0"/>
                <a:cs typeface="Arial" pitchFamily="34" charset="0"/>
              </a:rPr>
              <a:t>Diversité et complémentarité des équipes innovantes Cet </a:t>
            </a:r>
            <a:r>
              <a:rPr lang="fr-FR" sz="2000" dirty="0" err="1" smtClean="0">
                <a:latin typeface="Arial" pitchFamily="34" charset="0"/>
                <a:cs typeface="Arial" pitchFamily="34" charset="0"/>
              </a:rPr>
              <a:t>intrapreneur</a:t>
            </a:r>
            <a:r>
              <a:rPr lang="fr-FR" sz="2000" dirty="0" smtClean="0">
                <a:latin typeface="Arial" pitchFamily="34" charset="0"/>
                <a:cs typeface="Arial" pitchFamily="34" charset="0"/>
              </a:rPr>
              <a:t> présente les ingrédients d’une équipe innovante : </a:t>
            </a:r>
          </a:p>
          <a:p>
            <a:pPr algn="just"/>
            <a:endParaRPr lang="fr-FR" sz="2000" dirty="0" smtClean="0">
              <a:latin typeface="Arial" pitchFamily="34" charset="0"/>
              <a:cs typeface="Arial" pitchFamily="34" charset="0"/>
            </a:endParaRPr>
          </a:p>
          <a:p>
            <a:pPr algn="just"/>
            <a:endParaRPr lang="fr-FR" sz="2000" dirty="0" smtClean="0">
              <a:solidFill>
                <a:schemeClr val="dk1"/>
              </a:solidFill>
              <a:latin typeface="Arial" pitchFamily="34" charset="0"/>
              <a:cs typeface="Arial" pitchFamily="34" charset="0"/>
            </a:endParaRPr>
          </a:p>
        </p:txBody>
      </p:sp>
      <p:pic>
        <p:nvPicPr>
          <p:cNvPr id="4" name="Image 3"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5" name="Espace réservé de la date 4"/>
          <p:cNvSpPr>
            <a:spLocks noGrp="1"/>
          </p:cNvSpPr>
          <p:nvPr>
            <p:ph type="dt" sz="half" idx="10"/>
          </p:nvPr>
        </p:nvSpPr>
        <p:spPr/>
        <p:txBody>
          <a:bodyPr/>
          <a:lstStyle/>
          <a:p>
            <a:pPr lvl="0"/>
            <a:fld id="{135C1205-5ACA-4433-B6E7-0558BD0DDACB}" type="datetime1">
              <a:rPr lang="en-US" smtClean="0"/>
              <a:pPr lvl="0"/>
              <a:t>11/16/2025</a:t>
            </a:fld>
            <a:endParaRPr lang="en-US"/>
          </a:p>
        </p:txBody>
      </p:sp>
      <p:sp>
        <p:nvSpPr>
          <p:cNvPr id="6" name="Espace réservé du numéro de diapositive 5"/>
          <p:cNvSpPr>
            <a:spLocks noGrp="1"/>
          </p:cNvSpPr>
          <p:nvPr>
            <p:ph type="sldNum" sz="quarter" idx="12"/>
          </p:nvPr>
        </p:nvSpPr>
        <p:spPr/>
        <p:txBody>
          <a:bodyPr/>
          <a:lstStyle/>
          <a:p>
            <a:pPr lvl="0"/>
            <a:fld id="{2390AFF8-1E19-449A-AA82-B5E4E90108F1}" type="slidenum">
              <a:rPr lang="fr-FR" smtClean="0"/>
              <a:pPr lvl="0"/>
              <a:t>64</a:t>
            </a:fld>
            <a:endParaRPr lang="fr-F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pic>
        <p:nvPicPr>
          <p:cNvPr id="4" name="Image 3"/>
          <p:cNvPicPr/>
          <p:nvPr/>
        </p:nvPicPr>
        <p:blipFill>
          <a:blip r:embed="rId3"/>
          <a:srcRect/>
          <a:stretch>
            <a:fillRect/>
          </a:stretch>
        </p:blipFill>
        <p:spPr bwMode="auto">
          <a:xfrm>
            <a:off x="6512784" y="4666788"/>
            <a:ext cx="5679216" cy="2191212"/>
          </a:xfrm>
          <a:prstGeom prst="rect">
            <a:avLst/>
          </a:prstGeom>
          <a:noFill/>
          <a:ln w="9525">
            <a:noFill/>
            <a:miter lim="800000"/>
            <a:headEnd/>
            <a:tailEnd/>
          </a:ln>
        </p:spPr>
      </p:pic>
      <p:sp>
        <p:nvSpPr>
          <p:cNvPr id="5" name="Parallélogramme 4"/>
          <p:cNvSpPr/>
          <p:nvPr/>
        </p:nvSpPr>
        <p:spPr>
          <a:xfrm>
            <a:off x="661012" y="1898135"/>
            <a:ext cx="11127036" cy="1834515"/>
          </a:xfrm>
          <a:prstGeom prst="parallelogram">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just"/>
            <a:endParaRPr lang="fr-FR" dirty="0" smtClean="0">
              <a:latin typeface="Arial" pitchFamily="34" charset="0"/>
              <a:ea typeface="Times New Roman" pitchFamily="18" charset="0"/>
              <a:cs typeface="Arial" pitchFamily="34" charset="0"/>
            </a:endParaRPr>
          </a:p>
          <a:p>
            <a:pPr algn="ctr"/>
            <a:r>
              <a:rPr lang="fr-FR" b="1" dirty="0" smtClean="0">
                <a:solidFill>
                  <a:schemeClr val="dk1"/>
                </a:solidFill>
                <a:latin typeface="Arial" pitchFamily="34" charset="0"/>
                <a:ea typeface="Times New Roman" pitchFamily="18" charset="0"/>
                <a:cs typeface="Arial" pitchFamily="34" charset="0"/>
              </a:rPr>
              <a:t>CHAPITRE III : L’ENTREPRENEUR ET LES FACTEURS DE LA REUSSITE ENTREPRENEURIALE </a:t>
            </a:r>
            <a:endParaRPr lang="fr-FR" sz="2400" b="1" dirty="0" smtClean="0">
              <a:solidFill>
                <a:schemeClr val="dk1"/>
              </a:solidFill>
              <a:latin typeface="Arial" pitchFamily="34" charset="0"/>
              <a:ea typeface="Times New Roman" pitchFamily="18" charset="0"/>
              <a:cs typeface="Arial" pitchFamily="34" charset="0"/>
            </a:endParaRPr>
          </a:p>
          <a:p>
            <a:pPr marL="342900" indent="-342900" algn="just">
              <a:buAutoNum type="arabicPeriod"/>
            </a:pPr>
            <a:endParaRPr lang="fr-FR" dirty="0" smtClean="0">
              <a:latin typeface="Arial" pitchFamily="34" charset="0"/>
              <a:ea typeface="Times New Roman" pitchFamily="18" charset="0"/>
              <a:cs typeface="Arial" pitchFamily="34" charset="0"/>
            </a:endParaRPr>
          </a:p>
          <a:p>
            <a:pPr marL="342900" indent="-342900" algn="just">
              <a:buAutoNum type="arabicPeriod"/>
            </a:pPr>
            <a:endParaRPr lang="fr-FR" dirty="0" smtClean="0">
              <a:solidFill>
                <a:schemeClr val="dk1"/>
              </a:solidFill>
              <a:latin typeface="Arial" pitchFamily="34" charset="0"/>
              <a:ea typeface="Times New Roman" pitchFamily="18" charset="0"/>
              <a:cs typeface="Arial"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45957" y="1750270"/>
            <a:ext cx="4163960" cy="338554"/>
          </a:xfrm>
          <a:prstGeom prst="rect">
            <a:avLst/>
          </a:prstGeom>
        </p:spPr>
        <p:txBody>
          <a:bodyPr wrap="none">
            <a:spAutoFit/>
          </a:bodyPr>
          <a:lstStyle/>
          <a:p>
            <a:r>
              <a:rPr lang="fr-FR" sz="1600" b="1" dirty="0" smtClean="0">
                <a:solidFill>
                  <a:srgbClr val="92D050"/>
                </a:solidFill>
                <a:latin typeface="Source Sans Pro"/>
              </a:rPr>
              <a:t>1- DEFINITION DE L’ENTREPRENEURIAT</a:t>
            </a:r>
          </a:p>
        </p:txBody>
      </p:sp>
      <p:sp>
        <p:nvSpPr>
          <p:cNvPr id="4" name="Rectangle 3"/>
          <p:cNvSpPr/>
          <p:nvPr/>
        </p:nvSpPr>
        <p:spPr>
          <a:xfrm>
            <a:off x="854529" y="2418260"/>
            <a:ext cx="10448925" cy="34778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lvl="0" algn="just" fontAlgn="base">
              <a:spcBef>
                <a:spcPct val="0"/>
              </a:spcBef>
              <a:spcAft>
                <a:spcPct val="0"/>
              </a:spcAft>
              <a:tabLst>
                <a:tab pos="949325" algn="l"/>
              </a:tabLst>
            </a:pPr>
            <a:r>
              <a:rPr lang="fr-FR" dirty="0" smtClean="0">
                <a:solidFill>
                  <a:srgbClr val="C00000"/>
                </a:solidFill>
                <a:latin typeface="Arial" pitchFamily="34" charset="0"/>
                <a:ea typeface="Microsoft Sans Serif" pitchFamily="34" charset="0"/>
                <a:cs typeface="Arial" pitchFamily="34" charset="0"/>
              </a:rPr>
              <a:t> </a:t>
            </a:r>
            <a:r>
              <a:rPr lang="fr-FR" sz="2000" dirty="0" smtClean="0">
                <a:solidFill>
                  <a:schemeClr val="dk1"/>
                </a:solidFill>
                <a:latin typeface="Arial" pitchFamily="34" charset="0"/>
                <a:cs typeface="Arial" pitchFamily="34" charset="0"/>
              </a:rPr>
              <a:t>L’entrepreneuriat est un terme à l’origine issu du terme d’entrepreneur qui est passé à la langue anglaise: </a:t>
            </a:r>
            <a:r>
              <a:rPr lang="fr-FR" sz="2000" dirty="0" err="1" smtClean="0">
                <a:solidFill>
                  <a:schemeClr val="dk1"/>
                </a:solidFill>
                <a:latin typeface="Arial" pitchFamily="34" charset="0"/>
                <a:cs typeface="Arial" pitchFamily="34" charset="0"/>
              </a:rPr>
              <a:t>entrepreneurship</a:t>
            </a:r>
            <a:r>
              <a:rPr lang="fr-FR" sz="2000" dirty="0" smtClean="0">
                <a:solidFill>
                  <a:schemeClr val="dk1"/>
                </a:solidFill>
                <a:latin typeface="Arial" pitchFamily="34" charset="0"/>
                <a:cs typeface="Arial" pitchFamily="34" charset="0"/>
              </a:rPr>
              <a:t>. Selon l’office québécois de la langue française, l’entrepreneuriat est défini comme la « fonction d’une personne qui mobilise et gère des ressources humaines et matérielles pour créer, développer et implanter des entreprises ». En tant que phénomène économique et social, les apports de l’entrepreneuriat à l’économie et à la société sont considérables et ils concernent :</a:t>
            </a:r>
          </a:p>
          <a:p>
            <a:pPr lvl="0" algn="just" fontAlgn="base">
              <a:spcBef>
                <a:spcPct val="0"/>
              </a:spcBef>
              <a:spcAft>
                <a:spcPct val="0"/>
              </a:spcAft>
              <a:tabLst>
                <a:tab pos="949325" algn="l"/>
              </a:tabLst>
            </a:pPr>
            <a:endParaRPr lang="fr-FR" sz="2000" dirty="0" smtClean="0">
              <a:solidFill>
                <a:schemeClr val="dk1"/>
              </a:solidFill>
              <a:latin typeface="Arial" pitchFamily="34" charset="0"/>
              <a:cs typeface="Arial" pitchFamily="34" charset="0"/>
            </a:endParaRPr>
          </a:p>
          <a:p>
            <a:pPr marL="542925" lvl="0" indent="-361950" algn="just" eaLnBrk="0" fontAlgn="base" hangingPunct="0">
              <a:spcBef>
                <a:spcPct val="0"/>
              </a:spcBef>
              <a:spcAft>
                <a:spcPct val="0"/>
              </a:spcAft>
              <a:buFontTx/>
              <a:buChar char="•"/>
              <a:tabLst>
                <a:tab pos="949325" algn="l"/>
              </a:tabLst>
            </a:pPr>
            <a:r>
              <a:rPr lang="fr-FR" sz="2000" dirty="0" smtClean="0">
                <a:solidFill>
                  <a:schemeClr val="dk1"/>
                </a:solidFill>
                <a:latin typeface="Arial" pitchFamily="34" charset="0"/>
                <a:cs typeface="Arial" pitchFamily="34" charset="0"/>
              </a:rPr>
              <a:t>La création d’entreprises et le renouvellement du parc dans les différents domaines d’activités.</a:t>
            </a:r>
          </a:p>
          <a:p>
            <a:pPr marL="542925" lvl="0" indent="-361950" algn="just" eaLnBrk="0" fontAlgn="base" hangingPunct="0">
              <a:spcBef>
                <a:spcPct val="0"/>
              </a:spcBef>
              <a:spcAft>
                <a:spcPct val="0"/>
              </a:spcAft>
              <a:buFontTx/>
              <a:buChar char="•"/>
              <a:tabLst>
                <a:tab pos="949325" algn="l"/>
              </a:tabLst>
            </a:pPr>
            <a:r>
              <a:rPr lang="fr-FR" sz="2000" dirty="0" smtClean="0">
                <a:solidFill>
                  <a:schemeClr val="dk1"/>
                </a:solidFill>
                <a:latin typeface="Arial" pitchFamily="34" charset="0"/>
                <a:cs typeface="Arial" pitchFamily="34" charset="0"/>
              </a:rPr>
              <a:t>La création d’emploi comme une réponse aux problèmes.</a:t>
            </a:r>
          </a:p>
          <a:p>
            <a:pPr marL="542925" indent="-361950" algn="just" eaLnBrk="0" fontAlgn="base" hangingPunct="0">
              <a:spcBef>
                <a:spcPct val="0"/>
              </a:spcBef>
              <a:spcAft>
                <a:spcPct val="0"/>
              </a:spcAft>
              <a:buFontTx/>
              <a:buChar char="•"/>
              <a:tabLst>
                <a:tab pos="949325" algn="l"/>
              </a:tabLst>
            </a:pPr>
            <a:r>
              <a:rPr lang="fr-FR" sz="2000" dirty="0" smtClean="0">
                <a:solidFill>
                  <a:schemeClr val="dk1"/>
                </a:solidFill>
                <a:latin typeface="Arial" pitchFamily="34" charset="0"/>
                <a:cs typeface="Arial" pitchFamily="34" charset="0"/>
              </a:rPr>
              <a:t>L’innovation et les opportunités innovantes. </a:t>
            </a:r>
          </a:p>
        </p:txBody>
      </p:sp>
      <p:pic>
        <p:nvPicPr>
          <p:cNvPr id="6" name="Image 5"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5" name="Espace réservé de la date 4"/>
          <p:cNvSpPr>
            <a:spLocks noGrp="1"/>
          </p:cNvSpPr>
          <p:nvPr>
            <p:ph type="dt" sz="half" idx="10"/>
          </p:nvPr>
        </p:nvSpPr>
        <p:spPr/>
        <p:txBody>
          <a:bodyPr/>
          <a:lstStyle/>
          <a:p>
            <a:pPr lvl="0"/>
            <a:fld id="{FE21C340-C434-4F25-8DE9-B8B4CDA55896}" type="datetime1">
              <a:rPr lang="en-US" smtClean="0"/>
              <a:pPr lvl="0"/>
              <a:t>11/16/2025</a:t>
            </a:fld>
            <a:endParaRPr lang="en-US"/>
          </a:p>
        </p:txBody>
      </p:sp>
      <p:sp>
        <p:nvSpPr>
          <p:cNvPr id="7" name="Espace réservé du numéro de diapositive 6"/>
          <p:cNvSpPr>
            <a:spLocks noGrp="1"/>
          </p:cNvSpPr>
          <p:nvPr>
            <p:ph type="sldNum" sz="quarter" idx="12"/>
          </p:nvPr>
        </p:nvSpPr>
        <p:spPr/>
        <p:txBody>
          <a:bodyPr/>
          <a:lstStyle/>
          <a:p>
            <a:pPr lvl="0"/>
            <a:fld id="{2390AFF8-1E19-449A-AA82-B5E4E90108F1}" type="slidenum">
              <a:rPr lang="fr-FR" smtClean="0"/>
              <a:pPr lvl="0"/>
              <a:t>66</a:t>
            </a:fld>
            <a:endParaRPr lang="fr-F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75869" y="1478127"/>
            <a:ext cx="4753096" cy="338554"/>
          </a:xfrm>
          <a:prstGeom prst="rect">
            <a:avLst/>
          </a:prstGeom>
        </p:spPr>
        <p:txBody>
          <a:bodyPr wrap="none">
            <a:spAutoFit/>
          </a:bodyPr>
          <a:lstStyle/>
          <a:p>
            <a:r>
              <a:rPr lang="fr-FR" sz="1600" b="1" dirty="0" smtClean="0">
                <a:solidFill>
                  <a:srgbClr val="92D050"/>
                </a:solidFill>
                <a:latin typeface="Source Sans Pro"/>
              </a:rPr>
              <a:t>2- L’ENTREPRENEUR : Caractères et fonctions</a:t>
            </a:r>
          </a:p>
        </p:txBody>
      </p:sp>
      <p:sp>
        <p:nvSpPr>
          <p:cNvPr id="3" name="Rectangle 2"/>
          <p:cNvSpPr/>
          <p:nvPr/>
        </p:nvSpPr>
        <p:spPr>
          <a:xfrm>
            <a:off x="3927234" y="2071398"/>
            <a:ext cx="4104009" cy="400110"/>
          </a:xfrm>
          <a:prstGeom prst="rect">
            <a:avLst/>
          </a:prstGeom>
        </p:spPr>
        <p:txBody>
          <a:bodyPr wrap="none">
            <a:spAutoFit/>
          </a:bodyPr>
          <a:lstStyle/>
          <a:p>
            <a:pPr>
              <a:buFont typeface="Wingdings" pitchFamily="2" charset="2"/>
              <a:buChar char="q"/>
            </a:pPr>
            <a:r>
              <a:rPr lang="fr-FR" sz="2000" b="1" dirty="0" smtClean="0">
                <a:solidFill>
                  <a:schemeClr val="tx2"/>
                </a:solidFill>
                <a:latin typeface="Arial" pitchFamily="34" charset="0"/>
                <a:cs typeface="Arial" pitchFamily="34" charset="0"/>
              </a:rPr>
              <a:t> Caractères d’un Entrepreneur</a:t>
            </a:r>
          </a:p>
        </p:txBody>
      </p:sp>
      <p:sp>
        <p:nvSpPr>
          <p:cNvPr id="4" name="Rectangle 3"/>
          <p:cNvSpPr/>
          <p:nvPr/>
        </p:nvSpPr>
        <p:spPr>
          <a:xfrm>
            <a:off x="823232" y="2564870"/>
            <a:ext cx="10715624" cy="403187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endParaRPr lang="fr-FR" sz="2000" dirty="0" smtClean="0">
              <a:solidFill>
                <a:schemeClr val="dk1"/>
              </a:solidFill>
              <a:latin typeface="Arial" pitchFamily="34" charset="0"/>
              <a:cs typeface="Arial" pitchFamily="34" charset="0"/>
            </a:endParaRPr>
          </a:p>
          <a:p>
            <a:pPr algn="just"/>
            <a:r>
              <a:rPr lang="fr-FR" sz="2000" dirty="0" smtClean="0">
                <a:solidFill>
                  <a:schemeClr val="dk1"/>
                </a:solidFill>
                <a:latin typeface="Arial" pitchFamily="34" charset="0"/>
                <a:cs typeface="Arial" pitchFamily="34" charset="0"/>
              </a:rPr>
              <a:t>L'entrepreneur est une personne qui possède cet état d'esprit communément désigné sous le vocale "</a:t>
            </a:r>
            <a:r>
              <a:rPr lang="fr-FR" sz="2000" b="1" dirty="0" smtClean="0">
                <a:solidFill>
                  <a:schemeClr val="dk1"/>
                </a:solidFill>
                <a:latin typeface="Arial" pitchFamily="34" charset="0"/>
                <a:cs typeface="Arial" pitchFamily="34" charset="0"/>
              </a:rPr>
              <a:t>esprit Entrepreneurial</a:t>
            </a:r>
            <a:r>
              <a:rPr lang="fr-FR" sz="2000" dirty="0" smtClean="0">
                <a:solidFill>
                  <a:schemeClr val="dk1"/>
                </a:solidFill>
                <a:latin typeface="Arial" pitchFamily="34" charset="0"/>
                <a:cs typeface="Arial" pitchFamily="34" charset="0"/>
              </a:rPr>
              <a:t>" qui peut être défini comme l'aptitude d'un individu à prendre des risques pour engager des capitaux dans une entreprise, consistant à apporter quelque chose d'innovant, de créatif, ceci en employant et en combinant de la façon la plus performante possible des ressources diverses.</a:t>
            </a:r>
          </a:p>
          <a:p>
            <a:pPr algn="just"/>
            <a:endParaRPr lang="fr-FR" sz="800" dirty="0" smtClean="0">
              <a:solidFill>
                <a:schemeClr val="dk1"/>
              </a:solidFill>
              <a:latin typeface="Arial" pitchFamily="34" charset="0"/>
              <a:cs typeface="Arial" pitchFamily="34" charset="0"/>
            </a:endParaRPr>
          </a:p>
          <a:p>
            <a:pPr algn="just"/>
            <a:r>
              <a:rPr lang="fr-FR" sz="2000" dirty="0" smtClean="0">
                <a:solidFill>
                  <a:schemeClr val="dk1"/>
                </a:solidFill>
                <a:latin typeface="Arial" pitchFamily="34" charset="0"/>
                <a:cs typeface="Arial" pitchFamily="34" charset="0"/>
              </a:rPr>
              <a:t>Au-delà de la capacité à prendre des risques, et bien que tous les entrepreneurs ne se</a:t>
            </a:r>
          </a:p>
          <a:p>
            <a:pPr algn="just"/>
            <a:r>
              <a:rPr lang="fr-FR" sz="2000" dirty="0" smtClean="0">
                <a:solidFill>
                  <a:schemeClr val="dk1"/>
                </a:solidFill>
                <a:latin typeface="Arial" pitchFamily="34" charset="0"/>
                <a:cs typeface="Arial" pitchFamily="34" charset="0"/>
              </a:rPr>
              <a:t>ressemblent pas, ils partagent certaines caractéristiques :</a:t>
            </a:r>
          </a:p>
          <a:p>
            <a:pPr algn="just"/>
            <a:endParaRPr lang="fr-FR" sz="800" dirty="0" smtClean="0">
              <a:solidFill>
                <a:schemeClr val="dk1"/>
              </a:solidFill>
              <a:latin typeface="Arial" pitchFamily="34" charset="0"/>
              <a:cs typeface="Arial" pitchFamily="34" charset="0"/>
            </a:endParaRPr>
          </a:p>
          <a:p>
            <a:pPr marL="542925" indent="266700" algn="just">
              <a:buFont typeface="Wingdings" pitchFamily="2" charset="2"/>
              <a:buChar char="v"/>
              <a:tabLst>
                <a:tab pos="809625" algn="l"/>
                <a:tab pos="895350" algn="l"/>
              </a:tabLst>
            </a:pPr>
            <a:r>
              <a:rPr lang="fr-FR" sz="2000" dirty="0" smtClean="0">
                <a:solidFill>
                  <a:schemeClr val="dk1"/>
                </a:solidFill>
                <a:latin typeface="Arial" pitchFamily="34" charset="0"/>
                <a:cs typeface="Arial" pitchFamily="34" charset="0"/>
              </a:rPr>
              <a:t> L'entrepreneur est un individu dynamique et motivé par un besoin de réalisation;</a:t>
            </a:r>
          </a:p>
          <a:p>
            <a:pPr marL="542925" indent="266700" algn="just">
              <a:buFont typeface="Wingdings" pitchFamily="2" charset="2"/>
              <a:buChar char="v"/>
              <a:tabLst>
                <a:tab pos="809625" algn="l"/>
                <a:tab pos="895350" algn="l"/>
              </a:tabLst>
            </a:pPr>
            <a:r>
              <a:rPr lang="fr-FR" sz="2000" dirty="0" smtClean="0">
                <a:solidFill>
                  <a:schemeClr val="dk1"/>
                </a:solidFill>
                <a:latin typeface="Arial" pitchFamily="34" charset="0"/>
                <a:cs typeface="Arial" pitchFamily="34" charset="0"/>
              </a:rPr>
              <a:t> Indépendant, l'entrepreneur est un leader qui n'aime pas se plier à l'autorité;</a:t>
            </a:r>
          </a:p>
          <a:p>
            <a:pPr marL="542925" indent="266700" algn="just">
              <a:buFont typeface="Wingdings" pitchFamily="2" charset="2"/>
              <a:buChar char="v"/>
              <a:tabLst>
                <a:tab pos="809625" algn="l"/>
                <a:tab pos="895350" algn="l"/>
              </a:tabLst>
            </a:pPr>
            <a:r>
              <a:rPr lang="fr-FR" sz="2000" dirty="0" smtClean="0">
                <a:solidFill>
                  <a:schemeClr val="dk1"/>
                </a:solidFill>
                <a:latin typeface="Arial" pitchFamily="34" charset="0"/>
                <a:cs typeface="Arial" pitchFamily="34" charset="0"/>
              </a:rPr>
              <a:t> Intuitif, créatif et opportuniste, il cherche à innover;</a:t>
            </a:r>
          </a:p>
          <a:p>
            <a:pPr marL="542925" indent="266700" algn="just">
              <a:buFont typeface="Wingdings" pitchFamily="2" charset="2"/>
              <a:buChar char="v"/>
              <a:tabLst>
                <a:tab pos="809625" algn="l"/>
                <a:tab pos="895350" algn="l"/>
              </a:tabLst>
            </a:pPr>
            <a:r>
              <a:rPr lang="fr-FR" sz="2000" dirty="0" smtClean="0">
                <a:solidFill>
                  <a:schemeClr val="dk1"/>
                </a:solidFill>
                <a:latin typeface="Arial" pitchFamily="34" charset="0"/>
                <a:cs typeface="Arial" pitchFamily="34" charset="0"/>
              </a:rPr>
              <a:t> Persévérant et travailleur, il se passionne pour la réalisation de son but.</a:t>
            </a:r>
          </a:p>
        </p:txBody>
      </p:sp>
      <p:pic>
        <p:nvPicPr>
          <p:cNvPr id="6" name="Image 5"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7" name="Espace réservé de la date 6"/>
          <p:cNvSpPr>
            <a:spLocks noGrp="1"/>
          </p:cNvSpPr>
          <p:nvPr>
            <p:ph type="dt" sz="half" idx="10"/>
          </p:nvPr>
        </p:nvSpPr>
        <p:spPr/>
        <p:txBody>
          <a:bodyPr/>
          <a:lstStyle/>
          <a:p>
            <a:pPr lvl="0"/>
            <a:fld id="{97B7ACC5-468B-4C21-BD86-088E279E791E}" type="datetime1">
              <a:rPr lang="en-US" smtClean="0"/>
              <a:pPr lvl="0"/>
              <a:t>11/16/2025</a:t>
            </a:fld>
            <a:endParaRPr lang="en-US"/>
          </a:p>
        </p:txBody>
      </p:sp>
      <p:sp>
        <p:nvSpPr>
          <p:cNvPr id="8" name="Espace réservé du numéro de diapositive 7"/>
          <p:cNvSpPr>
            <a:spLocks noGrp="1"/>
          </p:cNvSpPr>
          <p:nvPr>
            <p:ph type="sldNum" sz="quarter" idx="12"/>
          </p:nvPr>
        </p:nvSpPr>
        <p:spPr/>
        <p:txBody>
          <a:bodyPr/>
          <a:lstStyle/>
          <a:p>
            <a:pPr lvl="0"/>
            <a:fld id="{2390AFF8-1E19-449A-AA82-B5E4E90108F1}" type="slidenum">
              <a:rPr lang="fr-FR" smtClean="0"/>
              <a:pPr lvl="0"/>
              <a:t>67</a:t>
            </a:fld>
            <a:endParaRPr lang="fr-F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55221" y="2169289"/>
            <a:ext cx="10277475" cy="255454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dirty="0" smtClean="0">
                <a:solidFill>
                  <a:schemeClr val="dk1"/>
                </a:solidFill>
                <a:latin typeface="Arial" pitchFamily="34" charset="0"/>
                <a:cs typeface="Arial" pitchFamily="34" charset="0"/>
              </a:rPr>
              <a:t>On attend donc d'un entrepreneur qu'il ait:</a:t>
            </a:r>
          </a:p>
          <a:p>
            <a:pPr marL="990600" indent="85725" algn="just"/>
            <a:endParaRPr lang="fr-FR" sz="2000" dirty="0" smtClean="0">
              <a:solidFill>
                <a:schemeClr val="dk1"/>
              </a:solidFill>
              <a:latin typeface="Arial" pitchFamily="34" charset="0"/>
              <a:cs typeface="Arial" pitchFamily="34" charset="0"/>
            </a:endParaRPr>
          </a:p>
          <a:p>
            <a:pPr marL="990600" indent="-361950" algn="just">
              <a:buFont typeface="Wingdings" pitchFamily="2" charset="2"/>
              <a:buChar char="Ø"/>
            </a:pPr>
            <a:r>
              <a:rPr lang="fr-FR" sz="2000" dirty="0" smtClean="0">
                <a:solidFill>
                  <a:schemeClr val="dk1"/>
                </a:solidFill>
                <a:latin typeface="Arial" pitchFamily="34" charset="0"/>
                <a:cs typeface="Arial" pitchFamily="34" charset="0"/>
              </a:rPr>
              <a:t> La capacité de repérer les opportunités et de trouver les ressources nécessaires à leur exploitation;</a:t>
            </a:r>
          </a:p>
          <a:p>
            <a:pPr marL="990600" indent="-361950" algn="just">
              <a:buFont typeface="Wingdings" pitchFamily="2" charset="2"/>
              <a:buChar char="Ø"/>
            </a:pPr>
            <a:r>
              <a:rPr lang="fr-FR" sz="2000" dirty="0" smtClean="0">
                <a:solidFill>
                  <a:schemeClr val="dk1"/>
                </a:solidFill>
                <a:latin typeface="Arial" pitchFamily="34" charset="0"/>
                <a:cs typeface="Arial" pitchFamily="34" charset="0"/>
              </a:rPr>
              <a:t> La volonté de prendre des risques pour concrétiser ses idées;</a:t>
            </a:r>
          </a:p>
          <a:p>
            <a:pPr marL="990600" indent="-361950" algn="just">
              <a:buFont typeface="Wingdings" pitchFamily="2" charset="2"/>
              <a:buChar char="Ø"/>
            </a:pPr>
            <a:r>
              <a:rPr lang="fr-FR" sz="2000" dirty="0" smtClean="0">
                <a:solidFill>
                  <a:schemeClr val="dk1"/>
                </a:solidFill>
                <a:latin typeface="Arial" pitchFamily="34" charset="0"/>
                <a:cs typeface="Arial" pitchFamily="34" charset="0"/>
              </a:rPr>
              <a:t> Les compétences pour bâtir un projet et le mener à bien;</a:t>
            </a:r>
          </a:p>
          <a:p>
            <a:pPr marL="990600" indent="-361950" algn="just">
              <a:buFont typeface="Wingdings" pitchFamily="2" charset="2"/>
              <a:buChar char="Ø"/>
            </a:pPr>
            <a:r>
              <a:rPr lang="fr-FR" sz="2000" dirty="0" smtClean="0">
                <a:solidFill>
                  <a:schemeClr val="dk1"/>
                </a:solidFill>
                <a:latin typeface="Arial" pitchFamily="34" charset="0"/>
                <a:cs typeface="Arial" pitchFamily="34" charset="0"/>
              </a:rPr>
              <a:t> La détermination nécessaire pour créer son emploi plutôt que de le chercher.</a:t>
            </a:r>
          </a:p>
          <a:p>
            <a:pPr marL="990600" indent="-361950" algn="just">
              <a:buFont typeface="Wingdings" pitchFamily="2" charset="2"/>
              <a:buChar char="Ø"/>
            </a:pPr>
            <a:endParaRPr lang="fr-FR" sz="2000" dirty="0" smtClean="0">
              <a:solidFill>
                <a:schemeClr val="dk1"/>
              </a:solidFill>
              <a:latin typeface="Arial" pitchFamily="34" charset="0"/>
              <a:cs typeface="Arial" pitchFamily="34" charset="0"/>
            </a:endParaRPr>
          </a:p>
        </p:txBody>
      </p:sp>
      <p:pic>
        <p:nvPicPr>
          <p:cNvPr id="5" name="Image 4"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4" name="Espace réservé de la date 3"/>
          <p:cNvSpPr>
            <a:spLocks noGrp="1"/>
          </p:cNvSpPr>
          <p:nvPr>
            <p:ph type="dt" sz="half" idx="10"/>
          </p:nvPr>
        </p:nvSpPr>
        <p:spPr/>
        <p:txBody>
          <a:bodyPr/>
          <a:lstStyle/>
          <a:p>
            <a:pPr lvl="0"/>
            <a:fld id="{4FC5C5CF-4482-4EF1-AD41-0FA52EA94FD1}" type="datetime1">
              <a:rPr lang="en-US" smtClean="0"/>
              <a:pPr lvl="0"/>
              <a:t>11/16/2025</a:t>
            </a:fld>
            <a:endParaRPr lang="en-US"/>
          </a:p>
        </p:txBody>
      </p:sp>
      <p:sp>
        <p:nvSpPr>
          <p:cNvPr id="6" name="Espace réservé du numéro de diapositive 5"/>
          <p:cNvSpPr>
            <a:spLocks noGrp="1"/>
          </p:cNvSpPr>
          <p:nvPr>
            <p:ph type="sldNum" sz="quarter" idx="12"/>
          </p:nvPr>
        </p:nvSpPr>
        <p:spPr/>
        <p:txBody>
          <a:bodyPr/>
          <a:lstStyle/>
          <a:p>
            <a:pPr lvl="0"/>
            <a:fld id="{2390AFF8-1E19-449A-AA82-B5E4E90108F1}" type="slidenum">
              <a:rPr lang="fr-FR" smtClean="0"/>
              <a:pPr lvl="0"/>
              <a:t>68</a:t>
            </a:fld>
            <a:endParaRPr lang="fr-F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52500" y="2274838"/>
            <a:ext cx="10325100" cy="317009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fr-FR" sz="2000" dirty="0" smtClean="0">
                <a:solidFill>
                  <a:schemeClr val="dk1"/>
                </a:solidFill>
                <a:latin typeface="Arial" pitchFamily="34" charset="0"/>
                <a:cs typeface="Arial" pitchFamily="34" charset="0"/>
              </a:rPr>
              <a:t>Les 4 fonctions principales pour décrire un entrepreneur sont :</a:t>
            </a:r>
          </a:p>
          <a:p>
            <a:endParaRPr lang="fr-FR" sz="2000" dirty="0" smtClean="0">
              <a:solidFill>
                <a:schemeClr val="dk1"/>
              </a:solidFill>
              <a:latin typeface="Arial" pitchFamily="34" charset="0"/>
              <a:cs typeface="Arial" pitchFamily="34" charset="0"/>
            </a:endParaRPr>
          </a:p>
          <a:p>
            <a:endParaRPr lang="fr-FR" sz="2000" dirty="0" smtClean="0">
              <a:solidFill>
                <a:schemeClr val="dk1"/>
              </a:solidFill>
              <a:latin typeface="Arial" pitchFamily="34" charset="0"/>
              <a:cs typeface="Arial" pitchFamily="34" charset="0"/>
            </a:endParaRPr>
          </a:p>
          <a:p>
            <a:pPr>
              <a:buFont typeface="Arial" pitchFamily="34" charset="0"/>
              <a:buChar char="§"/>
            </a:pPr>
            <a:r>
              <a:rPr lang="fr-FR" sz="2000" dirty="0" smtClean="0">
                <a:solidFill>
                  <a:schemeClr val="dk1"/>
                </a:solidFill>
                <a:latin typeface="Arial" pitchFamily="34" charset="0"/>
                <a:cs typeface="Arial" pitchFamily="34" charset="0"/>
              </a:rPr>
              <a:t> La capacité d'identifier une opportunité, </a:t>
            </a:r>
          </a:p>
          <a:p>
            <a:pPr>
              <a:buFont typeface="Arial" pitchFamily="34" charset="0"/>
              <a:buChar char="§"/>
            </a:pPr>
            <a:r>
              <a:rPr lang="fr-FR" sz="2000" dirty="0" smtClean="0">
                <a:solidFill>
                  <a:schemeClr val="dk1"/>
                </a:solidFill>
                <a:latin typeface="Arial" pitchFamily="34" charset="0"/>
                <a:cs typeface="Arial" pitchFamily="34" charset="0"/>
              </a:rPr>
              <a:t> Création d'une nouvelle entreprise (new Business </a:t>
            </a:r>
            <a:r>
              <a:rPr lang="fr-FR" sz="2000" dirty="0" err="1" smtClean="0">
                <a:solidFill>
                  <a:schemeClr val="dk1"/>
                </a:solidFill>
                <a:latin typeface="Arial" pitchFamily="34" charset="0"/>
                <a:cs typeface="Arial" pitchFamily="34" charset="0"/>
              </a:rPr>
              <a:t>creator</a:t>
            </a:r>
            <a:r>
              <a:rPr lang="fr-FR" sz="2000" dirty="0" smtClean="0">
                <a:solidFill>
                  <a:schemeClr val="dk1"/>
                </a:solidFill>
                <a:latin typeface="Arial" pitchFamily="34" charset="0"/>
                <a:cs typeface="Arial" pitchFamily="34" charset="0"/>
              </a:rPr>
              <a:t>), </a:t>
            </a:r>
          </a:p>
          <a:p>
            <a:pPr>
              <a:buFont typeface="Arial" pitchFamily="34" charset="0"/>
              <a:buChar char="§"/>
            </a:pPr>
            <a:r>
              <a:rPr lang="fr-FR" sz="2000" dirty="0" smtClean="0">
                <a:solidFill>
                  <a:schemeClr val="dk1"/>
                </a:solidFill>
                <a:latin typeface="Arial" pitchFamily="34" charset="0"/>
                <a:cs typeface="Arial" pitchFamily="34" charset="0"/>
              </a:rPr>
              <a:t> Introduction d'une innovation (Gap Filler), </a:t>
            </a:r>
          </a:p>
          <a:p>
            <a:pPr>
              <a:buFont typeface="Arial" pitchFamily="34" charset="0"/>
              <a:buChar char="§"/>
            </a:pPr>
            <a:r>
              <a:rPr lang="fr-FR" sz="2000" dirty="0" smtClean="0">
                <a:solidFill>
                  <a:schemeClr val="dk1"/>
                </a:solidFill>
                <a:latin typeface="Arial" pitchFamily="34" charset="0"/>
                <a:cs typeface="Arial" pitchFamily="34" charset="0"/>
              </a:rPr>
              <a:t> et prendre des risques personnels;</a:t>
            </a:r>
          </a:p>
          <a:p>
            <a:endParaRPr lang="fr-FR" sz="2000" dirty="0" smtClean="0">
              <a:solidFill>
                <a:schemeClr val="dk1"/>
              </a:solidFill>
              <a:latin typeface="Arial" pitchFamily="34" charset="0"/>
              <a:cs typeface="Arial" pitchFamily="34" charset="0"/>
            </a:endParaRPr>
          </a:p>
          <a:p>
            <a:r>
              <a:rPr lang="fr-FR" sz="2000" dirty="0" smtClean="0">
                <a:solidFill>
                  <a:schemeClr val="dk1"/>
                </a:solidFill>
                <a:latin typeface="Arial" pitchFamily="34" charset="0"/>
                <a:cs typeface="Arial" pitchFamily="34" charset="0"/>
              </a:rPr>
              <a:t>représentent les quatre aspects fonctionnels qui permet de distinguer les entrepreneurs</a:t>
            </a:r>
          </a:p>
          <a:p>
            <a:r>
              <a:rPr lang="fr-FR" sz="2000" dirty="0" smtClean="0">
                <a:solidFill>
                  <a:schemeClr val="dk1"/>
                </a:solidFill>
                <a:latin typeface="Arial" pitchFamily="34" charset="0"/>
                <a:cs typeface="Arial" pitchFamily="34" charset="0"/>
              </a:rPr>
              <a:t>des gestionnaires, créateurs d'entreprise ou des inventeurs.</a:t>
            </a:r>
          </a:p>
        </p:txBody>
      </p:sp>
      <p:sp>
        <p:nvSpPr>
          <p:cNvPr id="3" name="Rectangle 2"/>
          <p:cNvSpPr/>
          <p:nvPr/>
        </p:nvSpPr>
        <p:spPr>
          <a:xfrm>
            <a:off x="3861919" y="1472684"/>
            <a:ext cx="4334841" cy="400110"/>
          </a:xfrm>
          <a:prstGeom prst="rect">
            <a:avLst/>
          </a:prstGeom>
        </p:spPr>
        <p:txBody>
          <a:bodyPr wrap="none">
            <a:spAutoFit/>
          </a:bodyPr>
          <a:lstStyle/>
          <a:p>
            <a:pPr>
              <a:buFont typeface="Wingdings" pitchFamily="2" charset="2"/>
              <a:buChar char="q"/>
            </a:pPr>
            <a:r>
              <a:rPr lang="fr-FR" sz="2000" b="1" dirty="0" smtClean="0">
                <a:solidFill>
                  <a:schemeClr val="tx2"/>
                </a:solidFill>
                <a:latin typeface="Arial" pitchFamily="34" charset="0"/>
                <a:cs typeface="Arial" pitchFamily="34" charset="0"/>
              </a:rPr>
              <a:t> Les fonctions de l’Entrepreneur</a:t>
            </a:r>
          </a:p>
        </p:txBody>
      </p:sp>
      <p:pic>
        <p:nvPicPr>
          <p:cNvPr id="5" name="Image 4"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6" name="Espace réservé de la date 5"/>
          <p:cNvSpPr>
            <a:spLocks noGrp="1"/>
          </p:cNvSpPr>
          <p:nvPr>
            <p:ph type="dt" sz="half" idx="10"/>
          </p:nvPr>
        </p:nvSpPr>
        <p:spPr/>
        <p:txBody>
          <a:bodyPr/>
          <a:lstStyle/>
          <a:p>
            <a:pPr lvl="0"/>
            <a:fld id="{EBE5DF62-4EB8-4ACE-B061-C3F72E8AB1DE}" type="datetime1">
              <a:rPr lang="en-US" smtClean="0"/>
              <a:pPr lvl="0"/>
              <a:t>11/16/2025</a:t>
            </a:fld>
            <a:endParaRPr lang="en-US"/>
          </a:p>
        </p:txBody>
      </p:sp>
      <p:sp>
        <p:nvSpPr>
          <p:cNvPr id="7" name="Espace réservé du numéro de diapositive 6"/>
          <p:cNvSpPr>
            <a:spLocks noGrp="1"/>
          </p:cNvSpPr>
          <p:nvPr>
            <p:ph type="sldNum" sz="quarter" idx="12"/>
          </p:nvPr>
        </p:nvSpPr>
        <p:spPr/>
        <p:txBody>
          <a:bodyPr/>
          <a:lstStyle/>
          <a:p>
            <a:pPr lvl="0"/>
            <a:fld id="{2390AFF8-1E19-449A-AA82-B5E4E90108F1}" type="slidenum">
              <a:rPr lang="fr-FR" smtClean="0"/>
              <a:pPr lvl="0"/>
              <a:t>69</a:t>
            </a:fld>
            <a:endParaRPr lang="fr-F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p:cNvSpPr>
            <a:spLocks noChangeArrowheads="1"/>
          </p:cNvSpPr>
          <p:nvPr/>
        </p:nvSpPr>
        <p:spPr bwMode="auto">
          <a:xfrm>
            <a:off x="853168" y="1683204"/>
            <a:ext cx="4600575" cy="1687890"/>
          </a:xfrm>
          <a:prstGeom prst="ellipse">
            <a:avLst/>
          </a:prstGeom>
          <a:ln>
            <a:headEnd/>
            <a:tailEn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b="1" i="0" u="none" strike="noStrike" cap="none" normalizeH="0" baseline="0" dirty="0" smtClean="0">
                <a:ln>
                  <a:noFill/>
                </a:ln>
                <a:solidFill>
                  <a:schemeClr val="tx1"/>
                </a:solidFill>
                <a:effectLst/>
                <a:latin typeface="Calibri" pitchFamily="34" charset="0"/>
                <a:ea typeface="Calibri" pitchFamily="34" charset="0"/>
                <a:cs typeface="Arial" pitchFamily="34" charset="0"/>
              </a:rPr>
              <a:t>Identifier et exploiter les futures opportunité du marché pour obtenir des gains (trouver le manque)</a:t>
            </a:r>
            <a:endParaRPr kumimoji="0" lang="fr-FR" b="1" i="0" u="none" strike="noStrike" cap="none" normalizeH="0" baseline="0" dirty="0" smtClean="0">
              <a:ln>
                <a:noFill/>
              </a:ln>
              <a:solidFill>
                <a:schemeClr val="tx1"/>
              </a:solidFill>
              <a:effectLst/>
              <a:latin typeface="Arial" pitchFamily="34" charset="0"/>
              <a:cs typeface="Arial" pitchFamily="34" charset="0"/>
            </a:endParaRPr>
          </a:p>
        </p:txBody>
      </p:sp>
      <p:sp>
        <p:nvSpPr>
          <p:cNvPr id="5122" name="Rectangle 2"/>
          <p:cNvSpPr>
            <a:spLocks noChangeArrowheads="1"/>
          </p:cNvSpPr>
          <p:nvPr/>
        </p:nvSpPr>
        <p:spPr bwMode="auto">
          <a:xfrm>
            <a:off x="6662057" y="1680483"/>
            <a:ext cx="4714876" cy="1298377"/>
          </a:xfrm>
          <a:prstGeom prst="ellipse">
            <a:avLst/>
          </a:prstGeom>
          <a:ln>
            <a:headEnd/>
            <a:tailEn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b="1" i="0" u="none" strike="noStrike" cap="none" normalizeH="0" baseline="0" dirty="0" smtClean="0">
                <a:ln>
                  <a:noFill/>
                </a:ln>
                <a:solidFill>
                  <a:schemeClr val="tx1"/>
                </a:solidFill>
                <a:effectLst/>
                <a:latin typeface="Calibri" pitchFamily="34" charset="0"/>
                <a:ea typeface="Calibri" pitchFamily="34" charset="0"/>
                <a:cs typeface="Arial" pitchFamily="34" charset="0"/>
              </a:rPr>
              <a:t>Créer une nouvelle entreprise</a:t>
            </a:r>
          </a:p>
          <a:p>
            <a:pPr marL="0" marR="0" lvl="0" indent="0" algn="ctr" defTabSz="914400" rtl="0" eaLnBrk="1" fontAlgn="base" latinLnBrk="0" hangingPunct="1">
              <a:lnSpc>
                <a:spcPct val="100000"/>
              </a:lnSpc>
              <a:spcBef>
                <a:spcPct val="0"/>
              </a:spcBef>
              <a:spcAft>
                <a:spcPct val="0"/>
              </a:spcAft>
              <a:buClrTx/>
              <a:buSzTx/>
              <a:buFontTx/>
              <a:buNone/>
              <a:tabLst/>
            </a:pPr>
            <a:r>
              <a:rPr kumimoji="0" lang="fr-FR" b="1" i="0" u="none" strike="noStrike" cap="none" normalizeH="0" baseline="0" dirty="0" smtClean="0">
                <a:ln>
                  <a:noFill/>
                </a:ln>
                <a:solidFill>
                  <a:schemeClr val="tx1"/>
                </a:solidFill>
                <a:effectLst/>
                <a:latin typeface="Calibri" pitchFamily="34" charset="0"/>
                <a:ea typeface="Calibri" pitchFamily="34" charset="0"/>
                <a:cs typeface="Arial" pitchFamily="34" charset="0"/>
              </a:rPr>
              <a:t> ( création d’un nouveau business)</a:t>
            </a:r>
            <a:endParaRPr kumimoji="0" lang="fr-FR" b="1" i="0" u="none" strike="noStrike" cap="none" normalizeH="0" baseline="0" dirty="0" smtClean="0">
              <a:ln>
                <a:noFill/>
              </a:ln>
              <a:solidFill>
                <a:schemeClr val="tx1"/>
              </a:solidFill>
              <a:effectLst/>
              <a:latin typeface="Arial" pitchFamily="34" charset="0"/>
              <a:cs typeface="Arial" pitchFamily="34" charset="0"/>
            </a:endParaRPr>
          </a:p>
        </p:txBody>
      </p:sp>
      <p:sp>
        <p:nvSpPr>
          <p:cNvPr id="5123" name="Rectangle 3"/>
          <p:cNvSpPr>
            <a:spLocks noChangeArrowheads="1"/>
          </p:cNvSpPr>
          <p:nvPr/>
        </p:nvSpPr>
        <p:spPr bwMode="auto">
          <a:xfrm>
            <a:off x="952500" y="3498397"/>
            <a:ext cx="4352925" cy="1298377"/>
          </a:xfrm>
          <a:prstGeom prst="ellipse">
            <a:avLst/>
          </a:prstGeom>
          <a:ln>
            <a:headEnd/>
            <a:tailEn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b="1" i="0" u="none" strike="noStrike" cap="none" normalizeH="0" baseline="0" dirty="0" smtClean="0">
                <a:ln>
                  <a:noFill/>
                </a:ln>
                <a:solidFill>
                  <a:schemeClr val="tx1"/>
                </a:solidFill>
                <a:effectLst/>
                <a:latin typeface="Calibri" pitchFamily="34" charset="0"/>
                <a:ea typeface="Calibri" pitchFamily="34" charset="0"/>
                <a:cs typeface="Arial" pitchFamily="34" charset="0"/>
              </a:rPr>
              <a:t>Introduire une innovation sur le marché (combler le manque)</a:t>
            </a:r>
            <a:endParaRPr kumimoji="0" lang="fr-FR" b="1" i="0" u="none" strike="noStrike" cap="none" normalizeH="0" baseline="0" dirty="0" smtClean="0">
              <a:ln>
                <a:noFill/>
              </a:ln>
              <a:solidFill>
                <a:schemeClr val="tx1"/>
              </a:solidFill>
              <a:effectLst/>
              <a:latin typeface="Arial" pitchFamily="34" charset="0"/>
              <a:cs typeface="Arial" pitchFamily="34" charset="0"/>
            </a:endParaRPr>
          </a:p>
        </p:txBody>
      </p:sp>
      <p:sp>
        <p:nvSpPr>
          <p:cNvPr id="5124" name="Rectangle 4"/>
          <p:cNvSpPr>
            <a:spLocks noChangeArrowheads="1"/>
          </p:cNvSpPr>
          <p:nvPr/>
        </p:nvSpPr>
        <p:spPr bwMode="auto">
          <a:xfrm>
            <a:off x="6809014" y="3397704"/>
            <a:ext cx="4581526" cy="1298377"/>
          </a:xfrm>
          <a:prstGeom prst="ellipse">
            <a:avLst/>
          </a:prstGeom>
          <a:ln>
            <a:headEnd/>
            <a:tailEn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b="1" i="0" u="none" strike="noStrike" cap="none" normalizeH="0" baseline="0" dirty="0" smtClean="0">
                <a:ln>
                  <a:noFill/>
                </a:ln>
                <a:solidFill>
                  <a:schemeClr val="tx1"/>
                </a:solidFill>
                <a:effectLst/>
                <a:latin typeface="Calibri" pitchFamily="34" charset="0"/>
                <a:ea typeface="Calibri" pitchFamily="34" charset="0"/>
                <a:cs typeface="Arial" pitchFamily="34" charset="0"/>
              </a:rPr>
              <a:t>Prendre les risques et faire face à l’incertitude (</a:t>
            </a:r>
            <a:r>
              <a:rPr kumimoji="0" lang="fr-FR" b="1" i="0" u="none" strike="noStrike" cap="none" normalizeH="0" dirty="0" smtClean="0">
                <a:ln>
                  <a:noFill/>
                </a:ln>
                <a:solidFill>
                  <a:schemeClr val="tx1"/>
                </a:solidFill>
                <a:effectLst/>
                <a:latin typeface="Calibri" pitchFamily="34" charset="0"/>
                <a:ea typeface="Calibri" pitchFamily="34" charset="0"/>
                <a:cs typeface="Arial" pitchFamily="34" charset="0"/>
              </a:rPr>
              <a:t> </a:t>
            </a:r>
            <a:r>
              <a:rPr kumimoji="0" lang="fr-FR" b="1" i="0" u="none" strike="noStrike" cap="none" normalizeH="0" baseline="0" dirty="0" smtClean="0">
                <a:ln>
                  <a:noFill/>
                </a:ln>
                <a:solidFill>
                  <a:schemeClr val="tx1"/>
                </a:solidFill>
                <a:effectLst/>
                <a:latin typeface="Calibri" pitchFamily="34" charset="0"/>
                <a:ea typeface="Calibri" pitchFamily="34" charset="0"/>
                <a:cs typeface="Arial" pitchFamily="34" charset="0"/>
              </a:rPr>
              <a:t>preneur de risque )</a:t>
            </a:r>
            <a:endParaRPr kumimoji="0" lang="fr-FR" b="1" i="0" u="none" strike="noStrike" cap="none" normalizeH="0" baseline="0" dirty="0" smtClean="0">
              <a:ln>
                <a:noFill/>
              </a:ln>
              <a:solidFill>
                <a:schemeClr val="tx1"/>
              </a:solidFill>
              <a:effectLst/>
              <a:latin typeface="Arial" pitchFamily="34" charset="0"/>
              <a:cs typeface="Arial" pitchFamily="34" charset="0"/>
            </a:endParaRPr>
          </a:p>
        </p:txBody>
      </p:sp>
      <p:sp>
        <p:nvSpPr>
          <p:cNvPr id="6" name="Rectangle 5"/>
          <p:cNvSpPr/>
          <p:nvPr/>
        </p:nvSpPr>
        <p:spPr>
          <a:xfrm>
            <a:off x="3257342" y="5035034"/>
            <a:ext cx="6208110" cy="400110"/>
          </a:xfrm>
          <a:prstGeom prst="rect">
            <a:avLst/>
          </a:prstGeom>
        </p:spPr>
        <p:style>
          <a:lnRef idx="1">
            <a:schemeClr val="dk1"/>
          </a:lnRef>
          <a:fillRef idx="2">
            <a:schemeClr val="dk1"/>
          </a:fillRef>
          <a:effectRef idx="1">
            <a:schemeClr val="dk1"/>
          </a:effectRef>
          <a:fontRef idx="minor">
            <a:schemeClr val="dk1"/>
          </a:fontRef>
        </p:style>
        <p:txBody>
          <a:bodyPr wrap="none">
            <a:spAutoFit/>
          </a:bodyPr>
          <a:lstStyle/>
          <a:p>
            <a:r>
              <a:rPr lang="fr-FR" sz="2000" b="1" dirty="0" smtClean="0"/>
              <a:t>Les 4 fonctions principales pour décrire un entrepreneur.</a:t>
            </a:r>
            <a:endParaRPr lang="fr-FR" sz="2000" b="1" dirty="0"/>
          </a:p>
        </p:txBody>
      </p:sp>
      <p:pic>
        <p:nvPicPr>
          <p:cNvPr id="8" name="Image 7"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9" name="Espace réservé de la date 8"/>
          <p:cNvSpPr>
            <a:spLocks noGrp="1"/>
          </p:cNvSpPr>
          <p:nvPr>
            <p:ph type="dt" sz="half" idx="10"/>
          </p:nvPr>
        </p:nvSpPr>
        <p:spPr/>
        <p:txBody>
          <a:bodyPr/>
          <a:lstStyle/>
          <a:p>
            <a:pPr lvl="0"/>
            <a:fld id="{1C172376-441B-4AA3-B701-7408D987246B}" type="datetime1">
              <a:rPr lang="en-US" smtClean="0"/>
              <a:pPr lvl="0"/>
              <a:t>11/16/2025</a:t>
            </a:fld>
            <a:endParaRPr lang="en-US"/>
          </a:p>
        </p:txBody>
      </p:sp>
      <p:sp>
        <p:nvSpPr>
          <p:cNvPr id="10" name="Espace réservé du numéro de diapositive 9"/>
          <p:cNvSpPr>
            <a:spLocks noGrp="1"/>
          </p:cNvSpPr>
          <p:nvPr>
            <p:ph type="sldNum" sz="quarter" idx="12"/>
          </p:nvPr>
        </p:nvSpPr>
        <p:spPr/>
        <p:txBody>
          <a:bodyPr/>
          <a:lstStyle/>
          <a:p>
            <a:pPr lvl="0"/>
            <a:fld id="{2390AFF8-1E19-449A-AA82-B5E4E90108F1}" type="slidenum">
              <a:rPr lang="fr-FR" smtClean="0"/>
              <a:pPr lvl="0"/>
              <a:t>70</a:t>
            </a:fld>
            <a:endParaRPr lang="fr-F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6903" y="1473841"/>
            <a:ext cx="10601325" cy="437042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dirty="0" smtClean="0">
                <a:solidFill>
                  <a:schemeClr val="dk1"/>
                </a:solidFill>
                <a:latin typeface="Arial" pitchFamily="34" charset="0"/>
                <a:cs typeface="Arial" pitchFamily="34" charset="0"/>
              </a:rPr>
              <a:t>Quatre caractéristiques qu'il considère comme un test décisif pour les personnes qui veulent lancer leur propre entreprise. Les entrepreneurs qui réussissent</a:t>
            </a:r>
          </a:p>
          <a:p>
            <a:pPr algn="just"/>
            <a:r>
              <a:rPr lang="fr-FR" sz="2000" dirty="0" smtClean="0">
                <a:solidFill>
                  <a:schemeClr val="dk1"/>
                </a:solidFill>
                <a:latin typeface="Arial" pitchFamily="34" charset="0"/>
                <a:cs typeface="Arial" pitchFamily="34" charset="0"/>
              </a:rPr>
              <a:t>donc :</a:t>
            </a:r>
          </a:p>
          <a:p>
            <a:pPr marL="628650" indent="361950" algn="just">
              <a:buBlip>
                <a:blip r:embed="rId2"/>
              </a:buBlip>
            </a:pPr>
            <a:r>
              <a:rPr lang="fr-FR" sz="2000" dirty="0" smtClean="0">
                <a:solidFill>
                  <a:schemeClr val="dk1"/>
                </a:solidFill>
                <a:latin typeface="Arial" pitchFamily="34" charset="0"/>
                <a:cs typeface="Arial" pitchFamily="34" charset="0"/>
              </a:rPr>
              <a:t> ont la patience de commencer à petite échelle,</a:t>
            </a:r>
          </a:p>
          <a:p>
            <a:pPr marL="628650" indent="361950" algn="just">
              <a:buBlip>
                <a:blip r:embed="rId2"/>
              </a:buBlip>
            </a:pPr>
            <a:r>
              <a:rPr lang="fr-FR" sz="2000" dirty="0" smtClean="0">
                <a:solidFill>
                  <a:schemeClr val="dk1"/>
                </a:solidFill>
                <a:latin typeface="Arial" pitchFamily="34" charset="0"/>
                <a:cs typeface="Arial" pitchFamily="34" charset="0"/>
              </a:rPr>
              <a:t> sont prêts à changer de stratégie rapidement,</a:t>
            </a:r>
          </a:p>
          <a:p>
            <a:pPr marL="628650" indent="361950" algn="just">
              <a:buBlip>
                <a:blip r:embed="rId2"/>
              </a:buBlip>
            </a:pPr>
            <a:r>
              <a:rPr lang="fr-FR" sz="2000" dirty="0" smtClean="0">
                <a:solidFill>
                  <a:schemeClr val="dk1"/>
                </a:solidFill>
                <a:latin typeface="Arial" pitchFamily="34" charset="0"/>
                <a:cs typeface="Arial" pitchFamily="34" charset="0"/>
              </a:rPr>
              <a:t> savent comment conclure une affaire,</a:t>
            </a:r>
          </a:p>
          <a:p>
            <a:pPr marL="628650" indent="361950" algn="just">
              <a:buBlip>
                <a:blip r:embed="rId2"/>
              </a:buBlip>
            </a:pPr>
            <a:r>
              <a:rPr lang="fr-FR" sz="2000" dirty="0" smtClean="0">
                <a:solidFill>
                  <a:schemeClr val="dk1"/>
                </a:solidFill>
                <a:latin typeface="Arial" pitchFamily="34" charset="0"/>
                <a:cs typeface="Arial" pitchFamily="34" charset="0"/>
              </a:rPr>
              <a:t>sont prêts à se faire des ennemis puissants.</a:t>
            </a:r>
          </a:p>
          <a:p>
            <a:pPr algn="just"/>
            <a:endParaRPr lang="fr-FR" sz="2000" dirty="0" smtClean="0">
              <a:solidFill>
                <a:schemeClr val="dk1"/>
              </a:solidFill>
              <a:latin typeface="Arial" pitchFamily="34" charset="0"/>
              <a:cs typeface="Arial" pitchFamily="34" charset="0"/>
            </a:endParaRPr>
          </a:p>
          <a:p>
            <a:pPr algn="just"/>
            <a:r>
              <a:rPr lang="fr-FR" sz="2000" dirty="0" smtClean="0">
                <a:solidFill>
                  <a:schemeClr val="dk1"/>
                </a:solidFill>
                <a:latin typeface="Arial" pitchFamily="34" charset="0"/>
                <a:cs typeface="Arial" pitchFamily="34" charset="0"/>
              </a:rPr>
              <a:t>Cependant, ces traits ne représentent pas les conditions suffisantes pour la réussite</a:t>
            </a:r>
          </a:p>
          <a:p>
            <a:pPr algn="just"/>
            <a:r>
              <a:rPr lang="fr-FR" sz="2000" dirty="0" smtClean="0">
                <a:solidFill>
                  <a:schemeClr val="dk1"/>
                </a:solidFill>
                <a:latin typeface="Arial" pitchFamily="34" charset="0"/>
                <a:cs typeface="Arial" pitchFamily="34" charset="0"/>
              </a:rPr>
              <a:t>entrepreneuriale.</a:t>
            </a:r>
          </a:p>
          <a:p>
            <a:pPr algn="just"/>
            <a:endParaRPr lang="fr-FR" sz="2000" dirty="0" smtClean="0">
              <a:solidFill>
                <a:schemeClr val="dk1"/>
              </a:solidFill>
              <a:latin typeface="Arial" pitchFamily="34" charset="0"/>
              <a:cs typeface="Arial" pitchFamily="34" charset="0"/>
            </a:endParaRPr>
          </a:p>
          <a:p>
            <a:pPr algn="just"/>
            <a:r>
              <a:rPr lang="fr-FR" sz="2000" dirty="0" smtClean="0">
                <a:solidFill>
                  <a:schemeClr val="dk1"/>
                </a:solidFill>
                <a:latin typeface="Arial" pitchFamily="34" charset="0"/>
                <a:cs typeface="Arial" pitchFamily="34" charset="0"/>
              </a:rPr>
              <a:t>Selon des recherches menées, une aventure entrepreneuriale réussie doit faire appel aux</a:t>
            </a:r>
          </a:p>
          <a:p>
            <a:pPr algn="just"/>
            <a:r>
              <a:rPr lang="fr-FR" sz="2000" dirty="0" smtClean="0">
                <a:solidFill>
                  <a:schemeClr val="dk1"/>
                </a:solidFill>
                <a:latin typeface="Arial" pitchFamily="34" charset="0"/>
                <a:cs typeface="Arial" pitchFamily="34" charset="0"/>
              </a:rPr>
              <a:t>compétences suivantes :</a:t>
            </a:r>
            <a:endParaRPr lang="fr-FR" dirty="0" smtClean="0"/>
          </a:p>
          <a:p>
            <a:endParaRPr lang="fr-FR" dirty="0"/>
          </a:p>
        </p:txBody>
      </p:sp>
      <p:pic>
        <p:nvPicPr>
          <p:cNvPr id="4" name="Image 3" descr="C:\Users\ma.mejri\Desktop\téléchargement (1).png"/>
          <p:cNvPicPr/>
          <p:nvPr/>
        </p:nvPicPr>
        <p:blipFill>
          <a:blip r:embed="rId3"/>
          <a:srcRect/>
          <a:stretch>
            <a:fillRect/>
          </a:stretch>
        </p:blipFill>
        <p:spPr bwMode="auto">
          <a:xfrm>
            <a:off x="984250" y="677182"/>
            <a:ext cx="1079500" cy="387350"/>
          </a:xfrm>
          <a:prstGeom prst="rect">
            <a:avLst/>
          </a:prstGeom>
          <a:noFill/>
          <a:ln w="9525">
            <a:noFill/>
            <a:miter lim="800000"/>
            <a:headEnd/>
            <a:tailEnd/>
          </a:ln>
        </p:spPr>
      </p:pic>
      <p:sp>
        <p:nvSpPr>
          <p:cNvPr id="5" name="Espace réservé de la date 4"/>
          <p:cNvSpPr>
            <a:spLocks noGrp="1"/>
          </p:cNvSpPr>
          <p:nvPr>
            <p:ph type="dt" sz="half" idx="10"/>
          </p:nvPr>
        </p:nvSpPr>
        <p:spPr/>
        <p:txBody>
          <a:bodyPr/>
          <a:lstStyle/>
          <a:p>
            <a:pPr lvl="0"/>
            <a:fld id="{530AC76B-9F09-4E5A-8E53-B7E5F028553A}" type="datetime1">
              <a:rPr lang="en-US" smtClean="0"/>
              <a:pPr lvl="0"/>
              <a:t>11/16/2025</a:t>
            </a:fld>
            <a:endParaRPr lang="en-US"/>
          </a:p>
        </p:txBody>
      </p:sp>
      <p:sp>
        <p:nvSpPr>
          <p:cNvPr id="6" name="Espace réservé du numéro de diapositive 5"/>
          <p:cNvSpPr>
            <a:spLocks noGrp="1"/>
          </p:cNvSpPr>
          <p:nvPr>
            <p:ph type="sldNum" sz="quarter" idx="12"/>
          </p:nvPr>
        </p:nvSpPr>
        <p:spPr/>
        <p:txBody>
          <a:bodyPr/>
          <a:lstStyle/>
          <a:p>
            <a:pPr lvl="0"/>
            <a:fld id="{2390AFF8-1E19-449A-AA82-B5E4E90108F1}" type="slidenum">
              <a:rPr lang="fr-FR" smtClean="0"/>
              <a:pPr lvl="0"/>
              <a:t>71</a:t>
            </a:fld>
            <a:endParaRPr lang="fr-F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0511" y="1928843"/>
            <a:ext cx="10848975" cy="286232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endParaRPr lang="fr-FR" sz="2000" dirty="0" smtClean="0">
              <a:latin typeface="Arial" pitchFamily="34" charset="0"/>
              <a:cs typeface="Arial" pitchFamily="34" charset="0"/>
            </a:endParaRPr>
          </a:p>
          <a:p>
            <a:pPr algn="just">
              <a:buFont typeface="Symbol" pitchFamily="18" charset="2"/>
              <a:buChar char="Ê"/>
            </a:pPr>
            <a:r>
              <a:rPr lang="fr-FR" sz="2000" b="1" dirty="0" smtClean="0">
                <a:solidFill>
                  <a:schemeClr val="dk1"/>
                </a:solidFill>
                <a:latin typeface="Arial" pitchFamily="34" charset="0"/>
                <a:cs typeface="Arial" pitchFamily="34" charset="0"/>
              </a:rPr>
              <a:t> Managériales</a:t>
            </a:r>
            <a:r>
              <a:rPr lang="fr-FR" sz="2000" dirty="0" smtClean="0">
                <a:solidFill>
                  <a:schemeClr val="dk1"/>
                </a:solidFill>
                <a:latin typeface="Arial" pitchFamily="34" charset="0"/>
                <a:cs typeface="Arial" pitchFamily="34" charset="0"/>
              </a:rPr>
              <a:t>     style de management " paternaliste; autoritaire; participatif« </a:t>
            </a:r>
          </a:p>
          <a:p>
            <a:pPr algn="just">
              <a:buFont typeface="Symbol" pitchFamily="18" charset="2"/>
              <a:buChar char="Ê"/>
            </a:pPr>
            <a:r>
              <a:rPr lang="fr-FR" sz="2000" dirty="0" smtClean="0">
                <a:latin typeface="Arial" pitchFamily="34" charset="0"/>
                <a:cs typeface="Arial" pitchFamily="34" charset="0"/>
              </a:rPr>
              <a:t> </a:t>
            </a:r>
            <a:r>
              <a:rPr lang="fr-FR" sz="2000" b="1" dirty="0" smtClean="0"/>
              <a:t>Relationnelles</a:t>
            </a:r>
            <a:r>
              <a:rPr lang="fr-FR" sz="2000" dirty="0" smtClean="0"/>
              <a:t>        </a:t>
            </a:r>
            <a:r>
              <a:rPr lang="fr-FR" sz="2000" dirty="0" smtClean="0">
                <a:latin typeface="Arial" pitchFamily="34" charset="0"/>
                <a:cs typeface="Arial" pitchFamily="34" charset="0"/>
              </a:rPr>
              <a:t>communication appropriée</a:t>
            </a:r>
          </a:p>
          <a:p>
            <a:pPr algn="just">
              <a:buFont typeface="Symbol" pitchFamily="18" charset="2"/>
              <a:buChar char="Ê"/>
            </a:pPr>
            <a:r>
              <a:rPr lang="fr-FR" sz="2000" dirty="0" smtClean="0">
                <a:latin typeface="Arial" pitchFamily="34" charset="0"/>
                <a:cs typeface="Arial" pitchFamily="34" charset="0"/>
              </a:rPr>
              <a:t> </a:t>
            </a:r>
            <a:r>
              <a:rPr lang="fr-FR" sz="2000" b="1" dirty="0" smtClean="0">
                <a:latin typeface="Arial" pitchFamily="34" charset="0"/>
                <a:cs typeface="Arial" pitchFamily="34" charset="0"/>
              </a:rPr>
              <a:t>Psychologique      </a:t>
            </a:r>
            <a:r>
              <a:rPr lang="fr-FR" sz="2000" dirty="0" smtClean="0">
                <a:latin typeface="Arial" pitchFamily="34" charset="0"/>
                <a:cs typeface="Arial" pitchFamily="34" charset="0"/>
              </a:rPr>
              <a:t>notions relatives à la subjectivité comportementale " tact; pragmatisme« </a:t>
            </a:r>
          </a:p>
          <a:p>
            <a:pPr algn="just">
              <a:buFont typeface="Symbol" pitchFamily="18" charset="2"/>
              <a:buChar char="Ê"/>
            </a:pPr>
            <a:r>
              <a:rPr lang="fr-FR" sz="2000" dirty="0" smtClean="0">
                <a:latin typeface="Arial" pitchFamily="34" charset="0"/>
                <a:cs typeface="Arial" pitchFamily="34" charset="0"/>
              </a:rPr>
              <a:t> </a:t>
            </a:r>
            <a:r>
              <a:rPr lang="fr-FR" sz="2000" b="1" dirty="0" smtClean="0">
                <a:latin typeface="Arial" pitchFamily="34" charset="0"/>
                <a:cs typeface="Arial" pitchFamily="34" charset="0"/>
              </a:rPr>
              <a:t>Organisationnelles      </a:t>
            </a:r>
            <a:r>
              <a:rPr lang="fr-FR" sz="2000" dirty="0" smtClean="0">
                <a:latin typeface="Arial" pitchFamily="34" charset="0"/>
                <a:cs typeface="Arial" pitchFamily="34" charset="0"/>
              </a:rPr>
              <a:t>une gestion rigoureuse de son entreprise</a:t>
            </a:r>
          </a:p>
          <a:p>
            <a:pPr algn="just">
              <a:buFont typeface="Symbol" pitchFamily="18" charset="2"/>
              <a:buChar char="Ê"/>
            </a:pPr>
            <a:r>
              <a:rPr lang="fr-FR" sz="2000" dirty="0" smtClean="0">
                <a:latin typeface="Arial" pitchFamily="34" charset="0"/>
                <a:cs typeface="Arial" pitchFamily="34" charset="0"/>
              </a:rPr>
              <a:t> </a:t>
            </a:r>
            <a:r>
              <a:rPr lang="fr-FR" sz="2000" b="1" dirty="0" smtClean="0">
                <a:latin typeface="Arial" pitchFamily="34" charset="0"/>
                <a:cs typeface="Arial" pitchFamily="34" charset="0"/>
              </a:rPr>
              <a:t>Analytique</a:t>
            </a:r>
            <a:r>
              <a:rPr lang="fr-FR" sz="2000" dirty="0" smtClean="0">
                <a:latin typeface="Arial" pitchFamily="34" charset="0"/>
                <a:cs typeface="Arial" pitchFamily="34" charset="0"/>
              </a:rPr>
              <a:t>    </a:t>
            </a:r>
            <a:r>
              <a:rPr lang="fr-FR" sz="2000" dirty="0" smtClean="0"/>
              <a:t> </a:t>
            </a:r>
            <a:r>
              <a:rPr lang="fr-FR" sz="2000" dirty="0" smtClean="0">
                <a:latin typeface="Arial" pitchFamily="34" charset="0"/>
                <a:cs typeface="Arial" pitchFamily="34" charset="0"/>
              </a:rPr>
              <a:t>tableau de bord; mise en place de mesures correctrices</a:t>
            </a:r>
          </a:p>
          <a:p>
            <a:pPr algn="just">
              <a:buFont typeface="Symbol" pitchFamily="18" charset="2"/>
              <a:buChar char="Ê"/>
            </a:pPr>
            <a:r>
              <a:rPr lang="fr-FR" sz="2000" dirty="0" smtClean="0">
                <a:latin typeface="Arial" pitchFamily="34" charset="0"/>
                <a:cs typeface="Arial" pitchFamily="34" charset="0"/>
              </a:rPr>
              <a:t> </a:t>
            </a:r>
            <a:r>
              <a:rPr lang="fr-FR" sz="2000" b="1" dirty="0" smtClean="0">
                <a:latin typeface="Arial" pitchFamily="34" charset="0"/>
                <a:cs typeface="Arial" pitchFamily="34" charset="0"/>
              </a:rPr>
              <a:t>Financières       </a:t>
            </a:r>
            <a:r>
              <a:rPr lang="fr-FR" sz="2000" dirty="0" smtClean="0">
                <a:latin typeface="Arial" pitchFamily="34" charset="0"/>
                <a:cs typeface="Arial" pitchFamily="34" charset="0"/>
              </a:rPr>
              <a:t>analyse ses recettes et dépenses</a:t>
            </a:r>
          </a:p>
          <a:p>
            <a:pPr algn="just">
              <a:buFont typeface="Symbol" pitchFamily="18" charset="2"/>
              <a:buChar char="Ê"/>
            </a:pPr>
            <a:r>
              <a:rPr lang="fr-FR" sz="2000" b="1" dirty="0" smtClean="0">
                <a:latin typeface="Arial" pitchFamily="34" charset="0"/>
                <a:cs typeface="Arial" pitchFamily="34" charset="0"/>
              </a:rPr>
              <a:t> De gestion          </a:t>
            </a:r>
            <a:r>
              <a:rPr lang="fr-FR" sz="2000" dirty="0" smtClean="0">
                <a:latin typeface="Arial" pitchFamily="34" charset="0"/>
                <a:cs typeface="Arial" pitchFamily="34" charset="0"/>
              </a:rPr>
              <a:t>de manière générale, tout chef d'entreprise doit savoir gérer son entité</a:t>
            </a:r>
          </a:p>
          <a:p>
            <a:pPr algn="just">
              <a:buFont typeface="Symbol" pitchFamily="18" charset="2"/>
              <a:buChar char="Ê"/>
            </a:pPr>
            <a:endParaRPr lang="fr-FR" sz="2000" dirty="0" smtClean="0">
              <a:solidFill>
                <a:schemeClr val="dk1"/>
              </a:solidFill>
              <a:latin typeface="Arial" pitchFamily="34" charset="0"/>
              <a:cs typeface="Arial" pitchFamily="34" charset="0"/>
            </a:endParaRPr>
          </a:p>
        </p:txBody>
      </p:sp>
      <p:sp>
        <p:nvSpPr>
          <p:cNvPr id="4" name="Flèche droite 3"/>
          <p:cNvSpPr/>
          <p:nvPr/>
        </p:nvSpPr>
        <p:spPr>
          <a:xfrm>
            <a:off x="2879273" y="2455273"/>
            <a:ext cx="13335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Flèche droite 4"/>
          <p:cNvSpPr/>
          <p:nvPr/>
        </p:nvSpPr>
        <p:spPr>
          <a:xfrm>
            <a:off x="3110594" y="3040381"/>
            <a:ext cx="13335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Flèche droite 5"/>
          <p:cNvSpPr/>
          <p:nvPr/>
        </p:nvSpPr>
        <p:spPr>
          <a:xfrm>
            <a:off x="3623583" y="3377838"/>
            <a:ext cx="13335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Flèche droite 6"/>
          <p:cNvSpPr/>
          <p:nvPr/>
        </p:nvSpPr>
        <p:spPr>
          <a:xfrm>
            <a:off x="2588080" y="3630931"/>
            <a:ext cx="13335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Flèche droite 7"/>
          <p:cNvSpPr/>
          <p:nvPr/>
        </p:nvSpPr>
        <p:spPr>
          <a:xfrm>
            <a:off x="2834369" y="3935731"/>
            <a:ext cx="13335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Flèche droite 8"/>
          <p:cNvSpPr/>
          <p:nvPr/>
        </p:nvSpPr>
        <p:spPr>
          <a:xfrm>
            <a:off x="2500993" y="4272643"/>
            <a:ext cx="542926" cy="952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Flèche droite 10"/>
          <p:cNvSpPr/>
          <p:nvPr/>
        </p:nvSpPr>
        <p:spPr>
          <a:xfrm>
            <a:off x="2773136" y="2760074"/>
            <a:ext cx="13335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Image 11"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13" name="Espace réservé de la date 12"/>
          <p:cNvSpPr>
            <a:spLocks noGrp="1"/>
          </p:cNvSpPr>
          <p:nvPr>
            <p:ph type="dt" sz="half" idx="10"/>
          </p:nvPr>
        </p:nvSpPr>
        <p:spPr/>
        <p:txBody>
          <a:bodyPr/>
          <a:lstStyle/>
          <a:p>
            <a:pPr lvl="0"/>
            <a:fld id="{8AD930C7-3F04-4FD0-9291-285A30F25E05}" type="datetime1">
              <a:rPr lang="en-US" smtClean="0"/>
              <a:pPr lvl="0"/>
              <a:t>11/16/2025</a:t>
            </a:fld>
            <a:endParaRPr lang="en-US"/>
          </a:p>
        </p:txBody>
      </p:sp>
      <p:sp>
        <p:nvSpPr>
          <p:cNvPr id="14" name="Espace réservé du numéro de diapositive 13"/>
          <p:cNvSpPr>
            <a:spLocks noGrp="1"/>
          </p:cNvSpPr>
          <p:nvPr>
            <p:ph type="sldNum" sz="quarter" idx="12"/>
          </p:nvPr>
        </p:nvSpPr>
        <p:spPr/>
        <p:txBody>
          <a:bodyPr/>
          <a:lstStyle/>
          <a:p>
            <a:pPr lvl="0"/>
            <a:fld id="{2390AFF8-1E19-449A-AA82-B5E4E90108F1}" type="slidenum">
              <a:rPr lang="fr-FR" smtClean="0"/>
              <a:pPr lvl="0"/>
              <a:t>72</a:t>
            </a:fld>
            <a:endParaRPr lang="fr-F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28912" y="1487652"/>
            <a:ext cx="9193286" cy="338554"/>
          </a:xfrm>
          <a:prstGeom prst="rect">
            <a:avLst/>
          </a:prstGeom>
        </p:spPr>
        <p:txBody>
          <a:bodyPr wrap="none">
            <a:spAutoFit/>
          </a:bodyPr>
          <a:lstStyle/>
          <a:p>
            <a:r>
              <a:rPr lang="fr-FR" sz="1600" b="1" dirty="0" smtClean="0">
                <a:solidFill>
                  <a:srgbClr val="00B050"/>
                </a:solidFill>
                <a:latin typeface="Source Sans Pro"/>
              </a:rPr>
              <a:t>3- MODELE CONCEPTUEL DES FACTEURS CLES DE LA REUSSITE ENTREPRENEURIALE </a:t>
            </a:r>
          </a:p>
        </p:txBody>
      </p:sp>
      <p:graphicFrame>
        <p:nvGraphicFramePr>
          <p:cNvPr id="4" name="Diagramme 3"/>
          <p:cNvGraphicFramePr/>
          <p:nvPr/>
        </p:nvGraphicFramePr>
        <p:xfrm>
          <a:off x="628650" y="2318656"/>
          <a:ext cx="11077575" cy="3262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Image 4" descr="C:\Users\ma.mejri\Desktop\téléchargement (1).png"/>
          <p:cNvPicPr/>
          <p:nvPr/>
        </p:nvPicPr>
        <p:blipFill>
          <a:blip r:embed="rId6"/>
          <a:srcRect/>
          <a:stretch>
            <a:fillRect/>
          </a:stretch>
        </p:blipFill>
        <p:spPr bwMode="auto">
          <a:xfrm>
            <a:off x="984250" y="677182"/>
            <a:ext cx="1079500" cy="387350"/>
          </a:xfrm>
          <a:prstGeom prst="rect">
            <a:avLst/>
          </a:prstGeom>
          <a:noFill/>
          <a:ln w="9525">
            <a:noFill/>
            <a:miter lim="800000"/>
            <a:headEnd/>
            <a:tailEnd/>
          </a:ln>
        </p:spPr>
      </p:pic>
      <p:sp>
        <p:nvSpPr>
          <p:cNvPr id="6" name="Espace réservé de la date 5"/>
          <p:cNvSpPr>
            <a:spLocks noGrp="1"/>
          </p:cNvSpPr>
          <p:nvPr>
            <p:ph type="dt" sz="half" idx="10"/>
          </p:nvPr>
        </p:nvSpPr>
        <p:spPr/>
        <p:txBody>
          <a:bodyPr/>
          <a:lstStyle/>
          <a:p>
            <a:pPr lvl="0"/>
            <a:fld id="{584DD398-B78A-4144-9229-280A5F1E1A9A}" type="datetime1">
              <a:rPr lang="en-US" smtClean="0"/>
              <a:pPr lvl="0"/>
              <a:t>11/16/2025</a:t>
            </a:fld>
            <a:endParaRPr lang="en-US"/>
          </a:p>
        </p:txBody>
      </p:sp>
      <p:sp>
        <p:nvSpPr>
          <p:cNvPr id="7" name="Espace réservé du numéro de diapositive 6"/>
          <p:cNvSpPr>
            <a:spLocks noGrp="1"/>
          </p:cNvSpPr>
          <p:nvPr>
            <p:ph type="sldNum" sz="quarter" idx="12"/>
          </p:nvPr>
        </p:nvSpPr>
        <p:spPr/>
        <p:txBody>
          <a:bodyPr/>
          <a:lstStyle/>
          <a:p>
            <a:pPr lvl="0"/>
            <a:fld id="{2390AFF8-1E19-449A-AA82-B5E4E90108F1}" type="slidenum">
              <a:rPr lang="fr-FR" smtClean="0"/>
              <a:pPr lvl="0"/>
              <a:t>73</a:t>
            </a:fld>
            <a:endParaRPr lang="fr-F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07572" y="1494387"/>
            <a:ext cx="10763249" cy="486287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lvl="0" algn="ctr"/>
            <a:endParaRPr lang="fr-FR" sz="2000" b="1" dirty="0" smtClean="0">
              <a:solidFill>
                <a:srgbClr val="C00000"/>
              </a:solidFill>
            </a:endParaRPr>
          </a:p>
          <a:p>
            <a:pPr lvl="0" indent="1438275"/>
            <a:r>
              <a:rPr lang="fr-FR" sz="2200" b="1" dirty="0" smtClean="0">
                <a:solidFill>
                  <a:srgbClr val="C00000"/>
                </a:solidFill>
              </a:rPr>
              <a:t>A - Profil de l'entrepreneur</a:t>
            </a:r>
          </a:p>
          <a:p>
            <a:pPr algn="just"/>
            <a:r>
              <a:rPr lang="fr-FR" sz="2000" dirty="0" smtClean="0">
                <a:latin typeface="Arial" pitchFamily="34" charset="0"/>
                <a:cs typeface="Arial" pitchFamily="34" charset="0"/>
              </a:rPr>
              <a:t>Les caractéristiques de l’individu (entrepreneur) qui influencent la réussite de son entreprise peuvent être déclinées en trois dimensions : le capital humain, la motivation et les compétences.</a:t>
            </a:r>
          </a:p>
          <a:p>
            <a:pPr algn="just"/>
            <a:endParaRPr lang="fr-FR" sz="800" dirty="0" smtClean="0">
              <a:latin typeface="Arial" pitchFamily="34" charset="0"/>
              <a:cs typeface="Arial" pitchFamily="34" charset="0"/>
            </a:endParaRPr>
          </a:p>
          <a:p>
            <a:pPr algn="just">
              <a:buFont typeface="Wingdings" pitchFamily="2" charset="2"/>
              <a:buChar char="§"/>
            </a:pPr>
            <a:r>
              <a:rPr lang="fr-FR" sz="2000" dirty="0" smtClean="0">
                <a:latin typeface="Arial" pitchFamily="34" charset="0"/>
                <a:cs typeface="Arial" pitchFamily="34" charset="0"/>
              </a:rPr>
              <a:t> </a:t>
            </a:r>
            <a:r>
              <a:rPr lang="fr-FR" sz="2000" b="1" dirty="0" smtClean="0">
                <a:latin typeface="Arial" pitchFamily="34" charset="0"/>
                <a:cs typeface="Arial" pitchFamily="34" charset="0"/>
              </a:rPr>
              <a:t>Capital humain </a:t>
            </a:r>
            <a:r>
              <a:rPr lang="fr-FR" sz="2000" dirty="0" smtClean="0">
                <a:latin typeface="Arial" pitchFamily="34" charset="0"/>
                <a:cs typeface="Arial" pitchFamily="34" charset="0"/>
              </a:rPr>
              <a:t>: Le capital humain fait référence aux connaissances, compétences, expériences et qualifications qu'un individu possède. Il englobe également la capacité</a:t>
            </a:r>
            <a:br>
              <a:rPr lang="fr-FR" sz="2000" dirty="0" smtClean="0">
                <a:latin typeface="Arial" pitchFamily="34" charset="0"/>
                <a:cs typeface="Arial" pitchFamily="34" charset="0"/>
              </a:rPr>
            </a:br>
            <a:r>
              <a:rPr lang="fr-FR" sz="2000" dirty="0" smtClean="0">
                <a:latin typeface="Arial" pitchFamily="34" charset="0"/>
                <a:cs typeface="Arial" pitchFamily="34" charset="0"/>
              </a:rPr>
              <a:t>d'apprentissage et d'adaptation.</a:t>
            </a:r>
          </a:p>
          <a:p>
            <a:pPr algn="just"/>
            <a:r>
              <a:rPr lang="fr-FR" sz="2000" dirty="0" smtClean="0"/>
              <a:t/>
            </a:r>
            <a:br>
              <a:rPr lang="fr-FR" sz="2000" dirty="0" smtClean="0"/>
            </a:br>
            <a:r>
              <a:rPr lang="fr-FR" sz="2000" dirty="0" smtClean="0">
                <a:latin typeface="Arial" pitchFamily="34" charset="0"/>
                <a:cs typeface="Arial" pitchFamily="34" charset="0"/>
              </a:rPr>
              <a:t>Exemple : Un entrepreneur ayant une formation en ingénierie et plusieurs années d'expérience dans le secteur technologique aura un capital humain solide. Cela</a:t>
            </a:r>
            <a:br>
              <a:rPr lang="fr-FR" sz="2000" dirty="0" smtClean="0">
                <a:latin typeface="Arial" pitchFamily="34" charset="0"/>
                <a:cs typeface="Arial" pitchFamily="34" charset="0"/>
              </a:rPr>
            </a:br>
            <a:r>
              <a:rPr lang="fr-FR" sz="2000" dirty="0" smtClean="0">
                <a:latin typeface="Arial" pitchFamily="34" charset="0"/>
                <a:cs typeface="Arial" pitchFamily="34" charset="0"/>
              </a:rPr>
              <a:t>lui permettra de mieux comprendre les défis techniques de son entreprise, d'innover et de prendre des décisions éclairées. Par exemple, </a:t>
            </a:r>
            <a:r>
              <a:rPr lang="fr-FR" sz="2000" dirty="0" err="1" smtClean="0">
                <a:latin typeface="Arial" pitchFamily="34" charset="0"/>
                <a:cs typeface="Arial" pitchFamily="34" charset="0"/>
              </a:rPr>
              <a:t>Elon</a:t>
            </a:r>
            <a:r>
              <a:rPr lang="fr-FR" sz="2000" dirty="0" smtClean="0">
                <a:latin typeface="Arial" pitchFamily="34" charset="0"/>
                <a:cs typeface="Arial" pitchFamily="34" charset="0"/>
              </a:rPr>
              <a:t> </a:t>
            </a:r>
            <a:r>
              <a:rPr lang="fr-FR" sz="2000" dirty="0" err="1" smtClean="0">
                <a:latin typeface="Arial" pitchFamily="34" charset="0"/>
                <a:cs typeface="Arial" pitchFamily="34" charset="0"/>
              </a:rPr>
              <a:t>Musk</a:t>
            </a:r>
            <a:r>
              <a:rPr lang="fr-FR" sz="2000" dirty="0" smtClean="0">
                <a:latin typeface="Arial" pitchFamily="34" charset="0"/>
                <a:cs typeface="Arial" pitchFamily="34" charset="0"/>
              </a:rPr>
              <a:t>, avec son bagage</a:t>
            </a:r>
            <a:br>
              <a:rPr lang="fr-FR" sz="2000" dirty="0" smtClean="0">
                <a:latin typeface="Arial" pitchFamily="34" charset="0"/>
                <a:cs typeface="Arial" pitchFamily="34" charset="0"/>
              </a:rPr>
            </a:br>
            <a:r>
              <a:rPr lang="fr-FR" sz="2000" dirty="0" smtClean="0">
                <a:latin typeface="Arial" pitchFamily="34" charset="0"/>
                <a:cs typeface="Arial" pitchFamily="34" charset="0"/>
              </a:rPr>
              <a:t>en physique et en économie, a pu créer des entreprises comme </a:t>
            </a:r>
            <a:r>
              <a:rPr lang="fr-FR" sz="2000" dirty="0" err="1" smtClean="0">
                <a:latin typeface="Arial" pitchFamily="34" charset="0"/>
                <a:cs typeface="Arial" pitchFamily="34" charset="0"/>
              </a:rPr>
              <a:t>SpaceX</a:t>
            </a:r>
            <a:r>
              <a:rPr lang="fr-FR" sz="2000" dirty="0" smtClean="0">
                <a:latin typeface="Arial" pitchFamily="34" charset="0"/>
                <a:cs typeface="Arial" pitchFamily="34" charset="0"/>
              </a:rPr>
              <a:t> et Tesla, en utilisant ses connaissances techniques pour développer des produits innovants.</a:t>
            </a:r>
          </a:p>
        </p:txBody>
      </p:sp>
      <p:pic>
        <p:nvPicPr>
          <p:cNvPr id="4" name="Image 3"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5" name="Espace réservé de la date 4"/>
          <p:cNvSpPr>
            <a:spLocks noGrp="1"/>
          </p:cNvSpPr>
          <p:nvPr>
            <p:ph type="dt" sz="half" idx="10"/>
          </p:nvPr>
        </p:nvSpPr>
        <p:spPr/>
        <p:txBody>
          <a:bodyPr/>
          <a:lstStyle/>
          <a:p>
            <a:pPr lvl="0"/>
            <a:fld id="{3091127D-E047-4DF9-835F-FE6838648229}" type="datetime1">
              <a:rPr lang="en-US" smtClean="0"/>
              <a:pPr lvl="0"/>
              <a:t>11/16/2025</a:t>
            </a:fld>
            <a:endParaRPr lang="en-US"/>
          </a:p>
        </p:txBody>
      </p:sp>
      <p:sp>
        <p:nvSpPr>
          <p:cNvPr id="6" name="Espace réservé du numéro de diapositive 5"/>
          <p:cNvSpPr>
            <a:spLocks noGrp="1"/>
          </p:cNvSpPr>
          <p:nvPr>
            <p:ph type="sldNum" sz="quarter" idx="12"/>
          </p:nvPr>
        </p:nvSpPr>
        <p:spPr/>
        <p:txBody>
          <a:bodyPr/>
          <a:lstStyle/>
          <a:p>
            <a:pPr lvl="0"/>
            <a:fld id="{2390AFF8-1E19-449A-AA82-B5E4E90108F1}" type="slidenum">
              <a:rPr lang="fr-FR" smtClean="0"/>
              <a:pPr lvl="0"/>
              <a:t>74</a:t>
            </a:fld>
            <a:endParaRPr lang="fr-F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5542" y="1613158"/>
            <a:ext cx="10639425" cy="501675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buFont typeface="Wingdings" pitchFamily="2" charset="2"/>
              <a:buChar char="§"/>
            </a:pPr>
            <a:r>
              <a:rPr lang="fr-FR" sz="2000" b="1" dirty="0" smtClean="0">
                <a:solidFill>
                  <a:schemeClr val="dk1"/>
                </a:solidFill>
                <a:latin typeface="Arial" pitchFamily="34" charset="0"/>
                <a:cs typeface="Arial" pitchFamily="34" charset="0"/>
              </a:rPr>
              <a:t> Motivation </a:t>
            </a:r>
            <a:r>
              <a:rPr lang="fr-FR" sz="2000" dirty="0" smtClean="0">
                <a:solidFill>
                  <a:schemeClr val="dk1"/>
                </a:solidFill>
                <a:latin typeface="Arial" pitchFamily="34" charset="0"/>
                <a:cs typeface="Arial" pitchFamily="34" charset="0"/>
              </a:rPr>
              <a:t>: La motivation est l'ensemble des raisons qui poussent un individu à agir. Elle peut être intrinsèque (motivation interne, comme la passion pour</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un domaine) ou extrinsèque (motivation externe, comme la recherche de profits).</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Exemple : Un entrepreneur motivé par la passion de résoudre des problèmes sociaux, comme Muhammad </a:t>
            </a:r>
            <a:r>
              <a:rPr lang="fr-FR" sz="2000" dirty="0" err="1" smtClean="0">
                <a:solidFill>
                  <a:schemeClr val="dk1"/>
                </a:solidFill>
                <a:latin typeface="Arial" pitchFamily="34" charset="0"/>
                <a:cs typeface="Arial" pitchFamily="34" charset="0"/>
              </a:rPr>
              <a:t>Yunus</a:t>
            </a:r>
            <a:r>
              <a:rPr lang="fr-FR" sz="2000" dirty="0" smtClean="0">
                <a:solidFill>
                  <a:schemeClr val="dk1"/>
                </a:solidFill>
                <a:latin typeface="Arial" pitchFamily="34" charset="0"/>
                <a:cs typeface="Arial" pitchFamily="34" charset="0"/>
              </a:rPr>
              <a:t> avec la </a:t>
            </a:r>
            <a:r>
              <a:rPr lang="fr-FR" sz="2000" dirty="0" err="1" smtClean="0">
                <a:solidFill>
                  <a:schemeClr val="dk1"/>
                </a:solidFill>
                <a:latin typeface="Arial" pitchFamily="34" charset="0"/>
                <a:cs typeface="Arial" pitchFamily="34" charset="0"/>
              </a:rPr>
              <a:t>microfinance</a:t>
            </a:r>
            <a:r>
              <a:rPr lang="fr-FR" sz="2000" dirty="0" smtClean="0">
                <a:solidFill>
                  <a:schemeClr val="dk1"/>
                </a:solidFill>
                <a:latin typeface="Arial" pitchFamily="34" charset="0"/>
                <a:cs typeface="Arial" pitchFamily="34" charset="0"/>
              </a:rPr>
              <a:t>, peut être plus persévérant face aux défis. </a:t>
            </a:r>
          </a:p>
          <a:p>
            <a:pPr algn="just"/>
            <a:r>
              <a:rPr lang="fr-FR" sz="2000" dirty="0" smtClean="0">
                <a:solidFill>
                  <a:schemeClr val="dk1"/>
                </a:solidFill>
                <a:latin typeface="Arial" pitchFamily="34" charset="0"/>
                <a:cs typeface="Arial" pitchFamily="34" charset="0"/>
              </a:rPr>
              <a:t>Sa motivation intrinsèque à améliorer la vie des gens l'a conduit à créer la </a:t>
            </a:r>
            <a:r>
              <a:rPr lang="fr-FR" sz="2000" dirty="0" err="1" smtClean="0">
                <a:solidFill>
                  <a:schemeClr val="dk1"/>
                </a:solidFill>
                <a:latin typeface="Arial" pitchFamily="34" charset="0"/>
                <a:cs typeface="Arial" pitchFamily="34" charset="0"/>
              </a:rPr>
              <a:t>Grameen</a:t>
            </a:r>
            <a:r>
              <a:rPr lang="fr-FR" sz="2000" dirty="0" smtClean="0">
                <a:solidFill>
                  <a:schemeClr val="dk1"/>
                </a:solidFill>
                <a:latin typeface="Arial" pitchFamily="34" charset="0"/>
                <a:cs typeface="Arial" pitchFamily="34" charset="0"/>
              </a:rPr>
              <a:t> Bank, qui a eu un impact significatif sur la pauvreté dans </a:t>
            </a:r>
            <a:r>
              <a:rPr lang="fr-FR" sz="2000" dirty="0" smtClean="0">
                <a:latin typeface="Arial" pitchFamily="34" charset="0"/>
                <a:cs typeface="Arial" pitchFamily="34" charset="0"/>
              </a:rPr>
              <a:t>le monde. Sa vision et sa détermination ont été des moteurs essentiels pour surmonter les obstacles</a:t>
            </a:r>
            <a:r>
              <a:rPr lang="fr-FR" sz="2000" dirty="0" smtClean="0">
                <a:solidFill>
                  <a:schemeClr val="dk1"/>
                </a:solidFill>
                <a:latin typeface="Arial" pitchFamily="34" charset="0"/>
                <a:cs typeface="Arial" pitchFamily="34" charset="0"/>
              </a:rPr>
              <a:t>.</a:t>
            </a:r>
          </a:p>
          <a:p>
            <a:pPr algn="just"/>
            <a:endParaRPr lang="fr-FR" sz="800" dirty="0" smtClean="0">
              <a:latin typeface="Arial" pitchFamily="34" charset="0"/>
              <a:cs typeface="Arial" pitchFamily="34" charset="0"/>
            </a:endParaRPr>
          </a:p>
          <a:p>
            <a:pPr algn="just">
              <a:buFont typeface="Wingdings" pitchFamily="2" charset="2"/>
              <a:buChar char="§"/>
            </a:pPr>
            <a:r>
              <a:rPr lang="fr-FR" sz="2000" dirty="0" smtClean="0">
                <a:latin typeface="Arial" pitchFamily="34" charset="0"/>
                <a:cs typeface="Arial" pitchFamily="34" charset="0"/>
              </a:rPr>
              <a:t> </a:t>
            </a:r>
            <a:r>
              <a:rPr lang="fr-FR" sz="2000" b="1" dirty="0" smtClean="0">
                <a:latin typeface="Arial" pitchFamily="34" charset="0"/>
                <a:cs typeface="Arial" pitchFamily="34" charset="0"/>
              </a:rPr>
              <a:t>Compétences</a:t>
            </a:r>
            <a:r>
              <a:rPr lang="fr-FR" sz="2000" dirty="0" smtClean="0">
                <a:latin typeface="Arial" pitchFamily="34" charset="0"/>
                <a:cs typeface="Arial" pitchFamily="34" charset="0"/>
              </a:rPr>
              <a:t> : Les compétences sont les capacités spécifiques qu'un individu possède, qu'elles soient techniques (savoir-faire) ou comportementales (savoir-être).</a:t>
            </a:r>
            <a:br>
              <a:rPr lang="fr-FR" sz="2000" dirty="0" smtClean="0">
                <a:latin typeface="Arial" pitchFamily="34" charset="0"/>
                <a:cs typeface="Arial" pitchFamily="34" charset="0"/>
              </a:rPr>
            </a:br>
            <a:r>
              <a:rPr lang="fr-FR" sz="2000" dirty="0" smtClean="0">
                <a:latin typeface="Arial" pitchFamily="34" charset="0"/>
                <a:cs typeface="Arial" pitchFamily="34" charset="0"/>
              </a:rPr>
              <a:t>Elles sont essentielles pour gérer efficacement une entreprise.</a:t>
            </a:r>
          </a:p>
          <a:p>
            <a:pPr algn="just"/>
            <a:r>
              <a:rPr lang="fr-FR" sz="2000" dirty="0" smtClean="0">
                <a:latin typeface="Arial" pitchFamily="34" charset="0"/>
                <a:cs typeface="Arial" pitchFamily="34" charset="0"/>
              </a:rPr>
              <a:t/>
            </a:r>
            <a:br>
              <a:rPr lang="fr-FR" sz="2000" dirty="0" smtClean="0">
                <a:latin typeface="Arial" pitchFamily="34" charset="0"/>
                <a:cs typeface="Arial" pitchFamily="34" charset="0"/>
              </a:rPr>
            </a:br>
            <a:r>
              <a:rPr lang="fr-FR" sz="2000" dirty="0" smtClean="0">
                <a:latin typeface="Arial" pitchFamily="34" charset="0"/>
                <a:cs typeface="Arial" pitchFamily="34" charset="0"/>
              </a:rPr>
              <a:t>Exemple : Un entrepreneur qui possède des compétences en gestion financière, en marketing et en leadership sera mieux équipé pour diriger son entreprise.</a:t>
            </a:r>
            <a:endParaRPr lang="fr-FR" sz="2000" dirty="0" smtClean="0">
              <a:solidFill>
                <a:schemeClr val="dk1"/>
              </a:solidFill>
              <a:latin typeface="Arial" pitchFamily="34" charset="0"/>
              <a:cs typeface="Arial" pitchFamily="34" charset="0"/>
            </a:endParaRPr>
          </a:p>
        </p:txBody>
      </p:sp>
      <p:pic>
        <p:nvPicPr>
          <p:cNvPr id="4" name="Image 3"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5" name="Espace réservé de la date 4"/>
          <p:cNvSpPr>
            <a:spLocks noGrp="1"/>
          </p:cNvSpPr>
          <p:nvPr>
            <p:ph type="dt" sz="half" idx="10"/>
          </p:nvPr>
        </p:nvSpPr>
        <p:spPr/>
        <p:txBody>
          <a:bodyPr/>
          <a:lstStyle/>
          <a:p>
            <a:pPr lvl="0"/>
            <a:fld id="{22EB070E-6DEE-4565-A925-2CCE5C62BB9C}" type="datetime1">
              <a:rPr lang="en-US" smtClean="0"/>
              <a:pPr lvl="0"/>
              <a:t>11/16/2025</a:t>
            </a:fld>
            <a:endParaRPr lang="en-US"/>
          </a:p>
        </p:txBody>
      </p:sp>
      <p:sp>
        <p:nvSpPr>
          <p:cNvPr id="6" name="Espace réservé du numéro de diapositive 5"/>
          <p:cNvSpPr>
            <a:spLocks noGrp="1"/>
          </p:cNvSpPr>
          <p:nvPr>
            <p:ph type="sldNum" sz="quarter" idx="12"/>
          </p:nvPr>
        </p:nvSpPr>
        <p:spPr/>
        <p:txBody>
          <a:bodyPr/>
          <a:lstStyle/>
          <a:p>
            <a:pPr lvl="0"/>
            <a:fld id="{2390AFF8-1E19-449A-AA82-B5E4E90108F1}" type="slidenum">
              <a:rPr lang="fr-FR" smtClean="0"/>
              <a:pPr lvl="0"/>
              <a:t>75</a:t>
            </a:fld>
            <a:endParaRPr lang="fr-F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1396" y="1425672"/>
            <a:ext cx="10734675" cy="526297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indent="1790700"/>
            <a:r>
              <a:rPr lang="fr-FR" sz="2200" b="1" dirty="0" smtClean="0">
                <a:solidFill>
                  <a:srgbClr val="C00000"/>
                </a:solidFill>
              </a:rPr>
              <a:t>B- L'environnement de l'entrepreneur</a:t>
            </a:r>
          </a:p>
          <a:p>
            <a:pPr algn="just"/>
            <a:endParaRPr lang="fr-FR" sz="800" dirty="0" smtClean="0"/>
          </a:p>
          <a:p>
            <a:pPr algn="just">
              <a:buFont typeface="Arial" pitchFamily="34" charset="0"/>
              <a:buChar char="•"/>
            </a:pPr>
            <a:r>
              <a:rPr lang="fr-FR" sz="2000" dirty="0" smtClean="0">
                <a:latin typeface="Arial" pitchFamily="34" charset="0"/>
                <a:cs typeface="Arial" pitchFamily="34" charset="0"/>
              </a:rPr>
              <a:t> </a:t>
            </a:r>
            <a:r>
              <a:rPr lang="fr-FR" sz="2000" b="1" dirty="0" smtClean="0">
                <a:latin typeface="Arial" pitchFamily="34" charset="0"/>
                <a:cs typeface="Arial" pitchFamily="34" charset="0"/>
              </a:rPr>
              <a:t>Capital social </a:t>
            </a:r>
            <a:r>
              <a:rPr lang="fr-FR" sz="2000" dirty="0" smtClean="0">
                <a:latin typeface="Arial" pitchFamily="34" charset="0"/>
                <a:cs typeface="Arial" pitchFamily="34" charset="0"/>
              </a:rPr>
              <a:t>: Le capital social fait référence aux réseaux de relations, aux contacts et aux ressources que possède un entrepreneur. Cela inclut les relations</a:t>
            </a:r>
            <a:br>
              <a:rPr lang="fr-FR" sz="2000" dirty="0" smtClean="0">
                <a:latin typeface="Arial" pitchFamily="34" charset="0"/>
                <a:cs typeface="Arial" pitchFamily="34" charset="0"/>
              </a:rPr>
            </a:br>
            <a:r>
              <a:rPr lang="fr-FR" sz="2000" dirty="0" smtClean="0">
                <a:latin typeface="Arial" pitchFamily="34" charset="0"/>
                <a:cs typeface="Arial" pitchFamily="34" charset="0"/>
              </a:rPr>
              <a:t>personnelles, professionnelles et communautaires qui peuvent être mobilisées pour soutenir l'entreprise.</a:t>
            </a:r>
          </a:p>
          <a:p>
            <a:pPr algn="just"/>
            <a:r>
              <a:rPr lang="fr-FR" sz="800" dirty="0" smtClean="0">
                <a:latin typeface="Arial" pitchFamily="34" charset="0"/>
                <a:cs typeface="Arial" pitchFamily="34" charset="0"/>
              </a:rPr>
              <a:t/>
            </a:r>
            <a:br>
              <a:rPr lang="fr-FR" sz="800" dirty="0" smtClean="0">
                <a:latin typeface="Arial" pitchFamily="34" charset="0"/>
                <a:cs typeface="Arial" pitchFamily="34" charset="0"/>
              </a:rPr>
            </a:br>
            <a:r>
              <a:rPr lang="fr-FR" sz="2000" dirty="0" smtClean="0">
                <a:latin typeface="Arial" pitchFamily="34" charset="0"/>
                <a:cs typeface="Arial" pitchFamily="34" charset="0"/>
              </a:rPr>
              <a:t>Exemple : Un entrepreneur qui a des liens solides avec d'autres entrepreneurs, des investisseurs et des mentors dans son secteur peut bénéficier de conseils,</a:t>
            </a:r>
            <a:br>
              <a:rPr lang="fr-FR" sz="2000" dirty="0" smtClean="0">
                <a:latin typeface="Arial" pitchFamily="34" charset="0"/>
                <a:cs typeface="Arial" pitchFamily="34" charset="0"/>
              </a:rPr>
            </a:br>
            <a:r>
              <a:rPr lang="fr-FR" sz="2000" dirty="0" smtClean="0">
                <a:latin typeface="Arial" pitchFamily="34" charset="0"/>
                <a:cs typeface="Arial" pitchFamily="34" charset="0"/>
              </a:rPr>
              <a:t>de recommandations et d'opportunités de financement. Par exemple, un fondateur de start-up dans le secteur technologique qui participe régulièrement à des événements</a:t>
            </a:r>
            <a:br>
              <a:rPr lang="fr-FR" sz="2000" dirty="0" smtClean="0">
                <a:latin typeface="Arial" pitchFamily="34" charset="0"/>
                <a:cs typeface="Arial" pitchFamily="34" charset="0"/>
              </a:rPr>
            </a:br>
            <a:r>
              <a:rPr lang="fr-FR" sz="2000" dirty="0" smtClean="0">
                <a:latin typeface="Arial" pitchFamily="34" charset="0"/>
                <a:cs typeface="Arial" pitchFamily="34" charset="0"/>
              </a:rPr>
              <a:t>de réseautage peut rencontrer des investisseurs potentiels ou des partenaires stratégiques qui l'aideront à développer son entreprise</a:t>
            </a:r>
          </a:p>
          <a:p>
            <a:pPr algn="just"/>
            <a:endParaRPr lang="fr-FR" sz="800" dirty="0" smtClean="0">
              <a:latin typeface="Arial" pitchFamily="34" charset="0"/>
              <a:cs typeface="Arial" pitchFamily="34" charset="0"/>
            </a:endParaRPr>
          </a:p>
          <a:p>
            <a:pPr algn="just">
              <a:buFont typeface="Arial" pitchFamily="34" charset="0"/>
              <a:buChar char="•"/>
            </a:pPr>
            <a:r>
              <a:rPr lang="fr-FR" sz="2000" b="1" dirty="0" smtClean="0">
                <a:latin typeface="Arial" pitchFamily="34" charset="0"/>
                <a:cs typeface="Arial" pitchFamily="34" charset="0"/>
              </a:rPr>
              <a:t> Structure d'accompagnement </a:t>
            </a:r>
            <a:r>
              <a:rPr lang="fr-FR" sz="2000" dirty="0" smtClean="0">
                <a:latin typeface="Arial" pitchFamily="34" charset="0"/>
                <a:cs typeface="Arial" pitchFamily="34" charset="0"/>
              </a:rPr>
              <a:t>: La structure d'accompagnement englobe les ressources et les services disponibles pour aider les entrepreneurs à développer leur activité. Cela</a:t>
            </a:r>
            <a:br>
              <a:rPr lang="fr-FR" sz="2000" dirty="0" smtClean="0">
                <a:latin typeface="Arial" pitchFamily="34" charset="0"/>
                <a:cs typeface="Arial" pitchFamily="34" charset="0"/>
              </a:rPr>
            </a:br>
            <a:r>
              <a:rPr lang="fr-FR" sz="2000" dirty="0" smtClean="0">
                <a:latin typeface="Arial" pitchFamily="34" charset="0"/>
                <a:cs typeface="Arial" pitchFamily="34" charset="0"/>
              </a:rPr>
              <a:t>peut inclure des incubateurs, des accélérateurs, des programmes de mentorat, des chambres de commerce, et des organismes gouvernementaux.</a:t>
            </a:r>
          </a:p>
        </p:txBody>
      </p:sp>
      <p:pic>
        <p:nvPicPr>
          <p:cNvPr id="4" name="Image 3"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5" name="Espace réservé de la date 4"/>
          <p:cNvSpPr>
            <a:spLocks noGrp="1"/>
          </p:cNvSpPr>
          <p:nvPr>
            <p:ph type="dt" sz="half" idx="10"/>
          </p:nvPr>
        </p:nvSpPr>
        <p:spPr/>
        <p:txBody>
          <a:bodyPr/>
          <a:lstStyle/>
          <a:p>
            <a:pPr lvl="0"/>
            <a:fld id="{14A0FFBC-CFF0-4B69-AEAB-36D59BB9A6D6}" type="datetime1">
              <a:rPr lang="en-US" smtClean="0"/>
              <a:pPr lvl="0"/>
              <a:t>11/16/2025</a:t>
            </a:fld>
            <a:endParaRPr lang="en-US"/>
          </a:p>
        </p:txBody>
      </p:sp>
      <p:sp>
        <p:nvSpPr>
          <p:cNvPr id="6" name="Espace réservé du numéro de diapositive 5"/>
          <p:cNvSpPr>
            <a:spLocks noGrp="1"/>
          </p:cNvSpPr>
          <p:nvPr>
            <p:ph type="sldNum" sz="quarter" idx="12"/>
          </p:nvPr>
        </p:nvSpPr>
        <p:spPr/>
        <p:txBody>
          <a:bodyPr/>
          <a:lstStyle/>
          <a:p>
            <a:pPr lvl="0"/>
            <a:fld id="{2390AFF8-1E19-449A-AA82-B5E4E90108F1}" type="slidenum">
              <a:rPr lang="fr-FR" smtClean="0"/>
              <a:pPr lvl="0"/>
              <a:t>76</a:t>
            </a:fld>
            <a:endParaRPr lang="fr-F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31421" y="1728107"/>
            <a:ext cx="10410825" cy="497059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dirty="0" smtClean="0">
                <a:solidFill>
                  <a:schemeClr val="dk1"/>
                </a:solidFill>
                <a:latin typeface="Arial" pitchFamily="34" charset="0"/>
                <a:cs typeface="Arial" pitchFamily="34" charset="0"/>
              </a:rPr>
              <a:t>Exemple : Un entrepreneur qui rejoint un incubateur d'entreprises peut bénéficier de formations, de conseils juridiques, de soutien marketing et d'un accès</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à des financements. Par exemple, un jeune entrepreneur dans le secteur alimentaire qui intègre un incubateur spécialisé peut recevoir des conseils sur la réglementation</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alimentaire, des formations sur la gestion d'entreprise et des opportunités de mise en réseau avec des distributeurs.</a:t>
            </a:r>
          </a:p>
          <a:p>
            <a:pPr algn="just"/>
            <a:endParaRPr lang="fr-FR" sz="800" dirty="0" smtClean="0">
              <a:solidFill>
                <a:schemeClr val="dk1"/>
              </a:solidFill>
              <a:latin typeface="Arial" pitchFamily="34" charset="0"/>
              <a:cs typeface="Arial" pitchFamily="34" charset="0"/>
            </a:endParaRPr>
          </a:p>
          <a:p>
            <a:pPr>
              <a:buFont typeface="Arial" pitchFamily="34" charset="0"/>
              <a:buChar char="•"/>
            </a:pPr>
            <a:r>
              <a:rPr lang="fr-FR" sz="2000" b="1" dirty="0" smtClean="0">
                <a:solidFill>
                  <a:schemeClr val="dk1"/>
                </a:solidFill>
                <a:latin typeface="Arial" pitchFamily="34" charset="0"/>
                <a:cs typeface="Arial" pitchFamily="34" charset="0"/>
              </a:rPr>
              <a:t> Contexte environnemental </a:t>
            </a:r>
            <a:r>
              <a:rPr lang="fr-FR" sz="2000" dirty="0" smtClean="0">
                <a:solidFill>
                  <a:schemeClr val="dk1"/>
                </a:solidFill>
                <a:latin typeface="Arial" pitchFamily="34" charset="0"/>
                <a:cs typeface="Arial" pitchFamily="34" charset="0"/>
              </a:rPr>
              <a:t>: Le contexte environnemental fait référence aux conditions économiques, politiques, sociales et culturelles dans lesquelles un entrepreneur évolue.</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Cela inclut la réglementation, la concurrence, les tendances du marché et les attentes des consommateurs.</a:t>
            </a:r>
          </a:p>
          <a:p>
            <a:r>
              <a:rPr lang="fr-FR" sz="900" dirty="0" smtClean="0">
                <a:solidFill>
                  <a:schemeClr val="dk1"/>
                </a:solidFill>
                <a:latin typeface="Arial" pitchFamily="34" charset="0"/>
                <a:cs typeface="Arial" pitchFamily="34" charset="0"/>
              </a:rPr>
              <a:t/>
            </a:r>
            <a:br>
              <a:rPr lang="fr-FR" sz="9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**Exemple :** Un entrepreneur qui lance une entreprise de produits écologiques dans un pays où la durabilité est une priorité pour le gouvernement et les consommateurs</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peut bénéficier d'un environnement favorable. Par exemple, si des subventions sont offertes pour les entreprises vertes et que les consommateurs montrent une préférence</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croissante pour les produits durables, cela peut faciliter la réussite de l'entreprise.</a:t>
            </a:r>
          </a:p>
        </p:txBody>
      </p:sp>
      <p:pic>
        <p:nvPicPr>
          <p:cNvPr id="4" name="Image 3"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5" name="Espace réservé de la date 4"/>
          <p:cNvSpPr>
            <a:spLocks noGrp="1"/>
          </p:cNvSpPr>
          <p:nvPr>
            <p:ph type="dt" sz="half" idx="10"/>
          </p:nvPr>
        </p:nvSpPr>
        <p:spPr/>
        <p:txBody>
          <a:bodyPr/>
          <a:lstStyle/>
          <a:p>
            <a:pPr lvl="0"/>
            <a:fld id="{89AC864B-5A5C-4B20-A9E7-D9EB8D429294}" type="datetime1">
              <a:rPr lang="en-US" smtClean="0"/>
              <a:pPr lvl="0"/>
              <a:t>11/16/2025</a:t>
            </a:fld>
            <a:endParaRPr lang="en-US"/>
          </a:p>
        </p:txBody>
      </p:sp>
      <p:sp>
        <p:nvSpPr>
          <p:cNvPr id="6" name="Espace réservé du numéro de diapositive 5"/>
          <p:cNvSpPr>
            <a:spLocks noGrp="1"/>
          </p:cNvSpPr>
          <p:nvPr>
            <p:ph type="sldNum" sz="quarter" idx="12"/>
          </p:nvPr>
        </p:nvSpPr>
        <p:spPr/>
        <p:txBody>
          <a:bodyPr/>
          <a:lstStyle/>
          <a:p>
            <a:pPr lvl="0"/>
            <a:fld id="{2390AFF8-1E19-449A-AA82-B5E4E90108F1}" type="slidenum">
              <a:rPr lang="fr-FR" smtClean="0"/>
              <a:pPr lvl="0"/>
              <a:t>77</a:t>
            </a:fld>
            <a:endParaRPr lang="fr-F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4465" y="1684900"/>
            <a:ext cx="10610850" cy="498598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lvl="0" indent="1790700"/>
            <a:r>
              <a:rPr lang="fr-FR" sz="2200" b="1" dirty="0" smtClean="0">
                <a:solidFill>
                  <a:srgbClr val="C00000"/>
                </a:solidFill>
              </a:rPr>
              <a:t>C- Préparation à la création</a:t>
            </a:r>
          </a:p>
          <a:p>
            <a:pPr algn="just"/>
            <a:endParaRPr lang="fr-FR" sz="800" dirty="0" smtClean="0">
              <a:latin typeface="Arial" pitchFamily="34" charset="0"/>
              <a:cs typeface="Arial" pitchFamily="34" charset="0"/>
            </a:endParaRPr>
          </a:p>
          <a:p>
            <a:pPr algn="just"/>
            <a:r>
              <a:rPr lang="fr-FR" sz="2000" dirty="0" smtClean="0">
                <a:latin typeface="Arial" pitchFamily="34" charset="0"/>
                <a:cs typeface="Arial" pitchFamily="34" charset="0"/>
              </a:rPr>
              <a:t>La préparation à la création d'une entreprise est un élément clé de la réussite entrepreneuriale. Cela implique une compréhension approfondie du marché cible, une stratégie marketing efficace et l'élaboration d'un plan d'affaires solide. Voici une explication détaillée de ces éléments, accompagnée d'exemples.</a:t>
            </a:r>
          </a:p>
          <a:p>
            <a:pPr algn="just"/>
            <a:endParaRPr lang="fr-FR" sz="800" dirty="0" smtClean="0">
              <a:latin typeface="Arial" pitchFamily="34" charset="0"/>
              <a:cs typeface="Arial" pitchFamily="34" charset="0"/>
            </a:endParaRPr>
          </a:p>
          <a:p>
            <a:pPr algn="just">
              <a:buFont typeface="Arial" pitchFamily="34" charset="0"/>
              <a:buChar char="Ω"/>
            </a:pPr>
            <a:r>
              <a:rPr lang="fr-FR" sz="2000" dirty="0" smtClean="0">
                <a:latin typeface="Arial" pitchFamily="34" charset="0"/>
                <a:cs typeface="Arial" pitchFamily="34" charset="0"/>
              </a:rPr>
              <a:t> </a:t>
            </a:r>
            <a:r>
              <a:rPr lang="fr-FR" sz="2000" b="1" dirty="0" smtClean="0">
                <a:latin typeface="Arial" pitchFamily="34" charset="0"/>
                <a:cs typeface="Arial" pitchFamily="34" charset="0"/>
              </a:rPr>
              <a:t>Marché cible </a:t>
            </a:r>
            <a:r>
              <a:rPr lang="fr-FR" sz="2000" dirty="0" smtClean="0">
                <a:latin typeface="Arial" pitchFamily="34" charset="0"/>
                <a:cs typeface="Arial" pitchFamily="34" charset="0"/>
              </a:rPr>
              <a:t>: Le marché cible désigne le groupe spécifique de consommateurs que l'entreprise souhaite atteindre avec ses produits ou services. Identifier ce</a:t>
            </a:r>
            <a:br>
              <a:rPr lang="fr-FR" sz="2000" dirty="0" smtClean="0">
                <a:latin typeface="Arial" pitchFamily="34" charset="0"/>
                <a:cs typeface="Arial" pitchFamily="34" charset="0"/>
              </a:rPr>
            </a:br>
            <a:r>
              <a:rPr lang="fr-FR" sz="2000" dirty="0" smtClean="0">
                <a:latin typeface="Arial" pitchFamily="34" charset="0"/>
                <a:cs typeface="Arial" pitchFamily="34" charset="0"/>
              </a:rPr>
              <a:t>marché est crucial pour orienter les efforts de marketing et de vente.</a:t>
            </a:r>
            <a:br>
              <a:rPr lang="fr-FR" sz="2000" dirty="0" smtClean="0">
                <a:latin typeface="Arial" pitchFamily="34" charset="0"/>
                <a:cs typeface="Arial" pitchFamily="34" charset="0"/>
              </a:rPr>
            </a:br>
            <a:r>
              <a:rPr lang="fr-FR" sz="2000" dirty="0" smtClean="0">
                <a:latin typeface="Arial" pitchFamily="34" charset="0"/>
                <a:cs typeface="Arial" pitchFamily="34" charset="0"/>
              </a:rPr>
              <a:t/>
            </a:r>
            <a:br>
              <a:rPr lang="fr-FR" sz="2000" dirty="0" smtClean="0">
                <a:latin typeface="Arial" pitchFamily="34" charset="0"/>
                <a:cs typeface="Arial" pitchFamily="34" charset="0"/>
              </a:rPr>
            </a:br>
            <a:r>
              <a:rPr lang="fr-FR" sz="2000" dirty="0" smtClean="0">
                <a:latin typeface="Arial" pitchFamily="34" charset="0"/>
                <a:cs typeface="Arial" pitchFamily="34" charset="0"/>
              </a:rPr>
              <a:t>Exemple : Supposons qu'un entrepreneur souhaite lancer une ligne de vêtements de sport </a:t>
            </a:r>
            <a:r>
              <a:rPr lang="fr-FR" sz="2000" dirty="0" err="1" smtClean="0">
                <a:latin typeface="Arial" pitchFamily="34" charset="0"/>
                <a:cs typeface="Arial" pitchFamily="34" charset="0"/>
              </a:rPr>
              <a:t>écoresponsables</a:t>
            </a:r>
            <a:r>
              <a:rPr lang="fr-FR" sz="2000" dirty="0" smtClean="0">
                <a:latin typeface="Arial" pitchFamily="34" charset="0"/>
                <a:cs typeface="Arial" pitchFamily="34" charset="0"/>
              </a:rPr>
              <a:t>. Son marché cible pourrait être constitué de jeunes</a:t>
            </a:r>
            <a:br>
              <a:rPr lang="fr-FR" sz="2000" dirty="0" smtClean="0">
                <a:latin typeface="Arial" pitchFamily="34" charset="0"/>
                <a:cs typeface="Arial" pitchFamily="34" charset="0"/>
              </a:rPr>
            </a:br>
            <a:r>
              <a:rPr lang="fr-FR" sz="2000" dirty="0" smtClean="0">
                <a:latin typeface="Arial" pitchFamily="34" charset="0"/>
                <a:cs typeface="Arial" pitchFamily="34" charset="0"/>
              </a:rPr>
              <a:t>adultes soucieux de l'environnement, âgés de 18 à 35 ans, qui pratiquent régulièrement des activités sportives. En comprenant les préférences et les comportements</a:t>
            </a:r>
            <a:br>
              <a:rPr lang="fr-FR" sz="2000" dirty="0" smtClean="0">
                <a:latin typeface="Arial" pitchFamily="34" charset="0"/>
                <a:cs typeface="Arial" pitchFamily="34" charset="0"/>
              </a:rPr>
            </a:br>
            <a:r>
              <a:rPr lang="fr-FR" sz="2000" dirty="0" smtClean="0">
                <a:latin typeface="Arial" pitchFamily="34" charset="0"/>
                <a:cs typeface="Arial" pitchFamily="34" charset="0"/>
              </a:rPr>
              <a:t>d'achat de ce groupe, l'entrepreneur peut adapter ses produits et ses messages marketing pour mieux répondre à leurs attentes.</a:t>
            </a:r>
          </a:p>
        </p:txBody>
      </p:sp>
      <p:pic>
        <p:nvPicPr>
          <p:cNvPr id="4" name="Image 3"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5" name="Espace réservé de la date 4"/>
          <p:cNvSpPr>
            <a:spLocks noGrp="1"/>
          </p:cNvSpPr>
          <p:nvPr>
            <p:ph type="dt" sz="half" idx="10"/>
          </p:nvPr>
        </p:nvSpPr>
        <p:spPr/>
        <p:txBody>
          <a:bodyPr/>
          <a:lstStyle/>
          <a:p>
            <a:pPr lvl="0"/>
            <a:fld id="{5FC2EA67-2DD3-4402-AFEC-CEF7DBC52948}" type="datetime1">
              <a:rPr lang="en-US" smtClean="0"/>
              <a:pPr lvl="0"/>
              <a:t>11/16/2025</a:t>
            </a:fld>
            <a:endParaRPr lang="en-US"/>
          </a:p>
        </p:txBody>
      </p:sp>
      <p:sp>
        <p:nvSpPr>
          <p:cNvPr id="6" name="Espace réservé du numéro de diapositive 5"/>
          <p:cNvSpPr>
            <a:spLocks noGrp="1"/>
          </p:cNvSpPr>
          <p:nvPr>
            <p:ph type="sldNum" sz="quarter" idx="12"/>
          </p:nvPr>
        </p:nvSpPr>
        <p:spPr/>
        <p:txBody>
          <a:bodyPr/>
          <a:lstStyle/>
          <a:p>
            <a:pPr lvl="0"/>
            <a:fld id="{2390AFF8-1E19-449A-AA82-B5E4E90108F1}" type="slidenum">
              <a:rPr lang="fr-FR" smtClean="0"/>
              <a:pPr lvl="0"/>
              <a:t>78</a:t>
            </a:fld>
            <a:endParaRPr lang="fr-F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5671" y="1737194"/>
            <a:ext cx="10744200" cy="483209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buFont typeface="Arial" pitchFamily="34" charset="0"/>
              <a:buChar char="Ω"/>
            </a:pPr>
            <a:r>
              <a:rPr lang="fr-FR" sz="2000" b="1" dirty="0" smtClean="0">
                <a:solidFill>
                  <a:schemeClr val="dk1"/>
                </a:solidFill>
                <a:latin typeface="Arial" pitchFamily="34" charset="0"/>
                <a:cs typeface="Arial" pitchFamily="34" charset="0"/>
              </a:rPr>
              <a:t> Contribution du Marketing </a:t>
            </a:r>
            <a:r>
              <a:rPr lang="fr-FR" sz="2000" dirty="0" smtClean="0">
                <a:solidFill>
                  <a:schemeClr val="dk1"/>
                </a:solidFill>
                <a:latin typeface="Arial" pitchFamily="34" charset="0"/>
                <a:cs typeface="Arial" pitchFamily="34" charset="0"/>
              </a:rPr>
              <a:t>:  Le marketing englobe l'ensemble des actions visant à promouvoir et à vendre des produits ou services. Une stratégie marketing bien pensée permet de créer de la notoriété, d'attirer des clients et de fidéliser la clientèle.</a:t>
            </a:r>
          </a:p>
          <a:p>
            <a:pPr algn="just"/>
            <a:r>
              <a:rPr lang="fr-FR" sz="2000" dirty="0" smtClean="0">
                <a:solidFill>
                  <a:schemeClr val="dk1"/>
                </a:solidFill>
                <a:latin typeface="Arial" pitchFamily="34" charset="0"/>
                <a:cs typeface="Arial" pitchFamily="34" charset="0"/>
              </a:rPr>
              <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Exemple : Pour l'entreprise de vêtements de sport </a:t>
            </a:r>
            <a:r>
              <a:rPr lang="fr-FR" sz="2000" dirty="0" err="1" smtClean="0">
                <a:solidFill>
                  <a:schemeClr val="dk1"/>
                </a:solidFill>
                <a:latin typeface="Arial" pitchFamily="34" charset="0"/>
                <a:cs typeface="Arial" pitchFamily="34" charset="0"/>
              </a:rPr>
              <a:t>écoresponsables</a:t>
            </a:r>
            <a:r>
              <a:rPr lang="fr-FR" sz="2000" dirty="0" smtClean="0">
                <a:solidFill>
                  <a:schemeClr val="dk1"/>
                </a:solidFill>
                <a:latin typeface="Arial" pitchFamily="34" charset="0"/>
                <a:cs typeface="Arial" pitchFamily="34" charset="0"/>
              </a:rPr>
              <a:t>, une stratégie marketing efficace pourrait inclure :</a:t>
            </a:r>
          </a:p>
          <a:p>
            <a:pPr algn="just"/>
            <a:r>
              <a:rPr lang="fr-FR" sz="800" dirty="0" smtClean="0">
                <a:solidFill>
                  <a:schemeClr val="dk1"/>
                </a:solidFill>
                <a:latin typeface="Arial" pitchFamily="34" charset="0"/>
                <a:cs typeface="Arial" pitchFamily="34" charset="0"/>
              </a:rPr>
              <a:t/>
            </a:r>
            <a:br>
              <a:rPr lang="fr-FR" sz="8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 Campagnes sur les réseaux sociaux : Utiliser </a:t>
            </a:r>
            <a:r>
              <a:rPr lang="fr-FR" sz="2000" dirty="0" err="1" smtClean="0">
                <a:solidFill>
                  <a:schemeClr val="dk1"/>
                </a:solidFill>
                <a:latin typeface="Arial" pitchFamily="34" charset="0"/>
                <a:cs typeface="Arial" pitchFamily="34" charset="0"/>
              </a:rPr>
              <a:t>Instagram</a:t>
            </a:r>
            <a:r>
              <a:rPr lang="fr-FR" sz="2000" dirty="0" smtClean="0">
                <a:solidFill>
                  <a:schemeClr val="dk1"/>
                </a:solidFill>
                <a:latin typeface="Arial" pitchFamily="34" charset="0"/>
                <a:cs typeface="Arial" pitchFamily="34" charset="0"/>
              </a:rPr>
              <a:t> et </a:t>
            </a:r>
            <a:r>
              <a:rPr lang="fr-FR" sz="2000" dirty="0" err="1" smtClean="0">
                <a:solidFill>
                  <a:schemeClr val="dk1"/>
                </a:solidFill>
                <a:latin typeface="Arial" pitchFamily="34" charset="0"/>
                <a:cs typeface="Arial" pitchFamily="34" charset="0"/>
              </a:rPr>
              <a:t>TikTok</a:t>
            </a:r>
            <a:r>
              <a:rPr lang="fr-FR" sz="2000" dirty="0" smtClean="0">
                <a:solidFill>
                  <a:schemeClr val="dk1"/>
                </a:solidFill>
                <a:latin typeface="Arial" pitchFamily="34" charset="0"/>
                <a:cs typeface="Arial" pitchFamily="34" charset="0"/>
              </a:rPr>
              <a:t> pour partager des contenus visuels engageants mettant en avant les produits et leur impact environnemental.</a:t>
            </a:r>
          </a:p>
          <a:p>
            <a:pPr algn="just">
              <a:buFontTx/>
              <a:buChar char="-"/>
            </a:pPr>
            <a:r>
              <a:rPr lang="fr-FR" sz="2000" dirty="0" smtClean="0">
                <a:solidFill>
                  <a:schemeClr val="dk1"/>
                </a:solidFill>
                <a:latin typeface="Arial" pitchFamily="34" charset="0"/>
                <a:cs typeface="Arial" pitchFamily="34" charset="0"/>
              </a:rPr>
              <a:t> Partenariats avec des </a:t>
            </a:r>
            <a:r>
              <a:rPr lang="fr-FR" sz="2000" dirty="0" err="1" smtClean="0">
                <a:solidFill>
                  <a:schemeClr val="dk1"/>
                </a:solidFill>
                <a:latin typeface="Arial" pitchFamily="34" charset="0"/>
                <a:cs typeface="Arial" pitchFamily="34" charset="0"/>
              </a:rPr>
              <a:t>influenceurs</a:t>
            </a:r>
            <a:r>
              <a:rPr lang="fr-FR" sz="2000" dirty="0" smtClean="0">
                <a:solidFill>
                  <a:schemeClr val="dk1"/>
                </a:solidFill>
                <a:latin typeface="Arial" pitchFamily="34" charset="0"/>
                <a:cs typeface="Arial" pitchFamily="34" charset="0"/>
              </a:rPr>
              <a:t> : Collaborer avec des </a:t>
            </a:r>
            <a:r>
              <a:rPr lang="fr-FR" sz="2000" dirty="0" err="1" smtClean="0">
                <a:solidFill>
                  <a:schemeClr val="dk1"/>
                </a:solidFill>
                <a:latin typeface="Arial" pitchFamily="34" charset="0"/>
                <a:cs typeface="Arial" pitchFamily="34" charset="0"/>
              </a:rPr>
              <a:t>influenceurs</a:t>
            </a:r>
            <a:r>
              <a:rPr lang="fr-FR" sz="2000" dirty="0" smtClean="0">
                <a:solidFill>
                  <a:schemeClr val="dk1"/>
                </a:solidFill>
                <a:latin typeface="Arial" pitchFamily="34" charset="0"/>
                <a:cs typeface="Arial" pitchFamily="34" charset="0"/>
              </a:rPr>
              <a:t> dans le domaine du fitness et de la durabilité pour atteindre un public plus large.</a:t>
            </a:r>
          </a:p>
          <a:p>
            <a:r>
              <a:rPr lang="fr-FR" sz="2000" dirty="0" smtClean="0">
                <a:solidFill>
                  <a:schemeClr val="dk1"/>
                </a:solidFill>
                <a:latin typeface="Arial" pitchFamily="34" charset="0"/>
                <a:cs typeface="Arial" pitchFamily="34" charset="0"/>
              </a:rPr>
              <a:t>- Événements locaux : Organiser des événements de sensibilisation à l'environnement où les participants peuvent essayer les vêtements tout en apprenant sur la durabilité.</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Ces actions marketing ciblées permettent de construire une image de marque forte et d'attirer le marché cible.</a:t>
            </a:r>
          </a:p>
        </p:txBody>
      </p:sp>
      <p:pic>
        <p:nvPicPr>
          <p:cNvPr id="4" name="Image 3"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5" name="Espace réservé de la date 4"/>
          <p:cNvSpPr>
            <a:spLocks noGrp="1"/>
          </p:cNvSpPr>
          <p:nvPr>
            <p:ph type="dt" sz="half" idx="10"/>
          </p:nvPr>
        </p:nvSpPr>
        <p:spPr/>
        <p:txBody>
          <a:bodyPr/>
          <a:lstStyle/>
          <a:p>
            <a:pPr lvl="0"/>
            <a:fld id="{51353BF8-6A17-49E5-AFAB-B488680D210C}" type="datetime1">
              <a:rPr lang="en-US" smtClean="0"/>
              <a:pPr lvl="0"/>
              <a:t>11/16/2025</a:t>
            </a:fld>
            <a:endParaRPr lang="en-US"/>
          </a:p>
        </p:txBody>
      </p:sp>
      <p:sp>
        <p:nvSpPr>
          <p:cNvPr id="6" name="Espace réservé du numéro de diapositive 5"/>
          <p:cNvSpPr>
            <a:spLocks noGrp="1"/>
          </p:cNvSpPr>
          <p:nvPr>
            <p:ph type="sldNum" sz="quarter" idx="12"/>
          </p:nvPr>
        </p:nvSpPr>
        <p:spPr/>
        <p:txBody>
          <a:bodyPr/>
          <a:lstStyle/>
          <a:p>
            <a:pPr lvl="0"/>
            <a:fld id="{2390AFF8-1E19-449A-AA82-B5E4E90108F1}" type="slidenum">
              <a:rPr lang="fr-FR" smtClean="0"/>
              <a:pPr lvl="0"/>
              <a:t>79</a:t>
            </a:fld>
            <a:endParaRPr lang="fr-F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7249" y="1787166"/>
            <a:ext cx="10887075" cy="483209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buFont typeface="Arial" pitchFamily="34" charset="0"/>
              <a:buChar char="Ω"/>
            </a:pPr>
            <a:r>
              <a:rPr lang="fr-FR" sz="2000" b="1" dirty="0" smtClean="0">
                <a:solidFill>
                  <a:schemeClr val="dk1"/>
                </a:solidFill>
                <a:latin typeface="Arial" pitchFamily="34" charset="0"/>
                <a:cs typeface="Arial" pitchFamily="34" charset="0"/>
              </a:rPr>
              <a:t> Utilité du Plan d'affaires </a:t>
            </a:r>
            <a:r>
              <a:rPr lang="fr-FR" sz="2000" dirty="0" smtClean="0">
                <a:solidFill>
                  <a:schemeClr val="dk1"/>
                </a:solidFill>
                <a:latin typeface="Arial" pitchFamily="34" charset="0"/>
                <a:cs typeface="Arial" pitchFamily="34" charset="0"/>
              </a:rPr>
              <a:t>: Un plan d'affaires est un document qui décrit les objectifs d'une entreprise, les stratégies pour les atteindre, le marché cible, la structure</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organisationnelle, les prévisions financières, etc. Il sert de feuille de route pour le développement de l'entreprise.</a:t>
            </a:r>
          </a:p>
          <a:p>
            <a:r>
              <a:rPr lang="fr-FR" sz="2000" dirty="0" smtClean="0">
                <a:solidFill>
                  <a:schemeClr val="dk1"/>
                </a:solidFill>
                <a:latin typeface="Arial" pitchFamily="34" charset="0"/>
                <a:cs typeface="Arial" pitchFamily="34" charset="0"/>
              </a:rPr>
              <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Exemple : Pour l'entrepreneur de vêtements de sport, un plan d'affaires pourrait inclure :</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
            </a:r>
            <a:br>
              <a:rPr lang="fr-FR" sz="2000" dirty="0" smtClean="0">
                <a:solidFill>
                  <a:schemeClr val="dk1"/>
                </a:solidFill>
                <a:latin typeface="Arial" pitchFamily="34" charset="0"/>
                <a:cs typeface="Arial" pitchFamily="34" charset="0"/>
              </a:rPr>
            </a:br>
            <a:r>
              <a:rPr lang="fr-FR" sz="2000" dirty="0" smtClean="0">
                <a:solidFill>
                  <a:schemeClr val="dk1"/>
                </a:solidFill>
                <a:latin typeface="Arial" pitchFamily="34" charset="0"/>
                <a:cs typeface="Arial" pitchFamily="34" charset="0"/>
              </a:rPr>
              <a:t>- Analyse de marché : Étude des tendances de consommation dans le secteur de la mode </a:t>
            </a:r>
            <a:r>
              <a:rPr lang="fr-FR" sz="2000" dirty="0" err="1" smtClean="0">
                <a:solidFill>
                  <a:schemeClr val="dk1"/>
                </a:solidFill>
                <a:latin typeface="Arial" pitchFamily="34" charset="0"/>
                <a:cs typeface="Arial" pitchFamily="34" charset="0"/>
              </a:rPr>
              <a:t>écoresponsable</a:t>
            </a:r>
            <a:r>
              <a:rPr lang="fr-FR" sz="2000" dirty="0" smtClean="0">
                <a:solidFill>
                  <a:schemeClr val="dk1"/>
                </a:solidFill>
                <a:latin typeface="Arial" pitchFamily="34" charset="0"/>
                <a:cs typeface="Arial" pitchFamily="34" charset="0"/>
              </a:rPr>
              <a:t> et identification des concurrents.</a:t>
            </a:r>
          </a:p>
          <a:p>
            <a:pPr algn="just">
              <a:buFontTx/>
              <a:buChar char="-"/>
            </a:pPr>
            <a:r>
              <a:rPr lang="fr-FR" sz="2000" dirty="0" smtClean="0">
                <a:solidFill>
                  <a:schemeClr val="dk1"/>
                </a:solidFill>
                <a:latin typeface="Arial" pitchFamily="34" charset="0"/>
                <a:cs typeface="Arial" pitchFamily="34" charset="0"/>
              </a:rPr>
              <a:t>  Stratégie de produit : Description des matériaux utilisés, des designs et des gammes de prix.</a:t>
            </a:r>
          </a:p>
          <a:p>
            <a:pPr algn="just">
              <a:buFontTx/>
              <a:buChar char="-"/>
            </a:pPr>
            <a:r>
              <a:rPr lang="fr-FR" sz="2000" dirty="0" smtClean="0">
                <a:solidFill>
                  <a:schemeClr val="dk1"/>
                </a:solidFill>
                <a:latin typeface="Arial" pitchFamily="34" charset="0"/>
                <a:cs typeface="Arial" pitchFamily="34" charset="0"/>
              </a:rPr>
              <a:t>Plan financier : Estimations des coûts de production, des revenus prévus et des besoins de financement.</a:t>
            </a:r>
          </a:p>
          <a:p>
            <a:pPr algn="just"/>
            <a:endParaRPr lang="fr-FR" sz="800" dirty="0" smtClean="0">
              <a:latin typeface="Arial" pitchFamily="34" charset="0"/>
              <a:cs typeface="Arial" pitchFamily="34" charset="0"/>
            </a:endParaRPr>
          </a:p>
          <a:p>
            <a:pPr algn="just"/>
            <a:r>
              <a:rPr lang="fr-FR" sz="2000" dirty="0" smtClean="0">
                <a:latin typeface="Arial" pitchFamily="34" charset="0"/>
                <a:cs typeface="Arial" pitchFamily="34" charset="0"/>
              </a:rPr>
              <a:t>Un plan d'affaires bien élaboré aide non seulement à clarifier la vision de l'entreprise, mais il est également essentiel pour convaincre des investisseurs potentiels ou des partenaires commerciaux de la viabilité du projet.</a:t>
            </a:r>
            <a:endParaRPr lang="fr-FR" sz="2000" dirty="0" smtClean="0">
              <a:solidFill>
                <a:schemeClr val="dk1"/>
              </a:solidFill>
              <a:latin typeface="Arial" pitchFamily="34" charset="0"/>
              <a:cs typeface="Arial" pitchFamily="34" charset="0"/>
            </a:endParaRPr>
          </a:p>
        </p:txBody>
      </p:sp>
      <p:pic>
        <p:nvPicPr>
          <p:cNvPr id="4" name="Image 3"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5" name="Espace réservé de la date 4"/>
          <p:cNvSpPr>
            <a:spLocks noGrp="1"/>
          </p:cNvSpPr>
          <p:nvPr>
            <p:ph type="dt" sz="half" idx="10"/>
          </p:nvPr>
        </p:nvSpPr>
        <p:spPr/>
        <p:txBody>
          <a:bodyPr/>
          <a:lstStyle/>
          <a:p>
            <a:pPr lvl="0"/>
            <a:fld id="{C9C07EF7-32BE-484C-BABE-E117773F462D}" type="datetime1">
              <a:rPr lang="en-US" smtClean="0"/>
              <a:pPr lvl="0"/>
              <a:t>11/16/2025</a:t>
            </a:fld>
            <a:endParaRPr lang="en-US"/>
          </a:p>
        </p:txBody>
      </p:sp>
      <p:sp>
        <p:nvSpPr>
          <p:cNvPr id="6" name="Espace réservé du numéro de diapositive 5"/>
          <p:cNvSpPr>
            <a:spLocks noGrp="1"/>
          </p:cNvSpPr>
          <p:nvPr>
            <p:ph type="sldNum" sz="quarter" idx="12"/>
          </p:nvPr>
        </p:nvSpPr>
        <p:spPr/>
        <p:txBody>
          <a:bodyPr/>
          <a:lstStyle/>
          <a:p>
            <a:pPr lvl="0"/>
            <a:fld id="{2390AFF8-1E19-449A-AA82-B5E4E90108F1}" type="slidenum">
              <a:rPr lang="fr-FR" smtClean="0"/>
              <a:pPr lvl="0"/>
              <a:t>80</a:t>
            </a:fld>
            <a:endParaRPr lang="fr-F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0100" y="1729885"/>
            <a:ext cx="10458450" cy="360098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dirty="0" smtClean="0">
                <a:solidFill>
                  <a:schemeClr val="dk1"/>
                </a:solidFill>
                <a:latin typeface="Arial" pitchFamily="34" charset="0"/>
                <a:cs typeface="Arial" pitchFamily="34" charset="0"/>
              </a:rPr>
              <a:t/>
            </a:r>
            <a:br>
              <a:rPr lang="fr-FR" dirty="0" smtClean="0">
                <a:solidFill>
                  <a:schemeClr val="dk1"/>
                </a:solidFill>
                <a:latin typeface="Arial" pitchFamily="34" charset="0"/>
                <a:cs typeface="Arial" pitchFamily="34" charset="0"/>
              </a:rPr>
            </a:br>
            <a:r>
              <a:rPr lang="fr-FR" sz="2000" b="1" dirty="0" smtClean="0">
                <a:solidFill>
                  <a:schemeClr val="dk1"/>
                </a:solidFill>
                <a:latin typeface="Arial" pitchFamily="34" charset="0"/>
                <a:cs typeface="Arial" pitchFamily="34" charset="0"/>
              </a:rPr>
              <a:t> Conclusion</a:t>
            </a:r>
          </a:p>
          <a:p>
            <a:pPr algn="just"/>
            <a:endParaRPr lang="fr-FR" dirty="0" smtClean="0">
              <a:solidFill>
                <a:schemeClr val="dk1"/>
              </a:solidFill>
              <a:latin typeface="Arial" pitchFamily="34" charset="0"/>
              <a:cs typeface="Arial" pitchFamily="34" charset="0"/>
            </a:endParaRPr>
          </a:p>
          <a:p>
            <a:pPr algn="just"/>
            <a:r>
              <a:rPr lang="fr-FR" sz="2000" dirty="0" smtClean="0">
                <a:solidFill>
                  <a:schemeClr val="dk1"/>
                </a:solidFill>
                <a:latin typeface="Arial" pitchFamily="34" charset="0"/>
                <a:cs typeface="Arial" pitchFamily="34" charset="0"/>
              </a:rPr>
              <a:t>La préparation à la création d'une entreprise, en se concentrant sur le marché cible, le marketing et le plan d'affaires, est essentielle pour maximiser les </a:t>
            </a:r>
            <a:r>
              <a:rPr lang="fr-FR" sz="2000" dirty="0" smtClean="0">
                <a:latin typeface="Arial" pitchFamily="34" charset="0"/>
                <a:cs typeface="Arial" pitchFamily="34" charset="0"/>
              </a:rPr>
              <a:t>chances de succès. En comprenant son public, en développant des stratégies marketing adaptées et en ayant un plan d'affaires solide, un entrepreneur peut naviguer plus efficacement dans le paysage concurrentiel et atteindre ses objectifs..</a:t>
            </a:r>
          </a:p>
          <a:p>
            <a:pPr algn="just"/>
            <a:r>
              <a:rPr lang="fr-FR" dirty="0" smtClean="0">
                <a:latin typeface="Arial" pitchFamily="34" charset="0"/>
                <a:cs typeface="Arial" pitchFamily="34" charset="0"/>
              </a:rPr>
              <a:t/>
            </a:r>
            <a:br>
              <a:rPr lang="fr-FR" dirty="0" smtClean="0">
                <a:latin typeface="Arial" pitchFamily="34" charset="0"/>
                <a:cs typeface="Arial" pitchFamily="34" charset="0"/>
              </a:rPr>
            </a:br>
            <a:endParaRPr lang="fr-FR" dirty="0" smtClean="0">
              <a:solidFill>
                <a:schemeClr val="dk1"/>
              </a:solidFill>
              <a:latin typeface="Arial" pitchFamily="34" charset="0"/>
              <a:cs typeface="Arial" pitchFamily="34" charset="0"/>
            </a:endParaRPr>
          </a:p>
          <a:p>
            <a:pPr algn="just"/>
            <a:r>
              <a:rPr lang="fr-FR" dirty="0" smtClean="0">
                <a:solidFill>
                  <a:schemeClr val="dk1"/>
                </a:solidFill>
                <a:latin typeface="Arial" pitchFamily="34" charset="0"/>
                <a:cs typeface="Arial" pitchFamily="34" charset="0"/>
              </a:rPr>
              <a:t/>
            </a:r>
            <a:br>
              <a:rPr lang="fr-FR" dirty="0" smtClean="0">
                <a:solidFill>
                  <a:schemeClr val="dk1"/>
                </a:solidFill>
                <a:latin typeface="Arial" pitchFamily="34" charset="0"/>
                <a:cs typeface="Arial" pitchFamily="34" charset="0"/>
              </a:rPr>
            </a:br>
            <a:endParaRPr lang="fr-FR" dirty="0" smtClean="0">
              <a:solidFill>
                <a:schemeClr val="dk1"/>
              </a:solidFill>
              <a:latin typeface="Arial" pitchFamily="34" charset="0"/>
              <a:cs typeface="Arial" pitchFamily="34" charset="0"/>
            </a:endParaRPr>
          </a:p>
        </p:txBody>
      </p:sp>
      <p:pic>
        <p:nvPicPr>
          <p:cNvPr id="4" name="Image 3"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5" name="Espace réservé de la date 4"/>
          <p:cNvSpPr>
            <a:spLocks noGrp="1"/>
          </p:cNvSpPr>
          <p:nvPr>
            <p:ph type="dt" sz="half" idx="10"/>
          </p:nvPr>
        </p:nvSpPr>
        <p:spPr/>
        <p:txBody>
          <a:bodyPr/>
          <a:lstStyle/>
          <a:p>
            <a:pPr lvl="0"/>
            <a:fld id="{0563F18D-9258-47CF-9F12-692A09DF4FF8}" type="datetime1">
              <a:rPr lang="en-US" smtClean="0"/>
              <a:pPr lvl="0"/>
              <a:t>11/16/2025</a:t>
            </a:fld>
            <a:endParaRPr lang="en-US"/>
          </a:p>
        </p:txBody>
      </p:sp>
      <p:sp>
        <p:nvSpPr>
          <p:cNvPr id="6" name="Espace réservé du numéro de diapositive 5"/>
          <p:cNvSpPr>
            <a:spLocks noGrp="1"/>
          </p:cNvSpPr>
          <p:nvPr>
            <p:ph type="sldNum" sz="quarter" idx="12"/>
          </p:nvPr>
        </p:nvSpPr>
        <p:spPr/>
        <p:txBody>
          <a:bodyPr/>
          <a:lstStyle/>
          <a:p>
            <a:pPr lvl="0"/>
            <a:fld id="{2390AFF8-1E19-449A-AA82-B5E4E90108F1}" type="slidenum">
              <a:rPr lang="fr-FR" smtClean="0"/>
              <a:pPr lvl="0"/>
              <a:t>81</a:t>
            </a:fld>
            <a:endParaRPr lang="fr-F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pic>
        <p:nvPicPr>
          <p:cNvPr id="4" name="Image 3"/>
          <p:cNvPicPr/>
          <p:nvPr/>
        </p:nvPicPr>
        <p:blipFill>
          <a:blip r:embed="rId3"/>
          <a:srcRect/>
          <a:stretch>
            <a:fillRect/>
          </a:stretch>
        </p:blipFill>
        <p:spPr bwMode="auto">
          <a:xfrm>
            <a:off x="6512784" y="4666788"/>
            <a:ext cx="5679216" cy="2191212"/>
          </a:xfrm>
          <a:prstGeom prst="rect">
            <a:avLst/>
          </a:prstGeom>
          <a:noFill/>
          <a:ln w="9525">
            <a:noFill/>
            <a:miter lim="800000"/>
            <a:headEnd/>
            <a:tailEnd/>
          </a:ln>
        </p:spPr>
      </p:pic>
      <p:sp>
        <p:nvSpPr>
          <p:cNvPr id="5" name="Parallélogramme 4"/>
          <p:cNvSpPr/>
          <p:nvPr/>
        </p:nvSpPr>
        <p:spPr>
          <a:xfrm>
            <a:off x="661012" y="1898135"/>
            <a:ext cx="11127036" cy="1605201"/>
          </a:xfrm>
          <a:prstGeom prst="parallelogram">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just"/>
            <a:endParaRPr lang="fr-FR" dirty="0" smtClean="0">
              <a:latin typeface="Arial" pitchFamily="34" charset="0"/>
              <a:ea typeface="Times New Roman" pitchFamily="18" charset="0"/>
              <a:cs typeface="Arial" pitchFamily="34" charset="0"/>
            </a:endParaRPr>
          </a:p>
          <a:p>
            <a:pPr algn="ctr"/>
            <a:r>
              <a:rPr lang="fr-FR" sz="2400" b="1" dirty="0" smtClean="0">
                <a:solidFill>
                  <a:schemeClr val="dk1"/>
                </a:solidFill>
                <a:latin typeface="Arial" pitchFamily="34" charset="0"/>
                <a:ea typeface="Times New Roman" pitchFamily="18" charset="0"/>
                <a:cs typeface="Arial" pitchFamily="34" charset="0"/>
              </a:rPr>
              <a:t>CHAPITRE IV : L’ENTREPRISE : Les étapes de création</a:t>
            </a:r>
          </a:p>
          <a:p>
            <a:pPr marL="342900" indent="-342900" algn="just">
              <a:buAutoNum type="arabicPeriod"/>
            </a:pPr>
            <a:endParaRPr lang="fr-FR" dirty="0" smtClean="0">
              <a:latin typeface="Arial" pitchFamily="34" charset="0"/>
              <a:ea typeface="Times New Roman" pitchFamily="18" charset="0"/>
              <a:cs typeface="Arial" pitchFamily="34" charset="0"/>
            </a:endParaRPr>
          </a:p>
          <a:p>
            <a:pPr marL="342900" indent="-342900" algn="just">
              <a:buAutoNum type="arabicPeriod"/>
            </a:pPr>
            <a:endParaRPr lang="fr-FR" dirty="0" smtClean="0">
              <a:solidFill>
                <a:schemeClr val="dk1"/>
              </a:solidFill>
              <a:latin typeface="Arial" pitchFamily="34" charset="0"/>
              <a:ea typeface="Times New Roman" pitchFamily="18" charset="0"/>
              <a:cs typeface="Arial" pitchFamily="34"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1"/>
          <p:cNvSpPr>
            <a:spLocks noChangeArrowheads="1"/>
          </p:cNvSpPr>
          <p:nvPr/>
        </p:nvSpPr>
        <p:spPr bwMode="auto">
          <a:xfrm>
            <a:off x="1208314" y="1118489"/>
            <a:ext cx="10243458" cy="4867741"/>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317400" tIns="634800" rIns="215832" bIns="177744"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tabLst/>
            </a:pPr>
            <a:r>
              <a:rPr kumimoji="0" lang="fr-FR" sz="2400" b="1" i="0" u="none" strike="noStrike" cap="none" normalizeH="0" baseline="0" dirty="0" smtClean="0">
                <a:ln>
                  <a:noFill/>
                </a:ln>
                <a:solidFill>
                  <a:srgbClr val="C00000"/>
                </a:solidFill>
                <a:effectLst/>
                <a:latin typeface="Arial" pitchFamily="34" charset="0"/>
                <a:ea typeface="Calibri" pitchFamily="34" charset="0"/>
                <a:cs typeface="Helvetica-Bold"/>
              </a:rPr>
              <a:t>I- </a:t>
            </a:r>
            <a:r>
              <a:rPr kumimoji="0" lang="fr-FR" sz="2000" b="1" i="0" u="none" strike="noStrike" cap="none" normalizeH="0" baseline="0" dirty="0" smtClean="0">
                <a:ln>
                  <a:noFill/>
                </a:ln>
                <a:solidFill>
                  <a:srgbClr val="C00000"/>
                </a:solidFill>
                <a:effectLst/>
                <a:latin typeface="Arial" pitchFamily="34" charset="0"/>
                <a:ea typeface="Calibri" pitchFamily="34" charset="0"/>
                <a:cs typeface="Helvetica-Bold"/>
              </a:rPr>
              <a:t>DEFINITION DE L’ENTREPRISE</a:t>
            </a:r>
          </a:p>
          <a:p>
            <a:pPr marL="0" marR="0" lvl="0" indent="0" algn="l" defTabSz="914400" rtl="0" eaLnBrk="1" fontAlgn="base" latinLnBrk="0" hangingPunct="1">
              <a:lnSpc>
                <a:spcPct val="100000"/>
              </a:lnSpc>
              <a:spcBef>
                <a:spcPct val="0"/>
              </a:spcBef>
              <a:spcAft>
                <a:spcPct val="0"/>
              </a:spcAft>
              <a:buClrTx/>
              <a:buSzTx/>
              <a:tabLst/>
            </a:pPr>
            <a:endParaRPr kumimoji="0" lang="fr-FR" sz="2000" b="1" i="0" u="none" strike="noStrike" cap="none" normalizeH="0" baseline="0" dirty="0" smtClean="0">
              <a:ln>
                <a:noFill/>
              </a:ln>
              <a:solidFill>
                <a:srgbClr val="C00000"/>
              </a:solidFill>
              <a:effectLst/>
              <a:latin typeface="Arial" pitchFamily="34" charset="0"/>
              <a:ea typeface="Calibri" pitchFamily="34" charset="0"/>
              <a:cs typeface="Helvetica-Bold"/>
            </a:endParaRPr>
          </a:p>
          <a:p>
            <a:pPr marL="0" marR="0" lvl="0" indent="0" algn="l" defTabSz="914400" rtl="0" eaLnBrk="1" fontAlgn="base" latinLnBrk="0" hangingPunct="1">
              <a:lnSpc>
                <a:spcPct val="100000"/>
              </a:lnSpc>
              <a:spcBef>
                <a:spcPct val="0"/>
              </a:spcBef>
              <a:spcAft>
                <a:spcPct val="0"/>
              </a:spcAft>
              <a:buClrTx/>
              <a:buSzTx/>
              <a:tabLst/>
            </a:pPr>
            <a:endParaRPr lang="fr-FR" sz="900" dirty="0" smtClean="0">
              <a:latin typeface="Arial" pitchFamily="34" charset="0"/>
              <a:ea typeface="Calibri" pitchFamily="34"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 typeface="Wingdings" pitchFamily="2" charset="2"/>
              <a:buChar char="q"/>
              <a:tabLst/>
            </a:pPr>
            <a:r>
              <a:rPr lang="fr-FR" sz="2000" dirty="0" smtClean="0">
                <a:latin typeface="Arial" pitchFamily="34" charset="0"/>
                <a:ea typeface="Times New Roman" pitchFamily="18" charset="0"/>
                <a:cs typeface="Arial" pitchFamily="34" charset="0"/>
              </a:rPr>
              <a:t> Toute activité qui consiste à produire et à vendre des biens et/ou des services destinés à être vendus sur le marché afin d’en tirer un profit.</a:t>
            </a:r>
          </a:p>
          <a:p>
            <a:pPr marL="0" marR="0" lvl="0" indent="0" algn="just" defTabSz="914400" rtl="0" eaLnBrk="1" fontAlgn="base" latinLnBrk="0" hangingPunct="1">
              <a:lnSpc>
                <a:spcPct val="100000"/>
              </a:lnSpc>
              <a:spcBef>
                <a:spcPct val="0"/>
              </a:spcBef>
              <a:spcAft>
                <a:spcPct val="0"/>
              </a:spcAft>
              <a:buClrTx/>
              <a:buSzTx/>
              <a:buFont typeface="Wingdings" pitchFamily="2" charset="2"/>
              <a:buChar char="q"/>
              <a:tabLst/>
            </a:pPr>
            <a:endParaRPr lang="fr-FR" sz="2000" dirty="0" smtClean="0">
              <a:latin typeface="Arial" pitchFamily="34" charset="0"/>
              <a:ea typeface="Times New Roman"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 typeface="Wingdings" pitchFamily="2" charset="2"/>
              <a:buChar char="q"/>
              <a:tabLst/>
            </a:pPr>
            <a:r>
              <a:rPr lang="fr-FR" sz="2000" dirty="0" smtClean="0">
                <a:latin typeface="Arial" pitchFamily="34" charset="0"/>
                <a:ea typeface="Times New Roman" pitchFamily="18" charset="0"/>
                <a:cs typeface="Arial" pitchFamily="34" charset="0"/>
              </a:rPr>
              <a:t> Ressources :</a:t>
            </a:r>
          </a:p>
          <a:p>
            <a:pPr marL="0" marR="0" lvl="0" indent="0" algn="l" defTabSz="914400" rtl="0" eaLnBrk="0" fontAlgn="base" latinLnBrk="0" hangingPunct="0">
              <a:lnSpc>
                <a:spcPct val="100000"/>
              </a:lnSpc>
              <a:spcBef>
                <a:spcPct val="0"/>
              </a:spcBef>
              <a:spcAft>
                <a:spcPct val="0"/>
              </a:spcAft>
              <a:buClrTx/>
              <a:buSzTx/>
              <a:buFontTx/>
              <a:buChar char="•"/>
              <a:tabLst/>
            </a:pPr>
            <a:r>
              <a:rPr lang="fr-FR" sz="2000" dirty="0" smtClean="0">
                <a:latin typeface="Arial" pitchFamily="34" charset="0"/>
                <a:ea typeface="Times New Roman" pitchFamily="18" charset="0"/>
                <a:cs typeface="Arial" pitchFamily="34" charset="0"/>
              </a:rPr>
              <a:t>Matérielles</a:t>
            </a:r>
          </a:p>
          <a:p>
            <a:pPr marL="0" marR="0" lvl="0" indent="0" algn="l" defTabSz="914400" rtl="0" eaLnBrk="0" fontAlgn="base" latinLnBrk="0" hangingPunct="0">
              <a:lnSpc>
                <a:spcPct val="100000"/>
              </a:lnSpc>
              <a:spcBef>
                <a:spcPct val="0"/>
              </a:spcBef>
              <a:spcAft>
                <a:spcPct val="0"/>
              </a:spcAft>
              <a:buClrTx/>
              <a:buSzTx/>
              <a:buFontTx/>
              <a:buChar char="•"/>
              <a:tabLst/>
            </a:pPr>
            <a:r>
              <a:rPr lang="fr-FR" sz="2000" dirty="0" smtClean="0">
                <a:latin typeface="Arial" pitchFamily="34" charset="0"/>
                <a:ea typeface="Times New Roman" pitchFamily="18" charset="0"/>
                <a:cs typeface="Arial" pitchFamily="34" charset="0"/>
              </a:rPr>
              <a:t>Immatérielles</a:t>
            </a:r>
          </a:p>
          <a:p>
            <a:pPr marL="0" marR="0" lvl="0" indent="0" algn="l" defTabSz="914400" rtl="0" eaLnBrk="0" fontAlgn="base" latinLnBrk="0" hangingPunct="0">
              <a:lnSpc>
                <a:spcPct val="100000"/>
              </a:lnSpc>
              <a:spcBef>
                <a:spcPct val="0"/>
              </a:spcBef>
              <a:spcAft>
                <a:spcPct val="0"/>
              </a:spcAft>
              <a:buClrTx/>
              <a:buSzTx/>
              <a:buFontTx/>
              <a:buChar char="•"/>
              <a:tabLst/>
            </a:pPr>
            <a:r>
              <a:rPr lang="fr-FR" sz="2000" dirty="0" smtClean="0">
                <a:latin typeface="Arial" pitchFamily="34" charset="0"/>
                <a:ea typeface="Times New Roman" pitchFamily="18" charset="0"/>
                <a:cs typeface="Arial" pitchFamily="34" charset="0"/>
              </a:rPr>
              <a:t>Humaines</a:t>
            </a:r>
          </a:p>
          <a:p>
            <a:pPr marL="0" marR="0" lvl="0" indent="0" algn="l" defTabSz="914400" rtl="0" eaLnBrk="0" fontAlgn="base" latinLnBrk="0" hangingPunct="0">
              <a:lnSpc>
                <a:spcPct val="100000"/>
              </a:lnSpc>
              <a:spcBef>
                <a:spcPct val="0"/>
              </a:spcBef>
              <a:spcAft>
                <a:spcPct val="0"/>
              </a:spcAft>
              <a:buClrTx/>
              <a:buSzTx/>
              <a:buFontTx/>
              <a:buChar char="•"/>
              <a:tabLst/>
            </a:pPr>
            <a:r>
              <a:rPr lang="fr-FR" sz="2000" dirty="0" smtClean="0">
                <a:latin typeface="Arial" pitchFamily="34" charset="0"/>
                <a:ea typeface="Times New Roman" pitchFamily="18" charset="0"/>
                <a:cs typeface="Arial" pitchFamily="34" charset="0"/>
              </a:rPr>
              <a:t>Financières</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32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
            </a:r>
            <a:br>
              <a:rPr kumimoji="0" lang="fr-FR" sz="32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b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4" name="Image 3"/>
          <p:cNvPicPr/>
          <p:nvPr/>
        </p:nvPicPr>
        <p:blipFill>
          <a:blip r:embed="rId3"/>
          <a:srcRect/>
          <a:stretch>
            <a:fillRect/>
          </a:stretch>
        </p:blipFill>
        <p:spPr bwMode="auto">
          <a:xfrm>
            <a:off x="5442857" y="3363685"/>
            <a:ext cx="5371220" cy="1858895"/>
          </a:xfrm>
          <a:prstGeom prst="rect">
            <a:avLst/>
          </a:prstGeom>
          <a:noFill/>
          <a:ln w="9525">
            <a:noFill/>
            <a:miter lim="800000"/>
            <a:headEnd/>
            <a:tailEnd/>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1"/>
          <p:cNvSpPr>
            <a:spLocks noChangeArrowheads="1"/>
          </p:cNvSpPr>
          <p:nvPr/>
        </p:nvSpPr>
        <p:spPr bwMode="auto">
          <a:xfrm>
            <a:off x="1208314" y="1071546"/>
            <a:ext cx="10047515" cy="4708981"/>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buFontTx/>
              <a:buNone/>
              <a:tabLst/>
            </a:pPr>
            <a:r>
              <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Une entreprise est une unité de production à but lucratif qui vend ses produits sur un marché. Elle produit donc des biens et services marchands. Une banque, une exploitation agricole, une boucherie, un cabinet de médecin sont ainsi des entreprises.</a:t>
            </a:r>
            <a:endParaRPr kumimoji="0" lang="fr-FR"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 </a:t>
            </a:r>
            <a:endParaRPr kumimoji="0" lang="fr-FR"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En revanche, une administration (un tribunal, un lycée, un hôpital …) est une unité de production de services non marchands, mais ce n’est pas une entreprise. </a:t>
            </a:r>
          </a:p>
          <a:p>
            <a:pPr marL="0" marR="0" lvl="0" indent="0" algn="justLow" defTabSz="914400" rtl="0" eaLnBrk="0" fontAlgn="base" latinLnBrk="0" hangingPunct="0">
              <a:lnSpc>
                <a:spcPct val="100000"/>
              </a:lnSpc>
              <a:spcBef>
                <a:spcPct val="0"/>
              </a:spcBef>
              <a:spcAft>
                <a:spcPct val="0"/>
              </a:spcAft>
              <a:buClrTx/>
              <a:buSzTx/>
              <a:buFontTx/>
              <a:buNone/>
              <a:tabLst/>
            </a:pPr>
            <a:endParaRPr kumimoji="0" lang="fr-FR"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Selon le dictionnaire de gestion, l’entreprise est définie comme « une organisation, dotée de ressources humaines, matérielles et financières en vue d’exercer une activité économique de façon stable et structurée ». </a:t>
            </a:r>
          </a:p>
          <a:p>
            <a:pPr marL="0" marR="0" lvl="0" indent="0" algn="justLow" defTabSz="914400" rtl="0" eaLnBrk="0" fontAlgn="base" latinLnBrk="0" hangingPunct="0">
              <a:lnSpc>
                <a:spcPct val="100000"/>
              </a:lnSpc>
              <a:spcBef>
                <a:spcPct val="0"/>
              </a:spcBef>
              <a:spcAft>
                <a:spcPct val="0"/>
              </a:spcAft>
              <a:buClrTx/>
              <a:buSzTx/>
              <a:buFontTx/>
              <a:buNone/>
              <a:tabLst/>
            </a:pPr>
            <a:endParaRPr kumimoji="0" lang="fr-FR" sz="20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Selon Capet, Causse et Meunier, l’entreprise peut être définie comme « un groupe humain de production, autonome, disposant d’un patrimoine, exerçant un effet d’attraction sur son environnement et dont le devenir dépend de la vente du produit de son activité ».</a:t>
            </a:r>
            <a:endParaRPr kumimoji="0" lang="fr-FR"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1"/>
          <p:cNvSpPr>
            <a:spLocks noChangeArrowheads="1"/>
          </p:cNvSpPr>
          <p:nvPr/>
        </p:nvSpPr>
        <p:spPr bwMode="auto">
          <a:xfrm>
            <a:off x="1099456" y="1142984"/>
            <a:ext cx="10091058" cy="5324535"/>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tabLst/>
            </a:pPr>
            <a:endParaRPr kumimoji="0" lang="fr-FR" sz="2000" b="1" i="0" u="none" strike="noStrike" cap="none" normalizeH="0" baseline="0" dirty="0" smtClean="0">
              <a:ln>
                <a:noFill/>
              </a:ln>
              <a:solidFill>
                <a:srgbClr val="C00000"/>
              </a:solidFill>
              <a:effectLst/>
              <a:latin typeface="Arial" pitchFamily="34" charset="0"/>
              <a:ea typeface="Calibri" pitchFamily="34" charset="0"/>
              <a:cs typeface="Helvetica-Bold"/>
            </a:endParaRPr>
          </a:p>
          <a:p>
            <a:pPr marL="0" marR="0" lvl="0" indent="0" algn="l" defTabSz="914400" rtl="0" eaLnBrk="1" fontAlgn="base" latinLnBrk="0" hangingPunct="1">
              <a:lnSpc>
                <a:spcPct val="100000"/>
              </a:lnSpc>
              <a:spcBef>
                <a:spcPct val="0"/>
              </a:spcBef>
              <a:spcAft>
                <a:spcPct val="0"/>
              </a:spcAft>
              <a:buClrTx/>
              <a:buSzTx/>
              <a:tabLst/>
            </a:pPr>
            <a:endParaRPr lang="fr-FR" sz="2000" b="1" dirty="0" smtClean="0">
              <a:solidFill>
                <a:srgbClr val="C00000"/>
              </a:solidFill>
              <a:latin typeface="Arial" pitchFamily="34" charset="0"/>
              <a:ea typeface="Calibri" pitchFamily="34" charset="0"/>
              <a:cs typeface="Helvetica-Bold"/>
            </a:endParaRPr>
          </a:p>
          <a:p>
            <a:pPr marL="0" marR="0" lvl="0" indent="0" algn="l" defTabSz="914400" rtl="0" eaLnBrk="1" fontAlgn="base" latinLnBrk="0" hangingPunct="1">
              <a:lnSpc>
                <a:spcPct val="100000"/>
              </a:lnSpc>
              <a:spcBef>
                <a:spcPct val="0"/>
              </a:spcBef>
              <a:spcAft>
                <a:spcPct val="0"/>
              </a:spcAft>
              <a:buClrTx/>
              <a:buSzTx/>
              <a:tabLst/>
            </a:pPr>
            <a:r>
              <a:rPr kumimoji="0" lang="fr-FR" sz="2000" b="1" i="0" u="none" strike="noStrike" cap="none" normalizeH="0" baseline="0" dirty="0" smtClean="0">
                <a:ln>
                  <a:noFill/>
                </a:ln>
                <a:solidFill>
                  <a:srgbClr val="C00000"/>
                </a:solidFill>
                <a:effectLst/>
                <a:latin typeface="Arial" pitchFamily="34" charset="0"/>
                <a:ea typeface="Calibri" pitchFamily="34" charset="0"/>
                <a:cs typeface="Helvetica-Bold"/>
              </a:rPr>
              <a:t>II- ETAPES DE CREATION DE L’ENTREPRISE</a:t>
            </a:r>
          </a:p>
          <a:p>
            <a:pPr marL="0" marR="0" lvl="0" indent="0" algn="l" defTabSz="914400" rtl="0" eaLnBrk="1" fontAlgn="base" latinLnBrk="0" hangingPunct="1">
              <a:lnSpc>
                <a:spcPct val="100000"/>
              </a:lnSpc>
              <a:spcBef>
                <a:spcPct val="0"/>
              </a:spcBef>
              <a:spcAft>
                <a:spcPct val="0"/>
              </a:spcAft>
              <a:buClrTx/>
              <a:buSzTx/>
              <a:tabLst/>
            </a:pPr>
            <a:endParaRPr lang="fr-FR" sz="2000" b="1" dirty="0" smtClean="0">
              <a:solidFill>
                <a:srgbClr val="C00000"/>
              </a:solidFill>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tabLst/>
            </a:pPr>
            <a:endParaRPr kumimoji="0" lang="fr-FR" sz="2000" b="1" i="0" u="none" strike="noStrike" cap="none" normalizeH="0" baseline="0" dirty="0" smtClean="0">
              <a:ln>
                <a:noFill/>
              </a:ln>
              <a:solidFill>
                <a:srgbClr val="C00000"/>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tabLst/>
            </a:pPr>
            <a:endParaRPr lang="fr-FR" sz="2000" b="1" dirty="0" smtClean="0">
              <a:solidFill>
                <a:srgbClr val="C00000"/>
              </a:solidFill>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tabLst/>
            </a:pPr>
            <a:endParaRPr kumimoji="0" lang="fr-FR" sz="2000" b="1" i="0" u="none" strike="noStrike" cap="none" normalizeH="0" baseline="0" dirty="0" smtClean="0">
              <a:ln>
                <a:noFill/>
              </a:ln>
              <a:solidFill>
                <a:srgbClr val="C00000"/>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tabLst/>
            </a:pPr>
            <a:endParaRPr lang="fr-FR" sz="2000" b="1" dirty="0" smtClean="0">
              <a:solidFill>
                <a:srgbClr val="C00000"/>
              </a:solidFill>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tabLst/>
            </a:pPr>
            <a:endParaRPr kumimoji="0" lang="fr-FR" sz="2000" b="1" i="0" u="none" strike="noStrike" cap="none" normalizeH="0" baseline="0" dirty="0" smtClean="0">
              <a:ln>
                <a:noFill/>
              </a:ln>
              <a:solidFill>
                <a:srgbClr val="C00000"/>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tabLst/>
            </a:pPr>
            <a:endParaRPr lang="fr-FR" sz="2000" b="1" dirty="0" smtClean="0">
              <a:solidFill>
                <a:srgbClr val="C00000"/>
              </a:solidFill>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tabLst/>
            </a:pPr>
            <a:endParaRPr kumimoji="0" lang="fr-FR" sz="2000" b="1" i="0" u="none" strike="noStrike" cap="none" normalizeH="0" baseline="0" dirty="0" smtClean="0">
              <a:ln>
                <a:noFill/>
              </a:ln>
              <a:solidFill>
                <a:srgbClr val="C00000"/>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tabLst/>
            </a:pPr>
            <a:endParaRPr lang="fr-FR" sz="2000" b="1" dirty="0" smtClean="0">
              <a:solidFill>
                <a:srgbClr val="C00000"/>
              </a:solidFill>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tabLst/>
            </a:pPr>
            <a:endParaRPr kumimoji="0" lang="fr-FR" sz="2000" b="1" i="0" u="none" strike="noStrike" cap="none" normalizeH="0" baseline="0" dirty="0" smtClean="0">
              <a:ln>
                <a:noFill/>
              </a:ln>
              <a:solidFill>
                <a:srgbClr val="C00000"/>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tabLst/>
            </a:pPr>
            <a:endParaRPr lang="fr-FR" sz="2000" b="1" dirty="0" smtClean="0">
              <a:solidFill>
                <a:srgbClr val="C00000"/>
              </a:solidFill>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tabLst/>
            </a:pPr>
            <a:endParaRPr kumimoji="0" lang="fr-FR" sz="2000" b="1" i="0" u="none" strike="noStrike" cap="none" normalizeH="0" baseline="0" dirty="0" smtClean="0">
              <a:ln>
                <a:noFill/>
              </a:ln>
              <a:solidFill>
                <a:srgbClr val="C00000"/>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tabLst/>
            </a:pPr>
            <a:endParaRPr lang="fr-FR" sz="2000" b="1" dirty="0" smtClean="0">
              <a:solidFill>
                <a:srgbClr val="C00000"/>
              </a:solidFill>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tabLst/>
            </a:pPr>
            <a:endParaRPr kumimoji="0" lang="fr-FR" sz="2000" b="0" i="0" u="none" strike="noStrike" cap="none" normalizeH="0" baseline="0" dirty="0" smtClean="0">
              <a:ln>
                <a:noFill/>
              </a:ln>
              <a:solidFill>
                <a:schemeClr val="tx1"/>
              </a:solidFill>
              <a:effectLst/>
              <a:latin typeface="Arial" pitchFamily="34" charset="0"/>
              <a:cs typeface="Arial" pitchFamily="34" charset="0"/>
            </a:endParaRPr>
          </a:p>
        </p:txBody>
      </p:sp>
      <p:sp>
        <p:nvSpPr>
          <p:cNvPr id="4" name="Rectangle 7"/>
          <p:cNvSpPr>
            <a:spLocks noChangeArrowheads="1"/>
          </p:cNvSpPr>
          <p:nvPr/>
        </p:nvSpPr>
        <p:spPr bwMode="auto">
          <a:xfrm>
            <a:off x="1594624" y="2313201"/>
            <a:ext cx="9258433" cy="4093428"/>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180975" algn="l" defTabSz="914400" rtl="0" eaLnBrk="1" fontAlgn="base" latinLnBrk="0" hangingPunct="1">
              <a:lnSpc>
                <a:spcPct val="100000"/>
              </a:lnSpc>
              <a:spcBef>
                <a:spcPct val="0"/>
              </a:spcBef>
              <a:spcAft>
                <a:spcPct val="0"/>
              </a:spcAft>
              <a:buClrTx/>
              <a:buSzTx/>
              <a:tabLst>
                <a:tab pos="90488" algn="l"/>
              </a:tabLst>
            </a:pPr>
            <a:r>
              <a:rPr kumimoji="0" lang="fr-FR" sz="2000" b="1" i="0" u="none" strike="noStrike" cap="none" normalizeH="0" baseline="0" dirty="0" smtClean="0">
                <a:ln>
                  <a:noFill/>
                </a:ln>
                <a:solidFill>
                  <a:srgbClr val="7030A0"/>
                </a:solidFill>
                <a:effectLst/>
                <a:latin typeface="Arial" pitchFamily="34" charset="0"/>
                <a:ea typeface="Verdana" pitchFamily="34" charset="0"/>
                <a:cs typeface="Verdana" pitchFamily="34" charset="0"/>
              </a:rPr>
              <a:t>Comment nait une entreprise ?</a:t>
            </a:r>
          </a:p>
          <a:p>
            <a:pPr marL="0" marR="0" lvl="0" indent="180975" algn="l" defTabSz="914400" rtl="0" eaLnBrk="1" fontAlgn="base" latinLnBrk="0" hangingPunct="1">
              <a:lnSpc>
                <a:spcPct val="100000"/>
              </a:lnSpc>
              <a:spcBef>
                <a:spcPct val="0"/>
              </a:spcBef>
              <a:spcAft>
                <a:spcPct val="0"/>
              </a:spcAft>
              <a:buClrTx/>
              <a:buSzTx/>
              <a:buFontTx/>
              <a:buAutoNum type="alphaUcPeriod"/>
              <a:tabLst>
                <a:tab pos="90488" algn="l"/>
              </a:tabLst>
            </a:pPr>
            <a:endParaRPr lang="fr-FR" sz="2000" b="1" dirty="0" smtClean="0">
              <a:solidFill>
                <a:srgbClr val="7030A0"/>
              </a:solidFill>
              <a:latin typeface="Arial" pitchFamily="34" charset="0"/>
              <a:ea typeface="Verdana" pitchFamily="34" charset="0"/>
              <a:cs typeface="Verdana" pitchFamily="34" charset="0"/>
            </a:endParaRPr>
          </a:p>
          <a:p>
            <a:pPr marL="0" marR="0" lvl="0" indent="180975" algn="l" defTabSz="914400" rtl="0" eaLnBrk="1" fontAlgn="base" latinLnBrk="0" hangingPunct="1">
              <a:lnSpc>
                <a:spcPct val="100000"/>
              </a:lnSpc>
              <a:spcBef>
                <a:spcPct val="0"/>
              </a:spcBef>
              <a:spcAft>
                <a:spcPct val="0"/>
              </a:spcAft>
              <a:buClrTx/>
              <a:buSzTx/>
              <a:tabLst>
                <a:tab pos="90488" algn="l"/>
              </a:tabLst>
            </a:pPr>
            <a:endParaRPr lang="fr-FR" sz="2000" dirty="0" smtClean="0">
              <a:latin typeface="Arial" pitchFamily="34" charset="0"/>
              <a:ea typeface="Verdana" pitchFamily="34" charset="0"/>
              <a:cs typeface="Arial" pitchFamily="34" charset="0"/>
            </a:endParaRPr>
          </a:p>
          <a:p>
            <a:pPr marL="0" marR="0" lvl="0" indent="180975" algn="l" defTabSz="914400" rtl="0" eaLnBrk="1" fontAlgn="base" latinLnBrk="0" hangingPunct="1">
              <a:lnSpc>
                <a:spcPct val="100000"/>
              </a:lnSpc>
              <a:spcBef>
                <a:spcPct val="0"/>
              </a:spcBef>
              <a:spcAft>
                <a:spcPct val="0"/>
              </a:spcAft>
              <a:buClrTx/>
              <a:buSzTx/>
              <a:tabLst>
                <a:tab pos="90488" algn="l"/>
              </a:tabLst>
            </a:pPr>
            <a:endParaRPr kumimoji="0" lang="fr-FR" sz="2000" b="1" i="0" u="none" strike="noStrike" cap="none" normalizeH="0" baseline="0" dirty="0" smtClean="0">
              <a:ln>
                <a:noFill/>
              </a:ln>
              <a:solidFill>
                <a:srgbClr val="7030A0"/>
              </a:solidFill>
              <a:effectLst/>
              <a:latin typeface="Arial" pitchFamily="34" charset="0"/>
              <a:ea typeface="Verdana" pitchFamily="34" charset="0"/>
              <a:cs typeface="Arial" pitchFamily="34" charset="0"/>
            </a:endParaRPr>
          </a:p>
          <a:p>
            <a:pPr marL="0" marR="0" lvl="0" indent="180975" algn="l" defTabSz="914400" rtl="0" eaLnBrk="1" fontAlgn="base" latinLnBrk="0" hangingPunct="1">
              <a:lnSpc>
                <a:spcPct val="100000"/>
              </a:lnSpc>
              <a:spcBef>
                <a:spcPct val="0"/>
              </a:spcBef>
              <a:spcAft>
                <a:spcPct val="0"/>
              </a:spcAft>
              <a:buClrTx/>
              <a:buSzTx/>
              <a:tabLst>
                <a:tab pos="90488" algn="l"/>
              </a:tabLst>
            </a:pPr>
            <a:endParaRPr lang="fr-FR" sz="2000" b="1" dirty="0" smtClean="0">
              <a:solidFill>
                <a:srgbClr val="7030A0"/>
              </a:solidFill>
              <a:latin typeface="Arial" pitchFamily="34" charset="0"/>
              <a:ea typeface="Verdana" pitchFamily="34" charset="0"/>
              <a:cs typeface="Arial" pitchFamily="34" charset="0"/>
            </a:endParaRPr>
          </a:p>
          <a:p>
            <a:pPr marL="0" marR="0" lvl="0" indent="180975" algn="l" defTabSz="914400" rtl="0" eaLnBrk="1" fontAlgn="base" latinLnBrk="0" hangingPunct="1">
              <a:lnSpc>
                <a:spcPct val="100000"/>
              </a:lnSpc>
              <a:spcBef>
                <a:spcPct val="0"/>
              </a:spcBef>
              <a:spcAft>
                <a:spcPct val="0"/>
              </a:spcAft>
              <a:buClrTx/>
              <a:buSzTx/>
              <a:tabLst>
                <a:tab pos="90488" algn="l"/>
              </a:tabLst>
            </a:pPr>
            <a:endParaRPr kumimoji="0" lang="fr-FR" sz="2000" b="1" i="0" u="none" strike="noStrike" cap="none" normalizeH="0" baseline="0" dirty="0" smtClean="0">
              <a:ln>
                <a:noFill/>
              </a:ln>
              <a:solidFill>
                <a:srgbClr val="7030A0"/>
              </a:solidFill>
              <a:effectLst/>
              <a:latin typeface="Arial" pitchFamily="34" charset="0"/>
              <a:ea typeface="Verdana" pitchFamily="34" charset="0"/>
              <a:cs typeface="Arial" pitchFamily="34" charset="0"/>
            </a:endParaRPr>
          </a:p>
          <a:p>
            <a:pPr marL="0" marR="0" lvl="0" indent="180975" algn="l" defTabSz="914400" rtl="0" eaLnBrk="1" fontAlgn="base" latinLnBrk="0" hangingPunct="1">
              <a:lnSpc>
                <a:spcPct val="100000"/>
              </a:lnSpc>
              <a:spcBef>
                <a:spcPct val="0"/>
              </a:spcBef>
              <a:spcAft>
                <a:spcPct val="0"/>
              </a:spcAft>
              <a:buClrTx/>
              <a:buSzTx/>
              <a:tabLst>
                <a:tab pos="90488" algn="l"/>
              </a:tabLst>
            </a:pPr>
            <a:endParaRPr lang="fr-FR" sz="2000" b="1" dirty="0" smtClean="0">
              <a:solidFill>
                <a:srgbClr val="7030A0"/>
              </a:solidFill>
              <a:latin typeface="Arial" pitchFamily="34" charset="0"/>
              <a:ea typeface="Verdana" pitchFamily="34" charset="0"/>
              <a:cs typeface="Arial" pitchFamily="34" charset="0"/>
            </a:endParaRPr>
          </a:p>
          <a:p>
            <a:pPr marL="0" marR="0" lvl="0" indent="180975" algn="l" defTabSz="914400" rtl="0" eaLnBrk="1" fontAlgn="base" latinLnBrk="0" hangingPunct="1">
              <a:lnSpc>
                <a:spcPct val="100000"/>
              </a:lnSpc>
              <a:spcBef>
                <a:spcPct val="0"/>
              </a:spcBef>
              <a:spcAft>
                <a:spcPct val="0"/>
              </a:spcAft>
              <a:buClrTx/>
              <a:buSzTx/>
              <a:tabLst>
                <a:tab pos="90488" algn="l"/>
              </a:tabLst>
            </a:pPr>
            <a:endParaRPr kumimoji="0" lang="fr-FR" sz="2000" b="1" i="0" u="none" strike="noStrike" cap="none" normalizeH="0" baseline="0" dirty="0" smtClean="0">
              <a:ln>
                <a:noFill/>
              </a:ln>
              <a:solidFill>
                <a:srgbClr val="7030A0"/>
              </a:solidFill>
              <a:effectLst/>
              <a:latin typeface="Arial" pitchFamily="34" charset="0"/>
              <a:ea typeface="Verdana" pitchFamily="34" charset="0"/>
              <a:cs typeface="Arial" pitchFamily="34" charset="0"/>
            </a:endParaRPr>
          </a:p>
          <a:p>
            <a:pPr marL="0" marR="0" lvl="0" indent="180975" algn="l" defTabSz="914400" rtl="0" eaLnBrk="1" fontAlgn="base" latinLnBrk="0" hangingPunct="1">
              <a:lnSpc>
                <a:spcPct val="100000"/>
              </a:lnSpc>
              <a:spcBef>
                <a:spcPct val="0"/>
              </a:spcBef>
              <a:spcAft>
                <a:spcPct val="0"/>
              </a:spcAft>
              <a:buClrTx/>
              <a:buSzTx/>
              <a:tabLst>
                <a:tab pos="90488" algn="l"/>
              </a:tabLst>
            </a:pPr>
            <a:endParaRPr lang="fr-FR" sz="2000" b="1" dirty="0" smtClean="0">
              <a:solidFill>
                <a:srgbClr val="7030A0"/>
              </a:solidFill>
              <a:latin typeface="Arial" pitchFamily="34" charset="0"/>
              <a:ea typeface="Verdana" pitchFamily="34" charset="0"/>
              <a:cs typeface="Arial" pitchFamily="34" charset="0"/>
            </a:endParaRPr>
          </a:p>
          <a:p>
            <a:pPr marL="0" marR="0" lvl="0" indent="180975" algn="l" defTabSz="914400" rtl="0" eaLnBrk="1" fontAlgn="base" latinLnBrk="0" hangingPunct="1">
              <a:lnSpc>
                <a:spcPct val="100000"/>
              </a:lnSpc>
              <a:spcBef>
                <a:spcPct val="0"/>
              </a:spcBef>
              <a:spcAft>
                <a:spcPct val="0"/>
              </a:spcAft>
              <a:buClrTx/>
              <a:buSzTx/>
              <a:tabLst>
                <a:tab pos="90488" algn="l"/>
              </a:tabLst>
            </a:pPr>
            <a:endParaRPr kumimoji="0" lang="fr-FR" sz="2000" b="1" i="0" u="none" strike="noStrike" cap="none" normalizeH="0" baseline="0" dirty="0" smtClean="0">
              <a:ln>
                <a:noFill/>
              </a:ln>
              <a:solidFill>
                <a:srgbClr val="7030A0"/>
              </a:solidFill>
              <a:effectLst/>
              <a:latin typeface="Arial" pitchFamily="34" charset="0"/>
              <a:ea typeface="Verdana" pitchFamily="34" charset="0"/>
              <a:cs typeface="Arial" pitchFamily="34" charset="0"/>
            </a:endParaRPr>
          </a:p>
          <a:p>
            <a:pPr marL="0" marR="0" lvl="0" indent="180975" algn="l" defTabSz="914400" rtl="0" eaLnBrk="1" fontAlgn="base" latinLnBrk="0" hangingPunct="1">
              <a:lnSpc>
                <a:spcPct val="100000"/>
              </a:lnSpc>
              <a:spcBef>
                <a:spcPct val="0"/>
              </a:spcBef>
              <a:spcAft>
                <a:spcPct val="0"/>
              </a:spcAft>
              <a:buClrTx/>
              <a:buSzTx/>
              <a:tabLst>
                <a:tab pos="90488" algn="l"/>
              </a:tabLst>
            </a:pPr>
            <a:endParaRPr lang="fr-FR" sz="2000" b="1" dirty="0" smtClean="0">
              <a:solidFill>
                <a:srgbClr val="7030A0"/>
              </a:solidFill>
              <a:latin typeface="Arial" pitchFamily="34" charset="0"/>
              <a:ea typeface="Verdana" pitchFamily="34" charset="0"/>
              <a:cs typeface="Arial" pitchFamily="34" charset="0"/>
            </a:endParaRPr>
          </a:p>
          <a:p>
            <a:pPr marL="0" marR="0" lvl="0" indent="180975" algn="l" defTabSz="914400" rtl="0" eaLnBrk="1" fontAlgn="base" latinLnBrk="0" hangingPunct="1">
              <a:lnSpc>
                <a:spcPct val="100000"/>
              </a:lnSpc>
              <a:spcBef>
                <a:spcPct val="0"/>
              </a:spcBef>
              <a:spcAft>
                <a:spcPct val="0"/>
              </a:spcAft>
              <a:buClrTx/>
              <a:buSzTx/>
              <a:tabLst>
                <a:tab pos="90488" algn="l"/>
              </a:tabLst>
            </a:pPr>
            <a:endParaRPr kumimoji="0" lang="fr-FR" sz="2000" b="1" i="0" u="none" strike="noStrike" cap="none" normalizeH="0" baseline="0" dirty="0" smtClean="0">
              <a:ln>
                <a:noFill/>
              </a:ln>
              <a:solidFill>
                <a:srgbClr val="7030A0"/>
              </a:solidFill>
              <a:effectLst/>
              <a:latin typeface="Arial" pitchFamily="34" charset="0"/>
              <a:ea typeface="Verdana" pitchFamily="34" charset="0"/>
              <a:cs typeface="Arial" pitchFamily="34" charset="0"/>
            </a:endParaRPr>
          </a:p>
          <a:p>
            <a:pPr marL="0" marR="0" lvl="0" indent="180975" algn="l" defTabSz="914400" rtl="0" eaLnBrk="1" fontAlgn="base" latinLnBrk="0" hangingPunct="1">
              <a:lnSpc>
                <a:spcPct val="100000"/>
              </a:lnSpc>
              <a:spcBef>
                <a:spcPct val="0"/>
              </a:spcBef>
              <a:spcAft>
                <a:spcPct val="0"/>
              </a:spcAft>
              <a:buClrTx/>
              <a:buSzTx/>
              <a:tabLst>
                <a:tab pos="90488" algn="l"/>
              </a:tabLst>
            </a:pPr>
            <a:endParaRPr kumimoji="0" lang="fr-FR" sz="2000" b="1" i="0" u="none" strike="noStrike" cap="none" normalizeH="0" baseline="0" dirty="0" smtClean="0">
              <a:ln>
                <a:noFill/>
              </a:ln>
              <a:solidFill>
                <a:srgbClr val="7030A0"/>
              </a:solidFill>
              <a:effectLst/>
              <a:latin typeface="Arial" pitchFamily="34" charset="0"/>
              <a:ea typeface="Verdana" pitchFamily="34" charset="0"/>
              <a:cs typeface="Verdana" pitchFamily="34" charset="0"/>
            </a:endParaRPr>
          </a:p>
        </p:txBody>
      </p:sp>
      <p:sp>
        <p:nvSpPr>
          <p:cNvPr id="6" name="Text Box 2"/>
          <p:cNvSpPr txBox="1">
            <a:spLocks noChangeArrowheads="1"/>
          </p:cNvSpPr>
          <p:nvPr/>
        </p:nvSpPr>
        <p:spPr bwMode="auto">
          <a:xfrm>
            <a:off x="7278688" y="2428875"/>
            <a:ext cx="3416300" cy="49688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fr-FR" sz="1800" b="1" i="0" u="none" strike="noStrike" cap="none" normalizeH="0" baseline="0" smtClean="0">
                <a:ln>
                  <a:noFill/>
                </a:ln>
                <a:solidFill>
                  <a:schemeClr val="tx1"/>
                </a:solidFill>
                <a:effectLst/>
                <a:latin typeface="Calibri" pitchFamily="34" charset="0"/>
                <a:ea typeface="Arial" pitchFamily="34" charset="0"/>
                <a:cs typeface="Arial" pitchFamily="34" charset="0"/>
              </a:rPr>
              <a:t>idée</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7" name="Text Box 3"/>
          <p:cNvSpPr txBox="1">
            <a:spLocks noChangeArrowheads="1"/>
          </p:cNvSpPr>
          <p:nvPr/>
        </p:nvSpPr>
        <p:spPr bwMode="auto">
          <a:xfrm>
            <a:off x="7307263" y="3133725"/>
            <a:ext cx="3416300" cy="49688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fr-FR" sz="1800" b="1" i="0" u="none" strike="noStrike" cap="none" normalizeH="0" baseline="0" smtClean="0">
                <a:ln>
                  <a:noFill/>
                </a:ln>
                <a:solidFill>
                  <a:schemeClr val="tx1"/>
                </a:solidFill>
                <a:effectLst/>
                <a:latin typeface="Calibri" pitchFamily="34" charset="0"/>
                <a:ea typeface="Arial" pitchFamily="34" charset="0"/>
                <a:cs typeface="Arial" pitchFamily="34" charset="0"/>
              </a:rPr>
              <a:t>Etudes de faisabilité</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8" name="Text Box 4"/>
          <p:cNvSpPr txBox="1">
            <a:spLocks noChangeArrowheads="1"/>
          </p:cNvSpPr>
          <p:nvPr/>
        </p:nvSpPr>
        <p:spPr bwMode="auto">
          <a:xfrm>
            <a:off x="7309984" y="3830411"/>
            <a:ext cx="3416300" cy="49688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fr-FR" sz="2000" b="1" i="0" u="none" strike="noStrike" cap="none" normalizeH="0" baseline="0" dirty="0" smtClean="0">
                <a:ln>
                  <a:noFill/>
                </a:ln>
                <a:solidFill>
                  <a:schemeClr val="tx1"/>
                </a:solidFill>
                <a:effectLst/>
                <a:latin typeface="Helvetica-Bold" charset="0"/>
                <a:ea typeface="Arial" pitchFamily="34" charset="0"/>
                <a:cs typeface="Helvetica-Bold" charset="0"/>
              </a:rPr>
              <a:t>Business modèle / Plan</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9" name="Text Box 5"/>
          <p:cNvSpPr txBox="1">
            <a:spLocks noChangeArrowheads="1"/>
          </p:cNvSpPr>
          <p:nvPr/>
        </p:nvSpPr>
        <p:spPr bwMode="auto">
          <a:xfrm>
            <a:off x="7277327" y="4494893"/>
            <a:ext cx="3416300" cy="49688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fr-FR" sz="2000" b="1" i="0" u="none" strike="noStrike" cap="none" normalizeH="0" baseline="0" dirty="0" smtClean="0">
                <a:ln>
                  <a:noFill/>
                </a:ln>
                <a:solidFill>
                  <a:schemeClr val="tx1"/>
                </a:solidFill>
                <a:effectLst/>
                <a:latin typeface="Helvetica-Bold" charset="0"/>
                <a:ea typeface="Arial" pitchFamily="34" charset="0"/>
                <a:cs typeface="Arial" pitchFamily="34" charset="0"/>
              </a:rPr>
              <a:t>Recherche de partenaires</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0" name="Text Box 6"/>
          <p:cNvSpPr txBox="1">
            <a:spLocks noChangeArrowheads="1"/>
          </p:cNvSpPr>
          <p:nvPr/>
        </p:nvSpPr>
        <p:spPr bwMode="auto">
          <a:xfrm>
            <a:off x="7340387" y="5246246"/>
            <a:ext cx="3416300" cy="75406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fr-FR" sz="2000" b="1" i="0" u="none" strike="noStrike" cap="none" normalizeH="0" baseline="0" smtClean="0">
                <a:ln>
                  <a:noFill/>
                </a:ln>
                <a:solidFill>
                  <a:schemeClr val="tx1"/>
                </a:solidFill>
                <a:effectLst/>
                <a:latin typeface="Helvetica-Bold" charset="0"/>
                <a:ea typeface="Arial" pitchFamily="34" charset="0"/>
                <a:cs typeface="Arial" pitchFamily="34" charset="0"/>
              </a:rPr>
              <a:t>Démarches administratives</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1"/>
          <p:cNvSpPr>
            <a:spLocks noChangeArrowheads="1"/>
          </p:cNvSpPr>
          <p:nvPr/>
        </p:nvSpPr>
        <p:spPr bwMode="auto">
          <a:xfrm>
            <a:off x="1208314" y="1620456"/>
            <a:ext cx="10047515" cy="4401205"/>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buFontTx/>
              <a:buNone/>
              <a:tabLst/>
            </a:pPr>
            <a:endParaRPr lang="fr-FR" sz="2000" b="1" dirty="0" smtClean="0">
              <a:solidFill>
                <a:srgbClr val="C00000"/>
              </a:solidFill>
              <a:latin typeface="Arial" pitchFamily="34" charset="0"/>
              <a:ea typeface="Verdana" pitchFamily="34" charset="0"/>
              <a:cs typeface="Verdana" pitchFamily="34" charset="0"/>
            </a:endParaRPr>
          </a:p>
          <a:p>
            <a:pPr marL="0" marR="0" lvl="0" indent="0" algn="justLow" defTabSz="914400" rtl="0" eaLnBrk="1" fontAlgn="base" latinLnBrk="0" hangingPunct="1">
              <a:lnSpc>
                <a:spcPct val="100000"/>
              </a:lnSpc>
              <a:spcBef>
                <a:spcPct val="0"/>
              </a:spcBef>
              <a:spcAft>
                <a:spcPct val="0"/>
              </a:spcAft>
              <a:buClrTx/>
              <a:buSzTx/>
              <a:buFontTx/>
              <a:buNone/>
              <a:tabLst/>
            </a:pPr>
            <a:endParaRPr kumimoji="0" lang="fr-FR" sz="2000" b="1" i="0" u="none" strike="noStrike" cap="none" normalizeH="0" baseline="0" dirty="0" smtClean="0">
              <a:ln>
                <a:noFill/>
              </a:ln>
              <a:solidFill>
                <a:srgbClr val="C00000"/>
              </a:solidFill>
              <a:effectLst/>
              <a:latin typeface="Arial" pitchFamily="34" charset="0"/>
              <a:ea typeface="Verdana" pitchFamily="34" charset="0"/>
              <a:cs typeface="Verdana" pitchFamily="34" charset="0"/>
            </a:endParaRPr>
          </a:p>
          <a:p>
            <a:pPr marL="0" marR="0" lvl="0" indent="0" algn="justLow" defTabSz="914400" rtl="0" eaLnBrk="1" fontAlgn="base" latinLnBrk="0" hangingPunct="1">
              <a:lnSpc>
                <a:spcPct val="100000"/>
              </a:lnSpc>
              <a:spcBef>
                <a:spcPct val="0"/>
              </a:spcBef>
              <a:spcAft>
                <a:spcPct val="0"/>
              </a:spcAft>
              <a:buClrTx/>
              <a:buSzTx/>
              <a:buFontTx/>
              <a:buNone/>
              <a:tabLst/>
            </a:pPr>
            <a:endParaRPr lang="fr-FR" sz="2000" b="1" dirty="0" smtClean="0">
              <a:solidFill>
                <a:srgbClr val="C00000"/>
              </a:solidFill>
              <a:latin typeface="Arial" pitchFamily="34" charset="0"/>
              <a:ea typeface="Verdana" pitchFamily="34" charset="0"/>
              <a:cs typeface="Verdana" pitchFamily="34" charset="0"/>
            </a:endParaRPr>
          </a:p>
          <a:p>
            <a:pPr marL="0" marR="0" lvl="0" indent="0" algn="justLow" defTabSz="914400" rtl="0" eaLnBrk="1" fontAlgn="base" latinLnBrk="0" hangingPunct="1">
              <a:lnSpc>
                <a:spcPct val="100000"/>
              </a:lnSpc>
              <a:spcBef>
                <a:spcPct val="0"/>
              </a:spcBef>
              <a:spcAft>
                <a:spcPct val="0"/>
              </a:spcAft>
              <a:buClrTx/>
              <a:buSzTx/>
              <a:buFontTx/>
              <a:buNone/>
              <a:tabLst/>
            </a:pPr>
            <a:endParaRPr kumimoji="0" lang="fr-FR" sz="2000" b="1" i="0" u="none" strike="noStrike" cap="none" normalizeH="0" baseline="0" dirty="0" smtClean="0">
              <a:ln>
                <a:noFill/>
              </a:ln>
              <a:solidFill>
                <a:srgbClr val="C00000"/>
              </a:solidFill>
              <a:effectLst/>
              <a:latin typeface="Arial" pitchFamily="34" charset="0"/>
              <a:ea typeface="Verdana" pitchFamily="34" charset="0"/>
              <a:cs typeface="Verdana" pitchFamily="34" charset="0"/>
            </a:endParaRPr>
          </a:p>
          <a:p>
            <a:pPr marL="0" marR="0" lvl="0" indent="0" algn="justLow" defTabSz="914400" rtl="0" eaLnBrk="1" fontAlgn="base" latinLnBrk="0" hangingPunct="1">
              <a:lnSpc>
                <a:spcPct val="100000"/>
              </a:lnSpc>
              <a:spcBef>
                <a:spcPct val="0"/>
              </a:spcBef>
              <a:spcAft>
                <a:spcPct val="0"/>
              </a:spcAft>
              <a:buClrTx/>
              <a:buSzTx/>
              <a:buFontTx/>
              <a:buNone/>
              <a:tabLst/>
            </a:pPr>
            <a:endParaRPr lang="fr-FR" sz="2000" b="1" dirty="0" smtClean="0">
              <a:solidFill>
                <a:srgbClr val="C00000"/>
              </a:solidFill>
              <a:latin typeface="Arial" pitchFamily="34" charset="0"/>
              <a:ea typeface="Verdana" pitchFamily="34" charset="0"/>
              <a:cs typeface="Verdana" pitchFamily="34" charset="0"/>
            </a:endParaRPr>
          </a:p>
          <a:p>
            <a:pPr marL="0" marR="0" lvl="0" indent="0" algn="justLow" defTabSz="914400" rtl="0" eaLnBrk="1" fontAlgn="base" latinLnBrk="0" hangingPunct="1">
              <a:lnSpc>
                <a:spcPct val="100000"/>
              </a:lnSpc>
              <a:spcBef>
                <a:spcPct val="0"/>
              </a:spcBef>
              <a:spcAft>
                <a:spcPct val="0"/>
              </a:spcAft>
              <a:buClrTx/>
              <a:buSzTx/>
              <a:buFontTx/>
              <a:buNone/>
              <a:tabLst/>
            </a:pPr>
            <a:endParaRPr kumimoji="0" lang="fr-FR" sz="2000" b="1" i="0" u="none" strike="noStrike" cap="none" normalizeH="0" baseline="0" dirty="0" smtClean="0">
              <a:ln>
                <a:noFill/>
              </a:ln>
              <a:solidFill>
                <a:srgbClr val="C00000"/>
              </a:solidFill>
              <a:effectLst/>
              <a:latin typeface="Arial" pitchFamily="34" charset="0"/>
              <a:ea typeface="Verdana" pitchFamily="34" charset="0"/>
              <a:cs typeface="Verdana" pitchFamily="34" charset="0"/>
            </a:endParaRPr>
          </a:p>
          <a:p>
            <a:pPr marL="0" marR="0" lvl="0" indent="0" algn="justLow" defTabSz="914400" rtl="0" eaLnBrk="1" fontAlgn="base" latinLnBrk="0" hangingPunct="1">
              <a:lnSpc>
                <a:spcPct val="100000"/>
              </a:lnSpc>
              <a:spcBef>
                <a:spcPct val="0"/>
              </a:spcBef>
              <a:spcAft>
                <a:spcPct val="0"/>
              </a:spcAft>
              <a:buClrTx/>
              <a:buSzTx/>
              <a:buFontTx/>
              <a:buNone/>
              <a:tabLst/>
            </a:pPr>
            <a:endParaRPr lang="fr-FR" sz="2000" b="1" dirty="0" smtClean="0">
              <a:solidFill>
                <a:srgbClr val="C00000"/>
              </a:solidFill>
              <a:latin typeface="Arial" pitchFamily="34" charset="0"/>
              <a:ea typeface="Verdana" pitchFamily="34" charset="0"/>
              <a:cs typeface="Verdana" pitchFamily="34" charset="0"/>
            </a:endParaRPr>
          </a:p>
          <a:p>
            <a:pPr marL="0" marR="0" lvl="0" indent="0" algn="justLow" defTabSz="914400" rtl="0" eaLnBrk="1" fontAlgn="base" latinLnBrk="0" hangingPunct="1">
              <a:lnSpc>
                <a:spcPct val="100000"/>
              </a:lnSpc>
              <a:spcBef>
                <a:spcPct val="0"/>
              </a:spcBef>
              <a:spcAft>
                <a:spcPct val="0"/>
              </a:spcAft>
              <a:buClrTx/>
              <a:buSzTx/>
              <a:buFontTx/>
              <a:buNone/>
              <a:tabLst/>
            </a:pPr>
            <a:endParaRPr kumimoji="0" lang="fr-FR" sz="2000" b="1" i="0" u="none" strike="noStrike" cap="none" normalizeH="0" baseline="0" dirty="0" smtClean="0">
              <a:ln>
                <a:noFill/>
              </a:ln>
              <a:solidFill>
                <a:srgbClr val="C00000"/>
              </a:solidFill>
              <a:effectLst/>
              <a:latin typeface="Arial" pitchFamily="34" charset="0"/>
              <a:ea typeface="Verdana" pitchFamily="34" charset="0"/>
              <a:cs typeface="Verdana" pitchFamily="34" charset="0"/>
            </a:endParaRPr>
          </a:p>
          <a:p>
            <a:pPr marL="0" marR="0" lvl="0" indent="0" algn="justLow" defTabSz="914400" rtl="0" eaLnBrk="1" fontAlgn="base" latinLnBrk="0" hangingPunct="1">
              <a:lnSpc>
                <a:spcPct val="100000"/>
              </a:lnSpc>
              <a:spcBef>
                <a:spcPct val="0"/>
              </a:spcBef>
              <a:spcAft>
                <a:spcPct val="0"/>
              </a:spcAft>
              <a:buClrTx/>
              <a:buSzTx/>
              <a:buFontTx/>
              <a:buNone/>
              <a:tabLst/>
            </a:pPr>
            <a:endParaRPr lang="fr-FR" sz="2000" b="1" dirty="0" smtClean="0">
              <a:solidFill>
                <a:srgbClr val="C00000"/>
              </a:solidFill>
              <a:latin typeface="Arial" pitchFamily="34" charset="0"/>
              <a:ea typeface="Verdana" pitchFamily="34" charset="0"/>
              <a:cs typeface="Verdana" pitchFamily="34" charset="0"/>
            </a:endParaRPr>
          </a:p>
          <a:p>
            <a:pPr marL="0" marR="0" lvl="0" indent="0" algn="justLow" defTabSz="914400" rtl="0" eaLnBrk="1" fontAlgn="base" latinLnBrk="0" hangingPunct="1">
              <a:lnSpc>
                <a:spcPct val="100000"/>
              </a:lnSpc>
              <a:spcBef>
                <a:spcPct val="0"/>
              </a:spcBef>
              <a:spcAft>
                <a:spcPct val="0"/>
              </a:spcAft>
              <a:buClrTx/>
              <a:buSzTx/>
              <a:buFontTx/>
              <a:buNone/>
              <a:tabLst/>
            </a:pPr>
            <a:endParaRPr kumimoji="0" lang="fr-FR" sz="2000" b="1" i="0" u="none" strike="noStrike" cap="none" normalizeH="0" baseline="0" dirty="0" smtClean="0">
              <a:ln>
                <a:noFill/>
              </a:ln>
              <a:solidFill>
                <a:srgbClr val="C00000"/>
              </a:solidFill>
              <a:effectLst/>
              <a:latin typeface="Arial" pitchFamily="34" charset="0"/>
              <a:ea typeface="Verdana" pitchFamily="34" charset="0"/>
              <a:cs typeface="Verdana" pitchFamily="34" charset="0"/>
            </a:endParaRPr>
          </a:p>
          <a:p>
            <a:pPr marL="0" marR="0" lvl="0" indent="0" algn="justLow" defTabSz="914400" rtl="0" eaLnBrk="1" fontAlgn="base" latinLnBrk="0" hangingPunct="1">
              <a:lnSpc>
                <a:spcPct val="100000"/>
              </a:lnSpc>
              <a:spcBef>
                <a:spcPct val="0"/>
              </a:spcBef>
              <a:spcAft>
                <a:spcPct val="0"/>
              </a:spcAft>
              <a:buClrTx/>
              <a:buSzTx/>
              <a:buFontTx/>
              <a:buNone/>
              <a:tabLst/>
            </a:pPr>
            <a:endParaRPr kumimoji="0" lang="fr-FR" sz="2000" b="1" i="0" u="none" strike="noStrike" cap="none" normalizeH="0" baseline="0" dirty="0" smtClean="0">
              <a:ln>
                <a:noFill/>
              </a:ln>
              <a:solidFill>
                <a:srgbClr val="C00000"/>
              </a:solidFill>
              <a:effectLst/>
              <a:latin typeface="Arial" pitchFamily="34" charset="0"/>
              <a:ea typeface="Verdana" pitchFamily="34" charset="0"/>
              <a:cs typeface="Verdana" pitchFamily="34" charset="0"/>
            </a:endParaRPr>
          </a:p>
          <a:p>
            <a:pPr marL="0" marR="0" lvl="0" indent="0" algn="justLow" defTabSz="914400" rtl="0" eaLnBrk="1" fontAlgn="base" latinLnBrk="0" hangingPunct="1">
              <a:lnSpc>
                <a:spcPct val="100000"/>
              </a:lnSpc>
              <a:spcBef>
                <a:spcPct val="0"/>
              </a:spcBef>
              <a:spcAft>
                <a:spcPct val="0"/>
              </a:spcAft>
              <a:buClrTx/>
              <a:buSzTx/>
              <a:buFontTx/>
              <a:buNone/>
              <a:tabLst/>
            </a:pPr>
            <a:endParaRPr lang="fr-FR" sz="2000" b="1" dirty="0" smtClean="0">
              <a:solidFill>
                <a:srgbClr val="C00000"/>
              </a:solidFill>
              <a:latin typeface="Arial" pitchFamily="34" charset="0"/>
              <a:ea typeface="Verdana" pitchFamily="34" charset="0"/>
              <a:cs typeface="Verdana" pitchFamily="34" charset="0"/>
            </a:endParaRPr>
          </a:p>
          <a:p>
            <a:pPr marL="0" marR="0" lvl="0" indent="0" algn="justLow" defTabSz="914400" rtl="0" eaLnBrk="1" fontAlgn="base" latinLnBrk="0" hangingPunct="1">
              <a:lnSpc>
                <a:spcPct val="100000"/>
              </a:lnSpc>
              <a:spcBef>
                <a:spcPct val="0"/>
              </a:spcBef>
              <a:spcAft>
                <a:spcPct val="0"/>
              </a:spcAft>
              <a:buClrTx/>
              <a:buSzTx/>
              <a:buFontTx/>
              <a:buNone/>
              <a:tabLst/>
            </a:pPr>
            <a:endParaRPr kumimoji="0" lang="fr-FR" sz="2000" b="1" i="0" u="none" strike="noStrike" cap="none" normalizeH="0" baseline="0" dirty="0" smtClean="0">
              <a:ln>
                <a:noFill/>
              </a:ln>
              <a:solidFill>
                <a:srgbClr val="C00000"/>
              </a:solidFill>
              <a:effectLst/>
              <a:latin typeface="Arial" pitchFamily="34" charset="0"/>
              <a:ea typeface="Verdana" pitchFamily="34" charset="0"/>
              <a:cs typeface="Verdana" pitchFamily="34" charset="0"/>
            </a:endParaRPr>
          </a:p>
          <a:p>
            <a:pPr marL="0" marR="0" lvl="0" indent="0" algn="justLow" defTabSz="914400" rtl="0" eaLnBrk="1" fontAlgn="base" latinLnBrk="0" hangingPunct="1">
              <a:lnSpc>
                <a:spcPct val="100000"/>
              </a:lnSpc>
              <a:spcBef>
                <a:spcPct val="0"/>
              </a:spcBef>
              <a:spcAft>
                <a:spcPct val="0"/>
              </a:spcAft>
              <a:buClrTx/>
              <a:buSzTx/>
              <a:buFontTx/>
              <a:buNone/>
              <a:tabLst/>
            </a:pPr>
            <a:endParaRPr kumimoji="0" lang="fr-FR" sz="2000" b="0" i="0" u="none" strike="noStrike" cap="none" normalizeH="0" baseline="0" dirty="0" smtClean="0">
              <a:ln>
                <a:noFill/>
              </a:ln>
              <a:solidFill>
                <a:schemeClr val="tx1"/>
              </a:solidFill>
              <a:effectLst/>
              <a:latin typeface="Arial" pitchFamily="34" charset="0"/>
              <a:cs typeface="Arial" pitchFamily="34" charset="0"/>
            </a:endParaRPr>
          </a:p>
        </p:txBody>
      </p:sp>
      <p:sp>
        <p:nvSpPr>
          <p:cNvPr id="5" name="Ellipse 4"/>
          <p:cNvSpPr/>
          <p:nvPr/>
        </p:nvSpPr>
        <p:spPr>
          <a:xfrm>
            <a:off x="1921397" y="2001929"/>
            <a:ext cx="8518968" cy="3765292"/>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wrap="square">
            <a:spAutoFit/>
          </a:bodyPr>
          <a:lstStyle/>
          <a:p>
            <a:pPr algn="just"/>
            <a:r>
              <a:rPr lang="fr-FR" sz="2400" b="1" dirty="0" smtClean="0">
                <a:latin typeface="Arial" pitchFamily="34" charset="0"/>
                <a:cs typeface="Arial" pitchFamily="34" charset="0"/>
              </a:rPr>
              <a:t>« Tout projet de création d’entreprise commence par une idée. Qu’elle naisse de l’expérience, du savoir-faire, de la créativité ou d’un simple concours de circonstances, l’idée prend souvent la forme d’une intuition ou d’un désir qui s’approfondit et mature avec le temps »</a:t>
            </a:r>
            <a:endParaRPr lang="fr-FR" sz="2400" b="1" dirty="0">
              <a:latin typeface="Arial" pitchFamily="34" charset="0"/>
              <a:cs typeface="Arial" pitchFamily="34" charset="0"/>
            </a:endParaRPr>
          </a:p>
        </p:txBody>
      </p:sp>
      <p:sp>
        <p:nvSpPr>
          <p:cNvPr id="6" name="Rectangle 5"/>
          <p:cNvSpPr/>
          <p:nvPr/>
        </p:nvSpPr>
        <p:spPr>
          <a:xfrm>
            <a:off x="2059973" y="1126167"/>
            <a:ext cx="2865143" cy="400110"/>
          </a:xfrm>
          <a:prstGeom prst="rect">
            <a:avLst/>
          </a:prstGeom>
        </p:spPr>
        <p:txBody>
          <a:bodyPr wrap="none">
            <a:spAutoFit/>
          </a:bodyPr>
          <a:lstStyle/>
          <a:p>
            <a:pPr lvl="0" algn="justLow" fontAlgn="base">
              <a:spcBef>
                <a:spcPct val="0"/>
              </a:spcBef>
              <a:spcAft>
                <a:spcPct val="0"/>
              </a:spcAft>
            </a:pPr>
            <a:r>
              <a:rPr lang="fr-FR" sz="2000" b="1" dirty="0" smtClean="0">
                <a:solidFill>
                  <a:srgbClr val="C00000"/>
                </a:solidFill>
                <a:latin typeface="Arial" pitchFamily="34" charset="0"/>
                <a:ea typeface="Verdana" pitchFamily="34" charset="0"/>
                <a:cs typeface="Verdana" pitchFamily="34" charset="0"/>
              </a:rPr>
              <a:t>1- L’IDEE DE PROJET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1"/>
          <p:cNvSpPr>
            <a:spLocks noChangeArrowheads="1"/>
          </p:cNvSpPr>
          <p:nvPr/>
        </p:nvSpPr>
        <p:spPr bwMode="auto">
          <a:xfrm>
            <a:off x="1208314" y="1071546"/>
            <a:ext cx="10047515" cy="4401205"/>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buFontTx/>
              <a:buNone/>
              <a:tabLst/>
            </a:pPr>
            <a:endParaRPr lang="fr-FR" sz="2000" dirty="0" smtClean="0">
              <a:solidFill>
                <a:schemeClr val="tx1"/>
              </a:solidFill>
              <a:latin typeface="Arial" pitchFamily="34" charset="0"/>
              <a:ea typeface="Verdana" pitchFamily="34" charset="0"/>
              <a:cs typeface="Verdana" pitchFamily="34" charset="0"/>
            </a:endParaRPr>
          </a:p>
          <a:p>
            <a:pPr marL="0" marR="0" lvl="0" indent="0" algn="justLow" defTabSz="914400" rtl="0" eaLnBrk="1" fontAlgn="base" latinLnBrk="0" hangingPunct="1">
              <a:lnSpc>
                <a:spcPct val="100000"/>
              </a:lnSpc>
              <a:spcBef>
                <a:spcPct val="0"/>
              </a:spcBef>
              <a:spcAft>
                <a:spcPct val="0"/>
              </a:spcAft>
              <a:buClrTx/>
              <a:buSzTx/>
              <a:buFontTx/>
              <a:buNone/>
              <a:tabLst/>
            </a:pPr>
            <a:endParaRPr lang="fr-FR" sz="2000" dirty="0" smtClean="0">
              <a:solidFill>
                <a:schemeClr val="tx1"/>
              </a:solidFill>
              <a:latin typeface="Arial" pitchFamily="34" charset="0"/>
              <a:ea typeface="Verdana" pitchFamily="34" charset="0"/>
              <a:cs typeface="Verdana" pitchFamily="34" charset="0"/>
            </a:endParaRPr>
          </a:p>
          <a:p>
            <a:pPr lvl="0" algn="just" fontAlgn="base">
              <a:spcBef>
                <a:spcPct val="0"/>
              </a:spcBef>
              <a:spcAft>
                <a:spcPct val="0"/>
              </a:spcAft>
            </a:pPr>
            <a:r>
              <a:rPr lang="fr-FR" sz="2000" dirty="0" smtClean="0">
                <a:solidFill>
                  <a:schemeClr val="tx1"/>
                </a:solidFill>
                <a:latin typeface="Arial" pitchFamily="34" charset="0"/>
                <a:ea typeface="Verdana" pitchFamily="34" charset="0"/>
                <a:cs typeface="Verdana" pitchFamily="34" charset="0"/>
              </a:rPr>
              <a:t>Avant de créer une entreprise, vous devez trouver une idée. Ensuite, il est nécessaire de la tester, et de la valider. Ce n’est qu’à compter de cette instant que votre idée se transforme en véritable projet d’entreprise. Il faudra, par ailleurs, que vous pensiez à protéger cette idée.</a:t>
            </a:r>
          </a:p>
          <a:p>
            <a:pPr lvl="0" algn="just" fontAlgn="base">
              <a:spcBef>
                <a:spcPct val="0"/>
              </a:spcBef>
              <a:spcAft>
                <a:spcPct val="0"/>
              </a:spcAft>
            </a:pPr>
            <a:endParaRPr lang="fr-FR" sz="2000" dirty="0" smtClean="0">
              <a:solidFill>
                <a:schemeClr val="tx1"/>
              </a:solidFill>
              <a:latin typeface="Arial" pitchFamily="34" charset="0"/>
              <a:ea typeface="Verdana" pitchFamily="34" charset="0"/>
              <a:cs typeface="Verdana" pitchFamily="34" charset="0"/>
            </a:endParaRPr>
          </a:p>
          <a:p>
            <a:pPr algn="just" fontAlgn="base"/>
            <a:r>
              <a:rPr lang="fr-FR" sz="2000" dirty="0" smtClean="0">
                <a:solidFill>
                  <a:schemeClr val="tx1"/>
                </a:solidFill>
                <a:latin typeface="Arial" pitchFamily="34" charset="0"/>
                <a:ea typeface="Verdana" pitchFamily="34" charset="0"/>
                <a:cs typeface="Verdana" pitchFamily="34" charset="0"/>
              </a:rPr>
              <a:t>Différents moyens existent pour </a:t>
            </a:r>
            <a:r>
              <a:rPr lang="fr-FR" sz="2000" dirty="0" smtClean="0">
                <a:solidFill>
                  <a:schemeClr val="tx1"/>
                </a:solidFill>
                <a:latin typeface="Arial" pitchFamily="34" charset="0"/>
                <a:ea typeface="Verdana" pitchFamily="34" charset="0"/>
                <a:cs typeface="Verdana" pitchFamily="34" charset="0"/>
                <a:hlinkClick r:id="rId3"/>
              </a:rPr>
              <a:t>trouver une idée de création d’entreprise</a:t>
            </a:r>
            <a:r>
              <a:rPr lang="fr-FR" sz="2000" dirty="0" smtClean="0">
                <a:solidFill>
                  <a:schemeClr val="tx1"/>
                </a:solidFill>
                <a:latin typeface="Arial" pitchFamily="34" charset="0"/>
                <a:ea typeface="Verdana" pitchFamily="34" charset="0"/>
                <a:cs typeface="Verdana" pitchFamily="34" charset="0"/>
              </a:rPr>
              <a:t>. Vous pouvez, tout d’abord, analysez vos compétences et vous écoutez, tout simplement. Qu’aimeriez-vous faire ? Quels sont vos domaines de prédilection ? Échangez avec vos proches (familles, amis…). Si nécessaire, inscrivez-vous à des salons qui abordent les thèmes de la création/reprise d’entreprise, suivez des formations, etc.</a:t>
            </a:r>
          </a:p>
          <a:p>
            <a:pPr algn="justLow" fontAlgn="base">
              <a:spcBef>
                <a:spcPct val="0"/>
              </a:spcBef>
              <a:spcAft>
                <a:spcPct val="0"/>
              </a:spcAft>
            </a:pPr>
            <a:endParaRPr lang="fr-FR" sz="2000" dirty="0" smtClean="0">
              <a:solidFill>
                <a:schemeClr val="tx1"/>
              </a:solidFill>
              <a:latin typeface="Arial" pitchFamily="34" charset="0"/>
              <a:ea typeface="Verdana" pitchFamily="34" charset="0"/>
              <a:cs typeface="Verdana" pitchFamily="34" charset="0"/>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 </a:t>
            </a:r>
            <a:endParaRPr kumimoji="0" lang="fr-FR" sz="20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990600" y="1450883"/>
            <a:ext cx="10308771" cy="433965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fontAlgn="base"/>
            <a:endParaRPr lang="fr-FR" sz="2000" dirty="0" smtClean="0">
              <a:solidFill>
                <a:schemeClr val="tx1"/>
              </a:solidFill>
              <a:latin typeface="Arial" pitchFamily="34" charset="0"/>
              <a:ea typeface="Verdana" pitchFamily="34" charset="0"/>
              <a:cs typeface="Verdana" pitchFamily="34" charset="0"/>
            </a:endParaRPr>
          </a:p>
          <a:p>
            <a:pPr algn="just" fontAlgn="base"/>
            <a:r>
              <a:rPr lang="fr-FR" sz="2000" dirty="0" smtClean="0">
                <a:solidFill>
                  <a:schemeClr val="tx1"/>
                </a:solidFill>
                <a:latin typeface="Arial" pitchFamily="34" charset="0"/>
                <a:ea typeface="Verdana" pitchFamily="34" charset="0"/>
                <a:cs typeface="Verdana" pitchFamily="34" charset="0"/>
              </a:rPr>
              <a:t>Mais avoir une </a:t>
            </a:r>
            <a:r>
              <a:rPr lang="fr-FR" sz="2000" dirty="0" smtClean="0">
                <a:solidFill>
                  <a:schemeClr val="tx1"/>
                </a:solidFill>
                <a:latin typeface="Arial" pitchFamily="34" charset="0"/>
                <a:ea typeface="Verdana" pitchFamily="34" charset="0"/>
                <a:cs typeface="Verdana" pitchFamily="34" charset="0"/>
                <a:hlinkClick r:id="rId3"/>
              </a:rPr>
              <a:t>bonne idée</a:t>
            </a:r>
            <a:r>
              <a:rPr lang="fr-FR" sz="2000" dirty="0" smtClean="0">
                <a:solidFill>
                  <a:schemeClr val="tx1"/>
                </a:solidFill>
                <a:latin typeface="Arial" pitchFamily="34" charset="0"/>
                <a:ea typeface="Verdana" pitchFamily="34" charset="0"/>
                <a:cs typeface="Verdana" pitchFamily="34" charset="0"/>
              </a:rPr>
              <a:t> ne suffit pas pour réussir un projet d’entreprise, encore faut-il vérifier sa pertinence (est-elle bonne ?), l’affiner (quelle cible vise-t-elle exactement ?) puis la valider définitivement (y-a-il une adéquation entre votre offre et la demande ?). Ces étape, assez délicate, supposent une phase de </a:t>
            </a:r>
            <a:r>
              <a:rPr lang="fr-FR" sz="2000" dirty="0" smtClean="0">
                <a:solidFill>
                  <a:schemeClr val="tx1"/>
                </a:solidFill>
                <a:latin typeface="Arial" pitchFamily="34" charset="0"/>
                <a:ea typeface="Verdana" pitchFamily="34" charset="0"/>
                <a:cs typeface="Verdana" pitchFamily="34" charset="0"/>
                <a:hlinkClick r:id="rId4"/>
              </a:rPr>
              <a:t>test</a:t>
            </a:r>
            <a:r>
              <a:rPr lang="fr-FR" sz="2000" dirty="0" smtClean="0">
                <a:solidFill>
                  <a:schemeClr val="tx1"/>
                </a:solidFill>
                <a:latin typeface="Arial" pitchFamily="34" charset="0"/>
                <a:ea typeface="Verdana" pitchFamily="34" charset="0"/>
                <a:cs typeface="Verdana" pitchFamily="34" charset="0"/>
              </a:rPr>
              <a:t> préalable. Dans la plupart des cas, cela se traduit par la réalisation d’une étude de marché.</a:t>
            </a:r>
          </a:p>
          <a:p>
            <a:pPr algn="just" fontAlgn="base"/>
            <a:r>
              <a:rPr lang="fr-FR" sz="2000" dirty="0" smtClean="0">
                <a:solidFill>
                  <a:schemeClr val="tx1"/>
                </a:solidFill>
                <a:latin typeface="Arial" pitchFamily="34" charset="0"/>
                <a:ea typeface="Verdana" pitchFamily="34" charset="0"/>
                <a:cs typeface="Verdana" pitchFamily="34" charset="0"/>
              </a:rPr>
              <a:t>Une fois votre projet bouclé, vous aurez probablement intérêt à </a:t>
            </a:r>
            <a:r>
              <a:rPr lang="fr-FR" sz="2000" dirty="0" smtClean="0">
                <a:solidFill>
                  <a:schemeClr val="tx1"/>
                </a:solidFill>
                <a:latin typeface="Arial" pitchFamily="34" charset="0"/>
                <a:ea typeface="Verdana" pitchFamily="34" charset="0"/>
                <a:cs typeface="Verdana" pitchFamily="34" charset="0"/>
                <a:hlinkClick r:id="rId5"/>
              </a:rPr>
              <a:t>protéger votre idée de création</a:t>
            </a:r>
            <a:r>
              <a:rPr lang="fr-FR" sz="2000" dirty="0" smtClean="0">
                <a:solidFill>
                  <a:schemeClr val="tx1"/>
                </a:solidFill>
                <a:latin typeface="Arial" pitchFamily="34" charset="0"/>
                <a:ea typeface="Verdana" pitchFamily="34" charset="0"/>
                <a:cs typeface="Verdana" pitchFamily="34" charset="0"/>
              </a:rPr>
              <a:t> (nouveau concept ou nouvelle technologie, produit innovant…). Vous disposez, pour cela, de plusieurs outils juridiques : dépôt d’un brevet ou d’une marque, obtention d’un certificat d’utilité, protection des dessins et modèles, remise d’un pli à un tiers… Parfois, il vaut mieux se faire accompagner par un professionnel pour sécuriser ses innovations.</a:t>
            </a:r>
          </a:p>
          <a:p>
            <a:pPr fontAlgn="base"/>
            <a:r>
              <a:rPr lang="fr-FR" dirty="0" smtClean="0"/>
              <a:t/>
            </a:r>
            <a:br>
              <a:rPr lang="fr-FR" dirty="0" smtClean="0"/>
            </a:br>
            <a:endParaRPr lang="fr-FR" dirty="0" smtClean="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4" name="Rectangle 3"/>
          <p:cNvSpPr/>
          <p:nvPr/>
        </p:nvSpPr>
        <p:spPr>
          <a:xfrm>
            <a:off x="881743" y="1443841"/>
            <a:ext cx="10635343" cy="34778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dirty="0" smtClean="0">
                <a:latin typeface="Arial" pitchFamily="34" charset="0"/>
                <a:ea typeface="Verdana" pitchFamily="34" charset="0"/>
                <a:cs typeface="Verdana" pitchFamily="34" charset="0"/>
              </a:rPr>
              <a:t>Lorsque l'on parle d'idée innovante, le sujet de </a:t>
            </a:r>
            <a:r>
              <a:rPr lang="fr-FR" sz="2000" dirty="0" smtClean="0">
                <a:latin typeface="Arial" pitchFamily="34" charset="0"/>
                <a:ea typeface="Verdana" pitchFamily="34" charset="0"/>
                <a:cs typeface="Verdana" pitchFamily="34" charset="0"/>
                <a:hlinkClick r:id="rId3"/>
              </a:rPr>
              <a:t>sa protection</a:t>
            </a:r>
            <a:r>
              <a:rPr lang="fr-FR" sz="2000" dirty="0" smtClean="0">
                <a:latin typeface="Arial" pitchFamily="34" charset="0"/>
                <a:ea typeface="Verdana" pitchFamily="34" charset="0"/>
                <a:cs typeface="Verdana" pitchFamily="34" charset="0"/>
              </a:rPr>
              <a:t> prend une importance toute particulière.</a:t>
            </a:r>
          </a:p>
          <a:p>
            <a:pPr algn="just"/>
            <a:r>
              <a:rPr lang="fr-FR" sz="2000" dirty="0" smtClean="0">
                <a:latin typeface="Arial" pitchFamily="34" charset="0"/>
                <a:ea typeface="Verdana" pitchFamily="34" charset="0"/>
                <a:cs typeface="Verdana" pitchFamily="34" charset="0"/>
              </a:rPr>
              <a:t>Rappelons tout d'abord qu'une </a:t>
            </a:r>
            <a:r>
              <a:rPr lang="fr-FR" sz="2000" dirty="0" smtClean="0">
                <a:latin typeface="Arial" pitchFamily="34" charset="0"/>
                <a:ea typeface="Verdana" pitchFamily="34" charset="0"/>
                <a:cs typeface="Verdana" pitchFamily="34" charset="0"/>
                <a:hlinkClick r:id="rId4"/>
              </a:rPr>
              <a:t>idée</a:t>
            </a:r>
            <a:r>
              <a:rPr lang="fr-FR" sz="2000" dirty="0" smtClean="0">
                <a:latin typeface="Arial" pitchFamily="34" charset="0"/>
                <a:ea typeface="Verdana" pitchFamily="34" charset="0"/>
                <a:cs typeface="Verdana" pitchFamily="34" charset="0"/>
              </a:rPr>
              <a:t> en elle-même ne peut faire l'objet d'une protection juridique. Ce n'est que son application concrète qui permettra de faire une demande de </a:t>
            </a:r>
            <a:r>
              <a:rPr lang="fr-FR" sz="2000" dirty="0" smtClean="0">
                <a:latin typeface="Arial" pitchFamily="34" charset="0"/>
                <a:ea typeface="Verdana" pitchFamily="34" charset="0"/>
                <a:cs typeface="Verdana" pitchFamily="34" charset="0"/>
                <a:hlinkClick r:id="rId5"/>
              </a:rPr>
              <a:t>brevet ou de certificat d'utilité</a:t>
            </a:r>
            <a:r>
              <a:rPr lang="fr-FR" sz="2000" dirty="0" smtClean="0">
                <a:latin typeface="Arial" pitchFamily="34" charset="0"/>
                <a:ea typeface="Verdana" pitchFamily="34" charset="0"/>
                <a:cs typeface="Verdana" pitchFamily="34" charset="0"/>
              </a:rPr>
              <a:t> ou de procéder à un dépôt de dessin ou de modèle. Le porteur de projet ne doit pas hésiter à se rapprocher très tôt d'experts spécialisés dans l'innovation pour prendre toutes les précautions nécessaires.</a:t>
            </a:r>
          </a:p>
          <a:p>
            <a:pPr algn="just"/>
            <a:r>
              <a:rPr lang="fr-FR" sz="2000" dirty="0" smtClean="0">
                <a:latin typeface="Arial" pitchFamily="34" charset="0"/>
                <a:ea typeface="Verdana" pitchFamily="34" charset="0"/>
                <a:cs typeface="Verdana" pitchFamily="34" charset="0"/>
              </a:rPr>
              <a:t>Que recouvre exactement cette notion d'innovation ? Dans "innovation", il y a le mot  "novateur" et donc  "nouveau". Une entreprise sera donc innovante si elle met sur le marché un produit , un service ou un procédé nouveau, voire si elle est créée à partir d'une réelle innovation organisationnelle.</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4" name="Rectangle 3"/>
          <p:cNvSpPr/>
          <p:nvPr/>
        </p:nvSpPr>
        <p:spPr>
          <a:xfrm>
            <a:off x="881743" y="1443841"/>
            <a:ext cx="10635343" cy="34778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dirty="0" smtClean="0">
                <a:latin typeface="Arial" pitchFamily="34" charset="0"/>
                <a:ea typeface="Verdana" pitchFamily="34" charset="0"/>
                <a:cs typeface="Verdana" pitchFamily="34" charset="0"/>
              </a:rPr>
              <a:t>Lorsque l'on parle d'idée innovante, le sujet de </a:t>
            </a:r>
            <a:r>
              <a:rPr lang="fr-FR" sz="2000" dirty="0" smtClean="0">
                <a:latin typeface="Arial" pitchFamily="34" charset="0"/>
                <a:ea typeface="Verdana" pitchFamily="34" charset="0"/>
                <a:cs typeface="Verdana" pitchFamily="34" charset="0"/>
                <a:hlinkClick r:id="rId3"/>
              </a:rPr>
              <a:t>sa protection</a:t>
            </a:r>
            <a:r>
              <a:rPr lang="fr-FR" sz="2000" dirty="0" smtClean="0">
                <a:latin typeface="Arial" pitchFamily="34" charset="0"/>
                <a:ea typeface="Verdana" pitchFamily="34" charset="0"/>
                <a:cs typeface="Verdana" pitchFamily="34" charset="0"/>
              </a:rPr>
              <a:t> prend une importance toute particulière.</a:t>
            </a:r>
          </a:p>
          <a:p>
            <a:pPr algn="just"/>
            <a:r>
              <a:rPr lang="fr-FR" sz="2000" dirty="0" smtClean="0">
                <a:latin typeface="Arial" pitchFamily="34" charset="0"/>
                <a:ea typeface="Verdana" pitchFamily="34" charset="0"/>
                <a:cs typeface="Verdana" pitchFamily="34" charset="0"/>
              </a:rPr>
              <a:t>Rappelons tout d'abord qu'une </a:t>
            </a:r>
            <a:r>
              <a:rPr lang="fr-FR" sz="2000" dirty="0" smtClean="0">
                <a:latin typeface="Arial" pitchFamily="34" charset="0"/>
                <a:ea typeface="Verdana" pitchFamily="34" charset="0"/>
                <a:cs typeface="Verdana" pitchFamily="34" charset="0"/>
                <a:hlinkClick r:id="rId4"/>
              </a:rPr>
              <a:t>idée</a:t>
            </a:r>
            <a:r>
              <a:rPr lang="fr-FR" sz="2000" dirty="0" smtClean="0">
                <a:latin typeface="Arial" pitchFamily="34" charset="0"/>
                <a:ea typeface="Verdana" pitchFamily="34" charset="0"/>
                <a:cs typeface="Verdana" pitchFamily="34" charset="0"/>
              </a:rPr>
              <a:t> en elle-même ne peut faire l'objet d'une protection juridique. Ce n'est que son application concrète qui permettra de faire une demande de </a:t>
            </a:r>
            <a:r>
              <a:rPr lang="fr-FR" sz="2000" dirty="0" smtClean="0">
                <a:latin typeface="Arial" pitchFamily="34" charset="0"/>
                <a:ea typeface="Verdana" pitchFamily="34" charset="0"/>
                <a:cs typeface="Verdana" pitchFamily="34" charset="0"/>
                <a:hlinkClick r:id="rId5"/>
              </a:rPr>
              <a:t>brevet ou de certificat d'utilité</a:t>
            </a:r>
            <a:r>
              <a:rPr lang="fr-FR" sz="2000" dirty="0" smtClean="0">
                <a:latin typeface="Arial" pitchFamily="34" charset="0"/>
                <a:ea typeface="Verdana" pitchFamily="34" charset="0"/>
                <a:cs typeface="Verdana" pitchFamily="34" charset="0"/>
              </a:rPr>
              <a:t> ou de procéder à un dépôt de dessin ou de modèle. Le porteur de projet ne doit pas hésiter à se rapprocher très tôt d'experts spécialisés dans l'innovation pour prendre toutes les précautions nécessaires.</a:t>
            </a:r>
          </a:p>
          <a:p>
            <a:pPr algn="just"/>
            <a:r>
              <a:rPr lang="fr-FR" sz="2000" dirty="0" smtClean="0">
                <a:latin typeface="Arial" pitchFamily="34" charset="0"/>
                <a:ea typeface="Verdana" pitchFamily="34" charset="0"/>
                <a:cs typeface="Verdana" pitchFamily="34" charset="0"/>
              </a:rPr>
              <a:t>Que recouvre exactement cette notion d'innovation ? Dans "innovation", il y a le mot  "novateur" et donc  "nouveau". Une entreprise sera donc innovante si elle met sur le marché un produit , un service ou un procédé nouveau, voire si elle est créée à partir d'une réelle innovation organisationnelle.</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977717" y="838702"/>
            <a:ext cx="10635343" cy="1446550"/>
          </a:xfrm>
          <a:prstGeom prst="rect">
            <a:avLst/>
          </a:prstGeom>
        </p:spPr>
        <p:style>
          <a:lnRef idx="2">
            <a:schemeClr val="dk1"/>
          </a:lnRef>
          <a:fillRef idx="1001">
            <a:schemeClr val="lt1"/>
          </a:fillRef>
          <a:effectRef idx="0">
            <a:schemeClr val="dk1"/>
          </a:effectRef>
          <a:fontRef idx="minor">
            <a:schemeClr val="dk1"/>
          </a:fontRef>
        </p:style>
        <p:txBody>
          <a:bodyPr wrap="square">
            <a:spAutoFit/>
          </a:bodyPr>
          <a:lstStyle/>
          <a:p>
            <a:pPr algn="just"/>
            <a:r>
              <a:rPr lang="fr-FR" sz="2000" b="1" dirty="0" smtClean="0">
                <a:solidFill>
                  <a:schemeClr val="accent6">
                    <a:lumMod val="75000"/>
                  </a:schemeClr>
                </a:solidFill>
                <a:latin typeface="Arial" pitchFamily="34" charset="0"/>
                <a:ea typeface="Verdana" pitchFamily="34" charset="0"/>
                <a:cs typeface="Verdana" pitchFamily="34" charset="0"/>
              </a:rPr>
              <a:t>A- Distinguer entre idée et opportunité</a:t>
            </a:r>
          </a:p>
          <a:p>
            <a:pPr algn="just"/>
            <a:endParaRPr lang="fr-FR" sz="800" b="1" dirty="0" smtClean="0">
              <a:solidFill>
                <a:schemeClr val="accent6">
                  <a:lumMod val="75000"/>
                </a:schemeClr>
              </a:solidFill>
              <a:latin typeface="Arial" pitchFamily="34" charset="0"/>
              <a:ea typeface="Verdana" pitchFamily="34" charset="0"/>
              <a:cs typeface="Arial" pitchFamily="34" charset="0"/>
            </a:endParaRPr>
          </a:p>
          <a:p>
            <a:pPr algn="just"/>
            <a:r>
              <a:rPr lang="fr-FR" sz="2000" dirty="0" smtClean="0">
                <a:latin typeface="Arial" pitchFamily="34" charset="0"/>
                <a:cs typeface="Arial" pitchFamily="34" charset="0"/>
              </a:rPr>
              <a:t>L'idée et l'opportunité sont deux concepts souvent utilisés dans le domaine de l'entrepreneuriat et de l'innovation, mais ils se distinguent par leur nature et</a:t>
            </a:r>
            <a:br>
              <a:rPr lang="fr-FR" sz="2000" dirty="0" smtClean="0">
                <a:latin typeface="Arial" pitchFamily="34" charset="0"/>
                <a:cs typeface="Arial" pitchFamily="34" charset="0"/>
              </a:rPr>
            </a:br>
            <a:r>
              <a:rPr lang="fr-FR" sz="2000" dirty="0" smtClean="0">
                <a:latin typeface="Arial" pitchFamily="34" charset="0"/>
                <a:cs typeface="Arial" pitchFamily="34" charset="0"/>
              </a:rPr>
              <a:t>leur application.</a:t>
            </a:r>
          </a:p>
        </p:txBody>
      </p:sp>
      <p:graphicFrame>
        <p:nvGraphicFramePr>
          <p:cNvPr id="4" name="Diagramme 3"/>
          <p:cNvGraphicFramePr/>
          <p:nvPr/>
        </p:nvGraphicFramePr>
        <p:xfrm>
          <a:off x="785812" y="2314575"/>
          <a:ext cx="6315075" cy="42100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1"/>
          <p:cNvSpPr>
            <a:spLocks noChangeArrowheads="1"/>
          </p:cNvSpPr>
          <p:nvPr/>
        </p:nvSpPr>
        <p:spPr bwMode="auto">
          <a:xfrm>
            <a:off x="7534275" y="3095625"/>
            <a:ext cx="3933825" cy="2452211"/>
          </a:xfrm>
          <a:prstGeom prst="snipRoundRect">
            <a:avLst/>
          </a:prstGeom>
          <a:ln>
            <a:headEnd/>
            <a:tailEn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tab pos="457200" algn="l"/>
              </a:tabLst>
            </a:pPr>
            <a:r>
              <a:rPr lang="fr-FR" sz="1600" b="1" dirty="0" smtClean="0">
                <a:solidFill>
                  <a:schemeClr val="dk1"/>
                </a:solidFill>
                <a:latin typeface="Arial" pitchFamily="34" charset="0"/>
                <a:ea typeface="Verdana" pitchFamily="34" charset="0"/>
                <a:cs typeface="Verdana" pitchFamily="34" charset="0"/>
              </a:rPr>
              <a:t>En résumé</a:t>
            </a:r>
          </a:p>
          <a:p>
            <a:pPr marL="0" marR="0" lvl="0" indent="0" algn="just" defTabSz="914400" rtl="0" eaLnBrk="0" fontAlgn="base" latinLnBrk="0" hangingPunct="0">
              <a:lnSpc>
                <a:spcPct val="100000"/>
              </a:lnSpc>
              <a:spcBef>
                <a:spcPct val="0"/>
              </a:spcBef>
              <a:spcAft>
                <a:spcPct val="0"/>
              </a:spcAft>
              <a:buClrTx/>
              <a:buSzTx/>
              <a:buFont typeface="Wingdings" pitchFamily="2" charset="2"/>
              <a:buChar char="Ø"/>
              <a:tabLst>
                <a:tab pos="457200" algn="l"/>
              </a:tabLst>
            </a:pPr>
            <a:r>
              <a:rPr lang="fr-FR" sz="1400" dirty="0" smtClean="0">
                <a:solidFill>
                  <a:schemeClr val="dk1"/>
                </a:solidFill>
                <a:latin typeface="Arial" pitchFamily="34" charset="0"/>
                <a:ea typeface="Verdana" pitchFamily="34" charset="0"/>
                <a:cs typeface="Verdana" pitchFamily="34" charset="0"/>
              </a:rPr>
              <a:t> Idée : Concept créatif, souvent abstrait, qui peut être développé.</a:t>
            </a:r>
          </a:p>
          <a:p>
            <a:pPr marL="0" marR="0" lvl="0" indent="0" algn="just" defTabSz="914400" rtl="0" eaLnBrk="0" fontAlgn="base" latinLnBrk="0" hangingPunct="0">
              <a:lnSpc>
                <a:spcPct val="100000"/>
              </a:lnSpc>
              <a:spcBef>
                <a:spcPct val="0"/>
              </a:spcBef>
              <a:spcAft>
                <a:spcPct val="0"/>
              </a:spcAft>
              <a:buClrTx/>
              <a:buSzTx/>
              <a:buFont typeface="Wingdings" pitchFamily="2" charset="2"/>
              <a:buChar char="Ø"/>
              <a:tabLst>
                <a:tab pos="457200" algn="l"/>
              </a:tabLst>
            </a:pPr>
            <a:r>
              <a:rPr lang="fr-FR" sz="1400" dirty="0" smtClean="0">
                <a:solidFill>
                  <a:schemeClr val="dk1"/>
                </a:solidFill>
                <a:latin typeface="Arial" pitchFamily="34" charset="0"/>
                <a:ea typeface="Verdana" pitchFamily="34" charset="0"/>
                <a:cs typeface="Verdana" pitchFamily="34" charset="0"/>
              </a:rPr>
              <a:t> Opportunité : Situation concrète et favorable qui permet de mettre en œuvre une idée et de créer de la valeur.</a:t>
            </a: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fr-FR" sz="1400" dirty="0" smtClean="0">
                <a:solidFill>
                  <a:schemeClr val="dk1"/>
                </a:solidFill>
                <a:latin typeface="Arial" pitchFamily="34" charset="0"/>
                <a:ea typeface="Verdana" pitchFamily="34" charset="0"/>
                <a:cs typeface="Verdana" pitchFamily="34" charset="0"/>
              </a:rPr>
              <a:t>Pour réussir dans l'entrepreneuriat, il est essentiel de transformer une idée en opportunité en identifiant les besoins du marché et en agissant au bon moment. </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4" name="Rectangle 3"/>
          <p:cNvSpPr/>
          <p:nvPr/>
        </p:nvSpPr>
        <p:spPr>
          <a:xfrm>
            <a:off x="1088021" y="1024772"/>
            <a:ext cx="10035251" cy="529375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fr-FR" sz="2000" b="1" dirty="0" smtClean="0">
                <a:solidFill>
                  <a:schemeClr val="accent6">
                    <a:lumMod val="75000"/>
                  </a:schemeClr>
                </a:solidFill>
                <a:latin typeface="Arial" pitchFamily="34" charset="0"/>
                <a:ea typeface="Verdana" pitchFamily="34" charset="0"/>
                <a:cs typeface="Verdana" pitchFamily="34" charset="0"/>
              </a:rPr>
              <a:t>B- De l’idée au projet ( cadrage ou </a:t>
            </a:r>
            <a:r>
              <a:rPr lang="fr-FR" sz="2000" b="1" u="sng" dirty="0" smtClean="0">
                <a:solidFill>
                  <a:schemeClr val="accent6">
                    <a:lumMod val="75000"/>
                  </a:schemeClr>
                </a:solidFill>
                <a:latin typeface="Arial" pitchFamily="34" charset="0"/>
                <a:ea typeface="Verdana" pitchFamily="34" charset="0"/>
                <a:cs typeface="Verdana" pitchFamily="34" charset="0"/>
              </a:rPr>
              <a:t>étude d’opportunité </a:t>
            </a:r>
            <a:r>
              <a:rPr lang="fr-FR" sz="2000" b="1" dirty="0" smtClean="0">
                <a:solidFill>
                  <a:schemeClr val="accent6">
                    <a:lumMod val="75000"/>
                  </a:schemeClr>
                </a:solidFill>
                <a:latin typeface="Arial" pitchFamily="34" charset="0"/>
                <a:ea typeface="Verdana" pitchFamily="34" charset="0"/>
                <a:cs typeface="Verdana" pitchFamily="34" charset="0"/>
              </a:rPr>
              <a:t>de l’idée )</a:t>
            </a:r>
          </a:p>
          <a:p>
            <a:endParaRPr lang="fr-FR" sz="800" b="1" dirty="0" smtClean="0">
              <a:solidFill>
                <a:schemeClr val="accent6">
                  <a:lumMod val="75000"/>
                </a:schemeClr>
              </a:solidFill>
              <a:latin typeface="Arial" pitchFamily="34" charset="0"/>
              <a:ea typeface="Verdana" pitchFamily="34" charset="0"/>
              <a:cs typeface="Verdana" pitchFamily="34" charset="0"/>
            </a:endParaRPr>
          </a:p>
          <a:p>
            <a:pPr algn="just"/>
            <a:r>
              <a:rPr lang="fr-FR" sz="2000" dirty="0" smtClean="0">
                <a:latin typeface="Arial" pitchFamily="34" charset="0"/>
                <a:ea typeface="Verdana" pitchFamily="34" charset="0"/>
                <a:cs typeface="Verdana" pitchFamily="34" charset="0"/>
              </a:rPr>
              <a:t>Vous allez confronter votre idée à son environnement économique et réglementaire et enfin établir une première esquisse de votre projet. Celui-ci évoluera avec le temps, en fonction des différentes informations et des conseils que vous recueillerez tout au long de votre préparation.</a:t>
            </a:r>
          </a:p>
          <a:p>
            <a:pPr algn="just"/>
            <a:endParaRPr lang="fr-FR" sz="2000" dirty="0" smtClean="0">
              <a:latin typeface="Arial" pitchFamily="34" charset="0"/>
              <a:ea typeface="Verdana" pitchFamily="34" charset="0"/>
              <a:cs typeface="Verdana" pitchFamily="34" charset="0"/>
            </a:endParaRPr>
          </a:p>
          <a:p>
            <a:pPr algn="ctr"/>
            <a:r>
              <a:rPr lang="fr-FR" sz="2200" b="1" dirty="0" smtClean="0">
                <a:solidFill>
                  <a:schemeClr val="accent5">
                    <a:lumMod val="75000"/>
                  </a:schemeClr>
                </a:solidFill>
                <a:latin typeface="Arial" pitchFamily="34" charset="0"/>
                <a:ea typeface="Verdana" pitchFamily="34" charset="0"/>
                <a:cs typeface="Verdana" pitchFamily="34" charset="0"/>
              </a:rPr>
              <a:t>• Définissez très précisément vos produits ou vos services, tels que vous les imaginez a priori</a:t>
            </a:r>
          </a:p>
          <a:p>
            <a:pPr algn="ctr"/>
            <a:endParaRPr lang="fr-FR" sz="2200" b="1" dirty="0" smtClean="0">
              <a:solidFill>
                <a:schemeClr val="accent5">
                  <a:lumMod val="75000"/>
                </a:schemeClr>
              </a:solidFill>
              <a:latin typeface="Arial" pitchFamily="34" charset="0"/>
              <a:ea typeface="Verdana" pitchFamily="34" charset="0"/>
              <a:cs typeface="Verdana" pitchFamily="34" charset="0"/>
            </a:endParaRPr>
          </a:p>
          <a:p>
            <a:r>
              <a:rPr lang="fr-FR" sz="2000" dirty="0" smtClean="0">
                <a:latin typeface="Arial" pitchFamily="34" charset="0"/>
                <a:ea typeface="Verdana" pitchFamily="34" charset="0"/>
                <a:cs typeface="Verdana" pitchFamily="34" charset="0"/>
              </a:rPr>
              <a:t>• Quels sont les produits ou services que vous voulez vendre à titre principal ?</a:t>
            </a:r>
          </a:p>
          <a:p>
            <a:endParaRPr lang="fr-FR" sz="800" dirty="0" smtClean="0">
              <a:latin typeface="Arial" pitchFamily="34" charset="0"/>
              <a:ea typeface="Verdana" pitchFamily="34" charset="0"/>
              <a:cs typeface="Verdana" pitchFamily="34" charset="0"/>
            </a:endParaRPr>
          </a:p>
          <a:p>
            <a:r>
              <a:rPr lang="fr-FR" sz="2000" dirty="0" smtClean="0">
                <a:latin typeface="Arial" pitchFamily="34" charset="0"/>
                <a:ea typeface="Verdana" pitchFamily="34" charset="0"/>
                <a:cs typeface="Verdana" pitchFamily="34" charset="0"/>
              </a:rPr>
              <a:t>• À quels besoins vont-ils répondre ?</a:t>
            </a:r>
          </a:p>
          <a:p>
            <a:endParaRPr lang="fr-FR" sz="800" dirty="0" smtClean="0">
              <a:latin typeface="Arial" pitchFamily="34" charset="0"/>
              <a:ea typeface="Verdana" pitchFamily="34" charset="0"/>
              <a:cs typeface="Verdana" pitchFamily="34" charset="0"/>
            </a:endParaRPr>
          </a:p>
          <a:p>
            <a:r>
              <a:rPr lang="fr-FR" sz="2000" dirty="0" smtClean="0">
                <a:latin typeface="Arial" pitchFamily="34" charset="0"/>
                <a:ea typeface="Verdana" pitchFamily="34" charset="0"/>
                <a:cs typeface="Verdana" pitchFamily="34" charset="0"/>
              </a:rPr>
              <a:t>• Quels sont les produits ou services complémentaires que vous pourriez proposer ?</a:t>
            </a:r>
          </a:p>
          <a:p>
            <a:endParaRPr lang="fr-FR" sz="800" dirty="0" smtClean="0">
              <a:latin typeface="Arial" pitchFamily="34" charset="0"/>
              <a:ea typeface="Verdana" pitchFamily="34" charset="0"/>
              <a:cs typeface="Verdana" pitchFamily="34" charset="0"/>
            </a:endParaRPr>
          </a:p>
          <a:p>
            <a:r>
              <a:rPr lang="fr-FR" sz="2000" dirty="0" smtClean="0">
                <a:latin typeface="Arial" pitchFamily="34" charset="0"/>
                <a:ea typeface="Verdana" pitchFamily="34" charset="0"/>
                <a:cs typeface="Verdana" pitchFamily="34" charset="0"/>
              </a:rPr>
              <a:t>• Comment se différencient-ils de la concurrence ?</a:t>
            </a:r>
          </a:p>
          <a:p>
            <a:endParaRPr lang="fr-FR" sz="800" dirty="0" smtClean="0">
              <a:latin typeface="Arial" pitchFamily="34" charset="0"/>
              <a:ea typeface="Verdana" pitchFamily="34" charset="0"/>
              <a:cs typeface="Verdana" pitchFamily="34" charset="0"/>
            </a:endParaRPr>
          </a:p>
          <a:p>
            <a:r>
              <a:rPr lang="fr-FR" sz="2000" dirty="0" smtClean="0">
                <a:latin typeface="Arial" pitchFamily="34" charset="0"/>
                <a:ea typeface="Verdana" pitchFamily="34" charset="0"/>
                <a:cs typeface="Verdana" pitchFamily="34" charset="0"/>
              </a:rPr>
              <a:t>• Quels sont « les plus » que vous apporterez ?</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122744" y="1223922"/>
            <a:ext cx="10093124" cy="510909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fr-FR" dirty="0" smtClean="0"/>
              <a:t>• </a:t>
            </a:r>
            <a:r>
              <a:rPr lang="fr-FR" sz="2200" b="1" dirty="0" smtClean="0">
                <a:solidFill>
                  <a:schemeClr val="accent5">
                    <a:lumMod val="75000"/>
                  </a:schemeClr>
                </a:solidFill>
                <a:latin typeface="Arial" pitchFamily="34" charset="0"/>
                <a:ea typeface="Verdana" pitchFamily="34" charset="0"/>
                <a:cs typeface="Verdana" pitchFamily="34" charset="0"/>
              </a:rPr>
              <a:t>Inventoriez les clients potentiels que vous visez de prime abord</a:t>
            </a:r>
          </a:p>
          <a:p>
            <a:pPr algn="ctr"/>
            <a:endParaRPr lang="fr-FR" sz="2200" b="1" dirty="0" smtClean="0">
              <a:solidFill>
                <a:schemeClr val="accent5">
                  <a:lumMod val="75000"/>
                </a:schemeClr>
              </a:solidFill>
              <a:latin typeface="Arial" pitchFamily="34" charset="0"/>
              <a:ea typeface="Verdana" pitchFamily="34" charset="0"/>
              <a:cs typeface="Verdana" pitchFamily="34" charset="0"/>
            </a:endParaRPr>
          </a:p>
          <a:p>
            <a:r>
              <a:rPr lang="fr-FR" sz="2000" dirty="0" smtClean="0">
                <a:latin typeface="Arial" pitchFamily="34" charset="0"/>
                <a:ea typeface="Verdana" pitchFamily="34" charset="0"/>
                <a:cs typeface="Verdana" pitchFamily="34" charset="0"/>
              </a:rPr>
              <a:t>• Comment les avez-vous identifiés ?</a:t>
            </a:r>
          </a:p>
          <a:p>
            <a:endParaRPr lang="fr-FR" sz="800" dirty="0" smtClean="0">
              <a:latin typeface="Arial" pitchFamily="34" charset="0"/>
              <a:ea typeface="Verdana" pitchFamily="34" charset="0"/>
              <a:cs typeface="Verdana" pitchFamily="34" charset="0"/>
            </a:endParaRPr>
          </a:p>
          <a:p>
            <a:r>
              <a:rPr lang="fr-FR" sz="2000" dirty="0" smtClean="0">
                <a:latin typeface="Arial" pitchFamily="34" charset="0"/>
                <a:ea typeface="Verdana" pitchFamily="34" charset="0"/>
                <a:cs typeface="Verdana" pitchFamily="34" charset="0"/>
              </a:rPr>
              <a:t>• Qu’est-ce qui justifie de retenir ces cibles-là ?</a:t>
            </a:r>
          </a:p>
          <a:p>
            <a:endParaRPr lang="fr-FR" sz="800" dirty="0" smtClean="0">
              <a:latin typeface="Arial" pitchFamily="34" charset="0"/>
              <a:ea typeface="Verdana" pitchFamily="34" charset="0"/>
              <a:cs typeface="Verdana" pitchFamily="34" charset="0"/>
            </a:endParaRPr>
          </a:p>
          <a:p>
            <a:r>
              <a:rPr lang="fr-FR" sz="2000" dirty="0" smtClean="0">
                <a:latin typeface="Arial" pitchFamily="34" charset="0"/>
                <a:ea typeface="Verdana" pitchFamily="34" charset="0"/>
                <a:cs typeface="Verdana" pitchFamily="34" charset="0"/>
              </a:rPr>
              <a:t>• Où sont-ils localisés ?</a:t>
            </a:r>
          </a:p>
          <a:p>
            <a:endParaRPr lang="fr-FR" sz="800" dirty="0" smtClean="0">
              <a:latin typeface="Arial" pitchFamily="34" charset="0"/>
              <a:ea typeface="Verdana" pitchFamily="34" charset="0"/>
              <a:cs typeface="Verdana" pitchFamily="34" charset="0"/>
            </a:endParaRPr>
          </a:p>
          <a:p>
            <a:r>
              <a:rPr lang="fr-FR" sz="2000" dirty="0" smtClean="0">
                <a:latin typeface="Arial" pitchFamily="34" charset="0"/>
                <a:ea typeface="Verdana" pitchFamily="34" charset="0"/>
                <a:cs typeface="Verdana" pitchFamily="34" charset="0"/>
              </a:rPr>
              <a:t>• Avez-vous déjà testé votre idée auprès de certains d’entre eux ?</a:t>
            </a:r>
          </a:p>
          <a:p>
            <a:endParaRPr lang="fr-FR" sz="2000" dirty="0" smtClean="0">
              <a:latin typeface="Arial" pitchFamily="34" charset="0"/>
              <a:ea typeface="Verdana" pitchFamily="34" charset="0"/>
              <a:cs typeface="Verdana" pitchFamily="34" charset="0"/>
            </a:endParaRPr>
          </a:p>
          <a:p>
            <a:pPr algn="ctr"/>
            <a:r>
              <a:rPr lang="fr-FR" sz="2000" dirty="0" smtClean="0">
                <a:latin typeface="Arial" pitchFamily="34" charset="0"/>
                <a:ea typeface="Verdana" pitchFamily="34" charset="0"/>
                <a:cs typeface="Verdana" pitchFamily="34" charset="0"/>
              </a:rPr>
              <a:t>• </a:t>
            </a:r>
            <a:r>
              <a:rPr lang="fr-FR" sz="2200" b="1" dirty="0" smtClean="0">
                <a:solidFill>
                  <a:schemeClr val="accent5">
                    <a:lumMod val="75000"/>
                  </a:schemeClr>
                </a:solidFill>
                <a:latin typeface="Arial" pitchFamily="34" charset="0"/>
                <a:ea typeface="Verdana" pitchFamily="34" charset="0"/>
                <a:cs typeface="Verdana" pitchFamily="34" charset="0"/>
              </a:rPr>
              <a:t>Recherchez des informations</a:t>
            </a:r>
          </a:p>
          <a:p>
            <a:r>
              <a:rPr lang="fr-FR" sz="2000" dirty="0" smtClean="0">
                <a:latin typeface="Arial" pitchFamily="34" charset="0"/>
                <a:ea typeface="Verdana" pitchFamily="34" charset="0"/>
                <a:cs typeface="Verdana" pitchFamily="34" charset="0"/>
              </a:rPr>
              <a:t>• Sur ce que vous voulez vendre : produits ou services.</a:t>
            </a:r>
          </a:p>
          <a:p>
            <a:endParaRPr lang="fr-FR" sz="800" dirty="0" smtClean="0">
              <a:latin typeface="Arial" pitchFamily="34" charset="0"/>
              <a:ea typeface="Verdana" pitchFamily="34" charset="0"/>
              <a:cs typeface="Verdana" pitchFamily="34" charset="0"/>
            </a:endParaRPr>
          </a:p>
          <a:p>
            <a:r>
              <a:rPr lang="fr-FR" sz="2000" dirty="0" smtClean="0">
                <a:latin typeface="Arial" pitchFamily="34" charset="0"/>
                <a:ea typeface="Verdana" pitchFamily="34" charset="0"/>
                <a:cs typeface="Verdana" pitchFamily="34" charset="0"/>
              </a:rPr>
              <a:t>• Sur vos clients potentiels.</a:t>
            </a:r>
          </a:p>
          <a:p>
            <a:endParaRPr lang="fr-FR" sz="800" dirty="0" smtClean="0">
              <a:latin typeface="Arial" pitchFamily="34" charset="0"/>
              <a:ea typeface="Verdana" pitchFamily="34" charset="0"/>
              <a:cs typeface="Verdana" pitchFamily="34" charset="0"/>
            </a:endParaRPr>
          </a:p>
          <a:p>
            <a:r>
              <a:rPr lang="fr-FR" sz="2000" dirty="0" smtClean="0">
                <a:latin typeface="Arial" pitchFamily="34" charset="0"/>
                <a:ea typeface="Verdana" pitchFamily="34" charset="0"/>
                <a:cs typeface="Verdana" pitchFamily="34" charset="0"/>
              </a:rPr>
              <a:t>• Sur votre marché.</a:t>
            </a:r>
          </a:p>
          <a:p>
            <a:endParaRPr lang="fr-FR" sz="800" dirty="0" smtClean="0">
              <a:latin typeface="Arial" pitchFamily="34" charset="0"/>
              <a:ea typeface="Verdana" pitchFamily="34" charset="0"/>
              <a:cs typeface="Verdana" pitchFamily="34" charset="0"/>
            </a:endParaRPr>
          </a:p>
          <a:p>
            <a:r>
              <a:rPr lang="fr-FR" sz="2000" dirty="0" smtClean="0">
                <a:latin typeface="Arial" pitchFamily="34" charset="0"/>
                <a:ea typeface="Verdana" pitchFamily="34" charset="0"/>
                <a:cs typeface="Verdana" pitchFamily="34" charset="0"/>
              </a:rPr>
              <a:t>• Sur les matériels et produits que vous devrez utiliser, ainsi que sur vos fournisseurs</a:t>
            </a:r>
          </a:p>
          <a:p>
            <a:r>
              <a:rPr lang="fr-FR" sz="2000" dirty="0" smtClean="0">
                <a:latin typeface="Arial" pitchFamily="34" charset="0"/>
                <a:ea typeface="Verdana" pitchFamily="34" charset="0"/>
                <a:cs typeface="Verdana" pitchFamily="34" charset="0"/>
              </a:rPr>
              <a:t>éventuels.</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925974" y="1047526"/>
            <a:ext cx="10347768" cy="538609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fr-FR" dirty="0" smtClean="0"/>
              <a:t>• </a:t>
            </a:r>
            <a:r>
              <a:rPr lang="fr-FR" sz="2200" b="1" dirty="0" smtClean="0">
                <a:solidFill>
                  <a:schemeClr val="accent5">
                    <a:lumMod val="75000"/>
                  </a:schemeClr>
                </a:solidFill>
                <a:latin typeface="Arial" pitchFamily="34" charset="0"/>
                <a:ea typeface="Verdana" pitchFamily="34" charset="0"/>
                <a:cs typeface="Verdana" pitchFamily="34" charset="0"/>
              </a:rPr>
              <a:t>Recueillez avis et conseils de spécialistes</a:t>
            </a:r>
          </a:p>
          <a:p>
            <a:endParaRPr lang="fr-FR" sz="800" dirty="0" smtClean="0">
              <a:latin typeface="Arial" pitchFamily="34" charset="0"/>
              <a:ea typeface="Verdana" pitchFamily="34" charset="0"/>
              <a:cs typeface="Verdana" pitchFamily="34" charset="0"/>
            </a:endParaRPr>
          </a:p>
          <a:p>
            <a:pPr algn="just"/>
            <a:r>
              <a:rPr lang="fr-FR" sz="2000" dirty="0" smtClean="0">
                <a:latin typeface="Arial" pitchFamily="34" charset="0"/>
                <a:ea typeface="Verdana" pitchFamily="34" charset="0"/>
                <a:cs typeface="Verdana" pitchFamily="34" charset="0"/>
              </a:rPr>
              <a:t>Où que vous soyez, des structures professionnelles d’aide à la création d’entreprise sont présentes pour vous accueillir et vous orienter (Les espaces entreprendre de l’ANETI, l’API …..)</a:t>
            </a:r>
          </a:p>
          <a:p>
            <a:pPr algn="just"/>
            <a:endParaRPr lang="fr-FR" sz="800" dirty="0" smtClean="0">
              <a:latin typeface="Arial" pitchFamily="34" charset="0"/>
              <a:ea typeface="Verdana" pitchFamily="34" charset="0"/>
              <a:cs typeface="Verdana" pitchFamily="34" charset="0"/>
            </a:endParaRPr>
          </a:p>
          <a:p>
            <a:pPr algn="just"/>
            <a:r>
              <a:rPr lang="fr-FR" sz="2000" dirty="0" smtClean="0">
                <a:latin typeface="Arial" pitchFamily="34" charset="0"/>
                <a:ea typeface="Verdana" pitchFamily="34" charset="0"/>
                <a:cs typeface="Verdana" pitchFamily="34" charset="0"/>
              </a:rPr>
              <a:t>Les conseillers que vous rencontrerez sont « extérieurs au projet » et plus objectifs que vous. Tenez compte de leur avis.</a:t>
            </a:r>
          </a:p>
          <a:p>
            <a:pPr algn="just"/>
            <a:endParaRPr lang="fr-FR" sz="2000" dirty="0" smtClean="0">
              <a:latin typeface="Arial" pitchFamily="34" charset="0"/>
              <a:ea typeface="Verdana" pitchFamily="34" charset="0"/>
              <a:cs typeface="Verdana" pitchFamily="34" charset="0"/>
            </a:endParaRPr>
          </a:p>
          <a:p>
            <a:endParaRPr lang="fr-FR" sz="800" dirty="0" smtClean="0">
              <a:latin typeface="Arial" pitchFamily="34" charset="0"/>
              <a:ea typeface="Verdana" pitchFamily="34" charset="0"/>
              <a:cs typeface="Verdana" pitchFamily="34" charset="0"/>
            </a:endParaRPr>
          </a:p>
          <a:p>
            <a:pPr algn="ctr"/>
            <a:r>
              <a:rPr lang="fr-FR" sz="2000" dirty="0" smtClean="0"/>
              <a:t>• </a:t>
            </a:r>
            <a:r>
              <a:rPr lang="fr-FR" sz="2200" b="1" dirty="0" smtClean="0">
                <a:solidFill>
                  <a:schemeClr val="accent5">
                    <a:lumMod val="75000"/>
                  </a:schemeClr>
                </a:solidFill>
                <a:latin typeface="Arial" pitchFamily="34" charset="0"/>
                <a:ea typeface="Verdana" pitchFamily="34" charset="0"/>
                <a:cs typeface="Verdana" pitchFamily="34" charset="0"/>
              </a:rPr>
              <a:t>Analysez les contraintes et menaces liées à votre projet</a:t>
            </a:r>
          </a:p>
          <a:p>
            <a:pPr algn="ctr"/>
            <a:endParaRPr lang="fr-FR" sz="800" b="1" dirty="0" smtClean="0">
              <a:solidFill>
                <a:schemeClr val="accent5">
                  <a:lumMod val="75000"/>
                </a:schemeClr>
              </a:solidFill>
              <a:latin typeface="Arial" pitchFamily="34" charset="0"/>
              <a:ea typeface="Verdana" pitchFamily="34" charset="0"/>
              <a:cs typeface="Verdana" pitchFamily="34" charset="0"/>
            </a:endParaRPr>
          </a:p>
          <a:p>
            <a:pPr algn="just"/>
            <a:r>
              <a:rPr lang="fr-FR" sz="2000" dirty="0" smtClean="0">
                <a:latin typeface="Arial" pitchFamily="34" charset="0"/>
                <a:ea typeface="Verdana" pitchFamily="34" charset="0"/>
                <a:cs typeface="Verdana" pitchFamily="34" charset="0"/>
              </a:rPr>
              <a:t>Recensez les différentes contraintes engendrées par votre projet de création d’entreprise. Leur analyse vous permettra de rechercher, dès à présent, les moyens de les surmonter.</a:t>
            </a:r>
          </a:p>
          <a:p>
            <a:pPr algn="just"/>
            <a:endParaRPr lang="fr-FR" sz="2000" dirty="0" smtClean="0">
              <a:latin typeface="Arial" pitchFamily="34" charset="0"/>
              <a:ea typeface="Verdana" pitchFamily="34" charset="0"/>
              <a:cs typeface="Verdana" pitchFamily="34" charset="0"/>
            </a:endParaRPr>
          </a:p>
          <a:p>
            <a:pPr algn="just"/>
            <a:r>
              <a:rPr lang="fr-FR" sz="2000" b="1" dirty="0" smtClean="0">
                <a:solidFill>
                  <a:schemeClr val="accent4">
                    <a:lumMod val="75000"/>
                  </a:schemeClr>
                </a:solidFill>
                <a:latin typeface="Arial" pitchFamily="34" charset="0"/>
                <a:ea typeface="Verdana" pitchFamily="34" charset="0"/>
                <a:cs typeface="Verdana" pitchFamily="34" charset="0"/>
              </a:rPr>
              <a:t>• Contraintes propres au produit ou à la prestation</a:t>
            </a:r>
          </a:p>
          <a:p>
            <a:pPr algn="just"/>
            <a:endParaRPr lang="fr-FR" sz="800" b="1" dirty="0" smtClean="0">
              <a:solidFill>
                <a:schemeClr val="accent4">
                  <a:lumMod val="75000"/>
                </a:schemeClr>
              </a:solidFill>
              <a:latin typeface="Arial" pitchFamily="34" charset="0"/>
              <a:ea typeface="Verdana" pitchFamily="34" charset="0"/>
              <a:cs typeface="Verdana" pitchFamily="34" charset="0"/>
            </a:endParaRPr>
          </a:p>
          <a:p>
            <a:pPr algn="just"/>
            <a:r>
              <a:rPr lang="fr-FR" sz="2000" dirty="0" smtClean="0">
                <a:latin typeface="Arial" pitchFamily="34" charset="0"/>
                <a:ea typeface="Verdana" pitchFamily="34" charset="0"/>
                <a:cs typeface="Verdana" pitchFamily="34" charset="0"/>
              </a:rPr>
              <a:t>La nature du produit ou de la prestation, ses caractéristiques, son processus de fabrication ou de mise sur le marché, etc., entraînent des difficultés à ne pas négliger (</a:t>
            </a:r>
            <a:r>
              <a:rPr lang="fr-FR" sz="2000" dirty="0" smtClean="0"/>
              <a:t>coût de création d’une marque</a:t>
            </a:r>
            <a:r>
              <a:rPr lang="fr-FR" sz="2000" dirty="0" smtClean="0">
                <a:latin typeface="Arial" pitchFamily="34" charset="0"/>
                <a:ea typeface="Verdana" pitchFamily="34" charset="0"/>
                <a:cs typeface="Verdana" pitchFamily="34" charset="0"/>
              </a:rPr>
              <a:t>, </a:t>
            </a:r>
            <a:r>
              <a:rPr lang="fr-FR" sz="2000" dirty="0" smtClean="0"/>
              <a:t>coût de fabrication, modalités de distribution </a:t>
            </a:r>
            <a:r>
              <a:rPr lang="fr-FR" sz="2000" dirty="0" err="1" smtClean="0"/>
              <a:t>etc</a:t>
            </a:r>
            <a:r>
              <a:rPr lang="fr-FR" sz="2000" dirty="0" smtClean="0"/>
              <a:t>…)</a:t>
            </a:r>
            <a:endParaRPr lang="fr-FR" sz="2000" dirty="0" smtClean="0">
              <a:latin typeface="Arial" pitchFamily="34" charset="0"/>
              <a:ea typeface="Verdana" pitchFamily="34" charset="0"/>
              <a:cs typeface="Verdana" pitchFamily="34"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4" name="Rectangle 3"/>
          <p:cNvSpPr/>
          <p:nvPr/>
        </p:nvSpPr>
        <p:spPr>
          <a:xfrm>
            <a:off x="833377" y="1231530"/>
            <a:ext cx="10370917" cy="101566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b="1" dirty="0" smtClean="0">
                <a:solidFill>
                  <a:schemeClr val="accent4">
                    <a:lumMod val="75000"/>
                  </a:schemeClr>
                </a:solidFill>
                <a:latin typeface="Arial" pitchFamily="34" charset="0"/>
                <a:ea typeface="Verdana" pitchFamily="34" charset="0"/>
                <a:cs typeface="Verdana" pitchFamily="34" charset="0"/>
              </a:rPr>
              <a:t>• Contraintes de marché</a:t>
            </a:r>
            <a:endParaRPr lang="fr-FR" sz="2000" dirty="0" smtClean="0">
              <a:latin typeface="Arial" pitchFamily="34" charset="0"/>
              <a:ea typeface="Verdana" pitchFamily="34" charset="0"/>
              <a:cs typeface="Verdana" pitchFamily="34" charset="0"/>
            </a:endParaRPr>
          </a:p>
          <a:p>
            <a:pPr algn="just"/>
            <a:r>
              <a:rPr lang="fr-FR" sz="2000" dirty="0" smtClean="0">
                <a:latin typeface="Arial" pitchFamily="34" charset="0"/>
                <a:ea typeface="Verdana" pitchFamily="34" charset="0"/>
                <a:cs typeface="Verdana" pitchFamily="34" charset="0"/>
              </a:rPr>
              <a:t>Un marché peut être nouveau, en décollage, en pleine maturité, en déclin, saturé, fermé, peu solvable, très éclaté, etc.</a:t>
            </a:r>
          </a:p>
        </p:txBody>
      </p:sp>
      <p:sp>
        <p:nvSpPr>
          <p:cNvPr id="8" name="Rectangle 7"/>
          <p:cNvSpPr/>
          <p:nvPr/>
        </p:nvSpPr>
        <p:spPr>
          <a:xfrm>
            <a:off x="509286" y="3742046"/>
            <a:ext cx="1646605" cy="369332"/>
          </a:xfrm>
          <a:prstGeom prst="rect">
            <a:avLst/>
          </a:prstGeom>
        </p:spPr>
        <p:txBody>
          <a:bodyPr wrap="none">
            <a:spAutoFit/>
          </a:bodyPr>
          <a:lstStyle/>
          <a:p>
            <a:pPr algn="just"/>
            <a:r>
              <a:rPr lang="fr-FR" b="1" dirty="0" smtClean="0">
                <a:latin typeface="Arial" pitchFamily="34" charset="0"/>
                <a:ea typeface="Verdana" pitchFamily="34" charset="0"/>
                <a:cs typeface="Verdana" pitchFamily="34" charset="0"/>
              </a:rPr>
              <a:t>EXEMPLES : </a:t>
            </a:r>
          </a:p>
        </p:txBody>
      </p:sp>
      <p:graphicFrame>
        <p:nvGraphicFramePr>
          <p:cNvPr id="9" name="Tableau 8"/>
          <p:cNvGraphicFramePr>
            <a:graphicFrameLocks noGrp="1"/>
          </p:cNvGraphicFramePr>
          <p:nvPr/>
        </p:nvGraphicFramePr>
        <p:xfrm>
          <a:off x="2164466" y="2419108"/>
          <a:ext cx="9039829" cy="3593157"/>
        </p:xfrm>
        <a:graphic>
          <a:graphicData uri="http://schemas.openxmlformats.org/drawingml/2006/table">
            <a:tbl>
              <a:tblPr/>
              <a:tblGrid>
                <a:gridCol w="3650433"/>
                <a:gridCol w="5389396"/>
              </a:tblGrid>
              <a:tr h="393608">
                <a:tc>
                  <a:txBody>
                    <a:bodyPr/>
                    <a:lstStyle/>
                    <a:p>
                      <a:pPr>
                        <a:lnSpc>
                          <a:spcPct val="115000"/>
                        </a:lnSpc>
                        <a:spcAft>
                          <a:spcPts val="0"/>
                        </a:spcAft>
                      </a:pPr>
                      <a:r>
                        <a:rPr lang="fr-FR" sz="2000" b="1" dirty="0">
                          <a:latin typeface="Arial-BoldMT"/>
                          <a:ea typeface="Calibri"/>
                          <a:cs typeface="Arial-BoldMT"/>
                        </a:rPr>
                        <a:t>Votre marché est :</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nSpc>
                          <a:spcPct val="115000"/>
                        </a:lnSpc>
                        <a:spcAft>
                          <a:spcPts val="0"/>
                        </a:spcAft>
                      </a:pPr>
                      <a:r>
                        <a:rPr lang="fr-FR" sz="2000" b="1" dirty="0">
                          <a:latin typeface="Arial-BoldMT"/>
                          <a:ea typeface="Calibri"/>
                          <a:cs typeface="Arial-BoldMT"/>
                        </a:rPr>
                        <a:t>N’oubliez pas de :</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r>
              <a:tr h="1307871">
                <a:tc>
                  <a:txBody>
                    <a:bodyPr/>
                    <a:lstStyle/>
                    <a:p>
                      <a:pPr>
                        <a:lnSpc>
                          <a:spcPct val="115000"/>
                        </a:lnSpc>
                        <a:spcAft>
                          <a:spcPts val="0"/>
                        </a:spcAft>
                      </a:pPr>
                      <a:r>
                        <a:rPr lang="fr-FR" sz="1800" b="1" dirty="0">
                          <a:latin typeface="ArialMT"/>
                          <a:ea typeface="Calibri"/>
                          <a:cs typeface="ArialMT"/>
                        </a:rPr>
                        <a:t>À créer</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17550" lvl="0" indent="-358775" algn="just" rtl="0">
                        <a:lnSpc>
                          <a:spcPct val="115000"/>
                        </a:lnSpc>
                        <a:spcAft>
                          <a:spcPts val="0"/>
                        </a:spcAft>
                        <a:buFont typeface="Wingdings"/>
                        <a:buChar char=""/>
                        <a:tabLst>
                          <a:tab pos="717550" algn="l"/>
                        </a:tabLst>
                      </a:pPr>
                      <a:r>
                        <a:rPr lang="fr-FR" sz="1600" dirty="0">
                          <a:latin typeface="ArialMT"/>
                          <a:ea typeface="Calibri"/>
                          <a:cs typeface="ArialMT"/>
                        </a:rPr>
                        <a:t>Prévoir des frais de communication et de prospection importants</a:t>
                      </a:r>
                      <a:endParaRPr lang="fr-FR" sz="1600" dirty="0">
                        <a:latin typeface="Calibri"/>
                        <a:ea typeface="Calibri"/>
                        <a:cs typeface="Arial"/>
                      </a:endParaRPr>
                    </a:p>
                    <a:p>
                      <a:pPr marL="717550" lvl="0" indent="-358775" algn="just">
                        <a:lnSpc>
                          <a:spcPct val="115000"/>
                        </a:lnSpc>
                        <a:spcAft>
                          <a:spcPts val="0"/>
                        </a:spcAft>
                        <a:buFont typeface="Wingdings"/>
                        <a:buChar char=""/>
                        <a:tabLst>
                          <a:tab pos="717550" algn="l"/>
                        </a:tabLst>
                      </a:pPr>
                      <a:r>
                        <a:rPr lang="fr-FR" sz="1600" dirty="0">
                          <a:latin typeface="ArialMT"/>
                          <a:ea typeface="Calibri"/>
                          <a:cs typeface="ArialMT"/>
                        </a:rPr>
                        <a:t>Évaluer le temps de réaction de la clientèle face à une « innovation technologique de rupture »</a:t>
                      </a:r>
                      <a:endParaRPr lang="fr-FR" sz="16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58875">
                <a:tc>
                  <a:txBody>
                    <a:bodyPr/>
                    <a:lstStyle/>
                    <a:p>
                      <a:pPr>
                        <a:lnSpc>
                          <a:spcPct val="115000"/>
                        </a:lnSpc>
                        <a:spcAft>
                          <a:spcPts val="0"/>
                        </a:spcAft>
                      </a:pPr>
                      <a:r>
                        <a:rPr lang="fr-FR" sz="1800" b="1" dirty="0">
                          <a:latin typeface="ArialMT"/>
                          <a:ea typeface="Calibri"/>
                          <a:cs typeface="ArialMT"/>
                        </a:rPr>
                        <a:t>Très encombré</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marL="717550" lvl="0" indent="-358775" algn="just" rtl="0">
                        <a:lnSpc>
                          <a:spcPct val="115000"/>
                        </a:lnSpc>
                        <a:spcAft>
                          <a:spcPts val="0"/>
                        </a:spcAft>
                        <a:buFont typeface="Wingdings"/>
                        <a:buChar char=""/>
                      </a:pPr>
                      <a:r>
                        <a:rPr lang="fr-FR" sz="1600" dirty="0">
                          <a:latin typeface="ArialMT"/>
                          <a:ea typeface="Calibri"/>
                          <a:cs typeface="ArialMT"/>
                        </a:rPr>
                        <a:t>Prévoir les moyens qui vous permettront de vous démarquer de vos concurrents, les « petits plus » que vous apporterez à votre clientèle</a:t>
                      </a:r>
                      <a:endParaRPr lang="fr-FR" sz="16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85000"/>
                      </a:schemeClr>
                    </a:solidFill>
                  </a:tcPr>
                </a:tc>
              </a:tr>
              <a:tr h="732803">
                <a:tc>
                  <a:txBody>
                    <a:bodyPr/>
                    <a:lstStyle/>
                    <a:p>
                      <a:pPr algn="just">
                        <a:lnSpc>
                          <a:spcPct val="115000"/>
                        </a:lnSpc>
                        <a:spcAft>
                          <a:spcPts val="0"/>
                        </a:spcAft>
                      </a:pPr>
                      <a:r>
                        <a:rPr lang="fr-FR" sz="1800" b="1">
                          <a:latin typeface="ArialMT"/>
                          <a:ea typeface="Calibri"/>
                          <a:cs typeface="ArialMT"/>
                        </a:rPr>
                        <a:t>Dominé par des grands groupes</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17550" lvl="0" indent="-358775" algn="just" rtl="0">
                        <a:lnSpc>
                          <a:spcPct val="115000"/>
                        </a:lnSpc>
                        <a:spcAft>
                          <a:spcPts val="0"/>
                        </a:spcAft>
                        <a:buFont typeface="Wingdings"/>
                        <a:buChar char=""/>
                      </a:pPr>
                      <a:r>
                        <a:rPr lang="fr-FR" sz="1600" dirty="0">
                          <a:latin typeface="ArialMT"/>
                          <a:ea typeface="Calibri"/>
                          <a:cs typeface="ArialMT"/>
                        </a:rPr>
                        <a:t>Réfléchir aux moyens à envisager pour vous confronter à eux</a:t>
                      </a:r>
                      <a:endParaRPr lang="fr-FR" sz="16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8673" name="Rectangle 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126601" y="1301374"/>
            <a:ext cx="10100842" cy="101566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buFont typeface="Arial" pitchFamily="34" charset="0"/>
              <a:buChar char="•"/>
            </a:pPr>
            <a:r>
              <a:rPr lang="fr-FR" sz="2000" b="1" dirty="0" smtClean="0">
                <a:solidFill>
                  <a:schemeClr val="accent4">
                    <a:lumMod val="75000"/>
                  </a:schemeClr>
                </a:solidFill>
                <a:latin typeface="Arial" pitchFamily="34" charset="0"/>
                <a:ea typeface="Verdana" pitchFamily="34" charset="0"/>
                <a:cs typeface="Verdana" pitchFamily="34" charset="0"/>
              </a:rPr>
              <a:t> Contraintes de moyens</a:t>
            </a:r>
          </a:p>
          <a:p>
            <a:pPr algn="just"/>
            <a:r>
              <a:rPr lang="fr-FR" sz="2000" dirty="0" smtClean="0">
                <a:latin typeface="Arial" pitchFamily="34" charset="0"/>
                <a:ea typeface="Verdana" pitchFamily="34" charset="0"/>
                <a:cs typeface="Verdana" pitchFamily="34" charset="0"/>
              </a:rPr>
              <a:t>Les processus de fabrication, de commercialisation, de communication, de gestion, de service après-vente, etc., peuvent entraîner des contraintes importantes.</a:t>
            </a:r>
          </a:p>
        </p:txBody>
      </p:sp>
      <p:graphicFrame>
        <p:nvGraphicFramePr>
          <p:cNvPr id="4" name="Tableau 3"/>
          <p:cNvGraphicFramePr>
            <a:graphicFrameLocks noGrp="1"/>
          </p:cNvGraphicFramePr>
          <p:nvPr/>
        </p:nvGraphicFramePr>
        <p:xfrm>
          <a:off x="3106713" y="2935040"/>
          <a:ext cx="8074431" cy="2909316"/>
        </p:xfrm>
        <a:graphic>
          <a:graphicData uri="http://schemas.openxmlformats.org/drawingml/2006/table">
            <a:tbl>
              <a:tblPr/>
              <a:tblGrid>
                <a:gridCol w="4486702"/>
                <a:gridCol w="3587729"/>
              </a:tblGrid>
              <a:tr h="0">
                <a:tc>
                  <a:txBody>
                    <a:bodyPr/>
                    <a:lstStyle/>
                    <a:p>
                      <a:pPr>
                        <a:lnSpc>
                          <a:spcPct val="115000"/>
                        </a:lnSpc>
                        <a:spcAft>
                          <a:spcPts val="0"/>
                        </a:spcAft>
                      </a:pPr>
                      <a:r>
                        <a:rPr lang="fr-FR" sz="2000" b="1" dirty="0">
                          <a:latin typeface="Arial-BoldMT"/>
                          <a:ea typeface="Calibri"/>
                          <a:cs typeface="Arial-BoldMT"/>
                        </a:rPr>
                        <a:t>Votre activité</a:t>
                      </a:r>
                      <a:endParaRPr lang="fr-FR" sz="1100" dirty="0">
                        <a:latin typeface="Calibri"/>
                        <a:ea typeface="Calibri"/>
                        <a:cs typeface="Arial"/>
                      </a:endParaRPr>
                    </a:p>
                    <a:p>
                      <a:pPr>
                        <a:lnSpc>
                          <a:spcPct val="115000"/>
                        </a:lnSpc>
                        <a:spcAft>
                          <a:spcPts val="0"/>
                        </a:spcAft>
                      </a:pPr>
                      <a:r>
                        <a:rPr lang="fr-FR" sz="2000" b="1" dirty="0">
                          <a:latin typeface="Arial-BoldMT"/>
                          <a:ea typeface="Calibri"/>
                          <a:cs typeface="Arial-BoldMT"/>
                        </a:rPr>
                        <a:t>se caractérise par :</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nSpc>
                          <a:spcPct val="115000"/>
                        </a:lnSpc>
                        <a:spcAft>
                          <a:spcPts val="0"/>
                        </a:spcAft>
                      </a:pPr>
                      <a:r>
                        <a:rPr lang="fr-FR" sz="2000" b="1" dirty="0">
                          <a:latin typeface="Arial-BoldMT"/>
                          <a:ea typeface="Calibri"/>
                          <a:cs typeface="Arial-BoldMT"/>
                        </a:rPr>
                        <a:t>Vous devrez prévoir :</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4">
                        <a:lumMod val="40000"/>
                        <a:lumOff val="60000"/>
                      </a:schemeClr>
                    </a:solidFill>
                  </a:tcPr>
                </a:tc>
              </a:tr>
              <a:tr h="0">
                <a:tc>
                  <a:txBody>
                    <a:bodyPr/>
                    <a:lstStyle/>
                    <a:p>
                      <a:pPr>
                        <a:lnSpc>
                          <a:spcPct val="115000"/>
                        </a:lnSpc>
                        <a:spcAft>
                          <a:spcPts val="0"/>
                        </a:spcAft>
                      </a:pPr>
                      <a:r>
                        <a:rPr lang="fr-FR" sz="1800" b="1" dirty="0">
                          <a:latin typeface="ArialMT"/>
                          <a:ea typeface="Calibri"/>
                          <a:cs typeface="ArialMT"/>
                        </a:rPr>
                        <a:t>Des difficultés</a:t>
                      </a:r>
                      <a:endParaRPr lang="fr-FR" sz="1100" dirty="0">
                        <a:latin typeface="Calibri"/>
                        <a:ea typeface="Calibri"/>
                        <a:cs typeface="Arial"/>
                      </a:endParaRPr>
                    </a:p>
                    <a:p>
                      <a:pPr>
                        <a:lnSpc>
                          <a:spcPct val="115000"/>
                        </a:lnSpc>
                        <a:spcAft>
                          <a:spcPts val="0"/>
                        </a:spcAft>
                      </a:pPr>
                      <a:r>
                        <a:rPr lang="fr-FR" sz="1800" b="1" dirty="0">
                          <a:latin typeface="ArialMT"/>
                          <a:ea typeface="Calibri"/>
                          <a:cs typeface="ArialMT"/>
                        </a:rPr>
                        <a:t>d’approvisionnement</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17550" lvl="0" indent="-358775" algn="just" defTabSz="914400" rtl="0" eaLnBrk="1" latinLnBrk="0" hangingPunct="1">
                        <a:lnSpc>
                          <a:spcPct val="115000"/>
                        </a:lnSpc>
                        <a:spcAft>
                          <a:spcPts val="0"/>
                        </a:spcAft>
                        <a:buFont typeface="Wingdings"/>
                        <a:buChar char=""/>
                        <a:tabLst>
                          <a:tab pos="717550" algn="l"/>
                        </a:tabLst>
                      </a:pPr>
                      <a:r>
                        <a:rPr lang="fr-FR" sz="1600" kern="1200" dirty="0">
                          <a:solidFill>
                            <a:schemeClr val="tx1"/>
                          </a:solidFill>
                          <a:latin typeface="ArialMT"/>
                          <a:ea typeface="Calibri"/>
                          <a:cs typeface="ArialMT"/>
                        </a:rPr>
                        <a:t>• De constituer des stocks importants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lnSpc>
                          <a:spcPct val="115000"/>
                        </a:lnSpc>
                        <a:spcAft>
                          <a:spcPts val="0"/>
                        </a:spcAft>
                      </a:pPr>
                      <a:r>
                        <a:rPr lang="fr-FR" sz="1800" b="1" dirty="0">
                          <a:latin typeface="ArialMT"/>
                          <a:ea typeface="Calibri"/>
                          <a:cs typeface="ArialMT"/>
                        </a:rPr>
                        <a:t>Des difficultés de recrutement de personnel compétent (du fait du degré d’expertise exigé ou du lieu d’implantation de l’entreprise par exemple)</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717550" lvl="0" indent="-358775" algn="just" defTabSz="914400" rtl="0" eaLnBrk="1" latinLnBrk="0" hangingPunct="1">
                        <a:lnSpc>
                          <a:spcPct val="115000"/>
                        </a:lnSpc>
                        <a:spcAft>
                          <a:spcPts val="0"/>
                        </a:spcAft>
                        <a:buFont typeface="Wingdings"/>
                        <a:buChar char=""/>
                        <a:tabLst>
                          <a:tab pos="717550" algn="l"/>
                        </a:tabLst>
                      </a:pPr>
                      <a:r>
                        <a:rPr lang="fr-FR" sz="1600" kern="1200" dirty="0">
                          <a:solidFill>
                            <a:schemeClr val="tx1"/>
                          </a:solidFill>
                          <a:latin typeface="ArialMT"/>
                          <a:ea typeface="Calibri"/>
                          <a:cs typeface="ArialMT"/>
                        </a:rPr>
                        <a:t>• Le temps et le coût à consacrer à la mise en place de vos équipes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r>
            </a:tbl>
          </a:graphicData>
        </a:graphic>
      </p:graphicFrame>
      <p:sp>
        <p:nvSpPr>
          <p:cNvPr id="27649" name="Rectangle 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6" name="Rectangle 5"/>
          <p:cNvSpPr/>
          <p:nvPr/>
        </p:nvSpPr>
        <p:spPr>
          <a:xfrm>
            <a:off x="1145893" y="3846219"/>
            <a:ext cx="1646605" cy="369332"/>
          </a:xfrm>
          <a:prstGeom prst="rect">
            <a:avLst/>
          </a:prstGeom>
        </p:spPr>
        <p:txBody>
          <a:bodyPr wrap="none">
            <a:spAutoFit/>
          </a:bodyPr>
          <a:lstStyle/>
          <a:p>
            <a:pPr algn="just"/>
            <a:r>
              <a:rPr lang="fr-FR" b="1" dirty="0" smtClean="0">
                <a:latin typeface="Arial" pitchFamily="34" charset="0"/>
                <a:ea typeface="Verdana" pitchFamily="34" charset="0"/>
                <a:cs typeface="Verdana" pitchFamily="34" charset="0"/>
              </a:rPr>
              <a:t>EXEMPLES : </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949123" y="1443841"/>
            <a:ext cx="10278319" cy="473975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buFont typeface="Arial" pitchFamily="34" charset="0"/>
              <a:buChar char="•"/>
            </a:pPr>
            <a:r>
              <a:rPr lang="fr-FR" sz="2200" b="1" dirty="0" smtClean="0">
                <a:solidFill>
                  <a:schemeClr val="accent5">
                    <a:lumMod val="75000"/>
                  </a:schemeClr>
                </a:solidFill>
                <a:latin typeface="Arial" pitchFamily="34" charset="0"/>
                <a:ea typeface="Verdana" pitchFamily="34" charset="0"/>
                <a:cs typeface="Verdana" pitchFamily="34" charset="0"/>
              </a:rPr>
              <a:t> Dégagez les grandes lignes du projet</a:t>
            </a:r>
          </a:p>
          <a:p>
            <a:pPr algn="just"/>
            <a:r>
              <a:rPr lang="fr-FR" sz="2000" dirty="0" smtClean="0">
                <a:latin typeface="Arial" pitchFamily="34" charset="0"/>
                <a:ea typeface="Verdana" pitchFamily="34" charset="0"/>
                <a:cs typeface="Verdana" pitchFamily="34" charset="0"/>
              </a:rPr>
              <a:t>À ce stade, rédigez les premiers éléments qui constitueront votre projet et commencez à réfléchir aux points suivants, même s’ils sont susceptibles d’être modifiés au cours de l’élaboration de votre projet (2e phase) :</a:t>
            </a:r>
          </a:p>
          <a:p>
            <a:pPr algn="just"/>
            <a:endParaRPr lang="fr-FR" sz="2000" dirty="0" smtClean="0">
              <a:latin typeface="Arial" pitchFamily="34" charset="0"/>
              <a:ea typeface="Verdana" pitchFamily="34" charset="0"/>
              <a:cs typeface="Verdana" pitchFamily="34" charset="0"/>
            </a:endParaRPr>
          </a:p>
          <a:p>
            <a:pPr marL="1076325" indent="-450850" algn="just">
              <a:buFont typeface="Arial" pitchFamily="34" charset="0"/>
              <a:buChar char="•"/>
            </a:pPr>
            <a:r>
              <a:rPr lang="fr-FR" sz="2000" dirty="0" smtClean="0">
                <a:latin typeface="Arial" pitchFamily="34" charset="0"/>
                <a:ea typeface="Verdana" pitchFamily="34" charset="0"/>
                <a:cs typeface="Verdana" pitchFamily="34" charset="0"/>
              </a:rPr>
              <a:t>de quels moyens aurez-vous besoin pour mettre en </a:t>
            </a:r>
            <a:r>
              <a:rPr lang="fr-FR" sz="2000" dirty="0" err="1" smtClean="0">
                <a:latin typeface="Arial" pitchFamily="34" charset="0"/>
                <a:ea typeface="Verdana" pitchFamily="34" charset="0"/>
                <a:cs typeface="Verdana" pitchFamily="34" charset="0"/>
              </a:rPr>
              <a:t>oeuvre</a:t>
            </a:r>
            <a:r>
              <a:rPr lang="fr-FR" sz="2000" dirty="0" smtClean="0">
                <a:latin typeface="Arial" pitchFamily="34" charset="0"/>
                <a:ea typeface="Verdana" pitchFamily="34" charset="0"/>
                <a:cs typeface="Verdana" pitchFamily="34" charset="0"/>
              </a:rPr>
              <a:t> votre projet (matériel, locaux, moyens humains) ?</a:t>
            </a:r>
          </a:p>
          <a:p>
            <a:pPr marL="1076325" indent="-450850" algn="just"/>
            <a:endParaRPr lang="fr-FR" sz="2000" dirty="0" smtClean="0">
              <a:latin typeface="Arial" pitchFamily="34" charset="0"/>
              <a:ea typeface="Verdana" pitchFamily="34" charset="0"/>
              <a:cs typeface="Verdana" pitchFamily="34" charset="0"/>
            </a:endParaRPr>
          </a:p>
          <a:p>
            <a:pPr marL="1076325" indent="-450850" algn="just">
              <a:buFont typeface="Arial" pitchFamily="34" charset="0"/>
              <a:buChar char="•"/>
            </a:pPr>
            <a:r>
              <a:rPr lang="fr-FR" sz="2000" dirty="0" smtClean="0">
                <a:latin typeface="Arial" pitchFamily="34" charset="0"/>
                <a:ea typeface="Verdana" pitchFamily="34" charset="0"/>
                <a:cs typeface="Verdana" pitchFamily="34" charset="0"/>
              </a:rPr>
              <a:t>quels seront vos besoins financiers ?</a:t>
            </a:r>
          </a:p>
          <a:p>
            <a:pPr marL="1076325" indent="-450850" algn="just"/>
            <a:endParaRPr lang="fr-FR" sz="2000" dirty="0" smtClean="0">
              <a:latin typeface="Arial" pitchFamily="34" charset="0"/>
              <a:ea typeface="Verdana" pitchFamily="34" charset="0"/>
              <a:cs typeface="Verdana" pitchFamily="34" charset="0"/>
            </a:endParaRPr>
          </a:p>
          <a:p>
            <a:pPr marL="1076325" indent="-450850" algn="just">
              <a:buFont typeface="Arial" pitchFamily="34" charset="0"/>
              <a:buChar char="•"/>
              <a:tabLst>
                <a:tab pos="1701800" algn="l"/>
              </a:tabLst>
            </a:pPr>
            <a:r>
              <a:rPr lang="fr-FR" sz="2000" dirty="0" smtClean="0">
                <a:latin typeface="Arial" pitchFamily="34" charset="0"/>
                <a:ea typeface="Verdana" pitchFamily="34" charset="0"/>
                <a:cs typeface="Verdana" pitchFamily="34" charset="0"/>
              </a:rPr>
              <a:t>quel type d’entreprise souhaitez-vous </a:t>
            </a:r>
            <a:r>
              <a:rPr lang="fr-FR" sz="2000" dirty="0" err="1" smtClean="0">
                <a:latin typeface="Arial" pitchFamily="34" charset="0"/>
                <a:ea typeface="Verdana" pitchFamily="34" charset="0"/>
                <a:cs typeface="Verdana" pitchFamily="34" charset="0"/>
              </a:rPr>
              <a:t>cr</a:t>
            </a:r>
            <a:r>
              <a:rPr lang="fr-FR" sz="2000" dirty="0" smtClean="0">
                <a:latin typeface="Arial" pitchFamily="34" charset="0"/>
                <a:ea typeface="Verdana" pitchFamily="34" charset="0"/>
                <a:cs typeface="Verdana" pitchFamily="34" charset="0"/>
              </a:rPr>
              <a:t> </a:t>
            </a:r>
            <a:r>
              <a:rPr lang="fr-FR" sz="2000" dirty="0" err="1" smtClean="0">
                <a:latin typeface="Arial" pitchFamily="34" charset="0"/>
                <a:ea typeface="Verdana" pitchFamily="34" charset="0"/>
                <a:cs typeface="Verdana" pitchFamily="34" charset="0"/>
              </a:rPr>
              <a:t>éer</a:t>
            </a:r>
            <a:r>
              <a:rPr lang="fr-FR" sz="2000" dirty="0" smtClean="0">
                <a:latin typeface="Arial" pitchFamily="34" charset="0"/>
                <a:ea typeface="Verdana" pitchFamily="34" charset="0"/>
                <a:cs typeface="Verdana" pitchFamily="34" charset="0"/>
              </a:rPr>
              <a:t> : entreprise individuelle, société,</a:t>
            </a:r>
          </a:p>
          <a:p>
            <a:pPr marL="1076325" algn="just">
              <a:tabLst>
                <a:tab pos="1701800" algn="l"/>
              </a:tabLst>
            </a:pPr>
            <a:r>
              <a:rPr lang="fr-FR" sz="2000" dirty="0" smtClean="0">
                <a:latin typeface="Arial" pitchFamily="34" charset="0"/>
                <a:ea typeface="Verdana" pitchFamily="34" charset="0"/>
                <a:cs typeface="Verdana" pitchFamily="34" charset="0"/>
              </a:rPr>
              <a:t>association ?</a:t>
            </a:r>
          </a:p>
          <a:p>
            <a:pPr marL="1076325" algn="just">
              <a:tabLst>
                <a:tab pos="1701800" algn="l"/>
              </a:tabLst>
            </a:pPr>
            <a:endParaRPr lang="fr-FR" sz="2000" dirty="0" smtClean="0">
              <a:latin typeface="Arial" pitchFamily="34" charset="0"/>
              <a:ea typeface="Verdana" pitchFamily="34" charset="0"/>
              <a:cs typeface="Verdana" pitchFamily="34" charset="0"/>
            </a:endParaRPr>
          </a:p>
          <a:p>
            <a:pPr marL="1076325" indent="-450850" algn="just">
              <a:buFont typeface="Arial" pitchFamily="34" charset="0"/>
              <a:buChar char="•"/>
            </a:pPr>
            <a:r>
              <a:rPr lang="fr-FR" sz="2000" dirty="0" smtClean="0">
                <a:latin typeface="Arial" pitchFamily="34" charset="0"/>
                <a:ea typeface="Verdana" pitchFamily="34" charset="0"/>
                <a:cs typeface="Verdana" pitchFamily="34" charset="0"/>
              </a:rPr>
              <a:t>quelle stratégie commerciale devrez-vous mettre en place ?</a:t>
            </a:r>
          </a:p>
          <a:p>
            <a:pPr marL="1076325" indent="-450850" algn="just"/>
            <a:endParaRPr lang="fr-FR" sz="2000" dirty="0" smtClean="0">
              <a:latin typeface="Arial" pitchFamily="34" charset="0"/>
              <a:ea typeface="Verdana" pitchFamily="34" charset="0"/>
              <a:cs typeface="Verdana" pitchFamily="34"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169043" y="1233514"/>
            <a:ext cx="9907929" cy="433965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fr-FR" sz="2000" dirty="0" smtClean="0">
                <a:solidFill>
                  <a:schemeClr val="dk1"/>
                </a:solidFill>
                <a:latin typeface="Arial" pitchFamily="34" charset="0"/>
                <a:ea typeface="Verdana" pitchFamily="34" charset="0"/>
                <a:cs typeface="Verdana" pitchFamily="34" charset="0"/>
              </a:rPr>
              <a:t>• </a:t>
            </a:r>
            <a:r>
              <a:rPr lang="fr-FR" sz="2200" b="1" dirty="0" smtClean="0">
                <a:solidFill>
                  <a:schemeClr val="accent5">
                    <a:lumMod val="75000"/>
                  </a:schemeClr>
                </a:solidFill>
                <a:latin typeface="Arial" pitchFamily="34" charset="0"/>
                <a:ea typeface="Verdana" pitchFamily="34" charset="0"/>
                <a:cs typeface="Verdana" pitchFamily="34" charset="0"/>
              </a:rPr>
              <a:t>Faites votre bilan personnel</a:t>
            </a:r>
          </a:p>
          <a:p>
            <a:pPr algn="ctr"/>
            <a:endParaRPr lang="fr-FR" sz="2200" b="1" dirty="0" smtClean="0">
              <a:solidFill>
                <a:schemeClr val="accent5">
                  <a:lumMod val="75000"/>
                </a:schemeClr>
              </a:solidFill>
              <a:latin typeface="Arial" pitchFamily="34" charset="0"/>
              <a:ea typeface="Verdana" pitchFamily="34" charset="0"/>
              <a:cs typeface="Verdana" pitchFamily="34" charset="0"/>
            </a:endParaRPr>
          </a:p>
          <a:p>
            <a:r>
              <a:rPr lang="fr-FR" sz="2000" dirty="0" smtClean="0">
                <a:solidFill>
                  <a:schemeClr val="dk1"/>
                </a:solidFill>
                <a:latin typeface="Arial" pitchFamily="34" charset="0"/>
                <a:ea typeface="Verdana" pitchFamily="34" charset="0"/>
                <a:cs typeface="Verdana" pitchFamily="34" charset="0"/>
              </a:rPr>
              <a:t>Êtes-vous prêt à entreprendre ? Menez honnêtement cette réflexion personnelle.</a:t>
            </a:r>
          </a:p>
          <a:p>
            <a:endParaRPr lang="fr-FR" sz="2000" b="1" dirty="0" smtClean="0">
              <a:solidFill>
                <a:schemeClr val="dk1"/>
              </a:solidFill>
              <a:latin typeface="Arial" pitchFamily="34" charset="0"/>
              <a:ea typeface="Verdana" pitchFamily="34" charset="0"/>
              <a:cs typeface="Verdana" pitchFamily="34" charset="0"/>
            </a:endParaRPr>
          </a:p>
          <a:p>
            <a:r>
              <a:rPr lang="fr-FR" sz="2000" b="1" dirty="0" smtClean="0">
                <a:solidFill>
                  <a:schemeClr val="dk1"/>
                </a:solidFill>
                <a:latin typeface="Arial" pitchFamily="34" charset="0"/>
                <a:ea typeface="Verdana" pitchFamily="34" charset="0"/>
                <a:cs typeface="Verdana" pitchFamily="34" charset="0"/>
              </a:rPr>
              <a:t>• Avez-vous :</a:t>
            </a:r>
          </a:p>
          <a:p>
            <a:endParaRPr lang="fr-FR" sz="2000" b="1" dirty="0" smtClean="0">
              <a:solidFill>
                <a:schemeClr val="dk1"/>
              </a:solidFill>
              <a:latin typeface="Arial" pitchFamily="34" charset="0"/>
              <a:ea typeface="Verdana" pitchFamily="34" charset="0"/>
              <a:cs typeface="Verdana" pitchFamily="34" charset="0"/>
            </a:endParaRPr>
          </a:p>
          <a:p>
            <a:pPr marL="1527175" indent="533400">
              <a:buFont typeface="Arial" pitchFamily="34" charset="0"/>
              <a:buChar char="Ω"/>
            </a:pPr>
            <a:r>
              <a:rPr lang="fr-FR" sz="2000" dirty="0" smtClean="0">
                <a:solidFill>
                  <a:schemeClr val="dk1"/>
                </a:solidFill>
                <a:latin typeface="Arial" pitchFamily="34" charset="0"/>
                <a:ea typeface="Verdana" pitchFamily="34" charset="0"/>
                <a:cs typeface="Verdana" pitchFamily="34" charset="0"/>
              </a:rPr>
              <a:t> La motivation pour entreprendre ?</a:t>
            </a:r>
          </a:p>
          <a:p>
            <a:pPr marL="1527175" indent="533400"/>
            <a:endParaRPr lang="fr-FR" sz="800" dirty="0" smtClean="0">
              <a:solidFill>
                <a:schemeClr val="dk1"/>
              </a:solidFill>
              <a:latin typeface="Arial" pitchFamily="34" charset="0"/>
              <a:ea typeface="Verdana" pitchFamily="34" charset="0"/>
              <a:cs typeface="Verdana" pitchFamily="34" charset="0"/>
            </a:endParaRPr>
          </a:p>
          <a:p>
            <a:pPr marL="1527175" indent="533400">
              <a:buFont typeface="Arial" pitchFamily="34" charset="0"/>
              <a:buChar char="Ω"/>
            </a:pPr>
            <a:r>
              <a:rPr lang="fr-FR" sz="2000" dirty="0" smtClean="0">
                <a:solidFill>
                  <a:schemeClr val="dk1"/>
                </a:solidFill>
                <a:latin typeface="Arial" pitchFamily="34" charset="0"/>
                <a:ea typeface="Verdana" pitchFamily="34" charset="0"/>
                <a:cs typeface="Verdana" pitchFamily="34" charset="0"/>
              </a:rPr>
              <a:t> La personnalité adaptée à votre projet ?</a:t>
            </a:r>
          </a:p>
          <a:p>
            <a:pPr marL="1527175" indent="533400"/>
            <a:endParaRPr lang="fr-FR" sz="800" dirty="0" smtClean="0">
              <a:solidFill>
                <a:schemeClr val="dk1"/>
              </a:solidFill>
              <a:latin typeface="Arial" pitchFamily="34" charset="0"/>
              <a:ea typeface="Verdana" pitchFamily="34" charset="0"/>
              <a:cs typeface="Verdana" pitchFamily="34" charset="0"/>
            </a:endParaRPr>
          </a:p>
          <a:p>
            <a:pPr marL="1527175" indent="533400">
              <a:buFont typeface="Arial" pitchFamily="34" charset="0"/>
              <a:buChar char="Ω"/>
            </a:pPr>
            <a:r>
              <a:rPr lang="fr-FR" sz="2000" dirty="0" smtClean="0">
                <a:solidFill>
                  <a:schemeClr val="dk1"/>
                </a:solidFill>
                <a:latin typeface="Arial" pitchFamily="34" charset="0"/>
                <a:ea typeface="Verdana" pitchFamily="34" charset="0"/>
                <a:cs typeface="Verdana" pitchFamily="34" charset="0"/>
              </a:rPr>
              <a:t> Les compétences nécessaires ?</a:t>
            </a:r>
          </a:p>
          <a:p>
            <a:pPr marL="1527175" indent="533400"/>
            <a:endParaRPr lang="fr-FR" sz="800" dirty="0" smtClean="0">
              <a:solidFill>
                <a:schemeClr val="dk1"/>
              </a:solidFill>
              <a:latin typeface="Arial" pitchFamily="34" charset="0"/>
              <a:ea typeface="Verdana" pitchFamily="34" charset="0"/>
              <a:cs typeface="Verdana" pitchFamily="34" charset="0"/>
            </a:endParaRPr>
          </a:p>
          <a:p>
            <a:pPr marL="1527175" indent="533400">
              <a:buFont typeface="Arial" pitchFamily="34" charset="0"/>
              <a:buChar char="Ω"/>
            </a:pPr>
            <a:r>
              <a:rPr lang="fr-FR" sz="2000" dirty="0" smtClean="0">
                <a:solidFill>
                  <a:schemeClr val="dk1"/>
                </a:solidFill>
                <a:latin typeface="Arial" pitchFamily="34" charset="0"/>
                <a:ea typeface="Verdana" pitchFamily="34" charset="0"/>
                <a:cs typeface="Verdana" pitchFamily="34" charset="0"/>
              </a:rPr>
              <a:t> Le temps pour mener à bien ce projet ?</a:t>
            </a:r>
          </a:p>
          <a:p>
            <a:pPr marL="1527175" indent="533400"/>
            <a:endParaRPr lang="fr-FR" sz="800" dirty="0" smtClean="0">
              <a:solidFill>
                <a:schemeClr val="dk1"/>
              </a:solidFill>
              <a:latin typeface="Arial" pitchFamily="34" charset="0"/>
              <a:ea typeface="Verdana" pitchFamily="34" charset="0"/>
              <a:cs typeface="Verdana" pitchFamily="34" charset="0"/>
            </a:endParaRPr>
          </a:p>
          <a:p>
            <a:pPr marL="1527175" indent="533400">
              <a:buFont typeface="Arial" pitchFamily="34" charset="0"/>
              <a:buChar char="Ω"/>
            </a:pPr>
            <a:r>
              <a:rPr lang="fr-FR" sz="2000" dirty="0" smtClean="0">
                <a:solidFill>
                  <a:schemeClr val="dk1"/>
                </a:solidFill>
                <a:latin typeface="Arial" pitchFamily="34" charset="0"/>
                <a:ea typeface="Verdana" pitchFamily="34" charset="0"/>
                <a:cs typeface="Verdana" pitchFamily="34" charset="0"/>
              </a:rPr>
              <a:t> Les moyens financiers en rapport aux besoins ?</a:t>
            </a:r>
          </a:p>
          <a:p>
            <a:endParaRPr lang="fr-FR" sz="2000" dirty="0" smtClean="0">
              <a:solidFill>
                <a:schemeClr val="dk1"/>
              </a:solidFill>
              <a:latin typeface="Arial" pitchFamily="34" charset="0"/>
              <a:ea typeface="Verdana" pitchFamily="34" charset="0"/>
              <a:cs typeface="Verdana" pitchFamily="34"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Ellipse 2"/>
          <p:cNvSpPr/>
          <p:nvPr/>
        </p:nvSpPr>
        <p:spPr>
          <a:xfrm>
            <a:off x="2025569" y="1106193"/>
            <a:ext cx="7755037" cy="4803993"/>
          </a:xfrm>
          <a:prstGeom prst="ellipse">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just"/>
            <a:r>
              <a:rPr lang="fr-FR" sz="2400" b="1" dirty="0" smtClean="0">
                <a:solidFill>
                  <a:schemeClr val="dk1"/>
                </a:solidFill>
                <a:latin typeface="Arial" pitchFamily="34" charset="0"/>
                <a:ea typeface="Verdana" pitchFamily="34" charset="0"/>
                <a:cs typeface="Verdana" pitchFamily="34" charset="0"/>
              </a:rPr>
              <a:t>Pour mettre toutes les chances</a:t>
            </a:r>
          </a:p>
          <a:p>
            <a:pPr algn="just"/>
            <a:r>
              <a:rPr lang="fr-FR" sz="2400" b="1" dirty="0" smtClean="0">
                <a:solidFill>
                  <a:schemeClr val="dk1"/>
                </a:solidFill>
                <a:latin typeface="Arial" pitchFamily="34" charset="0"/>
                <a:ea typeface="Verdana" pitchFamily="34" charset="0"/>
                <a:cs typeface="Verdana" pitchFamily="34" charset="0"/>
              </a:rPr>
              <a:t>de votre côté, il est important</a:t>
            </a:r>
          </a:p>
          <a:p>
            <a:pPr algn="just"/>
            <a:r>
              <a:rPr lang="fr-FR" sz="2400" b="1" dirty="0" smtClean="0">
                <a:solidFill>
                  <a:schemeClr val="dk1"/>
                </a:solidFill>
                <a:latin typeface="Arial" pitchFamily="34" charset="0"/>
                <a:ea typeface="Verdana" pitchFamily="34" charset="0"/>
                <a:cs typeface="Verdana" pitchFamily="34" charset="0"/>
              </a:rPr>
              <a:t>de vérifier la cohérence entre :</a:t>
            </a:r>
          </a:p>
          <a:p>
            <a:pPr algn="just"/>
            <a:endParaRPr lang="fr-FR" sz="2400" b="1" dirty="0" smtClean="0">
              <a:solidFill>
                <a:schemeClr val="dk1"/>
              </a:solidFill>
              <a:latin typeface="Arial" pitchFamily="34" charset="0"/>
              <a:ea typeface="Verdana" pitchFamily="34" charset="0"/>
              <a:cs typeface="Verdana" pitchFamily="34" charset="0"/>
            </a:endParaRPr>
          </a:p>
          <a:p>
            <a:pPr marL="266700" indent="-266700" algn="just">
              <a:buBlip>
                <a:blip r:embed="rId3"/>
              </a:buBlip>
            </a:pPr>
            <a:r>
              <a:rPr lang="fr-FR" sz="2000" dirty="0" smtClean="0">
                <a:solidFill>
                  <a:schemeClr val="dk1"/>
                </a:solidFill>
                <a:latin typeface="Arial" pitchFamily="34" charset="0"/>
                <a:ea typeface="Verdana" pitchFamily="34" charset="0"/>
                <a:cs typeface="Verdana" pitchFamily="34" charset="0"/>
              </a:rPr>
              <a:t>les contraintes propres au projet, qui doivent s’avérer maîtrisables ;</a:t>
            </a:r>
          </a:p>
          <a:p>
            <a:pPr algn="just">
              <a:buBlip>
                <a:blip r:embed="rId3"/>
              </a:buBlip>
            </a:pPr>
            <a:r>
              <a:rPr lang="fr-FR" sz="2000" dirty="0" smtClean="0">
                <a:solidFill>
                  <a:schemeClr val="dk1"/>
                </a:solidFill>
                <a:latin typeface="Arial" pitchFamily="34" charset="0"/>
                <a:ea typeface="Verdana" pitchFamily="34" charset="0"/>
                <a:cs typeface="Verdana" pitchFamily="34" charset="0"/>
              </a:rPr>
              <a:t> vos motivations ;</a:t>
            </a:r>
          </a:p>
          <a:p>
            <a:pPr algn="just">
              <a:buBlip>
                <a:blip r:embed="rId3"/>
              </a:buBlip>
            </a:pPr>
            <a:r>
              <a:rPr lang="fr-FR" sz="2000" dirty="0" smtClean="0">
                <a:solidFill>
                  <a:schemeClr val="dk1"/>
                </a:solidFill>
                <a:latin typeface="Arial" pitchFamily="34" charset="0"/>
                <a:ea typeface="Verdana" pitchFamily="34" charset="0"/>
                <a:cs typeface="Verdana" pitchFamily="34" charset="0"/>
              </a:rPr>
              <a:t> vos objectifs ;</a:t>
            </a:r>
          </a:p>
          <a:p>
            <a:pPr algn="just">
              <a:buBlip>
                <a:blip r:embed="rId3"/>
              </a:buBlip>
            </a:pPr>
            <a:r>
              <a:rPr lang="fr-FR" sz="2000" dirty="0" smtClean="0">
                <a:solidFill>
                  <a:schemeClr val="dk1"/>
                </a:solidFill>
                <a:latin typeface="Arial" pitchFamily="34" charset="0"/>
                <a:ea typeface="Verdana" pitchFamily="34" charset="0"/>
                <a:cs typeface="Verdana" pitchFamily="34" charset="0"/>
              </a:rPr>
              <a:t> votre savoir-faire ;</a:t>
            </a:r>
          </a:p>
          <a:p>
            <a:pPr algn="just">
              <a:buBlip>
                <a:blip r:embed="rId3"/>
              </a:buBlip>
            </a:pPr>
            <a:r>
              <a:rPr lang="fr-FR" sz="2000" dirty="0" smtClean="0">
                <a:solidFill>
                  <a:schemeClr val="dk1"/>
                </a:solidFill>
                <a:latin typeface="Arial" pitchFamily="34" charset="0"/>
                <a:ea typeface="Verdana" pitchFamily="34" charset="0"/>
                <a:cs typeface="Verdana" pitchFamily="34" charset="0"/>
              </a:rPr>
              <a:t> vos contraintes personnelles.</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6" name="Rectangle 5"/>
          <p:cNvSpPr/>
          <p:nvPr/>
        </p:nvSpPr>
        <p:spPr>
          <a:xfrm>
            <a:off x="2411393" y="1080266"/>
            <a:ext cx="6096000" cy="400110"/>
          </a:xfrm>
          <a:prstGeom prst="rect">
            <a:avLst/>
          </a:prstGeom>
        </p:spPr>
        <p:txBody>
          <a:bodyPr>
            <a:spAutoFit/>
          </a:bodyPr>
          <a:lstStyle/>
          <a:p>
            <a:r>
              <a:rPr lang="fr-FR" sz="2000" b="1" dirty="0" smtClean="0">
                <a:solidFill>
                  <a:srgbClr val="C00000"/>
                </a:solidFill>
              </a:rPr>
              <a:t>2- L’ÉLABORATION DU PROJET D’ENTREPRISE</a:t>
            </a:r>
            <a:endParaRPr lang="fr-FR" sz="2000" b="1" dirty="0">
              <a:solidFill>
                <a:srgbClr val="C00000"/>
              </a:solidFill>
            </a:endParaRPr>
          </a:p>
        </p:txBody>
      </p:sp>
      <p:sp>
        <p:nvSpPr>
          <p:cNvPr id="7" name="Ellipse 6"/>
          <p:cNvSpPr/>
          <p:nvPr/>
        </p:nvSpPr>
        <p:spPr>
          <a:xfrm>
            <a:off x="486136" y="1534656"/>
            <a:ext cx="11204293" cy="5323344"/>
          </a:xfrm>
          <a:prstGeom prst="ellipse">
            <a:avLst/>
          </a:prstGeom>
        </p:spPr>
        <p:style>
          <a:lnRef idx="3">
            <a:schemeClr val="lt1"/>
          </a:lnRef>
          <a:fillRef idx="1">
            <a:schemeClr val="accent5"/>
          </a:fillRef>
          <a:effectRef idx="1">
            <a:schemeClr val="accent5"/>
          </a:effectRef>
          <a:fontRef idx="minor">
            <a:schemeClr val="lt1"/>
          </a:fontRef>
        </p:style>
        <p:txBody>
          <a:bodyPr wrap="square">
            <a:spAutoFit/>
          </a:bodyPr>
          <a:lstStyle/>
          <a:p>
            <a:pPr algn="just"/>
            <a:r>
              <a:rPr lang="fr-FR" sz="2400" b="1" dirty="0" smtClean="0">
                <a:latin typeface="Arial" pitchFamily="34" charset="0"/>
                <a:cs typeface="Arial" pitchFamily="34" charset="0"/>
              </a:rPr>
              <a:t>En élaborant votre projet, vous devrez vérifier sa faisabilité et sa rentabilité. L’analyse des attentes de la clientèle combinée à l’analyse de la concurrence vous permettra de définir un niveau de prix acceptable par vos futurs clients.</a:t>
            </a:r>
          </a:p>
          <a:p>
            <a:pPr algn="just"/>
            <a:r>
              <a:rPr lang="fr-FR" sz="2400" b="1" dirty="0" smtClean="0">
                <a:latin typeface="Arial" pitchFamily="34" charset="0"/>
                <a:cs typeface="Arial" pitchFamily="34" charset="0"/>
              </a:rPr>
              <a:t>Vous pourrez alors préciser vos objectifs de chiffre d’affaires ainsi que les moyens nécessaires pour y parvenir.</a:t>
            </a:r>
            <a:endParaRPr lang="fr-FR" sz="2400" dirty="0" smtClean="0"/>
          </a:p>
          <a:p>
            <a:pPr algn="ctr"/>
            <a:r>
              <a:rPr lang="fr-FR" sz="2400" dirty="0" smtClean="0">
                <a:latin typeface="Arial" pitchFamily="34" charset="0"/>
                <a:cs typeface="Arial" pitchFamily="34" charset="0"/>
              </a:rPr>
              <a:t>3 études sont à mener : </a:t>
            </a:r>
            <a:r>
              <a:rPr lang="fr-FR" sz="2400" b="1" dirty="0" smtClean="0">
                <a:latin typeface="Arial" pitchFamily="34" charset="0"/>
                <a:cs typeface="Arial" pitchFamily="34" charset="0"/>
              </a:rPr>
              <a:t>l’étude commerciale</a:t>
            </a:r>
            <a:r>
              <a:rPr lang="fr-FR" sz="2400" dirty="0" smtClean="0">
                <a:latin typeface="Arial" pitchFamily="34" charset="0"/>
                <a:cs typeface="Arial" pitchFamily="34" charset="0"/>
              </a:rPr>
              <a:t>, </a:t>
            </a:r>
            <a:r>
              <a:rPr lang="fr-FR" sz="2400" b="1" dirty="0" smtClean="0">
                <a:latin typeface="Arial" pitchFamily="34" charset="0"/>
                <a:cs typeface="Arial" pitchFamily="34" charset="0"/>
              </a:rPr>
              <a:t>l’étude financière</a:t>
            </a:r>
            <a:r>
              <a:rPr lang="fr-FR" sz="2400" dirty="0" smtClean="0">
                <a:latin typeface="Arial" pitchFamily="34" charset="0"/>
                <a:cs typeface="Arial" pitchFamily="34" charset="0"/>
              </a:rPr>
              <a:t> et </a:t>
            </a:r>
            <a:r>
              <a:rPr lang="fr-FR" sz="2400" b="1" dirty="0" smtClean="0">
                <a:latin typeface="Arial" pitchFamily="34" charset="0"/>
                <a:cs typeface="Arial" pitchFamily="34" charset="0"/>
              </a:rPr>
              <a:t>l’étude juridique</a:t>
            </a:r>
            <a:r>
              <a:rPr lang="fr-FR" sz="2400" dirty="0" smtClean="0">
                <a:latin typeface="Arial" pitchFamily="34" charset="0"/>
                <a:cs typeface="Arial" pitchFamily="34" charset="0"/>
              </a:rPr>
              <a:t>.</a:t>
            </a:r>
            <a:endParaRPr lang="fr-FR" sz="2400" dirty="0">
              <a:latin typeface="Arial" pitchFamily="34" charset="0"/>
              <a:cs typeface="Arial" pitchFamily="34"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5" name="Rectangle à coins arrondis 4"/>
          <p:cNvSpPr/>
          <p:nvPr/>
        </p:nvSpPr>
        <p:spPr>
          <a:xfrm>
            <a:off x="514983" y="3130135"/>
            <a:ext cx="3709527" cy="919401"/>
          </a:xfrm>
          <a:prstGeom prst="roundRect">
            <a:avLst/>
          </a:prstGeom>
        </p:spPr>
        <p:style>
          <a:lnRef idx="1">
            <a:schemeClr val="accent5"/>
          </a:lnRef>
          <a:fillRef idx="3">
            <a:schemeClr val="accent5"/>
          </a:fillRef>
          <a:effectRef idx="2">
            <a:schemeClr val="accent5"/>
          </a:effectRef>
          <a:fontRef idx="minor">
            <a:schemeClr val="lt1"/>
          </a:fontRef>
        </p:style>
        <p:txBody>
          <a:bodyPr wrap="none">
            <a:spAutoFit/>
          </a:bodyPr>
          <a:lstStyle/>
          <a:p>
            <a:pPr algn="ctr"/>
            <a:r>
              <a:rPr lang="fr-FR" sz="2400" b="1" dirty="0" smtClean="0">
                <a:latin typeface="Arial" pitchFamily="34" charset="0"/>
                <a:cs typeface="Arial" pitchFamily="34" charset="0"/>
              </a:rPr>
              <a:t>1</a:t>
            </a:r>
          </a:p>
          <a:p>
            <a:pPr algn="ctr"/>
            <a:r>
              <a:rPr lang="fr-FR" sz="2400" b="1" dirty="0" smtClean="0">
                <a:latin typeface="Arial" pitchFamily="34" charset="0"/>
                <a:cs typeface="Arial" pitchFamily="34" charset="0"/>
              </a:rPr>
              <a:t>ETUDE COMMERCIALE</a:t>
            </a:r>
            <a:endParaRPr lang="fr-FR" sz="2400" dirty="0"/>
          </a:p>
        </p:txBody>
      </p:sp>
      <p:sp>
        <p:nvSpPr>
          <p:cNvPr id="6" name="Rectangle à coins arrondis 5"/>
          <p:cNvSpPr/>
          <p:nvPr/>
        </p:nvSpPr>
        <p:spPr>
          <a:xfrm>
            <a:off x="4543893" y="3140162"/>
            <a:ext cx="3256906" cy="919401"/>
          </a:xfrm>
          <a:prstGeom prst="roundRect">
            <a:avLst/>
          </a:prstGeom>
        </p:spPr>
        <p:style>
          <a:lnRef idx="1">
            <a:schemeClr val="accent6"/>
          </a:lnRef>
          <a:fillRef idx="3">
            <a:schemeClr val="accent6"/>
          </a:fillRef>
          <a:effectRef idx="2">
            <a:schemeClr val="accent6"/>
          </a:effectRef>
          <a:fontRef idx="minor">
            <a:schemeClr val="lt1"/>
          </a:fontRef>
        </p:style>
        <p:txBody>
          <a:bodyPr wrap="none">
            <a:spAutoFit/>
          </a:bodyPr>
          <a:lstStyle/>
          <a:p>
            <a:pPr algn="ctr"/>
            <a:r>
              <a:rPr lang="fr-FR" sz="2400" b="1" dirty="0" smtClean="0">
                <a:latin typeface="Arial" pitchFamily="34" charset="0"/>
                <a:cs typeface="Arial" pitchFamily="34" charset="0"/>
              </a:rPr>
              <a:t>2</a:t>
            </a:r>
          </a:p>
          <a:p>
            <a:pPr algn="ctr"/>
            <a:r>
              <a:rPr lang="fr-FR" sz="2400" b="1" dirty="0" smtClean="0">
                <a:latin typeface="Arial" pitchFamily="34" charset="0"/>
                <a:cs typeface="Arial" pitchFamily="34" charset="0"/>
              </a:rPr>
              <a:t>ETUDE FINANCIERE</a:t>
            </a:r>
            <a:endParaRPr lang="fr-FR" sz="2400" dirty="0"/>
          </a:p>
        </p:txBody>
      </p:sp>
      <p:sp>
        <p:nvSpPr>
          <p:cNvPr id="7" name="Rectangle à coins arrondis 6"/>
          <p:cNvSpPr/>
          <p:nvPr/>
        </p:nvSpPr>
        <p:spPr>
          <a:xfrm>
            <a:off x="8172918" y="3168737"/>
            <a:ext cx="3076669" cy="919401"/>
          </a:xfrm>
          <a:prstGeom prst="roundRect">
            <a:avLst/>
          </a:prstGeom>
        </p:spPr>
        <p:style>
          <a:lnRef idx="1">
            <a:schemeClr val="accent3"/>
          </a:lnRef>
          <a:fillRef idx="3">
            <a:schemeClr val="accent3"/>
          </a:fillRef>
          <a:effectRef idx="2">
            <a:schemeClr val="accent3"/>
          </a:effectRef>
          <a:fontRef idx="minor">
            <a:schemeClr val="lt1"/>
          </a:fontRef>
        </p:style>
        <p:txBody>
          <a:bodyPr wrap="none">
            <a:spAutoFit/>
          </a:bodyPr>
          <a:lstStyle/>
          <a:p>
            <a:pPr algn="ctr"/>
            <a:r>
              <a:rPr lang="fr-FR" sz="2400" b="1" dirty="0" smtClean="0">
                <a:latin typeface="Arial" pitchFamily="34" charset="0"/>
                <a:cs typeface="Arial" pitchFamily="34" charset="0"/>
              </a:rPr>
              <a:t>3</a:t>
            </a:r>
          </a:p>
          <a:p>
            <a:pPr algn="ctr"/>
            <a:r>
              <a:rPr lang="fr-FR" sz="2400" b="1" dirty="0" smtClean="0">
                <a:latin typeface="Arial" pitchFamily="34" charset="0"/>
                <a:cs typeface="Arial" pitchFamily="34" charset="0"/>
              </a:rPr>
              <a:t>ETUDE JURIDIQUE</a:t>
            </a:r>
            <a:endParaRPr lang="fr-FR" sz="24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4" name="Rectangle 3"/>
          <p:cNvSpPr/>
          <p:nvPr/>
        </p:nvSpPr>
        <p:spPr>
          <a:xfrm>
            <a:off x="1446835" y="1964307"/>
            <a:ext cx="9653286" cy="4462760"/>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just"/>
            <a:r>
              <a:rPr lang="fr-FR" sz="2000" dirty="0" smtClean="0">
                <a:solidFill>
                  <a:schemeClr val="dk1"/>
                </a:solidFill>
                <a:latin typeface="Arial" pitchFamily="34" charset="0"/>
                <a:ea typeface="Verdana" pitchFamily="34" charset="0"/>
                <a:cs typeface="Verdana" pitchFamily="34" charset="0"/>
              </a:rPr>
              <a:t>L’étude commerciale occupe une place clé dans l’élaboration de votre projet.</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Sa vocation est de réduire au maximum les risques d’échec en vous permettant de mieux connaître l’environnement de votre future entreprise.</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Cette étape doit vous permettre de :</a:t>
            </a:r>
          </a:p>
          <a:p>
            <a:pPr algn="just"/>
            <a:endParaRPr lang="fr-FR" sz="2000" dirty="0" smtClean="0">
              <a:solidFill>
                <a:schemeClr val="dk1"/>
              </a:solidFill>
              <a:latin typeface="Arial" pitchFamily="34" charset="0"/>
              <a:ea typeface="Verdana" pitchFamily="34" charset="0"/>
              <a:cs typeface="Verdana" pitchFamily="34" charset="0"/>
            </a:endParaRPr>
          </a:p>
          <a:p>
            <a:pPr marL="984250" indent="-452438" algn="just">
              <a:buFont typeface="Wingdings" pitchFamily="2" charset="2"/>
              <a:buChar char="q"/>
            </a:pPr>
            <a:r>
              <a:rPr lang="fr-FR" sz="2000" b="1" dirty="0" smtClean="0">
                <a:solidFill>
                  <a:schemeClr val="dk1"/>
                </a:solidFill>
                <a:latin typeface="Arial" pitchFamily="34" charset="0"/>
                <a:ea typeface="Verdana" pitchFamily="34" charset="0"/>
                <a:cs typeface="Verdana" pitchFamily="34" charset="0"/>
              </a:rPr>
              <a:t>bien connaître et comprendre votre marché ;</a:t>
            </a:r>
          </a:p>
          <a:p>
            <a:pPr marL="984250" indent="-452438" algn="just"/>
            <a:endParaRPr lang="fr-FR" sz="800" b="1" dirty="0" smtClean="0">
              <a:solidFill>
                <a:schemeClr val="dk1"/>
              </a:solidFill>
              <a:latin typeface="Arial" pitchFamily="34" charset="0"/>
              <a:ea typeface="Verdana" pitchFamily="34" charset="0"/>
              <a:cs typeface="Verdana" pitchFamily="34" charset="0"/>
            </a:endParaRPr>
          </a:p>
          <a:p>
            <a:pPr marL="984250" indent="-452438" algn="just">
              <a:buFont typeface="Wingdings" pitchFamily="2" charset="2"/>
              <a:buChar char="q"/>
            </a:pPr>
            <a:r>
              <a:rPr lang="fr-FR" sz="2000" b="1" dirty="0" smtClean="0">
                <a:solidFill>
                  <a:schemeClr val="dk1"/>
                </a:solidFill>
                <a:latin typeface="Arial" pitchFamily="34" charset="0"/>
                <a:ea typeface="Verdana" pitchFamily="34" charset="0"/>
                <a:cs typeface="Verdana" pitchFamily="34" charset="0"/>
              </a:rPr>
              <a:t>réunir les informations vous permettant de fixer des hypothèses de chiffre d’affaires ;</a:t>
            </a:r>
          </a:p>
          <a:p>
            <a:pPr marL="984250" indent="-452438" algn="just"/>
            <a:endParaRPr lang="fr-FR" sz="800" b="1" dirty="0" smtClean="0">
              <a:solidFill>
                <a:schemeClr val="dk1"/>
              </a:solidFill>
              <a:latin typeface="Arial" pitchFamily="34" charset="0"/>
              <a:ea typeface="Verdana" pitchFamily="34" charset="0"/>
              <a:cs typeface="Verdana" pitchFamily="34" charset="0"/>
            </a:endParaRPr>
          </a:p>
          <a:p>
            <a:pPr marL="984250" indent="-452438" algn="just">
              <a:buFont typeface="Wingdings" pitchFamily="2" charset="2"/>
              <a:buChar char="q"/>
            </a:pPr>
            <a:r>
              <a:rPr lang="fr-FR" sz="2000" b="1" dirty="0" smtClean="0">
                <a:solidFill>
                  <a:schemeClr val="dk1"/>
                </a:solidFill>
                <a:latin typeface="Arial" pitchFamily="34" charset="0"/>
                <a:ea typeface="Verdana" pitchFamily="34" charset="0"/>
                <a:cs typeface="Verdana" pitchFamily="34" charset="0"/>
              </a:rPr>
              <a:t>faire les meilleurs choix commerciaux pour atteindre vos objectifs ;</a:t>
            </a:r>
          </a:p>
          <a:p>
            <a:pPr marL="984250" indent="-452438" algn="just"/>
            <a:endParaRPr lang="fr-FR" sz="800" b="1" dirty="0" smtClean="0">
              <a:solidFill>
                <a:schemeClr val="dk1"/>
              </a:solidFill>
              <a:latin typeface="Arial" pitchFamily="34" charset="0"/>
              <a:ea typeface="Verdana" pitchFamily="34" charset="0"/>
              <a:cs typeface="Verdana" pitchFamily="34" charset="0"/>
            </a:endParaRPr>
          </a:p>
          <a:p>
            <a:pPr marL="984250" indent="-452438" algn="just">
              <a:buFont typeface="Wingdings" pitchFamily="2" charset="2"/>
              <a:buChar char="q"/>
            </a:pPr>
            <a:r>
              <a:rPr lang="fr-FR" sz="2000" b="1" dirty="0" smtClean="0">
                <a:latin typeface="Arial" pitchFamily="34" charset="0"/>
                <a:ea typeface="Verdana" pitchFamily="34" charset="0"/>
                <a:cs typeface="Verdana" pitchFamily="34" charset="0"/>
              </a:rPr>
              <a:t>f</a:t>
            </a:r>
            <a:r>
              <a:rPr lang="fr-FR" sz="2000" b="1" dirty="0" smtClean="0">
                <a:solidFill>
                  <a:schemeClr val="dk1"/>
                </a:solidFill>
                <a:latin typeface="Arial" pitchFamily="34" charset="0"/>
                <a:ea typeface="Verdana" pitchFamily="34" charset="0"/>
                <a:cs typeface="Verdana" pitchFamily="34" charset="0"/>
              </a:rPr>
              <a:t>ixer votre politique « produit », « prix », « distribution » et « communication ».</a:t>
            </a:r>
            <a:endParaRPr lang="fr-FR" sz="2000" dirty="0" smtClean="0">
              <a:solidFill>
                <a:schemeClr val="dk1"/>
              </a:solidFill>
              <a:latin typeface="Arial" pitchFamily="34" charset="0"/>
              <a:ea typeface="Verdana" pitchFamily="34" charset="0"/>
              <a:cs typeface="Verdana" pitchFamily="34" charset="0"/>
            </a:endParaRPr>
          </a:p>
        </p:txBody>
      </p:sp>
      <p:sp>
        <p:nvSpPr>
          <p:cNvPr id="5" name="Rectangle à coins arrondis 4"/>
          <p:cNvSpPr/>
          <p:nvPr/>
        </p:nvSpPr>
        <p:spPr>
          <a:xfrm>
            <a:off x="1486127" y="1153778"/>
            <a:ext cx="8391298" cy="510778"/>
          </a:xfrm>
          <a:prstGeom prst="roundRect">
            <a:avLst/>
          </a:prstGeom>
        </p:spPr>
        <p:style>
          <a:lnRef idx="1">
            <a:schemeClr val="accent5"/>
          </a:lnRef>
          <a:fillRef idx="3">
            <a:schemeClr val="accent5"/>
          </a:fillRef>
          <a:effectRef idx="2">
            <a:schemeClr val="accent5"/>
          </a:effectRef>
          <a:fontRef idx="minor">
            <a:schemeClr val="lt1"/>
          </a:fontRef>
        </p:style>
        <p:txBody>
          <a:bodyPr wrap="square">
            <a:spAutoFit/>
          </a:bodyPr>
          <a:lstStyle/>
          <a:p>
            <a:r>
              <a:rPr lang="fr-FR" sz="2400" b="1" dirty="0" smtClean="0">
                <a:latin typeface="Arial" pitchFamily="34" charset="0"/>
                <a:cs typeface="Arial" pitchFamily="34" charset="0"/>
              </a:rPr>
              <a:t>1- ETUDE COMMERCIALE ou ETUDE DU MARCHE</a:t>
            </a:r>
            <a:endParaRPr lang="fr-FR" sz="24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5" name="Rectangle 4"/>
          <p:cNvSpPr/>
          <p:nvPr/>
        </p:nvSpPr>
        <p:spPr>
          <a:xfrm>
            <a:off x="1064871" y="1178814"/>
            <a:ext cx="10162572" cy="437042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endParaRPr lang="fr-FR" dirty="0" smtClean="0">
              <a:solidFill>
                <a:schemeClr val="dk1"/>
              </a:solidFill>
              <a:latin typeface="Arial" pitchFamily="34" charset="0"/>
              <a:ea typeface="Verdana" pitchFamily="34" charset="0"/>
              <a:cs typeface="Verdana" pitchFamily="34" charset="0"/>
            </a:endParaRPr>
          </a:p>
          <a:p>
            <a:pPr marL="984250" indent="-452438" algn="just"/>
            <a:r>
              <a:rPr lang="fr-FR" sz="2200" b="1" dirty="0" smtClean="0">
                <a:solidFill>
                  <a:schemeClr val="accent6">
                    <a:lumMod val="75000"/>
                  </a:schemeClr>
                </a:solidFill>
                <a:latin typeface="Arial" pitchFamily="34" charset="0"/>
                <a:ea typeface="Verdana" pitchFamily="34" charset="0"/>
                <a:cs typeface="Verdana" pitchFamily="34" charset="0"/>
              </a:rPr>
              <a:t>1-1 bien connaître et comprendre votre marché </a:t>
            </a:r>
          </a:p>
          <a:p>
            <a:pPr marL="984250" indent="-452438" algn="just"/>
            <a:endParaRPr lang="fr-FR" b="1"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Le marché est l’environnement dans lequel va évoluer l’entreprise et où se rencontrent une offre (les concurrents) et une demande (les clients potentiels). Il peut être national, régional, saisonnier</a:t>
            </a:r>
            <a:r>
              <a:rPr lang="fr-FR" sz="2000" dirty="0" smtClean="0">
                <a:latin typeface="Arial" pitchFamily="34" charset="0"/>
                <a:ea typeface="Verdana" pitchFamily="34" charset="0"/>
                <a:cs typeface="Verdana" pitchFamily="34" charset="0"/>
              </a:rPr>
              <a:t> </a:t>
            </a:r>
            <a:r>
              <a:rPr lang="fr-FR" sz="2000" dirty="0" smtClean="0">
                <a:solidFill>
                  <a:schemeClr val="dk1"/>
                </a:solidFill>
                <a:latin typeface="Arial" pitchFamily="34" charset="0"/>
                <a:ea typeface="Verdana" pitchFamily="34" charset="0"/>
                <a:cs typeface="Verdana" pitchFamily="34" charset="0"/>
              </a:rPr>
              <a:t>... </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Pour avancer dans votre projet, vous allez devoir étudier le marché dont relève le produit ou le service que vous souhaitez vendre.</a:t>
            </a:r>
          </a:p>
          <a:p>
            <a:pPr algn="just"/>
            <a:r>
              <a:rPr lang="fr-FR" sz="2000" dirty="0" smtClean="0">
                <a:solidFill>
                  <a:schemeClr val="dk1"/>
                </a:solidFill>
                <a:latin typeface="Arial" pitchFamily="34" charset="0"/>
                <a:ea typeface="Verdana" pitchFamily="34" charset="0"/>
                <a:cs typeface="Verdana" pitchFamily="34" charset="0"/>
              </a:rPr>
              <a:t>Les éléments qui ressortiront de cette étude doivent vous permettre de :</a:t>
            </a:r>
          </a:p>
          <a:p>
            <a:pPr algn="just"/>
            <a:endParaRPr lang="fr-FR" sz="2000" dirty="0" smtClean="0">
              <a:solidFill>
                <a:schemeClr val="dk1"/>
              </a:solidFill>
              <a:latin typeface="Arial" pitchFamily="34" charset="0"/>
              <a:ea typeface="Verdana" pitchFamily="34" charset="0"/>
              <a:cs typeface="Verdana" pitchFamily="34" charset="0"/>
            </a:endParaRPr>
          </a:p>
          <a:p>
            <a:pPr indent="1076325" algn="just"/>
            <a:r>
              <a:rPr lang="fr-FR" sz="2000" b="1" dirty="0" smtClean="0">
                <a:solidFill>
                  <a:schemeClr val="dk1"/>
                </a:solidFill>
                <a:latin typeface="Arial" pitchFamily="34" charset="0"/>
                <a:ea typeface="Verdana" pitchFamily="34" charset="0"/>
                <a:cs typeface="Verdana" pitchFamily="34" charset="0"/>
              </a:rPr>
              <a:t>• déceler les opportunités et les risques de votre marché ;</a:t>
            </a:r>
          </a:p>
          <a:p>
            <a:pPr indent="1076325" algn="just"/>
            <a:r>
              <a:rPr lang="fr-FR" sz="2000" b="1" dirty="0" smtClean="0">
                <a:solidFill>
                  <a:schemeClr val="dk1"/>
                </a:solidFill>
                <a:latin typeface="Arial" pitchFamily="34" charset="0"/>
                <a:ea typeface="Verdana" pitchFamily="34" charset="0"/>
                <a:cs typeface="Verdana" pitchFamily="34" charset="0"/>
              </a:rPr>
              <a:t>• prendre la décision d’aller plus loin dans votre analyse.</a:t>
            </a:r>
          </a:p>
          <a:p>
            <a:pPr algn="just"/>
            <a:endParaRPr lang="fr-FR" sz="2000" dirty="0" smtClean="0">
              <a:solidFill>
                <a:schemeClr val="dk1"/>
              </a:solidFill>
              <a:latin typeface="Arial" pitchFamily="34" charset="0"/>
              <a:ea typeface="Verdana" pitchFamily="34" charset="0"/>
              <a:cs typeface="Verdana" pitchFamily="34"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5" name="Rectangle 4"/>
          <p:cNvSpPr/>
          <p:nvPr/>
        </p:nvSpPr>
        <p:spPr>
          <a:xfrm>
            <a:off x="1053296" y="958895"/>
            <a:ext cx="10162572" cy="495520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Font typeface="Wingdings" pitchFamily="2" charset="2"/>
              <a:buChar char="§"/>
            </a:pPr>
            <a:r>
              <a:rPr lang="fr-FR" sz="2000" b="1" dirty="0" smtClean="0">
                <a:latin typeface="Arial Black" pitchFamily="34" charset="0"/>
              </a:rPr>
              <a:t> </a:t>
            </a:r>
            <a:r>
              <a:rPr lang="fr-FR" sz="2000" b="1" dirty="0" smtClean="0">
                <a:solidFill>
                  <a:schemeClr val="accent2"/>
                </a:solidFill>
                <a:latin typeface="Arial Black" pitchFamily="34" charset="0"/>
              </a:rPr>
              <a:t>Recherchez les informations qui vous manquent</a:t>
            </a:r>
          </a:p>
          <a:p>
            <a:endParaRPr lang="fr-FR" sz="2000" b="1" dirty="0" smtClean="0">
              <a:latin typeface="Arial Black" pitchFamily="34" charset="0"/>
            </a:endParaRPr>
          </a:p>
          <a:p>
            <a:pPr algn="just"/>
            <a:r>
              <a:rPr lang="fr-FR" sz="2000" dirty="0" smtClean="0">
                <a:latin typeface="Arial" pitchFamily="34" charset="0"/>
                <a:ea typeface="Verdana" pitchFamily="34" charset="0"/>
                <a:cs typeface="Verdana" pitchFamily="34" charset="0"/>
              </a:rPr>
              <a:t>• </a:t>
            </a:r>
            <a:r>
              <a:rPr lang="fr-FR" sz="2000" b="1" dirty="0" smtClean="0">
                <a:latin typeface="Arial" pitchFamily="34" charset="0"/>
                <a:ea typeface="Verdana" pitchFamily="34" charset="0"/>
                <a:cs typeface="Verdana" pitchFamily="34" charset="0"/>
              </a:rPr>
              <a:t>En effectuant une recherche documentaire</a:t>
            </a:r>
            <a:r>
              <a:rPr lang="fr-FR" sz="2000" dirty="0" smtClean="0">
                <a:latin typeface="Arial" pitchFamily="34" charset="0"/>
                <a:ea typeface="Verdana" pitchFamily="34" charset="0"/>
                <a:cs typeface="Verdana" pitchFamily="34" charset="0"/>
              </a:rPr>
              <a:t> auprès des sources d’informations mises à votre disposition : chambres de commerce et d’industrie, chambres de métiers et de l’artisanat, organismes et syndicats professionnels, Institut national des statistique, sites internet spécialisés... </a:t>
            </a:r>
          </a:p>
          <a:p>
            <a:pPr algn="just"/>
            <a:endParaRPr lang="fr-FR" sz="1200" dirty="0" smtClean="0">
              <a:latin typeface="Arial" pitchFamily="34" charset="0"/>
              <a:ea typeface="Verdana" pitchFamily="34" charset="0"/>
              <a:cs typeface="Verdana" pitchFamily="34" charset="0"/>
            </a:endParaRPr>
          </a:p>
          <a:p>
            <a:pPr algn="just"/>
            <a:r>
              <a:rPr lang="fr-FR" sz="2000" dirty="0" smtClean="0">
                <a:latin typeface="Arial" pitchFamily="34" charset="0"/>
                <a:ea typeface="Verdana" pitchFamily="34" charset="0"/>
                <a:cs typeface="Verdana" pitchFamily="34" charset="0"/>
              </a:rPr>
              <a:t>• </a:t>
            </a:r>
            <a:r>
              <a:rPr lang="fr-FR" sz="2000" b="1" dirty="0" smtClean="0">
                <a:latin typeface="Arial" pitchFamily="34" charset="0"/>
                <a:ea typeface="Verdana" pitchFamily="34" charset="0"/>
                <a:cs typeface="Verdana" pitchFamily="34" charset="0"/>
              </a:rPr>
              <a:t>En récoltant les prospectus publicitaires et annonces </a:t>
            </a:r>
            <a:r>
              <a:rPr lang="fr-FR" sz="2000" dirty="0" smtClean="0">
                <a:latin typeface="Arial" pitchFamily="34" charset="0"/>
                <a:ea typeface="Verdana" pitchFamily="34" charset="0"/>
                <a:cs typeface="Verdana" pitchFamily="34" charset="0"/>
              </a:rPr>
              <a:t>parues dans la presse émanant de la concurrence.</a:t>
            </a:r>
          </a:p>
          <a:p>
            <a:pPr algn="just"/>
            <a:endParaRPr lang="fr-FR" sz="1200" dirty="0" smtClean="0">
              <a:latin typeface="Arial" pitchFamily="34" charset="0"/>
              <a:ea typeface="Verdana" pitchFamily="34" charset="0"/>
              <a:cs typeface="Verdana" pitchFamily="34" charset="0"/>
            </a:endParaRPr>
          </a:p>
          <a:p>
            <a:pPr algn="just"/>
            <a:r>
              <a:rPr lang="fr-FR" sz="2000" dirty="0" smtClean="0">
                <a:latin typeface="Arial" pitchFamily="34" charset="0"/>
                <a:ea typeface="Verdana" pitchFamily="34" charset="0"/>
                <a:cs typeface="Verdana" pitchFamily="34" charset="0"/>
              </a:rPr>
              <a:t>• </a:t>
            </a:r>
            <a:r>
              <a:rPr lang="fr-FR" sz="2000" b="1" dirty="0" smtClean="0">
                <a:latin typeface="Arial" pitchFamily="34" charset="0"/>
                <a:ea typeface="Verdana" pitchFamily="34" charset="0"/>
                <a:cs typeface="Verdana" pitchFamily="34" charset="0"/>
              </a:rPr>
              <a:t>En visitant les salons </a:t>
            </a:r>
            <a:r>
              <a:rPr lang="fr-FR" sz="2000" dirty="0" smtClean="0">
                <a:latin typeface="Arial" pitchFamily="34" charset="0"/>
                <a:ea typeface="Verdana" pitchFamily="34" charset="0"/>
                <a:cs typeface="Verdana" pitchFamily="34" charset="0"/>
              </a:rPr>
              <a:t>professionnels, foires, expositions et autres manifestations.</a:t>
            </a:r>
          </a:p>
          <a:p>
            <a:pPr algn="just"/>
            <a:endParaRPr lang="fr-FR" sz="1200" dirty="0" smtClean="0">
              <a:latin typeface="Arial" pitchFamily="34" charset="0"/>
              <a:ea typeface="Verdana" pitchFamily="34" charset="0"/>
              <a:cs typeface="Verdana" pitchFamily="34" charset="0"/>
            </a:endParaRPr>
          </a:p>
          <a:p>
            <a:pPr algn="just"/>
            <a:r>
              <a:rPr lang="fr-FR" sz="2000" dirty="0" smtClean="0">
                <a:latin typeface="Arial" pitchFamily="34" charset="0"/>
                <a:ea typeface="Verdana" pitchFamily="34" charset="0"/>
                <a:cs typeface="Verdana" pitchFamily="34" charset="0"/>
              </a:rPr>
              <a:t>• </a:t>
            </a:r>
            <a:r>
              <a:rPr lang="fr-FR" sz="2000" b="1" dirty="0" smtClean="0">
                <a:latin typeface="Arial" pitchFamily="34" charset="0"/>
                <a:ea typeface="Verdana" pitchFamily="34" charset="0"/>
                <a:cs typeface="Verdana" pitchFamily="34" charset="0"/>
              </a:rPr>
              <a:t>En interviewant des professionnels </a:t>
            </a:r>
            <a:r>
              <a:rPr lang="fr-FR" sz="2000" dirty="0" smtClean="0">
                <a:latin typeface="Arial" pitchFamily="34" charset="0"/>
                <a:ea typeface="Verdana" pitchFamily="34" charset="0"/>
                <a:cs typeface="Verdana" pitchFamily="34" charset="0"/>
              </a:rPr>
              <a:t>et des donneurs d’ordre du secteur d’activité.</a:t>
            </a:r>
          </a:p>
          <a:p>
            <a:pPr algn="just"/>
            <a:endParaRPr lang="fr-FR" sz="1200" dirty="0" smtClean="0">
              <a:latin typeface="Arial" pitchFamily="34" charset="0"/>
              <a:ea typeface="Verdana" pitchFamily="34" charset="0"/>
              <a:cs typeface="Verdana" pitchFamily="34" charset="0"/>
            </a:endParaRPr>
          </a:p>
          <a:p>
            <a:pPr algn="just"/>
            <a:r>
              <a:rPr lang="fr-FR" sz="2000" dirty="0" smtClean="0">
                <a:latin typeface="Arial" pitchFamily="34" charset="0"/>
                <a:ea typeface="Verdana" pitchFamily="34" charset="0"/>
                <a:cs typeface="Verdana" pitchFamily="34" charset="0"/>
              </a:rPr>
              <a:t>• </a:t>
            </a:r>
            <a:r>
              <a:rPr lang="fr-FR" sz="2000" b="1" dirty="0" smtClean="0">
                <a:latin typeface="Arial" pitchFamily="34" charset="0"/>
                <a:ea typeface="Verdana" pitchFamily="34" charset="0"/>
                <a:cs typeface="Verdana" pitchFamily="34" charset="0"/>
              </a:rPr>
              <a:t>En menant une enquête</a:t>
            </a:r>
            <a:r>
              <a:rPr lang="fr-FR" sz="2000" dirty="0" smtClean="0">
                <a:latin typeface="Arial" pitchFamily="34" charset="0"/>
                <a:ea typeface="Verdana" pitchFamily="34" charset="0"/>
                <a:cs typeface="Verdana" pitchFamily="34" charset="0"/>
              </a:rPr>
              <a:t> par entretiens, sondages ou mini-tests auprès de la clientèle potentielle.</a:t>
            </a:r>
          </a:p>
          <a:p>
            <a:pPr algn="just"/>
            <a:endParaRPr lang="fr-FR" sz="800" dirty="0" smtClean="0">
              <a:latin typeface="Arial" pitchFamily="34" charset="0"/>
              <a:ea typeface="Verdana" pitchFamily="34" charset="0"/>
              <a:cs typeface="Verdana" pitchFamily="34" charset="0"/>
            </a:endParaRPr>
          </a:p>
          <a:p>
            <a:pPr algn="just"/>
            <a:endParaRPr lang="fr-FR" sz="2000" dirty="0" smtClean="0">
              <a:solidFill>
                <a:schemeClr val="dk1"/>
              </a:solidFill>
              <a:latin typeface="Arial" pitchFamily="34" charset="0"/>
              <a:ea typeface="Verdana" pitchFamily="34" charset="0"/>
              <a:cs typeface="Verdana" pitchFamily="34"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pic>
        <p:nvPicPr>
          <p:cNvPr id="4" name="Image 3"/>
          <p:cNvPicPr/>
          <p:nvPr/>
        </p:nvPicPr>
        <p:blipFill>
          <a:blip r:embed="rId3" cstate="print"/>
          <a:stretch>
            <a:fillRect/>
          </a:stretch>
        </p:blipFill>
        <p:spPr>
          <a:xfrm>
            <a:off x="2716264" y="1871263"/>
            <a:ext cx="6384897" cy="4349363"/>
          </a:xfrm>
          <a:prstGeom prst="rect">
            <a:avLst/>
          </a:prstGeom>
        </p:spPr>
      </p:pic>
      <p:sp>
        <p:nvSpPr>
          <p:cNvPr id="2049" name="Rectangle 1"/>
          <p:cNvSpPr>
            <a:spLocks noChangeArrowheads="1"/>
          </p:cNvSpPr>
          <p:nvPr/>
        </p:nvSpPr>
        <p:spPr bwMode="auto">
          <a:xfrm>
            <a:off x="0" y="1222872"/>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smtClean="0">
                <a:ln>
                  <a:noFill/>
                </a:ln>
                <a:solidFill>
                  <a:srgbClr val="252525"/>
                </a:solidFill>
                <a:effectLst/>
                <a:latin typeface="Arial" pitchFamily="34" charset="0"/>
                <a:ea typeface="Verdana" pitchFamily="34" charset="0"/>
                <a:cs typeface="Verdana" pitchFamily="34" charset="0"/>
              </a:rPr>
              <a:t>La collecte des informations</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pic>
        <p:nvPicPr>
          <p:cNvPr id="3" name="Image 2"/>
          <p:cNvPicPr/>
          <p:nvPr/>
        </p:nvPicPr>
        <p:blipFill>
          <a:blip r:embed="rId3" cstate="print"/>
          <a:stretch>
            <a:fillRect/>
          </a:stretch>
        </p:blipFill>
        <p:spPr>
          <a:xfrm>
            <a:off x="2401677" y="1115170"/>
            <a:ext cx="7039777" cy="4627659"/>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4" name="Rectangle 3"/>
          <p:cNvSpPr/>
          <p:nvPr/>
        </p:nvSpPr>
        <p:spPr>
          <a:xfrm>
            <a:off x="995423" y="1316917"/>
            <a:ext cx="10208872" cy="501675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fr-FR" sz="2000" b="1" dirty="0" smtClean="0">
                <a:solidFill>
                  <a:schemeClr val="accent2"/>
                </a:solidFill>
                <a:latin typeface="Arial Black" pitchFamily="34" charset="0"/>
              </a:rPr>
              <a:t>• Ajustez votre projet en répondant aux questions suivantes</a:t>
            </a:r>
          </a:p>
          <a:p>
            <a:endParaRPr lang="fr-FR" sz="2000" b="1" dirty="0" smtClean="0">
              <a:solidFill>
                <a:schemeClr val="accent2"/>
              </a:solidFill>
              <a:latin typeface="Arial Black" pitchFamily="34" charset="0"/>
            </a:endParaRPr>
          </a:p>
          <a:p>
            <a:pPr algn="just"/>
            <a:r>
              <a:rPr lang="fr-FR" sz="2000" dirty="0" smtClean="0">
                <a:solidFill>
                  <a:schemeClr val="dk1"/>
                </a:solidFill>
                <a:latin typeface="Arial" pitchFamily="34" charset="0"/>
                <a:ea typeface="Verdana" pitchFamily="34" charset="0"/>
                <a:cs typeface="Verdana" pitchFamily="34" charset="0"/>
              </a:rPr>
              <a:t>• </a:t>
            </a:r>
            <a:r>
              <a:rPr lang="fr-FR" sz="2000" b="1" dirty="0" smtClean="0">
                <a:solidFill>
                  <a:schemeClr val="accent1"/>
                </a:solidFill>
                <a:latin typeface="Arial" pitchFamily="34" charset="0"/>
                <a:ea typeface="Verdana" pitchFamily="34" charset="0"/>
                <a:cs typeface="Verdana" pitchFamily="34" charset="0"/>
              </a:rPr>
              <a:t>Quelles sont les tendances du marché ?</a:t>
            </a:r>
          </a:p>
          <a:p>
            <a:pPr algn="just"/>
            <a:endParaRPr lang="fr-FR" sz="2000" b="1" dirty="0" smtClean="0">
              <a:solidFill>
                <a:schemeClr val="accent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Vous devez identifier votre marché :</a:t>
            </a:r>
          </a:p>
          <a:p>
            <a:pPr algn="just"/>
            <a:r>
              <a:rPr lang="fr-FR" sz="2000" dirty="0" smtClean="0">
                <a:solidFill>
                  <a:schemeClr val="dk1"/>
                </a:solidFill>
                <a:latin typeface="Arial" pitchFamily="34" charset="0"/>
                <a:ea typeface="Verdana" pitchFamily="34" charset="0"/>
                <a:cs typeface="Verdana" pitchFamily="34" charset="0"/>
              </a:rPr>
              <a:t>• Marché des entreprises, des particuliers, des loisirs, des biens de grande consommation ?</a:t>
            </a:r>
          </a:p>
          <a:p>
            <a:pPr algn="just"/>
            <a:r>
              <a:rPr lang="fr-FR" sz="2000" dirty="0" smtClean="0">
                <a:solidFill>
                  <a:schemeClr val="dk1"/>
                </a:solidFill>
                <a:latin typeface="Arial" pitchFamily="34" charset="0"/>
                <a:ea typeface="Verdana" pitchFamily="34" charset="0"/>
                <a:cs typeface="Verdana" pitchFamily="34" charset="0"/>
              </a:rPr>
              <a:t>• Marché en développement, en stagnation, en déclin ?</a:t>
            </a:r>
          </a:p>
          <a:p>
            <a:pPr algn="just"/>
            <a:r>
              <a:rPr lang="fr-FR" sz="2000" dirty="0" smtClean="0">
                <a:solidFill>
                  <a:schemeClr val="dk1"/>
                </a:solidFill>
                <a:latin typeface="Arial" pitchFamily="34" charset="0"/>
                <a:ea typeface="Verdana" pitchFamily="34" charset="0"/>
                <a:cs typeface="Verdana" pitchFamily="34" charset="0"/>
              </a:rPr>
              <a:t>• Que représente t-il en volume de vente et en chiffre d’affaires ?</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 </a:t>
            </a:r>
            <a:r>
              <a:rPr lang="fr-FR" sz="2000" b="1" dirty="0" smtClean="0">
                <a:solidFill>
                  <a:schemeClr val="accent1"/>
                </a:solidFill>
                <a:latin typeface="Arial" pitchFamily="34" charset="0"/>
                <a:ea typeface="Verdana" pitchFamily="34" charset="0"/>
                <a:cs typeface="Verdana" pitchFamily="34" charset="0"/>
              </a:rPr>
              <a:t>Qu’allez-vous vendre ?</a:t>
            </a:r>
          </a:p>
          <a:p>
            <a:pPr algn="just"/>
            <a:endParaRPr lang="fr-FR" sz="2000" b="1" dirty="0" smtClean="0">
              <a:solidFill>
                <a:schemeClr val="accent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Affinez les caractéristiques de vos produits ou services : spécialisation, niveau de qualité, avantages, gamme, présentation, finition, conditions d’emploi, prestations complémentaires, etc.</a:t>
            </a:r>
          </a:p>
          <a:p>
            <a:pPr algn="just"/>
            <a:endParaRPr lang="fr-FR" sz="2000" dirty="0" smtClean="0">
              <a:solidFill>
                <a:schemeClr val="dk1"/>
              </a:solidFill>
              <a:latin typeface="Arial" pitchFamily="34" charset="0"/>
              <a:ea typeface="Verdana" pitchFamily="34" charset="0"/>
              <a:cs typeface="Verdana" pitchFamily="34"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902825" y="1052684"/>
            <a:ext cx="10417215" cy="464742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b="1" dirty="0" smtClean="0">
                <a:solidFill>
                  <a:schemeClr val="accent1"/>
                </a:solidFill>
                <a:latin typeface="Arial" pitchFamily="34" charset="0"/>
                <a:ea typeface="Verdana" pitchFamily="34" charset="0"/>
                <a:cs typeface="Verdana" pitchFamily="34" charset="0"/>
              </a:rPr>
              <a:t>• À qui allez-vous vendre ?</a:t>
            </a:r>
          </a:p>
          <a:p>
            <a:pPr algn="just"/>
            <a:endParaRPr lang="fr-FR" sz="8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 Quelle clientèle : entreprises (PME, grands comptes), particuliers (famille, individus), collectivités ?</a:t>
            </a:r>
          </a:p>
          <a:p>
            <a:pPr algn="just"/>
            <a:r>
              <a:rPr lang="fr-FR" sz="2000" dirty="0" smtClean="0">
                <a:solidFill>
                  <a:schemeClr val="dk1"/>
                </a:solidFill>
                <a:latin typeface="Arial" pitchFamily="34" charset="0"/>
                <a:ea typeface="Verdana" pitchFamily="34" charset="0"/>
                <a:cs typeface="Verdana" pitchFamily="34" charset="0"/>
              </a:rPr>
              <a:t>• Quelle est la capacité d’investissement pour ce produit ou service ?</a:t>
            </a:r>
          </a:p>
          <a:p>
            <a:pPr algn="just"/>
            <a:r>
              <a:rPr lang="fr-FR" sz="2000" dirty="0" smtClean="0">
                <a:solidFill>
                  <a:schemeClr val="dk1"/>
                </a:solidFill>
                <a:latin typeface="Arial" pitchFamily="34" charset="0"/>
                <a:ea typeface="Verdana" pitchFamily="34" charset="0"/>
                <a:cs typeface="Verdana" pitchFamily="34" charset="0"/>
              </a:rPr>
              <a:t>• Quels sont les besoins de vos clients potentiels ?</a:t>
            </a:r>
          </a:p>
          <a:p>
            <a:pPr algn="just"/>
            <a:r>
              <a:rPr lang="fr-FR" sz="2000" dirty="0" smtClean="0">
                <a:solidFill>
                  <a:schemeClr val="dk1"/>
                </a:solidFill>
                <a:latin typeface="Arial" pitchFamily="34" charset="0"/>
                <a:ea typeface="Verdana" pitchFamily="34" charset="0"/>
                <a:cs typeface="Verdana" pitchFamily="34" charset="0"/>
              </a:rPr>
              <a:t>• Comment achètent-ils ?</a:t>
            </a:r>
          </a:p>
          <a:p>
            <a:pPr algn="just"/>
            <a:r>
              <a:rPr lang="fr-FR" sz="2000" dirty="0" smtClean="0">
                <a:solidFill>
                  <a:schemeClr val="dk1"/>
                </a:solidFill>
                <a:latin typeface="Arial" pitchFamily="34" charset="0"/>
                <a:ea typeface="Verdana" pitchFamily="34" charset="0"/>
                <a:cs typeface="Verdana" pitchFamily="34" charset="0"/>
              </a:rPr>
              <a:t>• Où vivent-ils ?</a:t>
            </a:r>
          </a:p>
          <a:p>
            <a:pPr algn="just"/>
            <a:r>
              <a:rPr lang="fr-FR" sz="2000" dirty="0" smtClean="0">
                <a:solidFill>
                  <a:schemeClr val="dk1"/>
                </a:solidFill>
                <a:latin typeface="Arial" pitchFamily="34" charset="0"/>
                <a:ea typeface="Verdana" pitchFamily="34" charset="0"/>
                <a:cs typeface="Verdana" pitchFamily="34" charset="0"/>
              </a:rPr>
              <a:t>• Comment se comportent-ils ?</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b="1" dirty="0" smtClean="0">
                <a:solidFill>
                  <a:schemeClr val="accent1"/>
                </a:solidFill>
                <a:latin typeface="Arial" pitchFamily="34" charset="0"/>
                <a:ea typeface="Verdana" pitchFamily="34" charset="0"/>
                <a:cs typeface="Verdana" pitchFamily="34" charset="0"/>
              </a:rPr>
              <a:t>• À quel besoin correspond votre produit ou service ?</a:t>
            </a:r>
          </a:p>
          <a:p>
            <a:pPr algn="just"/>
            <a:endParaRPr lang="fr-FR" sz="8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Analysez les attentes de vos clients : gain de temps, de place, d’argent, besoin de sécurité, de confort, de nouveauté, réduction de l’impact environnemental ou autre.</a:t>
            </a:r>
          </a:p>
          <a:p>
            <a:pPr algn="just"/>
            <a:r>
              <a:rPr lang="fr-FR" sz="2000" dirty="0" smtClean="0">
                <a:solidFill>
                  <a:schemeClr val="dk1"/>
                </a:solidFill>
                <a:latin typeface="Arial" pitchFamily="34" charset="0"/>
                <a:ea typeface="Verdana" pitchFamily="34" charset="0"/>
                <a:cs typeface="Verdana" pitchFamily="34" charset="0"/>
              </a:rPr>
              <a:t>Précisez les avantages que vous allez leur apporter : garantie de qualité, de technicité, de ponctualité, de souplesse, de délais d’exécution, horaires, étendue du choix, etc.</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041721" y="1151300"/>
            <a:ext cx="10382491" cy="501675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b="1" dirty="0" smtClean="0">
                <a:solidFill>
                  <a:schemeClr val="accent1"/>
                </a:solidFill>
                <a:latin typeface="Arial" pitchFamily="34" charset="0"/>
                <a:ea typeface="Verdana" pitchFamily="34" charset="0"/>
                <a:cs typeface="Verdana" pitchFamily="34" charset="0"/>
              </a:rPr>
              <a:t>Comment allez-vous vendre ?</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Adaptez votre mode de distribution aux habitudes de vos clients : achats sur catalogue, après essai, sur références, après démonstration, à domicile, en ligne, après devis, par appel d’offres ou autre.</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 </a:t>
            </a:r>
            <a:r>
              <a:rPr lang="fr-FR" sz="2000" b="1" dirty="0" smtClean="0">
                <a:solidFill>
                  <a:schemeClr val="accent1"/>
                </a:solidFill>
                <a:latin typeface="Arial" pitchFamily="34" charset="0"/>
                <a:ea typeface="Verdana" pitchFamily="34" charset="0"/>
                <a:cs typeface="Verdana" pitchFamily="34" charset="0"/>
              </a:rPr>
              <a:t>Quels sont vos concurrents ?</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 Qui sont-ils ?</a:t>
            </a:r>
          </a:p>
          <a:p>
            <a:pPr algn="just"/>
            <a:r>
              <a:rPr lang="fr-FR" sz="2000" dirty="0" smtClean="0">
                <a:solidFill>
                  <a:schemeClr val="dk1"/>
                </a:solidFill>
                <a:latin typeface="Arial" pitchFamily="34" charset="0"/>
                <a:ea typeface="Verdana" pitchFamily="34" charset="0"/>
                <a:cs typeface="Verdana" pitchFamily="34" charset="0"/>
              </a:rPr>
              <a:t>• Combien sont-ils ?</a:t>
            </a:r>
          </a:p>
          <a:p>
            <a:pPr algn="just"/>
            <a:r>
              <a:rPr lang="fr-FR" sz="2000" dirty="0" smtClean="0">
                <a:solidFill>
                  <a:schemeClr val="dk1"/>
                </a:solidFill>
                <a:latin typeface="Arial" pitchFamily="34" charset="0"/>
                <a:ea typeface="Verdana" pitchFamily="34" charset="0"/>
                <a:cs typeface="Verdana" pitchFamily="34" charset="0"/>
              </a:rPr>
              <a:t>• Où sont-ils ?</a:t>
            </a:r>
          </a:p>
          <a:p>
            <a:pPr algn="just"/>
            <a:r>
              <a:rPr lang="fr-FR" sz="2000" dirty="0" smtClean="0">
                <a:solidFill>
                  <a:schemeClr val="dk1"/>
                </a:solidFill>
                <a:latin typeface="Arial" pitchFamily="34" charset="0"/>
                <a:ea typeface="Verdana" pitchFamily="34" charset="0"/>
                <a:cs typeface="Verdana" pitchFamily="34" charset="0"/>
              </a:rPr>
              <a:t>• Que proposent-ils ?</a:t>
            </a:r>
          </a:p>
          <a:p>
            <a:pPr algn="just"/>
            <a:r>
              <a:rPr lang="fr-FR" sz="2000" dirty="0" smtClean="0">
                <a:solidFill>
                  <a:schemeClr val="dk1"/>
                </a:solidFill>
                <a:latin typeface="Arial" pitchFamily="34" charset="0"/>
                <a:ea typeface="Verdana" pitchFamily="34" charset="0"/>
                <a:cs typeface="Verdana" pitchFamily="34" charset="0"/>
              </a:rPr>
              <a:t>• À quels prix ?</a:t>
            </a:r>
          </a:p>
          <a:p>
            <a:pPr algn="just"/>
            <a:r>
              <a:rPr lang="fr-FR" sz="2000" dirty="0" smtClean="0">
                <a:solidFill>
                  <a:schemeClr val="dk1"/>
                </a:solidFill>
                <a:latin typeface="Arial" pitchFamily="34" charset="0"/>
                <a:ea typeface="Verdana" pitchFamily="34" charset="0"/>
                <a:cs typeface="Verdana" pitchFamily="34" charset="0"/>
              </a:rPr>
              <a:t>Analysez leurs atouts (notoriété, ancienneté, accessibilité, publicité, surface de vente, étendue de la gamme, facilités de paiement, services annexes, etc.).</a:t>
            </a:r>
          </a:p>
          <a:p>
            <a:pPr algn="just"/>
            <a:endParaRPr lang="fr-FR" sz="2000" dirty="0" smtClean="0">
              <a:solidFill>
                <a:schemeClr val="dk1"/>
              </a:solidFill>
              <a:latin typeface="Arial" pitchFamily="34" charset="0"/>
              <a:ea typeface="Verdana" pitchFamily="34" charset="0"/>
              <a:cs typeface="Verdana" pitchFamily="34"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844952" y="1096204"/>
            <a:ext cx="10208871" cy="532453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b="1" dirty="0" smtClean="0">
                <a:solidFill>
                  <a:schemeClr val="accent1"/>
                </a:solidFill>
                <a:latin typeface="Arial" pitchFamily="34" charset="0"/>
                <a:ea typeface="Verdana" pitchFamily="34" charset="0"/>
                <a:cs typeface="Verdana" pitchFamily="34" charset="0"/>
              </a:rPr>
              <a:t>• Quels sont les moments propices à l’achat de votre produit ou service ?</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Pour la clientèle que vous visez, votre activité est-elle assujettie à un calendrier,</a:t>
            </a:r>
          </a:p>
          <a:p>
            <a:pPr algn="just"/>
            <a:r>
              <a:rPr lang="fr-FR" sz="2000" dirty="0" smtClean="0">
                <a:solidFill>
                  <a:schemeClr val="dk1"/>
                </a:solidFill>
                <a:latin typeface="Arial" pitchFamily="34" charset="0"/>
                <a:ea typeface="Verdana" pitchFamily="34" charset="0"/>
                <a:cs typeface="Verdana" pitchFamily="34" charset="0"/>
              </a:rPr>
              <a:t>un planning ou à des horaires particuliers ?</a:t>
            </a:r>
          </a:p>
          <a:p>
            <a:pPr algn="just"/>
            <a:r>
              <a:rPr lang="fr-FR" sz="2000" dirty="0" smtClean="0">
                <a:solidFill>
                  <a:schemeClr val="dk1"/>
                </a:solidFill>
                <a:latin typeface="Arial" pitchFamily="34" charset="0"/>
                <a:ea typeface="Verdana" pitchFamily="34" charset="0"/>
                <a:cs typeface="Verdana" pitchFamily="34" charset="0"/>
              </a:rPr>
              <a:t>La demande est-elle ponctuelle, fortuite, périodique, saisonnière ou régulière ?</a:t>
            </a:r>
          </a:p>
          <a:p>
            <a:pPr algn="just"/>
            <a:r>
              <a:rPr lang="fr-FR" sz="2000" dirty="0" smtClean="0">
                <a:solidFill>
                  <a:schemeClr val="dk1"/>
                </a:solidFill>
                <a:latin typeface="Arial" pitchFamily="34" charset="0"/>
                <a:ea typeface="Verdana" pitchFamily="34" charset="0"/>
                <a:cs typeface="Verdana" pitchFamily="34" charset="0"/>
              </a:rPr>
              <a:t>Les achats sont-ils programmés, aléatoires ou d’urgence ?</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 </a:t>
            </a:r>
            <a:r>
              <a:rPr lang="fr-FR" sz="2000" b="1" dirty="0" smtClean="0">
                <a:solidFill>
                  <a:schemeClr val="accent1"/>
                </a:solidFill>
                <a:latin typeface="Arial" pitchFamily="34" charset="0"/>
                <a:ea typeface="Verdana" pitchFamily="34" charset="0"/>
                <a:cs typeface="Verdana" pitchFamily="34" charset="0"/>
              </a:rPr>
              <a:t>Où allez-vous exercer votre activité ?</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Vous devez vous poser plusieurs questions :</a:t>
            </a:r>
          </a:p>
          <a:p>
            <a:pPr algn="just"/>
            <a:r>
              <a:rPr lang="fr-FR" sz="2000" dirty="0" smtClean="0">
                <a:solidFill>
                  <a:schemeClr val="dk1"/>
                </a:solidFill>
                <a:latin typeface="Arial" pitchFamily="34" charset="0"/>
                <a:ea typeface="Verdana" pitchFamily="34" charset="0"/>
                <a:cs typeface="Verdana" pitchFamily="34" charset="0"/>
              </a:rPr>
              <a:t>• Exercerez-vous votre activité dans un local dédié, chez vos clients ou à votre domicile ?</a:t>
            </a:r>
          </a:p>
          <a:p>
            <a:pPr algn="just"/>
            <a:r>
              <a:rPr lang="fr-FR" sz="2000" dirty="0" smtClean="0">
                <a:solidFill>
                  <a:schemeClr val="dk1"/>
                </a:solidFill>
                <a:latin typeface="Arial" pitchFamily="34" charset="0"/>
                <a:ea typeface="Verdana" pitchFamily="34" charset="0"/>
                <a:cs typeface="Verdana" pitchFamily="34" charset="0"/>
              </a:rPr>
              <a:t>• Avez-vous besoin de vous installer près de vos sources d’approvisionnements ou près de votre clientèle ?</a:t>
            </a:r>
          </a:p>
          <a:p>
            <a:pPr algn="just"/>
            <a:r>
              <a:rPr lang="fr-FR" sz="2000" dirty="0" smtClean="0">
                <a:solidFill>
                  <a:schemeClr val="dk1"/>
                </a:solidFill>
                <a:latin typeface="Arial" pitchFamily="34" charset="0"/>
                <a:ea typeface="Verdana" pitchFamily="34" charset="0"/>
                <a:cs typeface="Verdana" pitchFamily="34" charset="0"/>
              </a:rPr>
              <a:t>Si votre projet consiste à ouvrir un commerce de détail, votre emplacement sera capital pour sa réussite. Lorsque vous aurez repéré un emplacement, n’hésitez pas à passer plusieurs jours dans le quartier, à questionner les commerçants, à surveiller attentivement le flux des passants et à observer les commerces concurrents.</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134318" y="1582341"/>
            <a:ext cx="10012101" cy="34778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b="1" dirty="0" smtClean="0">
                <a:solidFill>
                  <a:schemeClr val="accent1"/>
                </a:solidFill>
                <a:latin typeface="Arial" pitchFamily="34" charset="0"/>
                <a:ea typeface="Verdana" pitchFamily="34" charset="0"/>
                <a:cs typeface="Verdana" pitchFamily="34" charset="0"/>
              </a:rPr>
              <a:t>• À quel prix allez-vous vendre votre produit ?</a:t>
            </a:r>
          </a:p>
          <a:p>
            <a:pPr algn="just"/>
            <a:endParaRPr lang="fr-FR" sz="2000" b="1" dirty="0" smtClean="0">
              <a:solidFill>
                <a:schemeClr val="accent1"/>
              </a:solidFill>
              <a:latin typeface="Arial" pitchFamily="34" charset="0"/>
              <a:ea typeface="Verdana" pitchFamily="34" charset="0"/>
              <a:cs typeface="Verdana" pitchFamily="34" charset="0"/>
            </a:endParaRPr>
          </a:p>
          <a:p>
            <a:pPr algn="just"/>
            <a:r>
              <a:rPr lang="fr-FR" dirty="0" smtClean="0">
                <a:latin typeface="Arial" pitchFamily="34" charset="0"/>
                <a:ea typeface="Verdana" pitchFamily="34" charset="0"/>
                <a:cs typeface="Verdana" pitchFamily="34" charset="0"/>
              </a:rPr>
              <a:t>Devrez-vous lancer un produit moins cher que celui proposé par vos concurrents ?</a:t>
            </a:r>
          </a:p>
          <a:p>
            <a:pPr algn="just"/>
            <a:r>
              <a:rPr lang="fr-FR" dirty="0" smtClean="0">
                <a:latin typeface="Arial" pitchFamily="34" charset="0"/>
                <a:ea typeface="Verdana" pitchFamily="34" charset="0"/>
                <a:cs typeface="Verdana" pitchFamily="34" charset="0"/>
              </a:rPr>
              <a:t>Votre coût de fabrication ou d’achat justifie-t-il qu’il soit vendu plus cher ?</a:t>
            </a:r>
          </a:p>
          <a:p>
            <a:pPr algn="just"/>
            <a:r>
              <a:rPr lang="fr-FR" dirty="0" smtClean="0">
                <a:latin typeface="Arial" pitchFamily="34" charset="0"/>
                <a:ea typeface="Verdana" pitchFamily="34" charset="0"/>
                <a:cs typeface="Verdana" pitchFamily="34" charset="0"/>
              </a:rPr>
              <a:t>Pour fixer le « prix juste », il est nécessaire de bien connaître sa clientèle, ses concurrents et ses coûts. Les informations que vous avez pu recueillir précédemment sont donc essentielles dans cette étape, particulièrement :</a:t>
            </a:r>
          </a:p>
          <a:p>
            <a:pPr algn="just"/>
            <a:endParaRPr lang="fr-FR" dirty="0" smtClean="0">
              <a:latin typeface="Arial" pitchFamily="34" charset="0"/>
              <a:ea typeface="Verdana" pitchFamily="34" charset="0"/>
              <a:cs typeface="Verdana" pitchFamily="34" charset="0"/>
            </a:endParaRPr>
          </a:p>
          <a:p>
            <a:pPr algn="just"/>
            <a:r>
              <a:rPr lang="fr-FR" dirty="0" smtClean="0">
                <a:latin typeface="Arial" pitchFamily="34" charset="0"/>
                <a:ea typeface="Verdana" pitchFamily="34" charset="0"/>
                <a:cs typeface="Verdana" pitchFamily="34" charset="0"/>
              </a:rPr>
              <a:t>• la sensibilité de la demande au prix du produit ;</a:t>
            </a:r>
          </a:p>
          <a:p>
            <a:pPr algn="just"/>
            <a:r>
              <a:rPr lang="fr-FR" dirty="0" smtClean="0">
                <a:latin typeface="Arial" pitchFamily="34" charset="0"/>
                <a:ea typeface="Verdana" pitchFamily="34" charset="0"/>
                <a:cs typeface="Verdana" pitchFamily="34" charset="0"/>
              </a:rPr>
              <a:t>• les prix pratiqués par vos concurrents ;</a:t>
            </a:r>
          </a:p>
          <a:p>
            <a:pPr algn="just"/>
            <a:r>
              <a:rPr lang="fr-FR" dirty="0" smtClean="0">
                <a:latin typeface="Arial" pitchFamily="34" charset="0"/>
                <a:ea typeface="Verdana" pitchFamily="34" charset="0"/>
                <a:cs typeface="Verdana" pitchFamily="34" charset="0"/>
              </a:rPr>
              <a:t>• le calcul de votre prix de revient.</a:t>
            </a:r>
          </a:p>
          <a:p>
            <a:pPr algn="just"/>
            <a:endParaRPr lang="fr-FR" dirty="0" smtClean="0">
              <a:solidFill>
                <a:schemeClr val="dk1"/>
              </a:solidFill>
              <a:latin typeface="Arial" pitchFamily="34" charset="0"/>
              <a:ea typeface="Verdana" pitchFamily="34" charset="0"/>
              <a:cs typeface="Verdana" pitchFamily="34"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4" name="Rectangle 3"/>
          <p:cNvSpPr/>
          <p:nvPr/>
        </p:nvSpPr>
        <p:spPr>
          <a:xfrm>
            <a:off x="1030147" y="1181591"/>
            <a:ext cx="10278319" cy="458587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fr-FR" sz="2200" b="1" dirty="0" smtClean="0">
                <a:solidFill>
                  <a:schemeClr val="accent6">
                    <a:lumMod val="75000"/>
                  </a:schemeClr>
                </a:solidFill>
                <a:latin typeface="Arial" pitchFamily="34" charset="0"/>
                <a:ea typeface="Verdana" pitchFamily="34" charset="0"/>
                <a:cs typeface="Verdana" pitchFamily="34" charset="0"/>
              </a:rPr>
              <a:t>1-2 Estimer votre chiffre d’affaires prévisionnel</a:t>
            </a:r>
          </a:p>
          <a:p>
            <a:endParaRPr lang="fr-FR" dirty="0" smtClean="0"/>
          </a:p>
          <a:p>
            <a:pPr algn="just"/>
            <a:endParaRPr lang="fr-FR" dirty="0" smtClean="0">
              <a:latin typeface="Arial" pitchFamily="34" charset="0"/>
              <a:ea typeface="Verdana" pitchFamily="34" charset="0"/>
              <a:cs typeface="Verdana" pitchFamily="34" charset="0"/>
            </a:endParaRPr>
          </a:p>
          <a:p>
            <a:pPr algn="just"/>
            <a:r>
              <a:rPr lang="fr-FR" dirty="0" smtClean="0">
                <a:latin typeface="Arial" pitchFamily="34" charset="0"/>
                <a:ea typeface="Verdana" pitchFamily="34" charset="0"/>
                <a:cs typeface="Verdana" pitchFamily="34" charset="0"/>
              </a:rPr>
              <a:t>En recoupant les différents éléments d’information recueillis, vous devez être en mesure d’évaluer le nombre de clients potentiels sur votre zone d’intervention et de mesurer leur volume de consommation pour fixer, en les justifiant, vos hypothèses de chiffre d’affaires prévisionnel.</a:t>
            </a:r>
          </a:p>
          <a:p>
            <a:pPr algn="just"/>
            <a:r>
              <a:rPr lang="fr-FR" dirty="0" smtClean="0">
                <a:latin typeface="Arial" pitchFamily="34" charset="0"/>
                <a:ea typeface="Verdana" pitchFamily="34" charset="0"/>
                <a:cs typeface="Verdana" pitchFamily="34" charset="0"/>
              </a:rPr>
              <a:t>N’hésitez pas à présenter vos estimations à des professionnels locaux du conseil et / ou du métier visé par le projet : experts comptables, conseillers d’organismes d’accompagnement à la création d’entreprise, organisations professionnelles ou autres.</a:t>
            </a:r>
          </a:p>
          <a:p>
            <a:pPr algn="just"/>
            <a:endParaRPr lang="fr-FR" dirty="0" smtClean="0">
              <a:latin typeface="Arial" pitchFamily="34" charset="0"/>
              <a:ea typeface="Verdana" pitchFamily="34" charset="0"/>
              <a:cs typeface="Verdana" pitchFamily="34" charset="0"/>
            </a:endParaRPr>
          </a:p>
          <a:p>
            <a:pPr algn="just"/>
            <a:r>
              <a:rPr lang="fr-FR" dirty="0" smtClean="0">
                <a:latin typeface="Arial" pitchFamily="34" charset="0"/>
                <a:ea typeface="Verdana" pitchFamily="34" charset="0"/>
                <a:cs typeface="Verdana" pitchFamily="34" charset="0"/>
              </a:rPr>
              <a:t>Leur expérience permet souvent d’affiner les prévisions : un chiffre d’affaires prévisionnel se doit de n’être ni trop pessimiste ni trop optimiste, mais tout simplement réaliste.</a:t>
            </a:r>
          </a:p>
          <a:p>
            <a:pPr algn="just"/>
            <a:endParaRPr lang="fr-FR" dirty="0" smtClean="0">
              <a:latin typeface="Arial" pitchFamily="34" charset="0"/>
              <a:ea typeface="Verdana" pitchFamily="34" charset="0"/>
              <a:cs typeface="Verdana" pitchFamily="34" charset="0"/>
            </a:endParaRPr>
          </a:p>
          <a:p>
            <a:pPr algn="just"/>
            <a:endParaRPr lang="fr-FR" dirty="0" smtClean="0">
              <a:latin typeface="Arial" pitchFamily="34" charset="0"/>
              <a:ea typeface="Verdana" pitchFamily="34" charset="0"/>
              <a:cs typeface="Verdana" pitchFamily="34" charset="0"/>
            </a:endParaRPr>
          </a:p>
          <a:p>
            <a:pPr algn="just"/>
            <a:endParaRPr lang="fr-FR" dirty="0" smtClean="0">
              <a:latin typeface="Arial" pitchFamily="34" charset="0"/>
              <a:ea typeface="Verdana" pitchFamily="34" charset="0"/>
              <a:cs typeface="Verdana" pitchFamily="34" charset="0"/>
            </a:endParaRPr>
          </a:p>
          <a:p>
            <a:pPr algn="just"/>
            <a:endParaRPr lang="fr-FR" dirty="0" smtClean="0">
              <a:latin typeface="Arial" pitchFamily="34" charset="0"/>
              <a:ea typeface="Verdana" pitchFamily="34" charset="0"/>
              <a:cs typeface="Verdana" pitchFamily="34"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960699" y="1180401"/>
            <a:ext cx="10139423" cy="477053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fr-FR" sz="2200" b="1" dirty="0" smtClean="0">
                <a:solidFill>
                  <a:schemeClr val="accent6">
                    <a:lumMod val="75000"/>
                  </a:schemeClr>
                </a:solidFill>
                <a:latin typeface="Arial" pitchFamily="34" charset="0"/>
                <a:ea typeface="Verdana" pitchFamily="34" charset="0"/>
                <a:cs typeface="Verdana" pitchFamily="34" charset="0"/>
              </a:rPr>
              <a:t>1-3 Choisir vos actions commerciales</a:t>
            </a:r>
          </a:p>
          <a:p>
            <a:pPr algn="just"/>
            <a:endParaRPr lang="fr-FR" sz="2200" b="1" dirty="0" smtClean="0">
              <a:solidFill>
                <a:schemeClr val="accent6">
                  <a:lumMod val="75000"/>
                </a:schemeClr>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Une fois votre offre construite, vous devrez organiser la force de vente de votre entreprise, prévoir les relations avec vos futurs clients et décider des actions à mener pour favoriser ces relations.</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L’ensemble des moyens qui permettent d’agir sur un marché peuvent être classés en     </a:t>
            </a:r>
            <a:r>
              <a:rPr lang="fr-FR" sz="2000" u="sng" dirty="0" smtClean="0">
                <a:solidFill>
                  <a:schemeClr val="dk1"/>
                </a:solidFill>
                <a:latin typeface="Arial" pitchFamily="34" charset="0"/>
                <a:ea typeface="Verdana" pitchFamily="34" charset="0"/>
                <a:cs typeface="Verdana" pitchFamily="34" charset="0"/>
              </a:rPr>
              <a:t>3 catégories</a:t>
            </a:r>
            <a:r>
              <a:rPr lang="fr-FR" sz="2000" dirty="0" smtClean="0">
                <a:solidFill>
                  <a:schemeClr val="dk1"/>
                </a:solidFill>
                <a:latin typeface="Arial" pitchFamily="34" charset="0"/>
                <a:ea typeface="Verdana" pitchFamily="34" charset="0"/>
                <a:cs typeface="Verdana" pitchFamily="34" charset="0"/>
              </a:rPr>
              <a:t>.</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latin typeface="Arial" pitchFamily="34" charset="0"/>
                <a:ea typeface="Verdana" pitchFamily="34" charset="0"/>
                <a:cs typeface="Verdana" pitchFamily="34" charset="0"/>
              </a:rPr>
              <a:t>a- </a:t>
            </a:r>
            <a:r>
              <a:rPr lang="fr-FR" sz="2000" dirty="0" smtClean="0">
                <a:solidFill>
                  <a:schemeClr val="dk1"/>
                </a:solidFill>
                <a:latin typeface="Arial" pitchFamily="34" charset="0"/>
                <a:ea typeface="Verdana" pitchFamily="34" charset="0"/>
                <a:cs typeface="Verdana" pitchFamily="34" charset="0"/>
              </a:rPr>
              <a:t>Ceux qui visent à attirer le consommateur vers le produit relèvent de </a:t>
            </a:r>
            <a:r>
              <a:rPr lang="fr-FR" sz="2000" b="1" dirty="0" smtClean="0">
                <a:solidFill>
                  <a:schemeClr val="dk1"/>
                </a:solidFill>
                <a:latin typeface="Arial" pitchFamily="34" charset="0"/>
                <a:ea typeface="Verdana" pitchFamily="34" charset="0"/>
                <a:cs typeface="Verdana" pitchFamily="34" charset="0"/>
              </a:rPr>
              <a:t>l’action publicitaire</a:t>
            </a:r>
            <a:r>
              <a:rPr lang="fr-FR" sz="2000" dirty="0" smtClean="0">
                <a:solidFill>
                  <a:schemeClr val="dk1"/>
                </a:solidFill>
                <a:latin typeface="Arial" pitchFamily="34" charset="0"/>
                <a:ea typeface="Verdana" pitchFamily="34" charset="0"/>
                <a:cs typeface="Verdana" pitchFamily="34" charset="0"/>
              </a:rPr>
              <a:t>. Vous déciderez, en fonction de votre budget et de l’étendue de votre rayon d’action, du type de support le plus efficace : insertion dans les « pages jaunes », signalétique et / ou publicité sur le lieu de vente, prospectus, cartes de visite, encarts publicitaires sur internet, dans la presse locale ou spécialisée ainsi que dans les annuaires professionnels, annonces sur les radios locales, etc.</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088020" y="1166843"/>
            <a:ext cx="10023676" cy="37856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dirty="0" smtClean="0">
                <a:solidFill>
                  <a:schemeClr val="dk1"/>
                </a:solidFill>
                <a:latin typeface="Arial" pitchFamily="34" charset="0"/>
                <a:ea typeface="Verdana" pitchFamily="34" charset="0"/>
                <a:cs typeface="Verdana" pitchFamily="34" charset="0"/>
              </a:rPr>
              <a:t>b- Ceux qui visent à pousser le produit vers le consommateur relèvent de </a:t>
            </a:r>
            <a:r>
              <a:rPr lang="fr-FR" sz="2000" b="1" dirty="0" smtClean="0">
                <a:solidFill>
                  <a:schemeClr val="dk1"/>
                </a:solidFill>
                <a:latin typeface="Arial" pitchFamily="34" charset="0"/>
                <a:ea typeface="Verdana" pitchFamily="34" charset="0"/>
                <a:cs typeface="Verdana" pitchFamily="34" charset="0"/>
              </a:rPr>
              <a:t>l’action promotionnelle</a:t>
            </a:r>
            <a:r>
              <a:rPr lang="fr-FR" sz="2000" dirty="0" smtClean="0">
                <a:solidFill>
                  <a:schemeClr val="dk1"/>
                </a:solidFill>
                <a:latin typeface="Arial" pitchFamily="34" charset="0"/>
                <a:ea typeface="Verdana" pitchFamily="34" charset="0"/>
                <a:cs typeface="Verdana" pitchFamily="34" charset="0"/>
              </a:rPr>
              <a:t>. Elle permet d’inciter ponctuellement à l’achat en accordant un avantage exceptionnel : journées portes ouvertes, petits événements, dégustations, démonstrations, participation à des foires, cartes de fidélité, etc.</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c- Ceux qui visent à établir un contact direct avec le consommateur relèvent des </a:t>
            </a:r>
            <a:r>
              <a:rPr lang="fr-FR" sz="2000" b="1" dirty="0" smtClean="0">
                <a:solidFill>
                  <a:schemeClr val="dk1"/>
                </a:solidFill>
                <a:latin typeface="Arial" pitchFamily="34" charset="0"/>
                <a:ea typeface="Verdana" pitchFamily="34" charset="0"/>
                <a:cs typeface="Verdana" pitchFamily="34" charset="0"/>
              </a:rPr>
              <a:t>actions de prospection ou de relance </a:t>
            </a:r>
            <a:r>
              <a:rPr lang="fr-FR" sz="2000" dirty="0" smtClean="0">
                <a:solidFill>
                  <a:schemeClr val="dk1"/>
                </a:solidFill>
                <a:latin typeface="Arial" pitchFamily="34" charset="0"/>
                <a:ea typeface="Verdana" pitchFamily="34" charset="0"/>
                <a:cs typeface="Verdana" pitchFamily="34" charset="0"/>
              </a:rPr>
              <a:t>: porte à porte, prospection téléphonique, par courrier, avec coupon-réponse, par internet, etc.</a:t>
            </a:r>
          </a:p>
          <a:p>
            <a:pPr algn="just"/>
            <a:endParaRPr lang="fr-FR" sz="2000" dirty="0" smtClean="0">
              <a:solidFill>
                <a:schemeClr val="dk1"/>
              </a:solidFill>
              <a:latin typeface="Arial" pitchFamily="34" charset="0"/>
              <a:ea typeface="Verdana" pitchFamily="34" charset="0"/>
              <a:cs typeface="Verdana" pitchFamily="34" charset="0"/>
            </a:endParaRPr>
          </a:p>
          <a:p>
            <a:pPr algn="just"/>
            <a:endParaRPr lang="fr-FR" sz="2000" b="1" dirty="0" smtClean="0">
              <a:solidFill>
                <a:schemeClr val="dk1"/>
              </a:solidFill>
              <a:latin typeface="Arial" pitchFamily="34" charset="0"/>
              <a:ea typeface="Verdana" pitchFamily="34" charset="0"/>
              <a:cs typeface="Verdana" pitchFamily="34" charset="0"/>
            </a:endParaRPr>
          </a:p>
          <a:p>
            <a:pPr algn="just"/>
            <a:r>
              <a:rPr lang="fr-FR" sz="2000" b="1" dirty="0" smtClean="0">
                <a:solidFill>
                  <a:schemeClr val="dk1"/>
                </a:solidFill>
                <a:latin typeface="Arial" pitchFamily="34" charset="0"/>
                <a:ea typeface="Verdana" pitchFamily="34" charset="0"/>
                <a:cs typeface="Verdana" pitchFamily="34" charset="0"/>
              </a:rPr>
              <a:t>Ces moyens ont naturellement un coût qu’il convient, à ce stade, d’évaluer de manière à les prendre en considération dans vos comptes prévisionnels.</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4" name="Rectangle 3"/>
          <p:cNvSpPr/>
          <p:nvPr/>
        </p:nvSpPr>
        <p:spPr>
          <a:xfrm>
            <a:off x="695325" y="1203662"/>
            <a:ext cx="10677525" cy="5078313"/>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just"/>
            <a:r>
              <a:rPr lang="fr-FR" dirty="0" smtClean="0">
                <a:solidFill>
                  <a:schemeClr val="dk1"/>
                </a:solidFill>
                <a:latin typeface="Arial" pitchFamily="34" charset="0"/>
                <a:ea typeface="Verdana" pitchFamily="34" charset="0"/>
                <a:cs typeface="Verdana" pitchFamily="34" charset="0"/>
              </a:rPr>
              <a:t>En résumé, les axes du Marketing Mix, souvent appelés les 4P, sont essentiels pour toute entreprise dans le cadre de son étude de marché. Voici les quatre axes à analyser :</a:t>
            </a:r>
          </a:p>
          <a:p>
            <a:pPr algn="just"/>
            <a:endParaRPr lang="fr-FR" dirty="0" smtClean="0">
              <a:solidFill>
                <a:schemeClr val="dk1"/>
              </a:solidFill>
              <a:latin typeface="Arial" pitchFamily="34" charset="0"/>
              <a:ea typeface="Verdana" pitchFamily="34" charset="0"/>
              <a:cs typeface="Verdana" pitchFamily="34" charset="0"/>
            </a:endParaRPr>
          </a:p>
          <a:p>
            <a:pPr algn="just"/>
            <a:r>
              <a:rPr lang="fr-FR" b="1" dirty="0" smtClean="0">
                <a:solidFill>
                  <a:schemeClr val="dk1"/>
                </a:solidFill>
                <a:latin typeface="Arial" pitchFamily="34" charset="0"/>
                <a:ea typeface="Verdana" pitchFamily="34" charset="0"/>
                <a:cs typeface="Verdana" pitchFamily="34" charset="0"/>
              </a:rPr>
              <a:t>Produit (Product)</a:t>
            </a:r>
            <a:r>
              <a:rPr lang="fr-FR" dirty="0" smtClean="0">
                <a:solidFill>
                  <a:schemeClr val="dk1"/>
                </a:solidFill>
                <a:latin typeface="Arial" pitchFamily="34" charset="0"/>
                <a:ea typeface="Verdana" pitchFamily="34" charset="0"/>
                <a:cs typeface="Verdana" pitchFamily="34" charset="0"/>
              </a:rPr>
              <a:t> : Cela concerne les caractéristiques, la qualité, le design, la marque et l’emballage du produit ou service. Il est important d’analyser comment le produit répond aux besoins des consommateurs et se distingue de la concurrence.</a:t>
            </a:r>
          </a:p>
          <a:p>
            <a:pPr algn="just"/>
            <a:r>
              <a:rPr lang="fr-FR" b="1" dirty="0" smtClean="0">
                <a:solidFill>
                  <a:schemeClr val="dk1"/>
                </a:solidFill>
                <a:latin typeface="Arial" pitchFamily="34" charset="0"/>
                <a:ea typeface="Verdana" pitchFamily="34" charset="0"/>
                <a:cs typeface="Verdana" pitchFamily="34" charset="0"/>
              </a:rPr>
              <a:t>Prix (Price) : </a:t>
            </a:r>
            <a:r>
              <a:rPr lang="fr-FR" dirty="0" smtClean="0">
                <a:solidFill>
                  <a:schemeClr val="dk1"/>
                </a:solidFill>
                <a:latin typeface="Arial" pitchFamily="34" charset="0"/>
                <a:ea typeface="Verdana" pitchFamily="34" charset="0"/>
                <a:cs typeface="Verdana" pitchFamily="34" charset="0"/>
              </a:rPr>
              <a:t>Cet axe implique l’évaluation des stratégies de tarification, des remises, des conditions de paiement et de la perception de la valeur par les consommateurs. Il est crucial de déterminer un prix qui soit compétitif tout en maximisant les marges bénéficiaires.</a:t>
            </a:r>
          </a:p>
          <a:p>
            <a:pPr algn="just"/>
            <a:r>
              <a:rPr lang="fr-FR" b="1" dirty="0" smtClean="0">
                <a:solidFill>
                  <a:schemeClr val="dk1"/>
                </a:solidFill>
                <a:latin typeface="Arial" pitchFamily="34" charset="0"/>
                <a:ea typeface="Verdana" pitchFamily="34" charset="0"/>
                <a:cs typeface="Verdana" pitchFamily="34" charset="0"/>
              </a:rPr>
              <a:t>Place (Distribution)</a:t>
            </a:r>
            <a:r>
              <a:rPr lang="fr-FR" dirty="0" smtClean="0">
                <a:solidFill>
                  <a:schemeClr val="dk1"/>
                </a:solidFill>
                <a:latin typeface="Arial" pitchFamily="34" charset="0"/>
                <a:ea typeface="Verdana" pitchFamily="34" charset="0"/>
                <a:cs typeface="Verdana" pitchFamily="34" charset="0"/>
              </a:rPr>
              <a:t> : Cela fait référence aux canaux de distribution utilisés pour amener le produit au consommateur final. Il est important d’analyser où et comment le produit sera vendu (magasins physiques, en ligne, distributeurs, etc.) et d’évaluer l’accessibilité pour les clients.</a:t>
            </a:r>
          </a:p>
          <a:p>
            <a:pPr algn="just"/>
            <a:r>
              <a:rPr lang="fr-FR" b="1" dirty="0" smtClean="0">
                <a:solidFill>
                  <a:schemeClr val="dk1"/>
                </a:solidFill>
                <a:latin typeface="Arial" pitchFamily="34" charset="0"/>
                <a:ea typeface="Verdana" pitchFamily="34" charset="0"/>
                <a:cs typeface="Verdana" pitchFamily="34" charset="0"/>
              </a:rPr>
              <a:t>Promotion (Promotion) : </a:t>
            </a:r>
            <a:r>
              <a:rPr lang="fr-FR" dirty="0" smtClean="0">
                <a:solidFill>
                  <a:schemeClr val="dk1"/>
                </a:solidFill>
                <a:latin typeface="Arial" pitchFamily="34" charset="0"/>
                <a:ea typeface="Verdana" pitchFamily="34" charset="0"/>
                <a:cs typeface="Verdana" pitchFamily="34" charset="0"/>
              </a:rPr>
              <a:t>Cet axe englobe toutes les activités de communication pour faire connaître le produit et inciter à l’achat. Cela inclut la publicité, les relations publiques, le marketing digital, les promotions de vente, etc. Il faut déterminer les canaux et les messages les plus efficaces pour atteindre le public cible.</a:t>
            </a:r>
          </a:p>
          <a:p>
            <a:pPr algn="just"/>
            <a:r>
              <a:rPr lang="fr-FR" dirty="0" smtClean="0">
                <a:solidFill>
                  <a:schemeClr val="dk1"/>
                </a:solidFill>
                <a:latin typeface="Arial" pitchFamily="34" charset="0"/>
                <a:ea typeface="Verdana" pitchFamily="34" charset="0"/>
                <a:cs typeface="Verdana" pitchFamily="34" charset="0"/>
              </a:rPr>
              <a:t>En analysant ces quatre axes, une entreprise peut mieux comprendre son marché, positionner son offre et développer des stratégies adaptées pour atteindre ses objectifs commerciaux</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Arrondir un rectangle à un seul coin 2"/>
          <p:cNvSpPr/>
          <p:nvPr/>
        </p:nvSpPr>
        <p:spPr>
          <a:xfrm>
            <a:off x="532435" y="1307938"/>
            <a:ext cx="10776031" cy="4278094"/>
          </a:xfrm>
          <a:prstGeom prst="round1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b="1" dirty="0" smtClean="0">
                <a:solidFill>
                  <a:srgbClr val="0070C0"/>
                </a:solidFill>
                <a:latin typeface="Arial" pitchFamily="34" charset="0"/>
                <a:ea typeface="Verdana" pitchFamily="34" charset="0"/>
                <a:cs typeface="Verdana" pitchFamily="34" charset="0"/>
              </a:rPr>
              <a:t>Exemple d’étude de Marché : Application de Gestion de la Santé Personnelle</a:t>
            </a:r>
          </a:p>
          <a:p>
            <a:pPr algn="just"/>
            <a:r>
              <a:rPr lang="fr-FR" dirty="0" smtClean="0">
                <a:solidFill>
                  <a:schemeClr val="dk1"/>
                </a:solidFill>
                <a:latin typeface="Arial" pitchFamily="34" charset="0"/>
                <a:ea typeface="Verdana" pitchFamily="34" charset="0"/>
                <a:cs typeface="Verdana" pitchFamily="34" charset="0"/>
              </a:rPr>
              <a:t/>
            </a:r>
            <a:br>
              <a:rPr lang="fr-FR" dirty="0" smtClean="0">
                <a:solidFill>
                  <a:schemeClr val="dk1"/>
                </a:solidFill>
                <a:latin typeface="Arial" pitchFamily="34" charset="0"/>
                <a:ea typeface="Verdana" pitchFamily="34" charset="0"/>
                <a:cs typeface="Verdana" pitchFamily="34" charset="0"/>
              </a:rPr>
            </a:br>
            <a:r>
              <a:rPr lang="fr-FR" b="1" dirty="0" smtClean="0">
                <a:solidFill>
                  <a:schemeClr val="dk1"/>
                </a:solidFill>
                <a:latin typeface="Arial" pitchFamily="34" charset="0"/>
                <a:ea typeface="Verdana" pitchFamily="34" charset="0"/>
                <a:cs typeface="Verdana" pitchFamily="34" charset="0"/>
              </a:rPr>
              <a:t>1. Résumé Exécutif</a:t>
            </a:r>
          </a:p>
          <a:p>
            <a:pPr algn="just"/>
            <a:r>
              <a:rPr lang="fr-FR" dirty="0" smtClean="0">
                <a:solidFill>
                  <a:schemeClr val="dk1"/>
                </a:solidFill>
                <a:latin typeface="Arial" pitchFamily="34" charset="0"/>
                <a:ea typeface="Verdana" pitchFamily="34" charset="0"/>
                <a:cs typeface="Verdana" pitchFamily="34" charset="0"/>
              </a:rPr>
              <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L'application "HealthTrack" vise à aider les utilisateurs à suivre leur santé quotidienne, y compris l'alimentation, l'exercice, le sommeil et les rendez-vous médicaux.</a:t>
            </a:r>
          </a:p>
          <a:p>
            <a:pPr algn="just"/>
            <a:r>
              <a:rPr lang="fr-FR" dirty="0" smtClean="0">
                <a:solidFill>
                  <a:schemeClr val="dk1"/>
                </a:solidFill>
                <a:latin typeface="Arial" pitchFamily="34" charset="0"/>
                <a:ea typeface="Verdana" pitchFamily="34" charset="0"/>
                <a:cs typeface="Verdana" pitchFamily="34" charset="0"/>
              </a:rPr>
              <a:t>L'objectif de cette étude est d'évaluer la demande du marché, d'identifier les segments de clientèle et d'analyser la concurrence.</a:t>
            </a:r>
          </a:p>
          <a:p>
            <a:pPr algn="just"/>
            <a:r>
              <a:rPr lang="fr-FR" dirty="0" smtClean="0">
                <a:solidFill>
                  <a:schemeClr val="dk1"/>
                </a:solidFill>
                <a:latin typeface="Arial" pitchFamily="34" charset="0"/>
                <a:ea typeface="Verdana" pitchFamily="34" charset="0"/>
                <a:cs typeface="Verdana" pitchFamily="34" charset="0"/>
              </a:rPr>
              <a:t/>
            </a:r>
            <a:br>
              <a:rPr lang="fr-FR" dirty="0" smtClean="0">
                <a:solidFill>
                  <a:schemeClr val="dk1"/>
                </a:solidFill>
                <a:latin typeface="Arial" pitchFamily="34" charset="0"/>
                <a:ea typeface="Verdana" pitchFamily="34" charset="0"/>
                <a:cs typeface="Verdana" pitchFamily="34" charset="0"/>
              </a:rPr>
            </a:br>
            <a:r>
              <a:rPr lang="fr-FR" b="1" dirty="0" smtClean="0">
                <a:solidFill>
                  <a:schemeClr val="dk1"/>
                </a:solidFill>
                <a:latin typeface="Arial" pitchFamily="34" charset="0"/>
                <a:ea typeface="Verdana" pitchFamily="34" charset="0"/>
                <a:cs typeface="Verdana" pitchFamily="34" charset="0"/>
              </a:rPr>
              <a:t> 2. Analyse du Marché</a:t>
            </a:r>
          </a:p>
          <a:p>
            <a:pPr algn="just"/>
            <a:endParaRPr lang="fr-FR" b="1" dirty="0" smtClean="0">
              <a:solidFill>
                <a:schemeClr val="dk1"/>
              </a:solidFill>
              <a:latin typeface="Arial" pitchFamily="34" charset="0"/>
              <a:ea typeface="Verdana" pitchFamily="34" charset="0"/>
              <a:cs typeface="Verdana" pitchFamily="34" charset="0"/>
            </a:endParaRPr>
          </a:p>
          <a:p>
            <a:pPr algn="just">
              <a:buFontTx/>
              <a:buChar char="-"/>
            </a:pPr>
            <a:r>
              <a:rPr lang="fr-FR" dirty="0" smtClean="0">
                <a:solidFill>
                  <a:schemeClr val="dk1"/>
                </a:solidFill>
                <a:latin typeface="Arial" pitchFamily="34" charset="0"/>
                <a:ea typeface="Verdana" pitchFamily="34" charset="0"/>
                <a:cs typeface="Verdana" pitchFamily="34" charset="0"/>
              </a:rPr>
              <a:t>Taille du marché : Le marché des applications de santé est estimé à 10 milliards d'euros en Europe, avec une croissance annuelle de 20 %.</a:t>
            </a:r>
          </a:p>
          <a:p>
            <a:pPr algn="just"/>
            <a:r>
              <a:rPr lang="fr-FR" dirty="0" smtClean="0">
                <a:solidFill>
                  <a:schemeClr val="dk1"/>
                </a:solidFill>
                <a:latin typeface="Arial" pitchFamily="34" charset="0"/>
                <a:ea typeface="Verdana" pitchFamily="34" charset="0"/>
                <a:cs typeface="Verdana" pitchFamily="34" charset="0"/>
              </a:rPr>
              <a:t>- Tendances : Augmentation de l'intérêt pour la santé personnelle, montée de la télémédecine et des dispositifs portables (</a:t>
            </a:r>
            <a:r>
              <a:rPr lang="fr-FR" dirty="0" err="1" smtClean="0">
                <a:solidFill>
                  <a:schemeClr val="dk1"/>
                </a:solidFill>
                <a:latin typeface="Arial" pitchFamily="34" charset="0"/>
                <a:ea typeface="Verdana" pitchFamily="34" charset="0"/>
                <a:cs typeface="Verdana" pitchFamily="34" charset="0"/>
              </a:rPr>
              <a:t>wearables</a:t>
            </a:r>
            <a:r>
              <a:rPr lang="fr-FR" dirty="0" smtClean="0">
                <a:solidFill>
                  <a:schemeClr val="dk1"/>
                </a:solidFill>
                <a:latin typeface="Arial" pitchFamily="34" charset="0"/>
                <a:ea typeface="Verdana" pitchFamily="34" charset="0"/>
                <a:cs typeface="Verdana" pitchFamily="34" charset="0"/>
              </a:rPr>
              <a:t>).</a:t>
            </a:r>
            <a:endParaRPr lang="fr-FR" sz="2000" dirty="0" smtClean="0">
              <a:solidFill>
                <a:schemeClr val="dk1"/>
              </a:solidFill>
              <a:latin typeface="Arial" pitchFamily="34" charset="0"/>
              <a:ea typeface="Verdana" pitchFamily="34" charset="0"/>
              <a:cs typeface="Verdana" pitchFamily="34" charset="0"/>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Arrondir un rectangle à un seul coin 2"/>
          <p:cNvSpPr/>
          <p:nvPr/>
        </p:nvSpPr>
        <p:spPr>
          <a:xfrm>
            <a:off x="937549" y="924965"/>
            <a:ext cx="10127848" cy="5355312"/>
          </a:xfrm>
          <a:prstGeom prst="round1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fr-FR" b="1" dirty="0" smtClean="0">
                <a:latin typeface="Arial" pitchFamily="34" charset="0"/>
                <a:ea typeface="Verdana" pitchFamily="34" charset="0"/>
                <a:cs typeface="Verdana" pitchFamily="34" charset="0"/>
              </a:rPr>
              <a:t> 3. Segmentation de la Clientèle</a:t>
            </a:r>
          </a:p>
          <a:p>
            <a:r>
              <a:rPr lang="fr-FR" dirty="0" smtClean="0">
                <a:latin typeface="Arial" pitchFamily="34" charset="0"/>
                <a:ea typeface="Verdana" pitchFamily="34" charset="0"/>
                <a:cs typeface="Verdana" pitchFamily="34" charset="0"/>
              </a:rPr>
              <a:t/>
            </a:r>
            <a:br>
              <a:rPr lang="fr-FR" dirty="0" smtClean="0">
                <a:latin typeface="Arial" pitchFamily="34" charset="0"/>
                <a:ea typeface="Verdana" pitchFamily="34" charset="0"/>
                <a:cs typeface="Verdana" pitchFamily="34" charset="0"/>
              </a:rPr>
            </a:br>
            <a:r>
              <a:rPr lang="fr-FR" b="1" dirty="0" smtClean="0">
                <a:latin typeface="Arial" pitchFamily="34" charset="0"/>
                <a:ea typeface="Verdana" pitchFamily="34" charset="0"/>
                <a:cs typeface="Verdana" pitchFamily="34" charset="0"/>
              </a:rPr>
              <a:t>Démographique :</a:t>
            </a:r>
            <a:r>
              <a:rPr lang="fr-FR" dirty="0" smtClean="0">
                <a:latin typeface="Arial" pitchFamily="34" charset="0"/>
                <a:ea typeface="Verdana" pitchFamily="34" charset="0"/>
                <a:cs typeface="Verdana" pitchFamily="34" charset="0"/>
              </a:rPr>
              <a:t/>
            </a:r>
            <a:br>
              <a:rPr lang="fr-FR" dirty="0" smtClean="0">
                <a:latin typeface="Arial" pitchFamily="34" charset="0"/>
                <a:ea typeface="Verdana" pitchFamily="34" charset="0"/>
                <a:cs typeface="Verdana" pitchFamily="34" charset="0"/>
              </a:rPr>
            </a:br>
            <a:r>
              <a:rPr lang="fr-FR" dirty="0" smtClean="0">
                <a:latin typeface="Arial" pitchFamily="34" charset="0"/>
                <a:ea typeface="Verdana" pitchFamily="34" charset="0"/>
                <a:cs typeface="Verdana" pitchFamily="34" charset="0"/>
              </a:rPr>
              <a:t> - Âge : 18-65 ans</a:t>
            </a:r>
            <a:br>
              <a:rPr lang="fr-FR" dirty="0" smtClean="0">
                <a:latin typeface="Arial" pitchFamily="34" charset="0"/>
                <a:ea typeface="Verdana" pitchFamily="34" charset="0"/>
                <a:cs typeface="Verdana" pitchFamily="34" charset="0"/>
              </a:rPr>
            </a:br>
            <a:r>
              <a:rPr lang="fr-FR" dirty="0" smtClean="0">
                <a:latin typeface="Arial" pitchFamily="34" charset="0"/>
                <a:ea typeface="Verdana" pitchFamily="34" charset="0"/>
                <a:cs typeface="Verdana" pitchFamily="34" charset="0"/>
              </a:rPr>
              <a:t> - Sexe : Hommes et femmes</a:t>
            </a:r>
            <a:br>
              <a:rPr lang="fr-FR" dirty="0" smtClean="0">
                <a:latin typeface="Arial" pitchFamily="34" charset="0"/>
                <a:ea typeface="Verdana" pitchFamily="34" charset="0"/>
                <a:cs typeface="Verdana" pitchFamily="34" charset="0"/>
              </a:rPr>
            </a:br>
            <a:r>
              <a:rPr lang="fr-FR" dirty="0" smtClean="0">
                <a:latin typeface="Arial" pitchFamily="34" charset="0"/>
                <a:ea typeface="Verdana" pitchFamily="34" charset="0"/>
                <a:cs typeface="Verdana" pitchFamily="34" charset="0"/>
              </a:rPr>
              <a:t> - Niveau de revenu : Moyen à élevé</a:t>
            </a:r>
            <a:br>
              <a:rPr lang="fr-FR" dirty="0" smtClean="0">
                <a:latin typeface="Arial" pitchFamily="34" charset="0"/>
                <a:ea typeface="Verdana" pitchFamily="34" charset="0"/>
                <a:cs typeface="Verdana" pitchFamily="34" charset="0"/>
              </a:rPr>
            </a:br>
            <a:r>
              <a:rPr lang="fr-FR" dirty="0" smtClean="0">
                <a:latin typeface="Arial" pitchFamily="34" charset="0"/>
                <a:ea typeface="Verdana" pitchFamily="34" charset="0"/>
                <a:cs typeface="Verdana" pitchFamily="34" charset="0"/>
              </a:rPr>
              <a:t> </a:t>
            </a:r>
            <a:r>
              <a:rPr lang="fr-FR" b="1" dirty="0" err="1" smtClean="0">
                <a:latin typeface="Arial" pitchFamily="34" charset="0"/>
                <a:ea typeface="Verdana" pitchFamily="34" charset="0"/>
                <a:cs typeface="Verdana" pitchFamily="34" charset="0"/>
              </a:rPr>
              <a:t>Psychographique</a:t>
            </a:r>
            <a:r>
              <a:rPr lang="fr-FR" b="1" dirty="0" smtClean="0">
                <a:latin typeface="Arial" pitchFamily="34" charset="0"/>
                <a:ea typeface="Verdana" pitchFamily="34" charset="0"/>
                <a:cs typeface="Verdana" pitchFamily="34" charset="0"/>
              </a:rPr>
              <a:t> :</a:t>
            </a:r>
            <a:r>
              <a:rPr lang="fr-FR" dirty="0" smtClean="0">
                <a:latin typeface="Arial" pitchFamily="34" charset="0"/>
                <a:ea typeface="Verdana" pitchFamily="34" charset="0"/>
                <a:cs typeface="Verdana" pitchFamily="34" charset="0"/>
              </a:rPr>
              <a:t/>
            </a:r>
            <a:br>
              <a:rPr lang="fr-FR" dirty="0" smtClean="0">
                <a:latin typeface="Arial" pitchFamily="34" charset="0"/>
                <a:ea typeface="Verdana" pitchFamily="34" charset="0"/>
                <a:cs typeface="Verdana" pitchFamily="34" charset="0"/>
              </a:rPr>
            </a:br>
            <a:r>
              <a:rPr lang="fr-FR" dirty="0" smtClean="0">
                <a:latin typeface="Arial" pitchFamily="34" charset="0"/>
                <a:ea typeface="Verdana" pitchFamily="34" charset="0"/>
                <a:cs typeface="Verdana" pitchFamily="34" charset="0"/>
              </a:rPr>
              <a:t> - Utilisateurs soucieux de leur santé</a:t>
            </a:r>
            <a:br>
              <a:rPr lang="fr-FR" dirty="0" smtClean="0">
                <a:latin typeface="Arial" pitchFamily="34" charset="0"/>
                <a:ea typeface="Verdana" pitchFamily="34" charset="0"/>
                <a:cs typeface="Verdana" pitchFamily="34" charset="0"/>
              </a:rPr>
            </a:br>
            <a:r>
              <a:rPr lang="fr-FR" dirty="0" smtClean="0">
                <a:latin typeface="Arial" pitchFamily="34" charset="0"/>
                <a:ea typeface="Verdana" pitchFamily="34" charset="0"/>
                <a:cs typeface="Verdana" pitchFamily="34" charset="0"/>
              </a:rPr>
              <a:t> - Personnes ayant des conditions de santé chroniques</a:t>
            </a:r>
            <a:br>
              <a:rPr lang="fr-FR" dirty="0" smtClean="0">
                <a:latin typeface="Arial" pitchFamily="34" charset="0"/>
                <a:ea typeface="Verdana" pitchFamily="34" charset="0"/>
                <a:cs typeface="Verdana" pitchFamily="34" charset="0"/>
              </a:rPr>
            </a:br>
            <a:r>
              <a:rPr lang="fr-FR" dirty="0" smtClean="0">
                <a:latin typeface="Arial" pitchFamily="34" charset="0"/>
                <a:ea typeface="Verdana" pitchFamily="34" charset="0"/>
                <a:cs typeface="Verdana" pitchFamily="34" charset="0"/>
              </a:rPr>
              <a:t/>
            </a:r>
            <a:br>
              <a:rPr lang="fr-FR" dirty="0" smtClean="0">
                <a:latin typeface="Arial" pitchFamily="34" charset="0"/>
                <a:ea typeface="Verdana" pitchFamily="34" charset="0"/>
                <a:cs typeface="Verdana" pitchFamily="34" charset="0"/>
              </a:rPr>
            </a:br>
            <a:r>
              <a:rPr lang="fr-FR" b="1" dirty="0" smtClean="0">
                <a:latin typeface="Arial" pitchFamily="34" charset="0"/>
                <a:ea typeface="Verdana" pitchFamily="34" charset="0"/>
                <a:cs typeface="Verdana" pitchFamily="34" charset="0"/>
              </a:rPr>
              <a:t>4. Analyse de la Concurrence</a:t>
            </a:r>
          </a:p>
          <a:p>
            <a:r>
              <a:rPr lang="fr-FR" dirty="0" smtClean="0">
                <a:latin typeface="Arial" pitchFamily="34" charset="0"/>
                <a:ea typeface="Verdana" pitchFamily="34" charset="0"/>
                <a:cs typeface="Verdana" pitchFamily="34" charset="0"/>
              </a:rPr>
              <a:t/>
            </a:r>
            <a:br>
              <a:rPr lang="fr-FR" dirty="0" smtClean="0">
                <a:latin typeface="Arial" pitchFamily="34" charset="0"/>
                <a:ea typeface="Verdana" pitchFamily="34" charset="0"/>
                <a:cs typeface="Verdana" pitchFamily="34" charset="0"/>
              </a:rPr>
            </a:br>
            <a:r>
              <a:rPr lang="fr-FR" dirty="0" smtClean="0">
                <a:latin typeface="Arial" pitchFamily="34" charset="0"/>
                <a:ea typeface="Verdana" pitchFamily="34" charset="0"/>
                <a:cs typeface="Verdana" pitchFamily="34" charset="0"/>
              </a:rPr>
              <a:t> </a:t>
            </a:r>
            <a:r>
              <a:rPr lang="fr-FR" b="1" dirty="0" smtClean="0">
                <a:latin typeface="Arial" pitchFamily="34" charset="0"/>
                <a:ea typeface="Verdana" pitchFamily="34" charset="0"/>
                <a:cs typeface="Verdana" pitchFamily="34" charset="0"/>
              </a:rPr>
              <a:t>Principaux concurrents :</a:t>
            </a:r>
            <a:r>
              <a:rPr lang="fr-FR" dirty="0" smtClean="0">
                <a:latin typeface="Arial" pitchFamily="34" charset="0"/>
                <a:ea typeface="Verdana" pitchFamily="34" charset="0"/>
                <a:cs typeface="Verdana" pitchFamily="34" charset="0"/>
              </a:rPr>
              <a:t/>
            </a:r>
            <a:br>
              <a:rPr lang="fr-FR" dirty="0" smtClean="0">
                <a:latin typeface="Arial" pitchFamily="34" charset="0"/>
                <a:ea typeface="Verdana" pitchFamily="34" charset="0"/>
                <a:cs typeface="Verdana" pitchFamily="34" charset="0"/>
              </a:rPr>
            </a:br>
            <a:r>
              <a:rPr lang="fr-FR" dirty="0" smtClean="0">
                <a:latin typeface="Arial" pitchFamily="34" charset="0"/>
                <a:ea typeface="Verdana" pitchFamily="34" charset="0"/>
                <a:cs typeface="Verdana" pitchFamily="34" charset="0"/>
              </a:rPr>
              <a:t> - </a:t>
            </a:r>
            <a:r>
              <a:rPr lang="fr-FR" dirty="0" err="1" smtClean="0">
                <a:latin typeface="Arial" pitchFamily="34" charset="0"/>
                <a:ea typeface="Verdana" pitchFamily="34" charset="0"/>
                <a:cs typeface="Verdana" pitchFamily="34" charset="0"/>
              </a:rPr>
              <a:t>MyFitnessPal</a:t>
            </a:r>
            <a:r>
              <a:rPr lang="fr-FR" dirty="0" smtClean="0">
                <a:latin typeface="Arial" pitchFamily="34" charset="0"/>
                <a:ea typeface="Verdana" pitchFamily="34" charset="0"/>
                <a:cs typeface="Verdana" pitchFamily="34" charset="0"/>
              </a:rPr>
              <a:t> (suivi alimentaire)</a:t>
            </a:r>
            <a:br>
              <a:rPr lang="fr-FR" dirty="0" smtClean="0">
                <a:latin typeface="Arial" pitchFamily="34" charset="0"/>
                <a:ea typeface="Verdana" pitchFamily="34" charset="0"/>
                <a:cs typeface="Verdana" pitchFamily="34" charset="0"/>
              </a:rPr>
            </a:br>
            <a:r>
              <a:rPr lang="fr-FR" dirty="0" smtClean="0">
                <a:latin typeface="Arial" pitchFamily="34" charset="0"/>
                <a:ea typeface="Verdana" pitchFamily="34" charset="0"/>
                <a:cs typeface="Verdana" pitchFamily="34" charset="0"/>
              </a:rPr>
              <a:t> - </a:t>
            </a:r>
            <a:r>
              <a:rPr lang="fr-FR" dirty="0" err="1" smtClean="0">
                <a:latin typeface="Arial" pitchFamily="34" charset="0"/>
                <a:ea typeface="Verdana" pitchFamily="34" charset="0"/>
                <a:cs typeface="Verdana" pitchFamily="34" charset="0"/>
              </a:rPr>
              <a:t>Fitbit</a:t>
            </a:r>
            <a:r>
              <a:rPr lang="fr-FR" dirty="0" smtClean="0">
                <a:latin typeface="Arial" pitchFamily="34" charset="0"/>
                <a:ea typeface="Verdana" pitchFamily="34" charset="0"/>
                <a:cs typeface="Verdana" pitchFamily="34" charset="0"/>
              </a:rPr>
              <a:t> (suivi d'activité)</a:t>
            </a:r>
            <a:br>
              <a:rPr lang="fr-FR" dirty="0" smtClean="0">
                <a:latin typeface="Arial" pitchFamily="34" charset="0"/>
                <a:ea typeface="Verdana" pitchFamily="34" charset="0"/>
                <a:cs typeface="Verdana" pitchFamily="34" charset="0"/>
              </a:rPr>
            </a:br>
            <a:r>
              <a:rPr lang="fr-FR" dirty="0" smtClean="0">
                <a:latin typeface="Arial" pitchFamily="34" charset="0"/>
                <a:ea typeface="Verdana" pitchFamily="34" charset="0"/>
                <a:cs typeface="Verdana" pitchFamily="34" charset="0"/>
              </a:rPr>
              <a:t> - </a:t>
            </a:r>
            <a:r>
              <a:rPr lang="fr-FR" dirty="0" err="1" smtClean="0">
                <a:latin typeface="Arial" pitchFamily="34" charset="0"/>
                <a:ea typeface="Verdana" pitchFamily="34" charset="0"/>
                <a:cs typeface="Verdana" pitchFamily="34" charset="0"/>
              </a:rPr>
              <a:t>Headspace</a:t>
            </a:r>
            <a:r>
              <a:rPr lang="fr-FR" dirty="0" smtClean="0">
                <a:latin typeface="Arial" pitchFamily="34" charset="0"/>
                <a:ea typeface="Verdana" pitchFamily="34" charset="0"/>
                <a:cs typeface="Verdana" pitchFamily="34" charset="0"/>
              </a:rPr>
              <a:t> (bien-être mental)</a:t>
            </a:r>
            <a:br>
              <a:rPr lang="fr-FR" dirty="0" smtClean="0">
                <a:latin typeface="Arial" pitchFamily="34" charset="0"/>
                <a:ea typeface="Verdana" pitchFamily="34" charset="0"/>
                <a:cs typeface="Verdana" pitchFamily="34" charset="0"/>
              </a:rPr>
            </a:br>
            <a:r>
              <a:rPr lang="fr-FR" dirty="0" smtClean="0">
                <a:latin typeface="Arial" pitchFamily="34" charset="0"/>
                <a:ea typeface="Verdana" pitchFamily="34" charset="0"/>
                <a:cs typeface="Verdana" pitchFamily="34" charset="0"/>
              </a:rPr>
              <a:t> </a:t>
            </a:r>
            <a:r>
              <a:rPr lang="fr-FR" b="1" dirty="0" smtClean="0">
                <a:latin typeface="Arial" pitchFamily="34" charset="0"/>
                <a:ea typeface="Verdana" pitchFamily="34" charset="0"/>
                <a:cs typeface="Verdana" pitchFamily="34" charset="0"/>
              </a:rPr>
              <a:t>Forces et faiblesses :</a:t>
            </a:r>
            <a:r>
              <a:rPr lang="fr-FR" dirty="0" smtClean="0">
                <a:latin typeface="Arial" pitchFamily="34" charset="0"/>
                <a:ea typeface="Verdana" pitchFamily="34" charset="0"/>
                <a:cs typeface="Verdana" pitchFamily="34" charset="0"/>
              </a:rPr>
              <a:t/>
            </a:r>
            <a:br>
              <a:rPr lang="fr-FR" dirty="0" smtClean="0">
                <a:latin typeface="Arial" pitchFamily="34" charset="0"/>
                <a:ea typeface="Verdana" pitchFamily="34" charset="0"/>
                <a:cs typeface="Verdana" pitchFamily="34" charset="0"/>
              </a:rPr>
            </a:br>
            <a:r>
              <a:rPr lang="fr-FR" dirty="0" smtClean="0">
                <a:latin typeface="Arial" pitchFamily="34" charset="0"/>
                <a:ea typeface="Verdana" pitchFamily="34" charset="0"/>
                <a:cs typeface="Verdana" pitchFamily="34" charset="0"/>
              </a:rPr>
              <a:t> - Forces : Notoriété de la marque, fonctionnalités variées</a:t>
            </a:r>
            <a:br>
              <a:rPr lang="fr-FR" dirty="0" smtClean="0">
                <a:latin typeface="Arial" pitchFamily="34" charset="0"/>
                <a:ea typeface="Verdana" pitchFamily="34" charset="0"/>
                <a:cs typeface="Verdana" pitchFamily="34" charset="0"/>
              </a:rPr>
            </a:br>
            <a:r>
              <a:rPr lang="fr-FR" dirty="0" smtClean="0">
                <a:latin typeface="Arial" pitchFamily="34" charset="0"/>
                <a:ea typeface="Verdana" pitchFamily="34" charset="0"/>
                <a:cs typeface="Verdana" pitchFamily="34" charset="0"/>
              </a:rPr>
              <a:t> - Faiblesses : Manque d'intégration entre les différentes fonctionnalités de santé</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Arrondir un rectangle à un seul coin 2"/>
          <p:cNvSpPr/>
          <p:nvPr/>
        </p:nvSpPr>
        <p:spPr>
          <a:xfrm>
            <a:off x="657224" y="1166843"/>
            <a:ext cx="11001375" cy="3970318"/>
          </a:xfrm>
          <a:prstGeom prst="round1Rect">
            <a:avLst/>
          </a:prstGeom>
        </p:spPr>
        <p:style>
          <a:lnRef idx="2">
            <a:schemeClr val="dk1"/>
          </a:lnRef>
          <a:fillRef idx="1001">
            <a:schemeClr val="lt2"/>
          </a:fillRef>
          <a:effectRef idx="0">
            <a:schemeClr val="dk1"/>
          </a:effectRef>
          <a:fontRef idx="minor">
            <a:schemeClr val="dk1"/>
          </a:fontRef>
        </p:style>
        <p:txBody>
          <a:bodyPr wrap="square">
            <a:spAutoFit/>
          </a:bodyPr>
          <a:lstStyle/>
          <a:p>
            <a:pPr algn="just"/>
            <a:r>
              <a:rPr lang="fr-FR" b="1" dirty="0" smtClean="0">
                <a:solidFill>
                  <a:schemeClr val="dk1"/>
                </a:solidFill>
                <a:latin typeface="Arial" pitchFamily="34" charset="0"/>
                <a:ea typeface="Verdana" pitchFamily="34" charset="0"/>
                <a:cs typeface="Verdana" pitchFamily="34" charset="0"/>
              </a:rPr>
              <a:t> 5. Méthodologie de Recherche</a:t>
            </a:r>
          </a:p>
          <a:p>
            <a:pPr algn="just"/>
            <a:r>
              <a:rPr lang="fr-FR" dirty="0" smtClean="0">
                <a:solidFill>
                  <a:schemeClr val="dk1"/>
                </a:solidFill>
                <a:latin typeface="Arial" pitchFamily="34" charset="0"/>
                <a:ea typeface="Verdana" pitchFamily="34" charset="0"/>
                <a:cs typeface="Verdana" pitchFamily="34" charset="0"/>
              </a:rPr>
              <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Enquêtes en ligne : 500 répondants pour évaluer l'intérêt et les fonctionnalités souhaitées.</a:t>
            </a:r>
          </a:p>
          <a:p>
            <a:pPr algn="just"/>
            <a:r>
              <a:rPr lang="fr-FR" dirty="0" smtClean="0">
                <a:solidFill>
                  <a:schemeClr val="dk1"/>
                </a:solidFill>
                <a:latin typeface="Arial" pitchFamily="34" charset="0"/>
                <a:ea typeface="Verdana" pitchFamily="34" charset="0"/>
                <a:cs typeface="Verdana" pitchFamily="34" charset="0"/>
              </a:rPr>
              <a:t>Groupes de discussion : 3 groupes de 8 personnes pour approfondir les besoins et les attentes.</a:t>
            </a:r>
          </a:p>
          <a:p>
            <a:pPr algn="just"/>
            <a:r>
              <a:rPr lang="fr-FR" dirty="0" smtClean="0">
                <a:solidFill>
                  <a:schemeClr val="dk1"/>
                </a:solidFill>
                <a:latin typeface="Arial" pitchFamily="34" charset="0"/>
                <a:ea typeface="Verdana" pitchFamily="34" charset="0"/>
                <a:cs typeface="Verdana" pitchFamily="34" charset="0"/>
              </a:rPr>
              <a:t>Analyse des tendances : Étude des rapports de marché et des publications sur la santé numérique.</a:t>
            </a:r>
          </a:p>
          <a:p>
            <a:pPr algn="just"/>
            <a:r>
              <a:rPr lang="fr-FR" dirty="0" smtClean="0">
                <a:solidFill>
                  <a:schemeClr val="dk1"/>
                </a:solidFill>
                <a:latin typeface="Arial" pitchFamily="34" charset="0"/>
                <a:ea typeface="Verdana" pitchFamily="34" charset="0"/>
                <a:cs typeface="Verdana" pitchFamily="34" charset="0"/>
              </a:rPr>
              <a:t/>
            </a:r>
            <a:br>
              <a:rPr lang="fr-FR" dirty="0" smtClean="0">
                <a:solidFill>
                  <a:schemeClr val="dk1"/>
                </a:solidFill>
                <a:latin typeface="Arial" pitchFamily="34" charset="0"/>
                <a:ea typeface="Verdana" pitchFamily="34" charset="0"/>
                <a:cs typeface="Verdana" pitchFamily="34" charset="0"/>
              </a:rPr>
            </a:br>
            <a:r>
              <a:rPr lang="fr-FR" b="1" dirty="0" smtClean="0">
                <a:solidFill>
                  <a:schemeClr val="dk1"/>
                </a:solidFill>
                <a:latin typeface="Arial" pitchFamily="34" charset="0"/>
                <a:ea typeface="Verdana" pitchFamily="34" charset="0"/>
                <a:cs typeface="Verdana" pitchFamily="34" charset="0"/>
              </a:rPr>
              <a:t/>
            </a:r>
            <a:br>
              <a:rPr lang="fr-FR" b="1" dirty="0" smtClean="0">
                <a:solidFill>
                  <a:schemeClr val="dk1"/>
                </a:solidFill>
                <a:latin typeface="Arial" pitchFamily="34" charset="0"/>
                <a:ea typeface="Verdana" pitchFamily="34" charset="0"/>
                <a:cs typeface="Verdana" pitchFamily="34" charset="0"/>
              </a:rPr>
            </a:br>
            <a:r>
              <a:rPr lang="fr-FR" b="1" dirty="0" smtClean="0">
                <a:solidFill>
                  <a:schemeClr val="dk1"/>
                </a:solidFill>
                <a:latin typeface="Arial" pitchFamily="34" charset="0"/>
                <a:ea typeface="Verdana" pitchFamily="34" charset="0"/>
                <a:cs typeface="Verdana" pitchFamily="34" charset="0"/>
              </a:rPr>
              <a:t>6. Résultats de l'Étude</a:t>
            </a:r>
          </a:p>
          <a:p>
            <a:pPr algn="just"/>
            <a:r>
              <a:rPr lang="fr-FR" dirty="0" smtClean="0">
                <a:solidFill>
                  <a:schemeClr val="dk1"/>
                </a:solidFill>
                <a:latin typeface="Arial" pitchFamily="34" charset="0"/>
                <a:ea typeface="Verdana" pitchFamily="34" charset="0"/>
                <a:cs typeface="Verdana" pitchFamily="34" charset="0"/>
              </a:rPr>
              <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 Intérêt pour l'application : 75 % des répondants seraient intéressés par une application intégrée de gestion de la santé.</a:t>
            </a:r>
          </a:p>
          <a:p>
            <a:pPr algn="just">
              <a:buFontTx/>
              <a:buChar char="-"/>
            </a:pPr>
            <a:r>
              <a:rPr lang="fr-FR" dirty="0" smtClean="0">
                <a:latin typeface="Arial" pitchFamily="34" charset="0"/>
                <a:ea typeface="Verdana" pitchFamily="34" charset="0"/>
                <a:cs typeface="Verdana" pitchFamily="34" charset="0"/>
              </a:rPr>
              <a:t> </a:t>
            </a:r>
            <a:r>
              <a:rPr lang="fr-FR" dirty="0" smtClean="0">
                <a:solidFill>
                  <a:schemeClr val="dk1"/>
                </a:solidFill>
                <a:latin typeface="Arial" pitchFamily="34" charset="0"/>
                <a:ea typeface="Verdana" pitchFamily="34" charset="0"/>
                <a:cs typeface="Verdana" pitchFamily="34" charset="0"/>
              </a:rPr>
              <a:t>Fonctionnalités souhaitées : Suivi des repas (85 %), suivi de l'exercice (80 %), rappels de médicaments (70 %).</a:t>
            </a:r>
          </a:p>
          <a:p>
            <a:pPr algn="just"/>
            <a:r>
              <a:rPr lang="fr-FR" dirty="0" smtClean="0">
                <a:solidFill>
                  <a:schemeClr val="dk1"/>
                </a:solidFill>
                <a:latin typeface="Arial" pitchFamily="34" charset="0"/>
                <a:ea typeface="Verdana" pitchFamily="34" charset="0"/>
                <a:cs typeface="Verdana" pitchFamily="34" charset="0"/>
              </a:rPr>
              <a:t>- Préférences de prix : 60 % des utilisateurs sont prêts à payer un abonnement mensuel de 5 à 10 euros.</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Arrondir un rectangle à un seul coin 2"/>
          <p:cNvSpPr/>
          <p:nvPr/>
        </p:nvSpPr>
        <p:spPr>
          <a:xfrm>
            <a:off x="1053295" y="1305342"/>
            <a:ext cx="10347767" cy="3970318"/>
          </a:xfrm>
          <a:prstGeom prst="round1Rect">
            <a:avLst/>
          </a:prstGeom>
        </p:spPr>
        <p:style>
          <a:lnRef idx="2">
            <a:schemeClr val="dk1"/>
          </a:lnRef>
          <a:fillRef idx="1001">
            <a:schemeClr val="lt2"/>
          </a:fillRef>
          <a:effectRef idx="0">
            <a:schemeClr val="dk1"/>
          </a:effectRef>
          <a:fontRef idx="minor">
            <a:schemeClr val="dk1"/>
          </a:fontRef>
        </p:style>
        <p:txBody>
          <a:bodyPr wrap="square">
            <a:spAutoFit/>
          </a:bodyPr>
          <a:lstStyle/>
          <a:p>
            <a:pPr algn="just"/>
            <a:r>
              <a:rPr lang="fr-FR" b="1" dirty="0" smtClean="0">
                <a:solidFill>
                  <a:schemeClr val="dk1"/>
                </a:solidFill>
                <a:latin typeface="Arial" pitchFamily="34" charset="0"/>
                <a:ea typeface="Verdana" pitchFamily="34" charset="0"/>
                <a:cs typeface="Verdana" pitchFamily="34" charset="0"/>
              </a:rPr>
              <a:t> 7. Conclusion et Recommandations</a:t>
            </a:r>
          </a:p>
          <a:p>
            <a:pPr algn="just"/>
            <a:r>
              <a:rPr lang="fr-FR" dirty="0" smtClean="0">
                <a:solidFill>
                  <a:schemeClr val="dk1"/>
                </a:solidFill>
                <a:latin typeface="Arial" pitchFamily="34" charset="0"/>
                <a:ea typeface="Verdana" pitchFamily="34" charset="0"/>
                <a:cs typeface="Verdana" pitchFamily="34" charset="0"/>
              </a:rPr>
              <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 Opportunité de marché : Il existe une forte demande pour une application intégrée qui combine plusieurs aspects de la santé.</a:t>
            </a:r>
          </a:p>
          <a:p>
            <a:pPr algn="just">
              <a:buFontTx/>
              <a:buChar char="-"/>
            </a:pPr>
            <a:r>
              <a:rPr lang="fr-FR" dirty="0" smtClean="0">
                <a:latin typeface="Arial" pitchFamily="34" charset="0"/>
                <a:ea typeface="Verdana" pitchFamily="34" charset="0"/>
                <a:cs typeface="Verdana" pitchFamily="34" charset="0"/>
              </a:rPr>
              <a:t> </a:t>
            </a:r>
            <a:r>
              <a:rPr lang="fr-FR" dirty="0" smtClean="0">
                <a:solidFill>
                  <a:schemeClr val="dk1"/>
                </a:solidFill>
                <a:latin typeface="Arial" pitchFamily="34" charset="0"/>
                <a:ea typeface="Verdana" pitchFamily="34" charset="0"/>
                <a:cs typeface="Verdana" pitchFamily="34" charset="0"/>
              </a:rPr>
              <a:t>Stratégie de lancement : Développer une version bêta pour recueillir des retours d'utilisateurs avant le lancement officiel.</a:t>
            </a:r>
          </a:p>
          <a:p>
            <a:pPr algn="just">
              <a:buFontTx/>
              <a:buChar char="-"/>
            </a:pPr>
            <a:r>
              <a:rPr lang="fr-FR" dirty="0" smtClean="0">
                <a:solidFill>
                  <a:schemeClr val="dk1"/>
                </a:solidFill>
                <a:latin typeface="Arial" pitchFamily="34" charset="0"/>
                <a:ea typeface="Verdana" pitchFamily="34" charset="0"/>
                <a:cs typeface="Verdana" pitchFamily="34" charset="0"/>
              </a:rPr>
              <a:t> Marketing : Utiliser les réseaux sociaux et des partenariats avec des </a:t>
            </a:r>
            <a:r>
              <a:rPr lang="fr-FR" dirty="0" err="1" smtClean="0">
                <a:solidFill>
                  <a:schemeClr val="dk1"/>
                </a:solidFill>
                <a:latin typeface="Arial" pitchFamily="34" charset="0"/>
                <a:ea typeface="Verdana" pitchFamily="34" charset="0"/>
                <a:cs typeface="Verdana" pitchFamily="34" charset="0"/>
              </a:rPr>
              <a:t>influenceurs</a:t>
            </a:r>
            <a:r>
              <a:rPr lang="fr-FR" dirty="0" smtClean="0">
                <a:solidFill>
                  <a:schemeClr val="dk1"/>
                </a:solidFill>
                <a:latin typeface="Arial" pitchFamily="34" charset="0"/>
                <a:ea typeface="Verdana" pitchFamily="34" charset="0"/>
                <a:cs typeface="Verdana" pitchFamily="34" charset="0"/>
              </a:rPr>
              <a:t> dans le domaine de la santé pour atteindre la clientèle cible.</a:t>
            </a:r>
          </a:p>
          <a:p>
            <a:pPr algn="just"/>
            <a:r>
              <a:rPr lang="fr-FR" dirty="0" smtClean="0">
                <a:solidFill>
                  <a:schemeClr val="dk1"/>
                </a:solidFill>
                <a:latin typeface="Arial" pitchFamily="34" charset="0"/>
                <a:ea typeface="Verdana" pitchFamily="34" charset="0"/>
                <a:cs typeface="Verdana" pitchFamily="34" charset="0"/>
              </a:rPr>
              <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
            </a:r>
            <a:br>
              <a:rPr lang="fr-FR" dirty="0" smtClean="0">
                <a:solidFill>
                  <a:schemeClr val="dk1"/>
                </a:solidFill>
                <a:latin typeface="Arial" pitchFamily="34" charset="0"/>
                <a:ea typeface="Verdana" pitchFamily="34" charset="0"/>
                <a:cs typeface="Verdana" pitchFamily="34" charset="0"/>
              </a:rPr>
            </a:br>
            <a:r>
              <a:rPr lang="fr-FR" b="1" dirty="0" smtClean="0">
                <a:solidFill>
                  <a:schemeClr val="dk1"/>
                </a:solidFill>
                <a:latin typeface="Arial" pitchFamily="34" charset="0"/>
                <a:ea typeface="Verdana" pitchFamily="34" charset="0"/>
                <a:cs typeface="Verdana" pitchFamily="34" charset="0"/>
              </a:rPr>
              <a:t>Cet exemple d'étude de marché est simplifié, mais il couvre les éléments essentiels pour comprendre le potentiel d'une nouvelle application technologique dans</a:t>
            </a:r>
            <a:br>
              <a:rPr lang="fr-FR" b="1" dirty="0" smtClean="0">
                <a:solidFill>
                  <a:schemeClr val="dk1"/>
                </a:solidFill>
                <a:latin typeface="Arial" pitchFamily="34" charset="0"/>
                <a:ea typeface="Verdana" pitchFamily="34" charset="0"/>
                <a:cs typeface="Verdana" pitchFamily="34" charset="0"/>
              </a:rPr>
            </a:br>
            <a:r>
              <a:rPr lang="fr-FR" b="1" dirty="0" smtClean="0">
                <a:solidFill>
                  <a:schemeClr val="dk1"/>
                </a:solidFill>
                <a:latin typeface="Arial" pitchFamily="34" charset="0"/>
                <a:ea typeface="Verdana" pitchFamily="34" charset="0"/>
                <a:cs typeface="Verdana" pitchFamily="34" charset="0"/>
              </a:rPr>
              <a:t>le secteur de la santé.</a:t>
            </a:r>
          </a:p>
          <a:p>
            <a:pPr algn="just"/>
            <a:endParaRPr lang="fr-FR" dirty="0" smtClean="0">
              <a:solidFill>
                <a:schemeClr val="dk1"/>
              </a:solidFill>
              <a:latin typeface="Arial" pitchFamily="34" charset="0"/>
              <a:ea typeface="Verdana" pitchFamily="34" charset="0"/>
              <a:cs typeface="Verdana" pitchFamily="34" charset="0"/>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à coins arrondis 2"/>
          <p:cNvSpPr/>
          <p:nvPr/>
        </p:nvSpPr>
        <p:spPr>
          <a:xfrm>
            <a:off x="1261988" y="1279893"/>
            <a:ext cx="3588551" cy="510778"/>
          </a:xfrm>
          <a:prstGeom prst="roundRect">
            <a:avLst/>
          </a:prstGeom>
        </p:spPr>
        <p:style>
          <a:lnRef idx="1">
            <a:schemeClr val="accent6"/>
          </a:lnRef>
          <a:fillRef idx="3">
            <a:schemeClr val="accent6"/>
          </a:fillRef>
          <a:effectRef idx="2">
            <a:schemeClr val="accent6"/>
          </a:effectRef>
          <a:fontRef idx="minor">
            <a:schemeClr val="lt1"/>
          </a:fontRef>
        </p:style>
        <p:txBody>
          <a:bodyPr wrap="none">
            <a:spAutoFit/>
          </a:bodyPr>
          <a:lstStyle/>
          <a:p>
            <a:pPr algn="ctr"/>
            <a:r>
              <a:rPr lang="fr-FR" sz="2400" b="1" dirty="0" smtClean="0">
                <a:latin typeface="Arial" pitchFamily="34" charset="0"/>
                <a:cs typeface="Arial" pitchFamily="34" charset="0"/>
              </a:rPr>
              <a:t>2- ETUDE FINANCIERE</a:t>
            </a:r>
            <a:endParaRPr lang="fr-FR" sz="2400" dirty="0"/>
          </a:p>
        </p:txBody>
      </p:sp>
      <p:sp>
        <p:nvSpPr>
          <p:cNvPr id="4" name="Rectangle 3"/>
          <p:cNvSpPr/>
          <p:nvPr/>
        </p:nvSpPr>
        <p:spPr>
          <a:xfrm>
            <a:off x="1076444" y="2432450"/>
            <a:ext cx="10104699" cy="37856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dirty="0" smtClean="0">
                <a:solidFill>
                  <a:schemeClr val="dk1"/>
                </a:solidFill>
                <a:latin typeface="Arial" pitchFamily="34" charset="0"/>
                <a:ea typeface="Verdana" pitchFamily="34" charset="0"/>
                <a:cs typeface="Verdana" pitchFamily="34" charset="0"/>
              </a:rPr>
              <a:t>Cette étude consiste à traduire en termes financiers les éléments que vous venez de réunir et à vérifier la rentabilité de votre projet. Les différents choix opérés concernant la nature de votre produit ou de votre prestation, la façon d’exploiter votre marché et la gestion de votre entreprise nécessitent de recourir à certains moyens techniques et humains.</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Un conseil pour ne rien oublier : visualisez votre future entreprise. Comment va-t-elle fonctionner concrètement ?</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Pour chaque fonction (acheter, stocker, fabriquer, vendre, etc.), répondez aux questions suivantes : </a:t>
            </a:r>
            <a:r>
              <a:rPr lang="fr-FR" sz="2000" b="1" dirty="0" smtClean="0">
                <a:solidFill>
                  <a:schemeClr val="dk1"/>
                </a:solidFill>
                <a:latin typeface="Arial" pitchFamily="34" charset="0"/>
                <a:ea typeface="Verdana" pitchFamily="34" charset="0"/>
                <a:cs typeface="Verdana" pitchFamily="34" charset="0"/>
              </a:rPr>
              <a:t>Comment ? Avec quoi ? Avec qui </a:t>
            </a:r>
            <a:r>
              <a:rPr lang="fr-FR" sz="2000" dirty="0" smtClean="0">
                <a:solidFill>
                  <a:schemeClr val="dk1"/>
                </a:solidFill>
                <a:latin typeface="Arial" pitchFamily="34" charset="0"/>
                <a:ea typeface="Verdana" pitchFamily="34" charset="0"/>
                <a:cs typeface="Verdana" pitchFamily="34" charset="0"/>
              </a:rPr>
              <a:t>? Puis, dressez un tableau reprenant ces moyens en les traduisant en coûts.</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018572" y="1117767"/>
            <a:ext cx="10266744" cy="501675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dirty="0" smtClean="0">
                <a:solidFill>
                  <a:schemeClr val="dk1"/>
                </a:solidFill>
                <a:latin typeface="Arial" pitchFamily="34" charset="0"/>
                <a:ea typeface="Verdana" pitchFamily="34" charset="0"/>
                <a:cs typeface="Verdana" pitchFamily="34" charset="0"/>
              </a:rPr>
              <a:t>L’étude financière, comme les autres étapes de la création d’entreprise, est un processus qui permet de faire apparaître progressivement les besoins financiers nés de l’activité de l’entreprise et les possibilités de ressources qui y correspondent.</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La démarche que nous vous proposons vous permet de répondre aux questions suivantes :</a:t>
            </a:r>
          </a:p>
          <a:p>
            <a:pPr algn="just"/>
            <a:endParaRPr lang="fr-FR" sz="2000" dirty="0" smtClean="0">
              <a:latin typeface="Arial" pitchFamily="34" charset="0"/>
              <a:ea typeface="Verdana" pitchFamily="34" charset="0"/>
              <a:cs typeface="Verdana" pitchFamily="34" charset="0"/>
            </a:endParaRPr>
          </a:p>
          <a:p>
            <a:pPr marL="1435100" indent="-185738" algn="just"/>
            <a:r>
              <a:rPr lang="fr-FR" b="1" u="sng" dirty="0" smtClean="0">
                <a:solidFill>
                  <a:schemeClr val="accent5">
                    <a:lumMod val="75000"/>
                  </a:schemeClr>
                </a:solidFill>
                <a:latin typeface="Arial" pitchFamily="34" charset="0"/>
                <a:ea typeface="Verdana" pitchFamily="34" charset="0"/>
                <a:cs typeface="Verdana" pitchFamily="34" charset="0"/>
              </a:rPr>
              <a:t>1</a:t>
            </a:r>
            <a:r>
              <a:rPr lang="fr-FR" b="1" dirty="0" smtClean="0">
                <a:solidFill>
                  <a:schemeClr val="accent5">
                    <a:lumMod val="75000"/>
                  </a:schemeClr>
                </a:solidFill>
                <a:latin typeface="Arial" pitchFamily="34" charset="0"/>
                <a:ea typeface="Verdana" pitchFamily="34" charset="0"/>
                <a:cs typeface="Verdana" pitchFamily="34" charset="0"/>
              </a:rPr>
              <a:t> </a:t>
            </a:r>
            <a:r>
              <a:rPr lang="fr-FR" sz="2000" dirty="0" smtClean="0">
                <a:solidFill>
                  <a:schemeClr val="accent5">
                    <a:lumMod val="75000"/>
                  </a:schemeClr>
                </a:solidFill>
                <a:latin typeface="Arial" pitchFamily="34" charset="0"/>
                <a:ea typeface="Verdana" pitchFamily="34" charset="0"/>
                <a:cs typeface="Verdana" pitchFamily="34" charset="0"/>
              </a:rPr>
              <a:t>Quels sont les capitaux qui vous seront nécessaires pour lancer le projet , et pourrez-vous les réunir ? Dans un tableau appelé </a:t>
            </a:r>
            <a:r>
              <a:rPr lang="fr-FR" sz="2000" b="1" u="sng" dirty="0" smtClean="0">
                <a:solidFill>
                  <a:schemeClr val="accent5">
                    <a:lumMod val="75000"/>
                  </a:schemeClr>
                </a:solidFill>
                <a:latin typeface="Arial" pitchFamily="34" charset="0"/>
                <a:ea typeface="Verdana" pitchFamily="34" charset="0"/>
                <a:cs typeface="Verdana" pitchFamily="34" charset="0"/>
              </a:rPr>
              <a:t>plan de financement initial</a:t>
            </a:r>
            <a:r>
              <a:rPr lang="fr-FR" sz="2000" dirty="0" smtClean="0">
                <a:solidFill>
                  <a:schemeClr val="accent5">
                    <a:lumMod val="75000"/>
                  </a:schemeClr>
                </a:solidFill>
                <a:latin typeface="Arial" pitchFamily="34" charset="0"/>
                <a:ea typeface="Verdana" pitchFamily="34" charset="0"/>
                <a:cs typeface="Verdana" pitchFamily="34" charset="0"/>
              </a:rPr>
              <a:t>, vous évaluerez les besoins durables de financement et vous mettrez en regard autant de ressources financières</a:t>
            </a:r>
            <a:r>
              <a:rPr lang="fr-FR" sz="2000" dirty="0" smtClean="0">
                <a:solidFill>
                  <a:schemeClr val="dk1"/>
                </a:solidFill>
                <a:latin typeface="Arial" pitchFamily="34" charset="0"/>
                <a:ea typeface="Verdana" pitchFamily="34" charset="0"/>
                <a:cs typeface="Verdana" pitchFamily="34" charset="0"/>
              </a:rPr>
              <a:t>.</a:t>
            </a:r>
          </a:p>
          <a:p>
            <a:pPr algn="just"/>
            <a:endParaRPr lang="fr-FR" sz="2000" dirty="0" smtClean="0">
              <a:solidFill>
                <a:schemeClr val="dk1"/>
              </a:solidFill>
              <a:latin typeface="Arial" pitchFamily="34" charset="0"/>
              <a:ea typeface="Verdana" pitchFamily="34" charset="0"/>
              <a:cs typeface="Verdana" pitchFamily="34" charset="0"/>
            </a:endParaRPr>
          </a:p>
          <a:p>
            <a:pPr marL="1435100" indent="-185738" algn="just">
              <a:tabLst>
                <a:tab pos="1076325" algn="l"/>
              </a:tabLst>
            </a:pPr>
            <a:r>
              <a:rPr lang="fr-FR" sz="2000" b="1" u="sng" dirty="0" smtClean="0">
                <a:solidFill>
                  <a:schemeClr val="accent5">
                    <a:lumMod val="75000"/>
                  </a:schemeClr>
                </a:solidFill>
                <a:latin typeface="Arial" pitchFamily="34" charset="0"/>
                <a:ea typeface="Verdana" pitchFamily="34" charset="0"/>
                <a:cs typeface="Verdana" pitchFamily="34" charset="0"/>
              </a:rPr>
              <a:t>2</a:t>
            </a:r>
            <a:r>
              <a:rPr lang="fr-FR" sz="2000" dirty="0" smtClean="0">
                <a:solidFill>
                  <a:schemeClr val="accent5">
                    <a:lumMod val="75000"/>
                  </a:schemeClr>
                </a:solidFill>
                <a:latin typeface="Arial" pitchFamily="34" charset="0"/>
                <a:ea typeface="Verdana" pitchFamily="34" charset="0"/>
                <a:cs typeface="Verdana" pitchFamily="34" charset="0"/>
              </a:rPr>
              <a:t> L’activité prévisionnelle de votre entreprise va-t-elle engendrer un montant de recettes suffisant pour couvrir les charges liées aux moyens humains, matériels et financiers mis en </a:t>
            </a:r>
            <a:r>
              <a:rPr lang="fr-FR" sz="2000" dirty="0" err="1" smtClean="0">
                <a:solidFill>
                  <a:schemeClr val="accent5">
                    <a:lumMod val="75000"/>
                  </a:schemeClr>
                </a:solidFill>
                <a:latin typeface="Arial" pitchFamily="34" charset="0"/>
                <a:ea typeface="Verdana" pitchFamily="34" charset="0"/>
                <a:cs typeface="Verdana" pitchFamily="34" charset="0"/>
              </a:rPr>
              <a:t>oeuvre</a:t>
            </a:r>
            <a:r>
              <a:rPr lang="fr-FR" sz="2000" dirty="0" smtClean="0">
                <a:solidFill>
                  <a:schemeClr val="accent5">
                    <a:lumMod val="75000"/>
                  </a:schemeClr>
                </a:solidFill>
                <a:latin typeface="Arial" pitchFamily="34" charset="0"/>
                <a:ea typeface="Verdana" pitchFamily="34" charset="0"/>
                <a:cs typeface="Verdana" pitchFamily="34" charset="0"/>
              </a:rPr>
              <a:t> ? C’est le </a:t>
            </a:r>
            <a:r>
              <a:rPr lang="fr-FR" sz="2000" b="1" u="sng" dirty="0" smtClean="0">
                <a:solidFill>
                  <a:schemeClr val="accent5">
                    <a:lumMod val="75000"/>
                  </a:schemeClr>
                </a:solidFill>
                <a:latin typeface="Arial" pitchFamily="34" charset="0"/>
                <a:ea typeface="Verdana" pitchFamily="34" charset="0"/>
                <a:cs typeface="Verdana" pitchFamily="34" charset="0"/>
              </a:rPr>
              <a:t>compte de résultat prévisionnel </a:t>
            </a:r>
            <a:r>
              <a:rPr lang="fr-FR" sz="2000" dirty="0" smtClean="0">
                <a:solidFill>
                  <a:schemeClr val="accent5">
                    <a:lumMod val="75000"/>
                  </a:schemeClr>
                </a:solidFill>
                <a:latin typeface="Arial" pitchFamily="34" charset="0"/>
                <a:ea typeface="Verdana" pitchFamily="34" charset="0"/>
                <a:cs typeface="Verdana" pitchFamily="34" charset="0"/>
              </a:rPr>
              <a:t>qui le montrera.</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7" name="Rectangle 6"/>
          <p:cNvSpPr/>
          <p:nvPr/>
        </p:nvSpPr>
        <p:spPr>
          <a:xfrm>
            <a:off x="1122744" y="1166843"/>
            <a:ext cx="10116274" cy="440120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1435100" indent="-185738" algn="just"/>
            <a:r>
              <a:rPr lang="fr-FR" sz="2000" b="1" u="sng" dirty="0" smtClean="0">
                <a:solidFill>
                  <a:schemeClr val="accent5">
                    <a:lumMod val="75000"/>
                  </a:schemeClr>
                </a:solidFill>
                <a:latin typeface="Arial" pitchFamily="34" charset="0"/>
                <a:ea typeface="Verdana" pitchFamily="34" charset="0"/>
                <a:cs typeface="Verdana" pitchFamily="34" charset="0"/>
              </a:rPr>
              <a:t>3</a:t>
            </a:r>
            <a:r>
              <a:rPr lang="fr-FR" sz="2000" dirty="0" smtClean="0">
                <a:solidFill>
                  <a:schemeClr val="accent5">
                    <a:lumMod val="75000"/>
                  </a:schemeClr>
                </a:solidFill>
                <a:latin typeface="Arial" pitchFamily="34" charset="0"/>
                <a:ea typeface="Verdana" pitchFamily="34" charset="0"/>
                <a:cs typeface="Verdana" pitchFamily="34" charset="0"/>
              </a:rPr>
              <a:t> Les recettes encaissées par votre entreprise tout au long de l’année vous permettront elles de faire face en permanence aux dépenses de la même période ? mettra en évidence, mois par mois, l’équilibre ou l</a:t>
            </a:r>
            <a:r>
              <a:rPr lang="fr-FR" sz="2000" b="1" u="sng" dirty="0" smtClean="0">
                <a:solidFill>
                  <a:schemeClr val="accent5">
                    <a:lumMod val="75000"/>
                  </a:schemeClr>
                </a:solidFill>
                <a:latin typeface="Arial" pitchFamily="34" charset="0"/>
                <a:ea typeface="Verdana" pitchFamily="34" charset="0"/>
                <a:cs typeface="Verdana" pitchFamily="34" charset="0"/>
              </a:rPr>
              <a:t>e plan de trésorerie</a:t>
            </a:r>
            <a:r>
              <a:rPr lang="fr-FR" sz="2000" b="1" dirty="0" smtClean="0">
                <a:solidFill>
                  <a:schemeClr val="accent5">
                    <a:lumMod val="75000"/>
                  </a:schemeClr>
                </a:solidFill>
                <a:latin typeface="Arial" pitchFamily="34" charset="0"/>
                <a:ea typeface="Verdana" pitchFamily="34" charset="0"/>
                <a:cs typeface="Verdana" pitchFamily="34" charset="0"/>
              </a:rPr>
              <a:t> </a:t>
            </a:r>
            <a:r>
              <a:rPr lang="fr-FR" sz="2000" dirty="0" smtClean="0">
                <a:solidFill>
                  <a:schemeClr val="accent5">
                    <a:lumMod val="75000"/>
                  </a:schemeClr>
                </a:solidFill>
                <a:latin typeface="Arial" pitchFamily="34" charset="0"/>
                <a:ea typeface="Verdana" pitchFamily="34" charset="0"/>
                <a:cs typeface="Verdana" pitchFamily="34" charset="0"/>
              </a:rPr>
              <a:t> déséquilibre existant entre les encaissements et les décaissements.</a:t>
            </a:r>
          </a:p>
          <a:p>
            <a:pPr marL="1435100" indent="-185738" algn="just"/>
            <a:r>
              <a:rPr lang="fr-FR" sz="2000" b="1" u="sng" dirty="0" smtClean="0">
                <a:solidFill>
                  <a:schemeClr val="accent5">
                    <a:lumMod val="75000"/>
                  </a:schemeClr>
                </a:solidFill>
                <a:latin typeface="Arial" pitchFamily="34" charset="0"/>
                <a:ea typeface="Verdana" pitchFamily="34" charset="0"/>
                <a:cs typeface="Verdana" pitchFamily="34" charset="0"/>
              </a:rPr>
              <a:t>4</a:t>
            </a:r>
            <a:r>
              <a:rPr lang="fr-FR" sz="2000" dirty="0" smtClean="0">
                <a:solidFill>
                  <a:schemeClr val="accent5">
                    <a:lumMod val="75000"/>
                  </a:schemeClr>
                </a:solidFill>
                <a:latin typeface="Arial" pitchFamily="34" charset="0"/>
                <a:ea typeface="Verdana" pitchFamily="34" charset="0"/>
                <a:cs typeface="Verdana" pitchFamily="34" charset="0"/>
              </a:rPr>
              <a:t> Quel est le montant minimal de ventes et / ou prestations à atteindre dès la première année pour faire face aux charges et donc pour que votre projet commence à être rentable ? Le calcul du </a:t>
            </a:r>
            <a:r>
              <a:rPr lang="fr-FR" sz="2000" b="1" u="sng" dirty="0" smtClean="0">
                <a:solidFill>
                  <a:schemeClr val="accent5">
                    <a:lumMod val="75000"/>
                  </a:schemeClr>
                </a:solidFill>
                <a:latin typeface="Arial" pitchFamily="34" charset="0"/>
                <a:ea typeface="Verdana" pitchFamily="34" charset="0"/>
                <a:cs typeface="Verdana" pitchFamily="34" charset="0"/>
              </a:rPr>
              <a:t>seuil de rentabilité </a:t>
            </a:r>
            <a:r>
              <a:rPr lang="fr-FR" sz="2000" dirty="0" smtClean="0">
                <a:solidFill>
                  <a:schemeClr val="accent5">
                    <a:lumMod val="75000"/>
                  </a:schemeClr>
                </a:solidFill>
                <a:latin typeface="Arial" pitchFamily="34" charset="0"/>
                <a:ea typeface="Verdana" pitchFamily="34" charset="0"/>
                <a:cs typeface="Verdana" pitchFamily="34" charset="0"/>
              </a:rPr>
              <a:t>vous permettra de connaître le niveau de chiffre d’affaires au-delà duquel votre entreprise commence à réaliser un bénéfice. À noter : le moment où l’on atteint le seuil de rentabilité se nomme « le point mort ».</a:t>
            </a:r>
          </a:p>
          <a:p>
            <a:pPr marL="1435100" indent="-185738" algn="just"/>
            <a:endParaRPr lang="fr-FR" sz="2000" dirty="0" smtClean="0">
              <a:solidFill>
                <a:schemeClr val="accent5">
                  <a:lumMod val="75000"/>
                </a:schemeClr>
              </a:solidFill>
              <a:latin typeface="Arial" pitchFamily="34" charset="0"/>
              <a:ea typeface="Verdana" pitchFamily="34" charset="0"/>
              <a:cs typeface="Verdana" pitchFamily="34" charset="0"/>
            </a:endParaRPr>
          </a:p>
          <a:p>
            <a:pPr marL="1435100" indent="-185738" algn="just"/>
            <a:endParaRPr lang="fr-FR" sz="2000" dirty="0" smtClean="0">
              <a:solidFill>
                <a:schemeClr val="accent5">
                  <a:lumMod val="75000"/>
                </a:schemeClr>
              </a:solidFill>
              <a:latin typeface="Arial" pitchFamily="34" charset="0"/>
              <a:ea typeface="Verdana" pitchFamily="34" charset="0"/>
              <a:cs typeface="Verdana" pitchFamily="34" charset="0"/>
            </a:endParaRPr>
          </a:p>
          <a:p>
            <a:pPr algn="just"/>
            <a:endParaRPr lang="fr-FR" sz="2000" dirty="0" smtClean="0">
              <a:solidFill>
                <a:schemeClr val="accent5">
                  <a:lumMod val="75000"/>
                </a:schemeClr>
              </a:solidFill>
              <a:latin typeface="Arial" pitchFamily="34" charset="0"/>
              <a:ea typeface="Verdana" pitchFamily="34" charset="0"/>
              <a:cs typeface="Verdana" pitchFamily="34" charset="0"/>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319515" y="1290990"/>
            <a:ext cx="9537538" cy="532453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b="1" dirty="0" smtClean="0">
                <a:solidFill>
                  <a:srgbClr val="C00000"/>
                </a:solidFill>
                <a:latin typeface="Arial" pitchFamily="34" charset="0"/>
                <a:ea typeface="Verdana" pitchFamily="34" charset="0"/>
                <a:cs typeface="Verdana" pitchFamily="34" charset="0"/>
              </a:rPr>
              <a:t>2.1 Construire le plan de financement initial</a:t>
            </a:r>
          </a:p>
          <a:p>
            <a:pPr algn="just"/>
            <a:endParaRPr lang="fr-FR" sz="2000" b="1" dirty="0" smtClean="0">
              <a:solidFill>
                <a:srgbClr val="C00000"/>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Établir le plan de financement initial est une démarche dynamique. Il s’agit non seulement de savoir à combien se chiffre le projet, mais aussi de rechercher la meilleure solution financière pour équilibrer ce plan qui se présente sous la forme d’un tableau à 2 colonnes.</a:t>
            </a:r>
          </a:p>
          <a:p>
            <a:endParaRPr lang="fr-FR" sz="2000" dirty="0" smtClean="0"/>
          </a:p>
          <a:p>
            <a:pPr algn="just"/>
            <a:r>
              <a:rPr lang="fr-FR" sz="2000" dirty="0" smtClean="0">
                <a:latin typeface="Arial" pitchFamily="34" charset="0"/>
                <a:ea typeface="Verdana" pitchFamily="34" charset="0"/>
                <a:cs typeface="Verdana" pitchFamily="34" charset="0"/>
              </a:rPr>
              <a:t>1 dans la partie gauche, </a:t>
            </a:r>
            <a:r>
              <a:rPr lang="fr-FR" sz="2000" b="1" u="sng" dirty="0" smtClean="0">
                <a:latin typeface="Arial" pitchFamily="34" charset="0"/>
                <a:ea typeface="Verdana" pitchFamily="34" charset="0"/>
                <a:cs typeface="Verdana" pitchFamily="34" charset="0"/>
              </a:rPr>
              <a:t>les besoins de financement durables </a:t>
            </a:r>
            <a:r>
              <a:rPr lang="fr-FR" sz="2000" dirty="0" smtClean="0">
                <a:latin typeface="Arial" pitchFamily="34" charset="0"/>
                <a:ea typeface="Verdana" pitchFamily="34" charset="0"/>
                <a:cs typeface="Verdana" pitchFamily="34" charset="0"/>
              </a:rPr>
              <a:t>engendrés par le projet (</a:t>
            </a:r>
            <a:r>
              <a:rPr lang="fr-FR" sz="1400" b="1" dirty="0" smtClean="0">
                <a:latin typeface="Arial" pitchFamily="34" charset="0"/>
                <a:cs typeface="Arial" pitchFamily="34" charset="0"/>
              </a:rPr>
              <a:t>Les investissements </a:t>
            </a:r>
            <a:r>
              <a:rPr lang="fr-FR" sz="1400" dirty="0" smtClean="0">
                <a:latin typeface="Arial" pitchFamily="34" charset="0"/>
                <a:cs typeface="Arial" pitchFamily="34" charset="0"/>
              </a:rPr>
              <a:t>: les acquisitions de brevet, licence, droit au bail, droit d’entrée dans une franchise, fonds de commerce, création d’un site internet (au bilan, ils prendront le nom d’immobilisations incorporelles) ; • les achats de terrain, matériels, machines, mobilier, véhicules, ordinateurs, construction, agencements, installations, etc. (au bilan, il s’agit d’immobilisations corporelles) ; • les versements de dépôts et cautionnements : comme par exemple les 3 mois de loyer à verser en garantie lors de la conclusion d’un bail (ce sont les immobilisations financières, qui peuvent comprendre également les prises de participation dans d’autres sociétés).</a:t>
            </a:r>
            <a:r>
              <a:rPr lang="fr-FR" sz="1400" b="1" dirty="0" smtClean="0"/>
              <a:t> : </a:t>
            </a:r>
            <a:r>
              <a:rPr lang="fr-FR" sz="1400" b="1" dirty="0" smtClean="0">
                <a:latin typeface="Arial" pitchFamily="34" charset="0"/>
                <a:cs typeface="Arial" pitchFamily="34" charset="0"/>
              </a:rPr>
              <a:t>Le besoin en fonds de roulement (BFR) : </a:t>
            </a:r>
            <a:r>
              <a:rPr lang="fr-FR" sz="1400" dirty="0" smtClean="0">
                <a:latin typeface="Arial" pitchFamily="34" charset="0"/>
                <a:cs typeface="Arial" pitchFamily="34" charset="0"/>
              </a:rPr>
              <a:t>Selon votre activité, vous aurez peut-être besoin d’acquérir un stock minimum. Par ailleurs, vous accorderez peut-être des délais de règlement à vos clients. Ces sommes d’argent dues, une fois que vos produits / services seront livrés, constitueront une « créance client ». De même, obtiendrez-vous peut-être, vous aussi, des délais de paiement auprès de vos fournisseurs, qui constitueront des « dettes fournisseurs ». Cette « masse d’argent » est immobilisée et nécessaire à l’exploitation de l’entreprise.</a:t>
            </a:r>
          </a:p>
          <a:p>
            <a:pPr marL="625475" indent="-266700" algn="just">
              <a:tabLst>
                <a:tab pos="625475" algn="l"/>
              </a:tabLst>
            </a:pPr>
            <a:endParaRPr lang="fr-FR" sz="2000" dirty="0" smtClean="0">
              <a:latin typeface="Arial" pitchFamily="34" charset="0"/>
              <a:ea typeface="Verdana" pitchFamily="34" charset="0"/>
              <a:cs typeface="Verdana" pitchFamily="34"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088020" y="1300580"/>
            <a:ext cx="10023676" cy="433965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625475" indent="-266700" algn="just">
              <a:tabLst>
                <a:tab pos="625475" algn="l"/>
              </a:tabLst>
            </a:pPr>
            <a:r>
              <a:rPr lang="fr-FR" dirty="0" smtClean="0">
                <a:latin typeface="Arial" pitchFamily="34" charset="0"/>
                <a:ea typeface="Verdana" pitchFamily="34" charset="0"/>
                <a:cs typeface="Verdana" pitchFamily="34" charset="0"/>
              </a:rPr>
              <a:t>2 dans la partie droite, le montant des </a:t>
            </a:r>
            <a:r>
              <a:rPr lang="fr-FR" sz="2000" b="1" u="sng" dirty="0" smtClean="0">
                <a:solidFill>
                  <a:schemeClr val="dk1"/>
                </a:solidFill>
                <a:latin typeface="Arial" pitchFamily="34" charset="0"/>
                <a:ea typeface="Verdana" pitchFamily="34" charset="0"/>
                <a:cs typeface="Verdana" pitchFamily="34" charset="0"/>
              </a:rPr>
              <a:t>ressources financières durables</a:t>
            </a:r>
            <a:r>
              <a:rPr lang="fr-FR" sz="2000" b="1" dirty="0" smtClean="0">
                <a:solidFill>
                  <a:schemeClr val="dk1"/>
                </a:solidFill>
                <a:latin typeface="Arial" pitchFamily="34" charset="0"/>
                <a:ea typeface="Verdana" pitchFamily="34" charset="0"/>
                <a:cs typeface="Verdana" pitchFamily="34" charset="0"/>
              </a:rPr>
              <a:t> </a:t>
            </a:r>
            <a:r>
              <a:rPr lang="fr-FR" dirty="0" smtClean="0">
                <a:latin typeface="Arial" pitchFamily="34" charset="0"/>
                <a:ea typeface="Verdana" pitchFamily="34" charset="0"/>
                <a:cs typeface="Verdana" pitchFamily="34" charset="0"/>
              </a:rPr>
              <a:t>qu’il faut apporter à l’entreprise pour financer tous ses besoins.</a:t>
            </a:r>
          </a:p>
          <a:p>
            <a:pPr marL="625475" indent="-266700" algn="just">
              <a:tabLst>
                <a:tab pos="625475" algn="l"/>
              </a:tabLst>
            </a:pPr>
            <a:endParaRPr lang="fr-FR" dirty="0" smtClean="0">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Elles se regroupent en 2 catégories :</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1 les ressources que vous apporterez, vous et vos associés (s’il y a lieu) ;</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2 celles que vous devrez trouver en complément (prêts à moyen ou long terme, subventions éventuellement).</a:t>
            </a:r>
          </a:p>
          <a:p>
            <a:pPr algn="just"/>
            <a:r>
              <a:rPr lang="fr-FR" sz="2000" dirty="0" smtClean="0">
                <a:solidFill>
                  <a:schemeClr val="dk1"/>
                </a:solidFill>
                <a:latin typeface="Arial" pitchFamily="34" charset="0"/>
                <a:ea typeface="Verdana" pitchFamily="34" charset="0"/>
                <a:cs typeface="Verdana" pitchFamily="34" charset="0"/>
              </a:rPr>
              <a:t>Les totaux des 2 colonnes (besoins et ressources) doivent être égaux. Si la somme des apports est inférieure au total des besoins durables, vous devrez combler la différence. Pour cela, il vous faudra rechercher comment compléter votre apport personnel et savoir qui peut vous prêter de l’argent.</a:t>
            </a:r>
          </a:p>
          <a:p>
            <a:pPr algn="just"/>
            <a:endParaRPr lang="fr-FR" sz="2000" dirty="0" smtClean="0">
              <a:solidFill>
                <a:schemeClr val="dk1"/>
              </a:solidFill>
              <a:latin typeface="Arial" pitchFamily="34" charset="0"/>
              <a:ea typeface="Verdana" pitchFamily="34" charset="0"/>
              <a:cs typeface="Verdana" pitchFamily="34" charset="0"/>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995423" y="1443841"/>
            <a:ext cx="10104699" cy="403187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fr-FR" b="1" dirty="0" smtClean="0"/>
              <a:t>EXEMPLE :</a:t>
            </a:r>
          </a:p>
          <a:p>
            <a:endParaRPr lang="fr-FR" dirty="0" smtClean="0"/>
          </a:p>
          <a:p>
            <a:r>
              <a:rPr lang="fr-FR" sz="2000" dirty="0" smtClean="0">
                <a:latin typeface="Arial" pitchFamily="34" charset="0"/>
                <a:ea typeface="Verdana" pitchFamily="34" charset="0"/>
                <a:cs typeface="Verdana" pitchFamily="34" charset="0"/>
              </a:rPr>
              <a:t>Exemple de plan de financement initial pour une entreprise digitale :</a:t>
            </a:r>
            <a:br>
              <a:rPr lang="fr-FR" sz="2000" dirty="0" smtClean="0">
                <a:latin typeface="Arial" pitchFamily="34" charset="0"/>
                <a:ea typeface="Verdana" pitchFamily="34" charset="0"/>
                <a:cs typeface="Verdana" pitchFamily="34" charset="0"/>
              </a:rPr>
            </a:br>
            <a:r>
              <a:rPr lang="fr-FR" sz="2000" dirty="0" smtClean="0">
                <a:latin typeface="Arial" pitchFamily="34" charset="0"/>
                <a:ea typeface="Verdana" pitchFamily="34" charset="0"/>
                <a:cs typeface="Verdana" pitchFamily="34" charset="0"/>
              </a:rPr>
              <a:t/>
            </a:r>
            <a:br>
              <a:rPr lang="fr-FR" sz="2000" dirty="0" smtClean="0">
                <a:latin typeface="Arial" pitchFamily="34" charset="0"/>
                <a:ea typeface="Verdana" pitchFamily="34" charset="0"/>
                <a:cs typeface="Verdana" pitchFamily="34" charset="0"/>
              </a:rPr>
            </a:br>
            <a:r>
              <a:rPr lang="fr-FR" sz="2000" dirty="0" smtClean="0">
                <a:latin typeface="Arial" pitchFamily="34" charset="0"/>
                <a:ea typeface="Verdana" pitchFamily="34" charset="0"/>
                <a:cs typeface="Verdana" pitchFamily="34" charset="0"/>
              </a:rPr>
              <a:t/>
            </a:r>
            <a:br>
              <a:rPr lang="fr-FR" sz="2000" dirty="0" smtClean="0">
                <a:latin typeface="Arial" pitchFamily="34" charset="0"/>
                <a:ea typeface="Verdana" pitchFamily="34" charset="0"/>
                <a:cs typeface="Verdana" pitchFamily="34" charset="0"/>
              </a:rPr>
            </a:br>
            <a:r>
              <a:rPr lang="fr-FR" sz="2000" dirty="0" smtClean="0">
                <a:latin typeface="Arial" pitchFamily="34" charset="0"/>
                <a:ea typeface="Verdana" pitchFamily="34" charset="0"/>
                <a:cs typeface="Verdana" pitchFamily="34" charset="0"/>
              </a:rPr>
              <a:t>1. Présentation de l'Entreprise</a:t>
            </a:r>
            <a:br>
              <a:rPr lang="fr-FR" sz="2000" dirty="0" smtClean="0">
                <a:latin typeface="Arial" pitchFamily="34" charset="0"/>
                <a:ea typeface="Verdana" pitchFamily="34" charset="0"/>
                <a:cs typeface="Verdana" pitchFamily="34" charset="0"/>
              </a:rPr>
            </a:br>
            <a:r>
              <a:rPr lang="fr-FR" sz="2000" dirty="0" smtClean="0">
                <a:latin typeface="Arial" pitchFamily="34" charset="0"/>
                <a:ea typeface="Verdana" pitchFamily="34" charset="0"/>
                <a:cs typeface="Verdana" pitchFamily="34" charset="0"/>
              </a:rPr>
              <a:t>   - Nom de l'entreprise : </a:t>
            </a:r>
            <a:r>
              <a:rPr lang="fr-FR" sz="2000" dirty="0" err="1" smtClean="0">
                <a:latin typeface="Arial" pitchFamily="34" charset="0"/>
                <a:ea typeface="Verdana" pitchFamily="34" charset="0"/>
                <a:cs typeface="Verdana" pitchFamily="34" charset="0"/>
              </a:rPr>
              <a:t>DigiSolutions</a:t>
            </a:r>
            <a:r>
              <a:rPr lang="fr-FR" sz="2000" dirty="0" smtClean="0">
                <a:latin typeface="Arial" pitchFamily="34" charset="0"/>
                <a:ea typeface="Verdana" pitchFamily="34" charset="0"/>
                <a:cs typeface="Verdana" pitchFamily="34" charset="0"/>
              </a:rPr>
              <a:t/>
            </a:r>
            <a:br>
              <a:rPr lang="fr-FR" sz="2000" dirty="0" smtClean="0">
                <a:latin typeface="Arial" pitchFamily="34" charset="0"/>
                <a:ea typeface="Verdana" pitchFamily="34" charset="0"/>
                <a:cs typeface="Verdana" pitchFamily="34" charset="0"/>
              </a:rPr>
            </a:br>
            <a:r>
              <a:rPr lang="fr-FR" sz="2000" dirty="0" smtClean="0">
                <a:latin typeface="Arial" pitchFamily="34" charset="0"/>
                <a:ea typeface="Verdana" pitchFamily="34" charset="0"/>
                <a:cs typeface="Verdana" pitchFamily="34" charset="0"/>
              </a:rPr>
              <a:t>   - Secteur d'activité : Services numériques (développement web, marketing digital)</a:t>
            </a:r>
            <a:br>
              <a:rPr lang="fr-FR" sz="2000" dirty="0" smtClean="0">
                <a:latin typeface="Arial" pitchFamily="34" charset="0"/>
                <a:ea typeface="Verdana" pitchFamily="34" charset="0"/>
                <a:cs typeface="Verdana" pitchFamily="34" charset="0"/>
              </a:rPr>
            </a:br>
            <a:r>
              <a:rPr lang="fr-FR" sz="2000" dirty="0" smtClean="0">
                <a:latin typeface="Arial" pitchFamily="34" charset="0"/>
                <a:ea typeface="Verdana" pitchFamily="34" charset="0"/>
                <a:cs typeface="Verdana" pitchFamily="34" charset="0"/>
              </a:rPr>
              <a:t>   - Objectif : Lancer une plateforme de services numériques pour PME.</a:t>
            </a:r>
            <a:br>
              <a:rPr lang="fr-FR" sz="2000" dirty="0" smtClean="0">
                <a:latin typeface="Arial" pitchFamily="34" charset="0"/>
                <a:ea typeface="Verdana" pitchFamily="34" charset="0"/>
                <a:cs typeface="Verdana" pitchFamily="34" charset="0"/>
              </a:rPr>
            </a:br>
            <a:r>
              <a:rPr lang="fr-FR" sz="2000" dirty="0" smtClean="0">
                <a:latin typeface="Arial" pitchFamily="34" charset="0"/>
                <a:ea typeface="Verdana" pitchFamily="34" charset="0"/>
                <a:cs typeface="Verdana" pitchFamily="34" charset="0"/>
              </a:rPr>
              <a:t/>
            </a:r>
            <a:br>
              <a:rPr lang="fr-FR" sz="2000" dirty="0" smtClean="0">
                <a:latin typeface="Arial" pitchFamily="34" charset="0"/>
                <a:ea typeface="Verdana" pitchFamily="34" charset="0"/>
                <a:cs typeface="Verdana" pitchFamily="34" charset="0"/>
              </a:rPr>
            </a:br>
            <a:r>
              <a:rPr lang="fr-FR" sz="2000" dirty="0" smtClean="0">
                <a:latin typeface="Arial" pitchFamily="34" charset="0"/>
                <a:ea typeface="Verdana" pitchFamily="34" charset="0"/>
                <a:cs typeface="Verdana" pitchFamily="34" charset="0"/>
              </a:rPr>
              <a:t>2. Besoin de Financement</a:t>
            </a:r>
            <a:br>
              <a:rPr lang="fr-FR" sz="2000" dirty="0" smtClean="0">
                <a:latin typeface="Arial" pitchFamily="34" charset="0"/>
                <a:ea typeface="Verdana" pitchFamily="34" charset="0"/>
                <a:cs typeface="Verdana" pitchFamily="34" charset="0"/>
              </a:rPr>
            </a:br>
            <a:r>
              <a:rPr lang="fr-FR" sz="2000" dirty="0" smtClean="0">
                <a:latin typeface="Arial" pitchFamily="34" charset="0"/>
                <a:ea typeface="Verdana" pitchFamily="34" charset="0"/>
                <a:cs typeface="Verdana" pitchFamily="34" charset="0"/>
              </a:rPr>
              <a:t>   - Total des besoins : 100 000 D</a:t>
            </a:r>
          </a:p>
          <a:p>
            <a:endParaRPr lang="fr-FR" sz="2000" dirty="0" smtClean="0">
              <a:latin typeface="Arial" pitchFamily="34" charset="0"/>
              <a:ea typeface="Verdana" pitchFamily="34" charset="0"/>
              <a:cs typeface="Verdana" pitchFamily="34" charset="0"/>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graphicFrame>
        <p:nvGraphicFramePr>
          <p:cNvPr id="3" name="Tableau 2"/>
          <p:cNvGraphicFramePr>
            <a:graphicFrameLocks noGrp="1"/>
          </p:cNvGraphicFramePr>
          <p:nvPr/>
        </p:nvGraphicFramePr>
        <p:xfrm>
          <a:off x="1875099" y="1886711"/>
          <a:ext cx="7405743" cy="2095500"/>
        </p:xfrm>
        <a:graphic>
          <a:graphicData uri="http://schemas.openxmlformats.org/drawingml/2006/table">
            <a:tbl>
              <a:tblPr/>
              <a:tblGrid>
                <a:gridCol w="3026233"/>
                <a:gridCol w="766340"/>
                <a:gridCol w="2671856"/>
                <a:gridCol w="941314"/>
              </a:tblGrid>
              <a:tr h="0">
                <a:tc gridSpan="2">
                  <a:txBody>
                    <a:bodyPr/>
                    <a:lstStyle/>
                    <a:p>
                      <a:pPr algn="ctr">
                        <a:lnSpc>
                          <a:spcPct val="115000"/>
                        </a:lnSpc>
                        <a:spcAft>
                          <a:spcPts val="0"/>
                        </a:spcAft>
                      </a:pPr>
                      <a:r>
                        <a:rPr lang="fr-FR" sz="1400" b="1" dirty="0">
                          <a:solidFill>
                            <a:srgbClr val="000000"/>
                          </a:solidFill>
                          <a:latin typeface="Calibri"/>
                          <a:ea typeface="Calibri"/>
                          <a:cs typeface="Arial"/>
                        </a:rPr>
                        <a:t>Utilisation des Fonds</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fr-FR"/>
                    </a:p>
                  </a:txBody>
                  <a:tcPr/>
                </a:tc>
                <a:tc gridSpan="2">
                  <a:txBody>
                    <a:bodyPr/>
                    <a:lstStyle/>
                    <a:p>
                      <a:pPr algn="ctr">
                        <a:lnSpc>
                          <a:spcPct val="115000"/>
                        </a:lnSpc>
                        <a:spcAft>
                          <a:spcPts val="0"/>
                        </a:spcAft>
                      </a:pPr>
                      <a:r>
                        <a:rPr lang="fr-FR" sz="1400" b="1">
                          <a:solidFill>
                            <a:srgbClr val="000000"/>
                          </a:solidFill>
                          <a:latin typeface="Calibri"/>
                          <a:ea typeface="Calibri"/>
                          <a:cs typeface="Arial"/>
                        </a:rPr>
                        <a:t>Sources de Financement</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fr-FR"/>
                    </a:p>
                  </a:txBody>
                  <a:tcPr/>
                </a:tc>
              </a:tr>
              <a:tr h="1613535">
                <a:tc>
                  <a:txBody>
                    <a:bodyPr/>
                    <a:lstStyle/>
                    <a:p>
                      <a:pPr marL="342900" lvl="0" indent="-342900" rtl="0">
                        <a:lnSpc>
                          <a:spcPct val="115000"/>
                        </a:lnSpc>
                        <a:spcAft>
                          <a:spcPts val="0"/>
                        </a:spcAft>
                        <a:buFont typeface="Calibri"/>
                        <a:buChar char="-"/>
                      </a:pPr>
                      <a:r>
                        <a:rPr lang="fr-FR" sz="1350" dirty="0">
                          <a:solidFill>
                            <a:srgbClr val="000000"/>
                          </a:solidFill>
                          <a:latin typeface="Calibri"/>
                          <a:ea typeface="Calibri"/>
                          <a:cs typeface="Arial"/>
                        </a:rPr>
                        <a:t>Développement de la plateforme</a:t>
                      </a:r>
                      <a:endParaRPr lang="fr-FR" sz="1100" dirty="0">
                        <a:latin typeface="Calibri"/>
                        <a:ea typeface="Calibri"/>
                        <a:cs typeface="Arial"/>
                      </a:endParaRPr>
                    </a:p>
                    <a:p>
                      <a:pPr marL="342900" lvl="0" indent="-342900">
                        <a:lnSpc>
                          <a:spcPct val="115000"/>
                        </a:lnSpc>
                        <a:spcAft>
                          <a:spcPts val="0"/>
                        </a:spcAft>
                        <a:buFont typeface="Calibri"/>
                        <a:buChar char="-"/>
                      </a:pPr>
                      <a:r>
                        <a:rPr lang="fr-FR" sz="1350" dirty="0">
                          <a:solidFill>
                            <a:srgbClr val="000000"/>
                          </a:solidFill>
                          <a:latin typeface="Calibri"/>
                          <a:ea typeface="Calibri"/>
                          <a:cs typeface="Arial"/>
                        </a:rPr>
                        <a:t> Marketing et communication  </a:t>
                      </a:r>
                      <a:endParaRPr lang="fr-FR" sz="1100" dirty="0">
                        <a:latin typeface="Calibri"/>
                        <a:ea typeface="Calibri"/>
                        <a:cs typeface="Arial"/>
                      </a:endParaRPr>
                    </a:p>
                    <a:p>
                      <a:pPr marL="342900" lvl="0" indent="-342900">
                        <a:lnSpc>
                          <a:spcPct val="115000"/>
                        </a:lnSpc>
                        <a:spcAft>
                          <a:spcPts val="0"/>
                        </a:spcAft>
                        <a:buFont typeface="Calibri"/>
                        <a:buChar char="-"/>
                      </a:pPr>
                      <a:r>
                        <a:rPr lang="fr-FR" sz="1350" dirty="0">
                          <a:solidFill>
                            <a:srgbClr val="000000"/>
                          </a:solidFill>
                          <a:latin typeface="Calibri"/>
                          <a:ea typeface="Calibri"/>
                          <a:cs typeface="Arial"/>
                        </a:rPr>
                        <a:t>Frais juridiques et administratifs </a:t>
                      </a:r>
                      <a:endParaRPr lang="fr-FR" sz="1100" dirty="0">
                        <a:latin typeface="Calibri"/>
                        <a:ea typeface="Calibri"/>
                        <a:cs typeface="Arial"/>
                      </a:endParaRPr>
                    </a:p>
                    <a:p>
                      <a:pPr marL="342900" lvl="0" indent="-342900">
                        <a:lnSpc>
                          <a:spcPct val="115000"/>
                        </a:lnSpc>
                        <a:spcAft>
                          <a:spcPts val="0"/>
                        </a:spcAft>
                        <a:buFont typeface="Calibri"/>
                        <a:buChar char="-"/>
                      </a:pPr>
                      <a:r>
                        <a:rPr lang="fr-FR" sz="1350" dirty="0">
                          <a:solidFill>
                            <a:srgbClr val="000000"/>
                          </a:solidFill>
                          <a:latin typeface="Calibri"/>
                          <a:ea typeface="Calibri"/>
                          <a:cs typeface="Arial"/>
                        </a:rPr>
                        <a:t>Matériel informatique et logiciels</a:t>
                      </a:r>
                      <a:endParaRPr lang="fr-FR" sz="1100" dirty="0">
                        <a:latin typeface="Calibri"/>
                        <a:ea typeface="Calibri"/>
                        <a:cs typeface="Arial"/>
                      </a:endParaRPr>
                    </a:p>
                    <a:p>
                      <a:pPr marL="265113" lvl="0" indent="-265113">
                        <a:lnSpc>
                          <a:spcPct val="115000"/>
                        </a:lnSpc>
                        <a:spcAft>
                          <a:spcPts val="0"/>
                        </a:spcAft>
                        <a:buFont typeface="Calibri"/>
                        <a:buChar char="-"/>
                      </a:pPr>
                      <a:r>
                        <a:rPr lang="fr-FR" sz="1350" dirty="0">
                          <a:solidFill>
                            <a:srgbClr val="000000"/>
                          </a:solidFill>
                          <a:latin typeface="Calibri"/>
                          <a:ea typeface="Calibri"/>
                          <a:cs typeface="Arial"/>
                        </a:rPr>
                        <a:t>| Fonds </a:t>
                      </a:r>
                      <a:r>
                        <a:rPr lang="fr-FR" sz="1350" dirty="0" smtClean="0">
                          <a:solidFill>
                            <a:srgbClr val="000000"/>
                          </a:solidFill>
                          <a:latin typeface="Calibri"/>
                          <a:ea typeface="Calibri"/>
                          <a:cs typeface="Arial"/>
                        </a:rPr>
                        <a:t>de roulement </a:t>
                      </a:r>
                      <a:r>
                        <a:rPr lang="fr-FR" sz="1350" dirty="0">
                          <a:solidFill>
                            <a:srgbClr val="000000"/>
                          </a:solidFill>
                          <a:latin typeface="Calibri"/>
                          <a:ea typeface="Calibri"/>
                          <a:cs typeface="Arial"/>
                        </a:rPr>
                        <a:t>                              </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350">
                          <a:solidFill>
                            <a:srgbClr val="000000"/>
                          </a:solidFill>
                          <a:latin typeface="Calibri"/>
                          <a:ea typeface="Calibri"/>
                          <a:cs typeface="Arial"/>
                        </a:rPr>
                        <a:t>40000</a:t>
                      </a:r>
                      <a:endParaRPr lang="fr-FR" sz="1100">
                        <a:latin typeface="Calibri"/>
                        <a:ea typeface="Calibri"/>
                        <a:cs typeface="Arial"/>
                      </a:endParaRPr>
                    </a:p>
                    <a:p>
                      <a:pPr>
                        <a:lnSpc>
                          <a:spcPct val="115000"/>
                        </a:lnSpc>
                        <a:spcAft>
                          <a:spcPts val="0"/>
                        </a:spcAft>
                      </a:pPr>
                      <a:r>
                        <a:rPr lang="fr-FR" sz="1350">
                          <a:solidFill>
                            <a:srgbClr val="000000"/>
                          </a:solidFill>
                          <a:latin typeface="Calibri"/>
                          <a:ea typeface="Calibri"/>
                          <a:cs typeface="Arial"/>
                        </a:rPr>
                        <a:t>20000</a:t>
                      </a:r>
                      <a:endParaRPr lang="fr-FR" sz="1100">
                        <a:latin typeface="Calibri"/>
                        <a:ea typeface="Calibri"/>
                        <a:cs typeface="Arial"/>
                      </a:endParaRPr>
                    </a:p>
                    <a:p>
                      <a:pPr>
                        <a:lnSpc>
                          <a:spcPct val="115000"/>
                        </a:lnSpc>
                        <a:spcAft>
                          <a:spcPts val="0"/>
                        </a:spcAft>
                      </a:pPr>
                      <a:r>
                        <a:rPr lang="fr-FR" sz="1350">
                          <a:solidFill>
                            <a:srgbClr val="000000"/>
                          </a:solidFill>
                          <a:latin typeface="Calibri"/>
                          <a:ea typeface="Calibri"/>
                          <a:cs typeface="Arial"/>
                        </a:rPr>
                        <a:t>10000</a:t>
                      </a:r>
                      <a:endParaRPr lang="fr-FR" sz="1100">
                        <a:latin typeface="Calibri"/>
                        <a:ea typeface="Calibri"/>
                        <a:cs typeface="Arial"/>
                      </a:endParaRPr>
                    </a:p>
                    <a:p>
                      <a:pPr>
                        <a:lnSpc>
                          <a:spcPct val="115000"/>
                        </a:lnSpc>
                        <a:spcAft>
                          <a:spcPts val="0"/>
                        </a:spcAft>
                      </a:pPr>
                      <a:r>
                        <a:rPr lang="fr-FR" sz="1350">
                          <a:solidFill>
                            <a:srgbClr val="000000"/>
                          </a:solidFill>
                          <a:latin typeface="Calibri"/>
                          <a:ea typeface="Calibri"/>
                          <a:cs typeface="Arial"/>
                        </a:rPr>
                        <a:t>15000</a:t>
                      </a:r>
                      <a:endParaRPr lang="fr-FR" sz="1100">
                        <a:latin typeface="Calibri"/>
                        <a:ea typeface="Calibri"/>
                        <a:cs typeface="Arial"/>
                      </a:endParaRPr>
                    </a:p>
                    <a:p>
                      <a:pPr>
                        <a:lnSpc>
                          <a:spcPct val="115000"/>
                        </a:lnSpc>
                        <a:spcAft>
                          <a:spcPts val="0"/>
                        </a:spcAft>
                      </a:pPr>
                      <a:r>
                        <a:rPr lang="fr-FR" sz="1350">
                          <a:solidFill>
                            <a:srgbClr val="000000"/>
                          </a:solidFill>
                          <a:latin typeface="Calibri"/>
                          <a:ea typeface="Calibri"/>
                          <a:cs typeface="Arial"/>
                        </a:rPr>
                        <a:t>15000</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rtl="0">
                        <a:lnSpc>
                          <a:spcPct val="115000"/>
                        </a:lnSpc>
                        <a:spcAft>
                          <a:spcPts val="0"/>
                        </a:spcAft>
                        <a:buFont typeface="Calibri"/>
                        <a:buChar char="-"/>
                      </a:pPr>
                      <a:r>
                        <a:rPr lang="fr-FR" sz="1350">
                          <a:solidFill>
                            <a:srgbClr val="000000"/>
                          </a:solidFill>
                          <a:latin typeface="Calibri"/>
                          <a:ea typeface="Calibri"/>
                          <a:cs typeface="Arial"/>
                        </a:rPr>
                        <a:t>| Apport personnel </a:t>
                      </a:r>
                      <a:endParaRPr lang="fr-FR" sz="1100">
                        <a:latin typeface="Calibri"/>
                        <a:ea typeface="Calibri"/>
                        <a:cs typeface="Arial"/>
                      </a:endParaRPr>
                    </a:p>
                    <a:p>
                      <a:pPr marL="342900" lvl="0" indent="-342900">
                        <a:lnSpc>
                          <a:spcPct val="115000"/>
                        </a:lnSpc>
                        <a:spcAft>
                          <a:spcPts val="0"/>
                        </a:spcAft>
                        <a:buFont typeface="Calibri"/>
                        <a:buChar char="-"/>
                      </a:pPr>
                      <a:r>
                        <a:rPr lang="fr-FR" sz="1350">
                          <a:solidFill>
                            <a:srgbClr val="000000"/>
                          </a:solidFill>
                          <a:latin typeface="Calibri"/>
                          <a:ea typeface="Calibri"/>
                          <a:cs typeface="Arial"/>
                        </a:rPr>
                        <a:t>Prêt bancaire</a:t>
                      </a:r>
                      <a:endParaRPr lang="fr-FR" sz="1100">
                        <a:latin typeface="Calibri"/>
                        <a:ea typeface="Calibri"/>
                        <a:cs typeface="Arial"/>
                      </a:endParaRPr>
                    </a:p>
                    <a:p>
                      <a:pPr marL="342900" lvl="0" indent="-342900">
                        <a:lnSpc>
                          <a:spcPct val="115000"/>
                        </a:lnSpc>
                        <a:spcAft>
                          <a:spcPts val="0"/>
                        </a:spcAft>
                        <a:buFont typeface="Calibri"/>
                        <a:buChar char="-"/>
                      </a:pPr>
                      <a:r>
                        <a:rPr lang="fr-FR" sz="1350">
                          <a:solidFill>
                            <a:srgbClr val="000000"/>
                          </a:solidFill>
                          <a:latin typeface="Calibri"/>
                          <a:ea typeface="Calibri"/>
                          <a:cs typeface="Arial"/>
                        </a:rPr>
                        <a:t>Investisseurs privés   </a:t>
                      </a:r>
                      <a:endParaRPr lang="fr-FR" sz="1100">
                        <a:latin typeface="Calibri"/>
                        <a:ea typeface="Calibri"/>
                        <a:cs typeface="Arial"/>
                      </a:endParaRPr>
                    </a:p>
                    <a:p>
                      <a:pPr marL="342900" lvl="0" indent="-342900">
                        <a:lnSpc>
                          <a:spcPct val="115000"/>
                        </a:lnSpc>
                        <a:spcAft>
                          <a:spcPts val="0"/>
                        </a:spcAft>
                        <a:buFont typeface="Calibri"/>
                        <a:buChar char="-"/>
                      </a:pPr>
                      <a:r>
                        <a:rPr lang="fr-FR" sz="1350">
                          <a:solidFill>
                            <a:srgbClr val="000000"/>
                          </a:solidFill>
                          <a:latin typeface="Calibri"/>
                          <a:ea typeface="Calibri"/>
                          <a:cs typeface="Arial"/>
                        </a:rPr>
                        <a:t>Subventions et aides                                                                                            </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350">
                          <a:solidFill>
                            <a:srgbClr val="000000"/>
                          </a:solidFill>
                          <a:latin typeface="Calibri"/>
                          <a:ea typeface="Calibri"/>
                          <a:cs typeface="Arial"/>
                        </a:rPr>
                        <a:t>20 000</a:t>
                      </a:r>
                      <a:endParaRPr lang="fr-FR" sz="1100">
                        <a:latin typeface="Calibri"/>
                        <a:ea typeface="Calibri"/>
                        <a:cs typeface="Arial"/>
                      </a:endParaRPr>
                    </a:p>
                    <a:p>
                      <a:pPr>
                        <a:lnSpc>
                          <a:spcPct val="115000"/>
                        </a:lnSpc>
                        <a:spcAft>
                          <a:spcPts val="0"/>
                        </a:spcAft>
                      </a:pPr>
                      <a:r>
                        <a:rPr lang="fr-FR" sz="1350">
                          <a:solidFill>
                            <a:srgbClr val="000000"/>
                          </a:solidFill>
                          <a:latin typeface="Calibri"/>
                          <a:ea typeface="Calibri"/>
                          <a:cs typeface="Arial"/>
                        </a:rPr>
                        <a:t>30000</a:t>
                      </a:r>
                      <a:endParaRPr lang="fr-FR" sz="1100">
                        <a:latin typeface="Calibri"/>
                        <a:ea typeface="Calibri"/>
                        <a:cs typeface="Arial"/>
                      </a:endParaRPr>
                    </a:p>
                    <a:p>
                      <a:pPr>
                        <a:lnSpc>
                          <a:spcPct val="115000"/>
                        </a:lnSpc>
                        <a:spcAft>
                          <a:spcPts val="0"/>
                        </a:spcAft>
                      </a:pPr>
                      <a:r>
                        <a:rPr lang="fr-FR" sz="1350">
                          <a:solidFill>
                            <a:srgbClr val="000000"/>
                          </a:solidFill>
                          <a:latin typeface="Calibri"/>
                          <a:ea typeface="Calibri"/>
                          <a:cs typeface="Arial"/>
                        </a:rPr>
                        <a:t>30000</a:t>
                      </a:r>
                      <a:endParaRPr lang="fr-FR" sz="1100">
                        <a:latin typeface="Calibri"/>
                        <a:ea typeface="Calibri"/>
                        <a:cs typeface="Arial"/>
                      </a:endParaRPr>
                    </a:p>
                    <a:p>
                      <a:pPr>
                        <a:lnSpc>
                          <a:spcPct val="115000"/>
                        </a:lnSpc>
                        <a:spcAft>
                          <a:spcPts val="0"/>
                        </a:spcAft>
                      </a:pPr>
                      <a:r>
                        <a:rPr lang="fr-FR" sz="1350">
                          <a:latin typeface="Calibri"/>
                          <a:ea typeface="Calibri"/>
                          <a:cs typeface="Arial"/>
                        </a:rPr>
                        <a:t>20000</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pPr>
                      <a:r>
                        <a:rPr lang="fr-FR" sz="1350" b="1">
                          <a:solidFill>
                            <a:srgbClr val="000000"/>
                          </a:solidFill>
                          <a:latin typeface="Calibri"/>
                          <a:ea typeface="Calibri"/>
                          <a:cs typeface="Arial"/>
                        </a:rPr>
                        <a:t>| **Total des besoins**</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350" b="1">
                          <a:solidFill>
                            <a:srgbClr val="000000"/>
                          </a:solidFill>
                          <a:latin typeface="Calibri"/>
                          <a:ea typeface="Calibri"/>
                          <a:cs typeface="Arial"/>
                        </a:rPr>
                        <a:t>100000</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fr-FR" sz="1350" b="1">
                          <a:solidFill>
                            <a:srgbClr val="000000"/>
                          </a:solidFill>
                          <a:latin typeface="Calibri"/>
                          <a:ea typeface="Calibri"/>
                          <a:cs typeface="Arial"/>
                        </a:rPr>
                        <a:t>| **Total des financements**</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350" b="1" dirty="0">
                          <a:solidFill>
                            <a:srgbClr val="000000"/>
                          </a:solidFill>
                          <a:latin typeface="Calibri"/>
                          <a:ea typeface="Calibri"/>
                          <a:cs typeface="Arial"/>
                        </a:rPr>
                        <a:t>100000</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06497" name="Rectangle 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5" name="Rectangle 4"/>
          <p:cNvSpPr/>
          <p:nvPr/>
        </p:nvSpPr>
        <p:spPr>
          <a:xfrm>
            <a:off x="1292121" y="1253488"/>
            <a:ext cx="3343223" cy="400110"/>
          </a:xfrm>
          <a:prstGeom prst="rect">
            <a:avLst/>
          </a:prstGeom>
        </p:spPr>
        <p:txBody>
          <a:bodyPr wrap="none">
            <a:spAutoFit/>
          </a:bodyPr>
          <a:lstStyle/>
          <a:p>
            <a:r>
              <a:rPr lang="fr-FR" sz="2000" dirty="0" smtClean="0">
                <a:solidFill>
                  <a:schemeClr val="dk1"/>
                </a:solidFill>
                <a:latin typeface="Arial" pitchFamily="34" charset="0"/>
                <a:ea typeface="Verdana" pitchFamily="34" charset="0"/>
                <a:cs typeface="Verdana" pitchFamily="34" charset="0"/>
              </a:rPr>
              <a:t> 3. Tableau de Financement</a:t>
            </a:r>
          </a:p>
        </p:txBody>
      </p:sp>
      <p:sp>
        <p:nvSpPr>
          <p:cNvPr id="6" name="Pentagone 5"/>
          <p:cNvSpPr/>
          <p:nvPr/>
        </p:nvSpPr>
        <p:spPr>
          <a:xfrm>
            <a:off x="2376668" y="4380240"/>
            <a:ext cx="8283616" cy="1323439"/>
          </a:xfrm>
          <a:prstGeom prst="homePlate">
            <a:avLst/>
          </a:prstGeom>
        </p:spPr>
        <p:style>
          <a:lnRef idx="2">
            <a:schemeClr val="dk1"/>
          </a:lnRef>
          <a:fillRef idx="1001">
            <a:schemeClr val="lt2"/>
          </a:fillRef>
          <a:effectRef idx="0">
            <a:schemeClr val="dk1"/>
          </a:effectRef>
          <a:fontRef idx="minor">
            <a:schemeClr val="dk1"/>
          </a:fontRef>
        </p:style>
        <p:txBody>
          <a:bodyPr wrap="square">
            <a:spAutoFit/>
          </a:bodyPr>
          <a:lstStyle/>
          <a:p>
            <a:r>
              <a:rPr lang="fr-FR" sz="2000" dirty="0" smtClean="0">
                <a:solidFill>
                  <a:schemeClr val="dk1"/>
                </a:solidFill>
                <a:latin typeface="Arial" pitchFamily="34" charset="0"/>
                <a:ea typeface="Verdana" pitchFamily="34" charset="0"/>
                <a:cs typeface="Verdana" pitchFamily="34" charset="0"/>
              </a:rPr>
              <a:t>Ce plan de financement initial permet de structurer les besoins et les sources de financement pour le lancement de </a:t>
            </a:r>
            <a:r>
              <a:rPr lang="fr-FR" sz="2000" dirty="0" err="1" smtClean="0">
                <a:solidFill>
                  <a:schemeClr val="dk1"/>
                </a:solidFill>
                <a:latin typeface="Arial" pitchFamily="34" charset="0"/>
                <a:ea typeface="Verdana" pitchFamily="34" charset="0"/>
                <a:cs typeface="Verdana" pitchFamily="34" charset="0"/>
              </a:rPr>
              <a:t>DigiSolutions</a:t>
            </a:r>
            <a:r>
              <a:rPr lang="fr-FR" sz="2000" dirty="0" smtClean="0">
                <a:solidFill>
                  <a:schemeClr val="dk1"/>
                </a:solidFill>
                <a:latin typeface="Arial" pitchFamily="34" charset="0"/>
                <a:ea typeface="Verdana" pitchFamily="34" charset="0"/>
                <a:cs typeface="Verdana" pitchFamily="34" charset="0"/>
              </a:rPr>
              <a:t>. </a:t>
            </a:r>
          </a:p>
          <a:p>
            <a:r>
              <a:rPr lang="fr-FR" sz="2000" dirty="0" smtClean="0">
                <a:solidFill>
                  <a:schemeClr val="dk1"/>
                </a:solidFill>
                <a:latin typeface="Arial" pitchFamily="34" charset="0"/>
                <a:ea typeface="Verdana" pitchFamily="34" charset="0"/>
                <a:cs typeface="Verdana" pitchFamily="34" charset="0"/>
              </a:rPr>
              <a:t>Il est essentiel de présenter ce plan de manière claire et concise aux potentiels investisseurs et partenaires financiers.</a:t>
            </a:r>
          </a:p>
        </p:txBody>
      </p:sp>
      <p:sp>
        <p:nvSpPr>
          <p:cNvPr id="7" name="Rectangle 6"/>
          <p:cNvSpPr/>
          <p:nvPr/>
        </p:nvSpPr>
        <p:spPr>
          <a:xfrm>
            <a:off x="687556" y="2440103"/>
            <a:ext cx="1188146" cy="369332"/>
          </a:xfrm>
          <a:prstGeom prst="rect">
            <a:avLst/>
          </a:prstGeom>
        </p:spPr>
        <p:txBody>
          <a:bodyPr wrap="none">
            <a:spAutoFit/>
          </a:bodyPr>
          <a:lstStyle/>
          <a:p>
            <a:r>
              <a:rPr lang="fr-FR" b="1" dirty="0" smtClean="0"/>
              <a:t>EXEMPLE :</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902826" y="883030"/>
            <a:ext cx="10104698" cy="557075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fr-FR" sz="2000" b="1" dirty="0" smtClean="0">
                <a:solidFill>
                  <a:srgbClr val="C00000"/>
                </a:solidFill>
                <a:latin typeface="Arial" pitchFamily="34" charset="0"/>
                <a:ea typeface="Verdana" pitchFamily="34" charset="0"/>
                <a:cs typeface="Verdana" pitchFamily="34" charset="0"/>
              </a:rPr>
              <a:t>2.2 Établir le compte de résultat prévisionnel</a:t>
            </a:r>
          </a:p>
          <a:p>
            <a:endParaRPr lang="fr-FR" sz="2000" b="1" dirty="0" smtClean="0">
              <a:solidFill>
                <a:srgbClr val="C00000"/>
              </a:solidFill>
              <a:latin typeface="Arial" pitchFamily="34" charset="0"/>
              <a:ea typeface="Verdana" pitchFamily="34" charset="0"/>
              <a:cs typeface="Verdana" pitchFamily="34" charset="0"/>
            </a:endParaRPr>
          </a:p>
          <a:p>
            <a:pPr algn="just"/>
            <a:r>
              <a:rPr lang="fr-FR" sz="2000" dirty="0" smtClean="0">
                <a:latin typeface="Arial" pitchFamily="34" charset="0"/>
                <a:ea typeface="Verdana" pitchFamily="34" charset="0"/>
                <a:cs typeface="Verdana" pitchFamily="34" charset="0"/>
              </a:rPr>
              <a:t>Le compte de résultat prévisionnel peut être fait sous forme de liste ou sous forme d’un tableau. Dans ce dernier cas, le tableau retrace l’activité et recense :</a:t>
            </a:r>
          </a:p>
          <a:p>
            <a:pPr algn="just"/>
            <a:endParaRPr lang="fr-FR" sz="2000" dirty="0" smtClean="0">
              <a:latin typeface="Arial" pitchFamily="34" charset="0"/>
              <a:ea typeface="Verdana" pitchFamily="34" charset="0"/>
              <a:cs typeface="Verdana" pitchFamily="34" charset="0"/>
            </a:endParaRPr>
          </a:p>
          <a:p>
            <a:pPr algn="just">
              <a:buFont typeface="Wingdings" pitchFamily="2" charset="2"/>
              <a:buChar char="§"/>
            </a:pPr>
            <a:r>
              <a:rPr lang="fr-FR" sz="2000" dirty="0" smtClean="0">
                <a:latin typeface="Arial" pitchFamily="34" charset="0"/>
                <a:ea typeface="Verdana" pitchFamily="34" charset="0"/>
                <a:cs typeface="Verdana" pitchFamily="34" charset="0"/>
              </a:rPr>
              <a:t> dans la partie gauche, l’ensemble des </a:t>
            </a:r>
            <a:r>
              <a:rPr lang="fr-FR" sz="2000" b="1" dirty="0" smtClean="0">
                <a:latin typeface="Arial" pitchFamily="34" charset="0"/>
                <a:ea typeface="Verdana" pitchFamily="34" charset="0"/>
                <a:cs typeface="Verdana" pitchFamily="34" charset="0"/>
              </a:rPr>
              <a:t>dépenses</a:t>
            </a:r>
            <a:r>
              <a:rPr lang="fr-FR" sz="2000" dirty="0" smtClean="0">
                <a:latin typeface="Arial" pitchFamily="34" charset="0"/>
                <a:ea typeface="Verdana" pitchFamily="34" charset="0"/>
                <a:cs typeface="Verdana" pitchFamily="34" charset="0"/>
              </a:rPr>
              <a:t> (ou « charges ») de l’exercice ;</a:t>
            </a:r>
          </a:p>
          <a:p>
            <a:pPr algn="just">
              <a:buFont typeface="Wingdings" pitchFamily="2" charset="2"/>
              <a:buChar char="§"/>
            </a:pPr>
            <a:r>
              <a:rPr lang="fr-FR" sz="2000" dirty="0" smtClean="0">
                <a:latin typeface="Arial" pitchFamily="34" charset="0"/>
                <a:ea typeface="Verdana" pitchFamily="34" charset="0"/>
                <a:cs typeface="Verdana" pitchFamily="34" charset="0"/>
              </a:rPr>
              <a:t> dans la partie droite, </a:t>
            </a:r>
            <a:r>
              <a:rPr lang="fr-FR" sz="2000" b="1" dirty="0" smtClean="0">
                <a:latin typeface="Arial" pitchFamily="34" charset="0"/>
                <a:ea typeface="Verdana" pitchFamily="34" charset="0"/>
                <a:cs typeface="Verdana" pitchFamily="34" charset="0"/>
              </a:rPr>
              <a:t>les recettes </a:t>
            </a:r>
            <a:r>
              <a:rPr lang="fr-FR" sz="2000" dirty="0" smtClean="0">
                <a:latin typeface="Arial" pitchFamily="34" charset="0"/>
                <a:ea typeface="Verdana" pitchFamily="34" charset="0"/>
                <a:cs typeface="Verdana" pitchFamily="34" charset="0"/>
              </a:rPr>
              <a:t>(ou « produits ») de l’exercice.</a:t>
            </a:r>
          </a:p>
          <a:p>
            <a:pPr algn="just"/>
            <a:endParaRPr lang="fr-FR" sz="2000" dirty="0" smtClean="0">
              <a:latin typeface="Arial" pitchFamily="34" charset="0"/>
              <a:ea typeface="Verdana" pitchFamily="34" charset="0"/>
              <a:cs typeface="Verdana" pitchFamily="34" charset="0"/>
            </a:endParaRPr>
          </a:p>
          <a:p>
            <a:pPr algn="just"/>
            <a:r>
              <a:rPr lang="fr-FR" sz="2000" dirty="0" smtClean="0">
                <a:latin typeface="Arial" pitchFamily="34" charset="0"/>
                <a:ea typeface="Verdana" pitchFamily="34" charset="0"/>
                <a:cs typeface="Verdana" pitchFamily="34" charset="0"/>
              </a:rPr>
              <a:t>La différence entre les 2 colonnes du tableau permet de s’assurer que l’activité dégage un bénéfice suffisant (reliquat des produits par rapport aux charges).</a:t>
            </a:r>
          </a:p>
          <a:p>
            <a:pPr algn="just"/>
            <a:endParaRPr lang="fr-FR" sz="800" dirty="0" smtClean="0">
              <a:latin typeface="Arial" pitchFamily="34" charset="0"/>
              <a:ea typeface="Verdana" pitchFamily="34" charset="0"/>
              <a:cs typeface="Verdana" pitchFamily="34" charset="0"/>
            </a:endParaRPr>
          </a:p>
          <a:p>
            <a:pPr algn="just"/>
            <a:r>
              <a:rPr lang="fr-FR" sz="2000" dirty="0" smtClean="0">
                <a:latin typeface="Arial" pitchFamily="34" charset="0"/>
                <a:ea typeface="Verdana" pitchFamily="34" charset="0"/>
                <a:cs typeface="Verdana" pitchFamily="34" charset="0"/>
              </a:rPr>
              <a:t>Pour remplir</a:t>
            </a:r>
            <a:r>
              <a:rPr lang="fr-FR" sz="2000" b="1" dirty="0" smtClean="0">
                <a:latin typeface="Arial" pitchFamily="34" charset="0"/>
                <a:ea typeface="Verdana" pitchFamily="34" charset="0"/>
                <a:cs typeface="Verdana" pitchFamily="34" charset="0"/>
              </a:rPr>
              <a:t> correctement</a:t>
            </a:r>
            <a:r>
              <a:rPr lang="fr-FR" sz="2000" dirty="0" smtClean="0">
                <a:latin typeface="Arial" pitchFamily="34" charset="0"/>
                <a:ea typeface="Verdana" pitchFamily="34" charset="0"/>
                <a:cs typeface="Verdana" pitchFamily="34" charset="0"/>
              </a:rPr>
              <a:t> le compte de résultat, il faudra :</a:t>
            </a:r>
          </a:p>
          <a:p>
            <a:pPr algn="just"/>
            <a:endParaRPr lang="fr-FR" sz="800" dirty="0" smtClean="0">
              <a:latin typeface="Arial" pitchFamily="34" charset="0"/>
              <a:ea typeface="Verdana" pitchFamily="34" charset="0"/>
              <a:cs typeface="Verdana" pitchFamily="34" charset="0"/>
            </a:endParaRPr>
          </a:p>
          <a:p>
            <a:pPr algn="just">
              <a:buFont typeface="Wingdings" pitchFamily="2" charset="2"/>
              <a:buChar char="§"/>
            </a:pPr>
            <a:r>
              <a:rPr lang="fr-FR" sz="2000" dirty="0" smtClean="0">
                <a:latin typeface="Arial" pitchFamily="34" charset="0"/>
                <a:ea typeface="Verdana" pitchFamily="34" charset="0"/>
                <a:cs typeface="Verdana" pitchFamily="34" charset="0"/>
              </a:rPr>
              <a:t> dans la partie gauche du tableau :</a:t>
            </a:r>
          </a:p>
          <a:p>
            <a:pPr indent="531813" algn="just"/>
            <a:r>
              <a:rPr lang="fr-FR" sz="2000" dirty="0" smtClean="0">
                <a:latin typeface="Arial" pitchFamily="34" charset="0"/>
                <a:ea typeface="Verdana" pitchFamily="34" charset="0"/>
                <a:cs typeface="Verdana" pitchFamily="34" charset="0"/>
              </a:rPr>
              <a:t>• recenser toutes les charges prévisibles d’exploitation (un plan comptable pourra servir de check-list) ;</a:t>
            </a:r>
          </a:p>
          <a:p>
            <a:pPr indent="531813" algn="just"/>
            <a:r>
              <a:rPr lang="fr-FR" sz="2000" dirty="0" smtClean="0">
                <a:latin typeface="Arial" pitchFamily="34" charset="0"/>
                <a:ea typeface="Verdana" pitchFamily="34" charset="0"/>
                <a:cs typeface="Verdana" pitchFamily="34" charset="0"/>
              </a:rPr>
              <a:t>• évaluer la dotation aux amortissements pour les investissements achetés (et bien sûr amortissables) ;</a:t>
            </a:r>
          </a:p>
          <a:p>
            <a:pPr indent="531813" algn="just"/>
            <a:r>
              <a:rPr lang="fr-FR" sz="2000" dirty="0" smtClean="0">
                <a:latin typeface="Arial" pitchFamily="34" charset="0"/>
                <a:ea typeface="Verdana" pitchFamily="34" charset="0"/>
                <a:cs typeface="Verdana" pitchFamily="34" charset="0"/>
              </a:rPr>
              <a:t>• calculer les charges financières (intérêts d’emprunt), s’il y a lieu ;</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324998" y="2016846"/>
            <a:ext cx="3486149" cy="313932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dirty="0" smtClean="0">
                <a:latin typeface="Arial" pitchFamily="34" charset="0"/>
                <a:ea typeface="Verdana" pitchFamily="34" charset="0"/>
                <a:cs typeface="Verdana" pitchFamily="34" charset="0"/>
              </a:rPr>
              <a:t> </a:t>
            </a:r>
          </a:p>
          <a:p>
            <a:pPr algn="just">
              <a:buFont typeface="Wingdings" pitchFamily="2" charset="2"/>
              <a:buChar char="§"/>
            </a:pPr>
            <a:r>
              <a:rPr lang="fr-FR" dirty="0" smtClean="0">
                <a:latin typeface="Arial" pitchFamily="34" charset="0"/>
                <a:ea typeface="Verdana" pitchFamily="34" charset="0"/>
                <a:cs typeface="Verdana" pitchFamily="34" charset="0"/>
              </a:rPr>
              <a:t> dans la partie droite du tableau :</a:t>
            </a:r>
          </a:p>
          <a:p>
            <a:pPr indent="531813" algn="just"/>
            <a:r>
              <a:rPr lang="fr-FR" dirty="0" smtClean="0">
                <a:latin typeface="Arial" pitchFamily="34" charset="0"/>
                <a:ea typeface="Verdana" pitchFamily="34" charset="0"/>
                <a:cs typeface="Verdana" pitchFamily="34" charset="0"/>
              </a:rPr>
              <a:t>• inscrire le chiffre d’affaires et éventuellement les autres produits (financiers ou exceptionnels).</a:t>
            </a:r>
          </a:p>
          <a:p>
            <a:pPr indent="531813" algn="just"/>
            <a:r>
              <a:rPr lang="fr-FR" dirty="0" smtClean="0">
                <a:latin typeface="Arial" pitchFamily="34" charset="0"/>
                <a:ea typeface="Verdana" pitchFamily="34" charset="0"/>
                <a:cs typeface="Verdana" pitchFamily="34" charset="0"/>
              </a:rPr>
              <a:t>Tous les montants sont à porter hors taxes (sauf en cas de non-assujettissement à la TVA).</a:t>
            </a:r>
          </a:p>
        </p:txBody>
      </p:sp>
      <p:graphicFrame>
        <p:nvGraphicFramePr>
          <p:cNvPr id="4" name="Tableau 3"/>
          <p:cNvGraphicFramePr>
            <a:graphicFrameLocks noGrp="1"/>
          </p:cNvGraphicFramePr>
          <p:nvPr/>
        </p:nvGraphicFramePr>
        <p:xfrm>
          <a:off x="4409952" y="452864"/>
          <a:ext cx="7498324" cy="5924033"/>
        </p:xfrm>
        <a:graphic>
          <a:graphicData uri="http://schemas.openxmlformats.org/drawingml/2006/table">
            <a:tbl>
              <a:tblPr/>
              <a:tblGrid>
                <a:gridCol w="2072583"/>
                <a:gridCol w="591570"/>
                <a:gridCol w="493439"/>
                <a:gridCol w="563732"/>
                <a:gridCol w="1902768"/>
                <a:gridCol w="690397"/>
                <a:gridCol w="591570"/>
                <a:gridCol w="592265"/>
              </a:tblGrid>
              <a:tr h="146530">
                <a:tc gridSpan="4">
                  <a:txBody>
                    <a:bodyPr/>
                    <a:lstStyle/>
                    <a:p>
                      <a:pPr algn="ctr">
                        <a:lnSpc>
                          <a:spcPct val="115000"/>
                        </a:lnSpc>
                        <a:spcAft>
                          <a:spcPts val="0"/>
                        </a:spcAft>
                      </a:pPr>
                      <a:r>
                        <a:rPr lang="fr-FR" sz="1800" b="1" kern="1200" baseline="0" dirty="0" smtClean="0">
                          <a:solidFill>
                            <a:schemeClr val="tx1"/>
                          </a:solidFill>
                          <a:latin typeface="+mn-lt"/>
                          <a:ea typeface="+mn-ea"/>
                          <a:cs typeface="+mn-cs"/>
                        </a:rPr>
                        <a:t>Charges</a:t>
                      </a:r>
                      <a:endParaRPr lang="fr-FR" sz="800" dirty="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c gridSpan="4">
                  <a:txBody>
                    <a:bodyPr/>
                    <a:lstStyle/>
                    <a:p>
                      <a:pPr algn="ctr">
                        <a:lnSpc>
                          <a:spcPct val="115000"/>
                        </a:lnSpc>
                        <a:spcAft>
                          <a:spcPts val="0"/>
                        </a:spcAft>
                      </a:pPr>
                      <a:r>
                        <a:rPr lang="fr-FR" sz="1800" b="1" kern="1200" baseline="0" dirty="0" smtClean="0">
                          <a:solidFill>
                            <a:schemeClr val="tx1"/>
                          </a:solidFill>
                          <a:latin typeface="+mn-lt"/>
                          <a:ea typeface="+mn-ea"/>
                          <a:cs typeface="+mn-cs"/>
                        </a:rPr>
                        <a:t>Produits</a:t>
                      </a:r>
                      <a:endParaRPr lang="fr-FR" sz="800" dirty="0">
                        <a:latin typeface="Calibri"/>
                        <a:ea typeface="Calibri"/>
                        <a:cs typeface="Arial"/>
                      </a:endParaRPr>
                    </a:p>
                  </a:txBody>
                  <a:tcPr marL="46910" marR="4691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c hMerge="1">
                  <a:txBody>
                    <a:bodyPr/>
                    <a:lstStyle/>
                    <a:p>
                      <a:endParaRPr lang="fr-FR"/>
                    </a:p>
                  </a:txBody>
                  <a:tcPr/>
                </a:tc>
              </a:tr>
              <a:tr h="146530">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700" b="1">
                          <a:latin typeface="Arial-BoldMT"/>
                          <a:ea typeface="Calibri"/>
                          <a:cs typeface="Arial-BoldMT"/>
                        </a:rPr>
                        <a:t>An 1</a:t>
                      </a: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700" b="1">
                          <a:latin typeface="Arial-BoldMT"/>
                          <a:ea typeface="Calibri"/>
                          <a:cs typeface="Arial-BoldMT"/>
                        </a:rPr>
                        <a:t>An 2 </a:t>
                      </a: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700" b="1">
                          <a:latin typeface="Arial-BoldMT"/>
                          <a:ea typeface="Calibri"/>
                          <a:cs typeface="Arial-BoldMT"/>
                        </a:rPr>
                        <a:t>An 3</a:t>
                      </a: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700" b="1">
                          <a:latin typeface="Arial-BoldMT"/>
                          <a:ea typeface="Calibri"/>
                          <a:cs typeface="Arial-BoldMT"/>
                        </a:rPr>
                        <a:t>An 1</a:t>
                      </a: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700" b="1">
                          <a:latin typeface="Arial-BoldMT"/>
                          <a:ea typeface="Calibri"/>
                          <a:cs typeface="Arial-BoldMT"/>
                        </a:rPr>
                        <a:t>An 2 </a:t>
                      </a: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700" b="1">
                          <a:latin typeface="Arial-BoldMT"/>
                          <a:ea typeface="Calibri"/>
                          <a:cs typeface="Arial-BoldMT"/>
                        </a:rPr>
                        <a:t>An 3</a:t>
                      </a: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2854">
                <a:tc>
                  <a:txBody>
                    <a:bodyPr/>
                    <a:lstStyle/>
                    <a:p>
                      <a:pPr>
                        <a:lnSpc>
                          <a:spcPct val="115000"/>
                        </a:lnSpc>
                        <a:spcAft>
                          <a:spcPts val="0"/>
                        </a:spcAft>
                      </a:pPr>
                      <a:r>
                        <a:rPr lang="fr-FR" sz="700" dirty="0">
                          <a:solidFill>
                            <a:srgbClr val="FF5A00"/>
                          </a:solidFill>
                          <a:latin typeface="ArialMT"/>
                          <a:ea typeface="Calibri"/>
                          <a:cs typeface="ArialMT"/>
                        </a:rPr>
                        <a:t>Achats</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 Marchandises</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 Fournitures</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 Variation de stock</a:t>
                      </a:r>
                      <a:endParaRPr lang="fr-FR" sz="800" dirty="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700" dirty="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7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7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700" dirty="0">
                          <a:solidFill>
                            <a:srgbClr val="FF5A00"/>
                          </a:solidFill>
                          <a:latin typeface="ArialMT"/>
                          <a:ea typeface="Calibri"/>
                          <a:cs typeface="ArialMT"/>
                        </a:rPr>
                        <a:t>Chiffre d’affaires</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 Ventes de marchandises</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 Prestations de services</a:t>
                      </a:r>
                      <a:endParaRPr lang="fr-FR" sz="800" dirty="0">
                        <a:latin typeface="Calibri"/>
                        <a:ea typeface="Calibri"/>
                        <a:cs typeface="Arial"/>
                      </a:endParaRPr>
                    </a:p>
                    <a:p>
                      <a:pPr>
                        <a:lnSpc>
                          <a:spcPct val="115000"/>
                        </a:lnSpc>
                        <a:spcAft>
                          <a:spcPts val="0"/>
                        </a:spcAft>
                      </a:pPr>
                      <a:endParaRPr lang="fr-FR" sz="800" dirty="0">
                        <a:latin typeface="Calibri"/>
                        <a:ea typeface="Calibri"/>
                        <a:cs typeface="Arial"/>
                      </a:endParaRPr>
                    </a:p>
                  </a:txBody>
                  <a:tcPr marL="46910" marR="4691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07844">
                <a:tc>
                  <a:txBody>
                    <a:bodyPr/>
                    <a:lstStyle/>
                    <a:p>
                      <a:pPr>
                        <a:lnSpc>
                          <a:spcPct val="115000"/>
                        </a:lnSpc>
                        <a:spcAft>
                          <a:spcPts val="0"/>
                        </a:spcAft>
                      </a:pPr>
                      <a:r>
                        <a:rPr lang="fr-FR" sz="700" dirty="0">
                          <a:solidFill>
                            <a:srgbClr val="000000"/>
                          </a:solidFill>
                          <a:latin typeface="ArialMT"/>
                          <a:ea typeface="Calibri"/>
                          <a:cs typeface="ArialMT"/>
                        </a:rPr>
                        <a:t>Charges externes</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 Fournitures non stockées</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(eau, électricité, gaz)</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 Crédit-bail</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 Sous-traitance</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 Loyers et charges locatives</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 Assurances</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 Honoraires</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 Entretien (locaux, matériel)</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 Documentation</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 Affranchissements,</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téléphone, internet</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 Publicité</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 Frais de transport</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 Emballages et</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conditionnement</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 Voyages et déplacements</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 Divers</a:t>
                      </a:r>
                      <a:endParaRPr lang="fr-FR" sz="800" dirty="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2649">
                <a:tc>
                  <a:txBody>
                    <a:bodyPr/>
                    <a:lstStyle/>
                    <a:p>
                      <a:pPr>
                        <a:lnSpc>
                          <a:spcPct val="115000"/>
                        </a:lnSpc>
                        <a:spcAft>
                          <a:spcPts val="0"/>
                        </a:spcAft>
                      </a:pPr>
                      <a:r>
                        <a:rPr lang="fr-FR" sz="800" dirty="0">
                          <a:solidFill>
                            <a:srgbClr val="FF5A00"/>
                          </a:solidFill>
                          <a:latin typeface="ArialMT"/>
                          <a:ea typeface="Calibri"/>
                          <a:cs typeface="ArialMT"/>
                        </a:rPr>
                        <a:t>Impôts et taxes</a:t>
                      </a:r>
                      <a:endParaRPr lang="fr-FR" sz="800" dirty="0">
                        <a:latin typeface="Calibri"/>
                        <a:ea typeface="Calibri"/>
                        <a:cs typeface="Arial"/>
                      </a:endParaRPr>
                    </a:p>
                    <a:p>
                      <a:pPr>
                        <a:lnSpc>
                          <a:spcPct val="115000"/>
                        </a:lnSpc>
                        <a:spcAft>
                          <a:spcPts val="0"/>
                        </a:spcAft>
                      </a:pPr>
                      <a:endParaRPr lang="fr-FR" sz="800" dirty="0">
                        <a:latin typeface="Calibri"/>
                        <a:ea typeface="Calibri"/>
                        <a:cs typeface="Arial"/>
                      </a:endParaRPr>
                    </a:p>
                    <a:p>
                      <a:pPr>
                        <a:lnSpc>
                          <a:spcPct val="115000"/>
                        </a:lnSpc>
                        <a:spcAft>
                          <a:spcPts val="0"/>
                        </a:spcAft>
                      </a:pPr>
                      <a:r>
                        <a:rPr lang="fr-FR" sz="800" dirty="0">
                          <a:solidFill>
                            <a:srgbClr val="000000"/>
                          </a:solidFill>
                          <a:latin typeface="ArialMT"/>
                          <a:ea typeface="Calibri"/>
                          <a:cs typeface="ArialMT"/>
                        </a:rPr>
                        <a:t>• Contribution économique</a:t>
                      </a:r>
                      <a:endParaRPr lang="fr-FR" sz="800" dirty="0">
                        <a:latin typeface="Calibri"/>
                        <a:ea typeface="Calibri"/>
                        <a:cs typeface="Arial"/>
                      </a:endParaRPr>
                    </a:p>
                    <a:p>
                      <a:pPr>
                        <a:lnSpc>
                          <a:spcPct val="115000"/>
                        </a:lnSpc>
                        <a:spcAft>
                          <a:spcPts val="0"/>
                        </a:spcAft>
                      </a:pPr>
                      <a:r>
                        <a:rPr lang="fr-FR" sz="800" dirty="0">
                          <a:solidFill>
                            <a:srgbClr val="000000"/>
                          </a:solidFill>
                          <a:latin typeface="ArialMT"/>
                          <a:ea typeface="Calibri"/>
                          <a:cs typeface="ArialMT"/>
                        </a:rPr>
                        <a:t>territoriale (CET)</a:t>
                      </a:r>
                      <a:endParaRPr lang="fr-FR" sz="800" dirty="0">
                        <a:latin typeface="Calibri"/>
                        <a:ea typeface="Calibri"/>
                        <a:cs typeface="Arial"/>
                      </a:endParaRPr>
                    </a:p>
                    <a:p>
                      <a:pPr>
                        <a:lnSpc>
                          <a:spcPct val="115000"/>
                        </a:lnSpc>
                        <a:spcAft>
                          <a:spcPts val="0"/>
                        </a:spcAft>
                      </a:pPr>
                      <a:r>
                        <a:rPr lang="fr-FR" sz="800" dirty="0">
                          <a:solidFill>
                            <a:srgbClr val="000000"/>
                          </a:solidFill>
                          <a:latin typeface="ArialMT"/>
                          <a:ea typeface="Calibri"/>
                          <a:cs typeface="ArialMT"/>
                        </a:rPr>
                        <a:t>• Autres impôts et taxes</a:t>
                      </a:r>
                      <a:endParaRPr lang="fr-FR" sz="800" dirty="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700">
                        <a:solidFill>
                          <a:srgbClr val="000000"/>
                        </a:solidFill>
                        <a:latin typeface="ArialMT"/>
                        <a:ea typeface="Calibri"/>
                        <a:cs typeface="ArialMT"/>
                      </a:endParaRPr>
                    </a:p>
                  </a:txBody>
                  <a:tcPr marL="46910" marR="4691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92188">
                <a:tc>
                  <a:txBody>
                    <a:bodyPr/>
                    <a:lstStyle/>
                    <a:p>
                      <a:pPr>
                        <a:lnSpc>
                          <a:spcPct val="115000"/>
                        </a:lnSpc>
                        <a:spcAft>
                          <a:spcPts val="0"/>
                        </a:spcAft>
                      </a:pPr>
                      <a:r>
                        <a:rPr lang="fr-FR" sz="700" dirty="0">
                          <a:solidFill>
                            <a:srgbClr val="FF5A00"/>
                          </a:solidFill>
                          <a:latin typeface="ArialMT"/>
                          <a:ea typeface="Calibri"/>
                          <a:cs typeface="ArialMT"/>
                        </a:rPr>
                        <a:t>Charges de personnel</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 Salaires et charges</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sociales</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 Commissions versées</a:t>
                      </a:r>
                      <a:endParaRPr lang="fr-FR" sz="800" dirty="0">
                        <a:latin typeface="Calibri"/>
                        <a:ea typeface="Calibri"/>
                        <a:cs typeface="Arial"/>
                      </a:endParaRPr>
                    </a:p>
                    <a:p>
                      <a:pPr>
                        <a:lnSpc>
                          <a:spcPct val="115000"/>
                        </a:lnSpc>
                        <a:spcAft>
                          <a:spcPts val="0"/>
                        </a:spcAft>
                      </a:pPr>
                      <a:r>
                        <a:rPr lang="fr-FR" sz="700" dirty="0">
                          <a:solidFill>
                            <a:srgbClr val="000000"/>
                          </a:solidFill>
                          <a:latin typeface="ArialMT"/>
                          <a:ea typeface="Calibri"/>
                          <a:cs typeface="ArialMT"/>
                        </a:rPr>
                        <a:t>• </a:t>
                      </a:r>
                      <a:r>
                        <a:rPr lang="fr-FR" sz="700" dirty="0" smtClean="0">
                          <a:solidFill>
                            <a:srgbClr val="000000"/>
                          </a:solidFill>
                          <a:latin typeface="ArialMT"/>
                          <a:ea typeface="Calibri"/>
                          <a:cs typeface="ArialMT"/>
                        </a:rPr>
                        <a:t>Rémunération du </a:t>
                      </a:r>
                      <a:r>
                        <a:rPr lang="fr-FR" sz="700" dirty="0">
                          <a:solidFill>
                            <a:srgbClr val="000000"/>
                          </a:solidFill>
                          <a:latin typeface="ArialMT"/>
                          <a:ea typeface="Calibri"/>
                          <a:cs typeface="ArialMT"/>
                        </a:rPr>
                        <a:t>dirigeant</a:t>
                      </a:r>
                      <a:endParaRPr lang="fr-FR" sz="800" dirty="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dirty="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4641">
                <a:tc>
                  <a:txBody>
                    <a:bodyPr/>
                    <a:lstStyle/>
                    <a:p>
                      <a:pPr>
                        <a:lnSpc>
                          <a:spcPct val="115000"/>
                        </a:lnSpc>
                        <a:spcAft>
                          <a:spcPts val="0"/>
                        </a:spcAft>
                      </a:pPr>
                      <a:r>
                        <a:rPr lang="fr-FR" sz="700">
                          <a:solidFill>
                            <a:srgbClr val="FF5A00"/>
                          </a:solidFill>
                          <a:latin typeface="ArialMT"/>
                          <a:ea typeface="Calibri"/>
                          <a:cs typeface="ArialMT"/>
                        </a:rPr>
                        <a:t>Charges financières</a:t>
                      </a:r>
                      <a:endParaRPr lang="fr-FR" sz="800">
                        <a:latin typeface="Calibri"/>
                        <a:ea typeface="Calibri"/>
                        <a:cs typeface="Arial"/>
                      </a:endParaRPr>
                    </a:p>
                    <a:p>
                      <a:pPr>
                        <a:lnSpc>
                          <a:spcPct val="115000"/>
                        </a:lnSpc>
                        <a:spcAft>
                          <a:spcPts val="0"/>
                        </a:spcAft>
                      </a:pPr>
                      <a:r>
                        <a:rPr lang="fr-FR" sz="700">
                          <a:solidFill>
                            <a:srgbClr val="000000"/>
                          </a:solidFill>
                          <a:latin typeface="ArialMT"/>
                          <a:ea typeface="Calibri"/>
                          <a:cs typeface="ArialMT"/>
                        </a:rPr>
                        <a:t>• Agios et intérêts</a:t>
                      </a:r>
                      <a:endParaRPr lang="fr-FR" sz="800">
                        <a:latin typeface="Calibri"/>
                        <a:ea typeface="Calibri"/>
                        <a:cs typeface="Arial"/>
                      </a:endParaRPr>
                    </a:p>
                    <a:p>
                      <a:pPr>
                        <a:lnSpc>
                          <a:spcPct val="115000"/>
                        </a:lnSpc>
                        <a:spcAft>
                          <a:spcPts val="0"/>
                        </a:spcAft>
                      </a:pPr>
                      <a:r>
                        <a:rPr lang="fr-FR" sz="700">
                          <a:solidFill>
                            <a:srgbClr val="000000"/>
                          </a:solidFill>
                          <a:latin typeface="ArialMT"/>
                          <a:ea typeface="Calibri"/>
                          <a:cs typeface="ArialMT"/>
                        </a:rPr>
                        <a:t>sur emprunts</a:t>
                      </a: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700">
                          <a:solidFill>
                            <a:srgbClr val="FF5A00"/>
                          </a:solidFill>
                          <a:latin typeface="ArialMT"/>
                          <a:ea typeface="Calibri"/>
                          <a:cs typeface="ArialMT"/>
                        </a:rPr>
                        <a:t>Produits financiers</a:t>
                      </a:r>
                      <a:endParaRPr lang="fr-FR" sz="800">
                        <a:latin typeface="Calibri"/>
                        <a:ea typeface="Calibri"/>
                        <a:cs typeface="Arial"/>
                      </a:endParaRPr>
                    </a:p>
                    <a:p>
                      <a:pPr>
                        <a:lnSpc>
                          <a:spcPct val="115000"/>
                        </a:lnSpc>
                        <a:spcAft>
                          <a:spcPts val="0"/>
                        </a:spcAft>
                      </a:pPr>
                      <a:r>
                        <a:rPr lang="fr-FR" sz="700">
                          <a:solidFill>
                            <a:srgbClr val="000000"/>
                          </a:solidFill>
                          <a:latin typeface="ArialMT"/>
                          <a:ea typeface="Calibri"/>
                          <a:cs typeface="ArialMT"/>
                        </a:rPr>
                        <a:t>• Intérêts encaissés</a:t>
                      </a:r>
                      <a:endParaRPr lang="fr-FR" sz="800">
                        <a:latin typeface="Calibri"/>
                        <a:ea typeface="Calibri"/>
                        <a:cs typeface="Arial"/>
                      </a:endParaRPr>
                    </a:p>
                  </a:txBody>
                  <a:tcPr marL="46910" marR="4691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84641">
                <a:tc>
                  <a:txBody>
                    <a:bodyPr/>
                    <a:lstStyle/>
                    <a:p>
                      <a:pPr>
                        <a:lnSpc>
                          <a:spcPct val="115000"/>
                        </a:lnSpc>
                        <a:spcAft>
                          <a:spcPts val="0"/>
                        </a:spcAft>
                      </a:pPr>
                      <a:r>
                        <a:rPr lang="fr-FR" sz="700">
                          <a:solidFill>
                            <a:srgbClr val="FF5A00"/>
                          </a:solidFill>
                          <a:latin typeface="ArialMT"/>
                          <a:ea typeface="Calibri"/>
                          <a:cs typeface="ArialMT"/>
                        </a:rPr>
                        <a:t>Dotations</a:t>
                      </a:r>
                      <a:endParaRPr lang="fr-FR" sz="800">
                        <a:latin typeface="Calibri"/>
                        <a:ea typeface="Calibri"/>
                        <a:cs typeface="Arial"/>
                      </a:endParaRPr>
                    </a:p>
                    <a:p>
                      <a:pPr>
                        <a:lnSpc>
                          <a:spcPct val="115000"/>
                        </a:lnSpc>
                        <a:spcAft>
                          <a:spcPts val="0"/>
                        </a:spcAft>
                      </a:pPr>
                      <a:r>
                        <a:rPr lang="fr-FR" sz="700">
                          <a:solidFill>
                            <a:srgbClr val="FF5A00"/>
                          </a:solidFill>
                          <a:latin typeface="ArialMT"/>
                          <a:ea typeface="Calibri"/>
                          <a:cs typeface="ArialMT"/>
                        </a:rPr>
                        <a:t>aux amortissements</a:t>
                      </a:r>
                      <a:endParaRPr lang="fr-FR" sz="800">
                        <a:latin typeface="Calibri"/>
                        <a:ea typeface="Calibri"/>
                        <a:cs typeface="Arial"/>
                      </a:endParaRPr>
                    </a:p>
                    <a:p>
                      <a:pPr>
                        <a:lnSpc>
                          <a:spcPct val="115000"/>
                        </a:lnSpc>
                        <a:spcAft>
                          <a:spcPts val="0"/>
                        </a:spcAft>
                      </a:pPr>
                      <a:r>
                        <a:rPr lang="fr-FR" sz="700">
                          <a:solidFill>
                            <a:srgbClr val="FF5A00"/>
                          </a:solidFill>
                          <a:latin typeface="ArialMT"/>
                          <a:ea typeface="Calibri"/>
                          <a:cs typeface="ArialMT"/>
                        </a:rPr>
                        <a:t>et provisions</a:t>
                      </a: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344">
                <a:tc>
                  <a:txBody>
                    <a:bodyPr/>
                    <a:lstStyle/>
                    <a:p>
                      <a:pPr>
                        <a:lnSpc>
                          <a:spcPct val="115000"/>
                        </a:lnSpc>
                        <a:spcAft>
                          <a:spcPts val="0"/>
                        </a:spcAft>
                      </a:pPr>
                      <a:r>
                        <a:rPr lang="fr-FR" sz="800">
                          <a:solidFill>
                            <a:srgbClr val="FF5A00"/>
                          </a:solidFill>
                          <a:latin typeface="ArialMT"/>
                          <a:ea typeface="Calibri"/>
                          <a:cs typeface="ArialMT"/>
                        </a:rPr>
                        <a:t>Charges exceptionnelles</a:t>
                      </a: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800">
                          <a:solidFill>
                            <a:srgbClr val="FF5A00"/>
                          </a:solidFill>
                          <a:latin typeface="ArialMT"/>
                          <a:ea typeface="Calibri"/>
                          <a:cs typeface="ArialMT"/>
                        </a:rPr>
                        <a:t>Produits exceptionnels</a:t>
                      </a:r>
                      <a:endParaRPr lang="fr-FR" sz="800">
                        <a:latin typeface="Calibri"/>
                        <a:ea typeface="Calibri"/>
                        <a:cs typeface="Arial"/>
                      </a:endParaRPr>
                    </a:p>
                  </a:txBody>
                  <a:tcPr marL="46910" marR="4691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344">
                <a:tc>
                  <a:txBody>
                    <a:bodyPr/>
                    <a:lstStyle/>
                    <a:p>
                      <a:pPr>
                        <a:lnSpc>
                          <a:spcPct val="115000"/>
                        </a:lnSpc>
                        <a:spcAft>
                          <a:spcPts val="0"/>
                        </a:spcAft>
                      </a:pPr>
                      <a:r>
                        <a:rPr lang="fr-FR" sz="800" b="1">
                          <a:solidFill>
                            <a:srgbClr val="FF5A00"/>
                          </a:solidFill>
                          <a:latin typeface="Arial-BoldMT"/>
                          <a:ea typeface="Calibri"/>
                          <a:cs typeface="Arial-BoldMT"/>
                        </a:rPr>
                        <a:t>BÉNÉFICE</a:t>
                      </a: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800" b="1">
                          <a:solidFill>
                            <a:srgbClr val="FF5A00"/>
                          </a:solidFill>
                          <a:latin typeface="Arial-BoldMT"/>
                          <a:ea typeface="Calibri"/>
                          <a:cs typeface="Arial-BoldMT"/>
                        </a:rPr>
                        <a:t>PERTE</a:t>
                      </a:r>
                      <a:endParaRPr lang="fr-FR" sz="800">
                        <a:latin typeface="Calibri"/>
                        <a:ea typeface="Calibri"/>
                        <a:cs typeface="Arial"/>
                      </a:endParaRPr>
                    </a:p>
                  </a:txBody>
                  <a:tcPr marL="46910" marR="4691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6530">
                <a:tc>
                  <a:txBody>
                    <a:bodyPr/>
                    <a:lstStyle/>
                    <a:p>
                      <a:pPr algn="r">
                        <a:lnSpc>
                          <a:spcPct val="115000"/>
                        </a:lnSpc>
                        <a:spcAft>
                          <a:spcPts val="0"/>
                        </a:spcAft>
                      </a:pPr>
                      <a:r>
                        <a:rPr lang="fr-FR" sz="800" b="1">
                          <a:latin typeface="Calibri"/>
                          <a:ea typeface="Calibri"/>
                          <a:cs typeface="Arial"/>
                        </a:rPr>
                        <a:t>TOTAL</a:t>
                      </a: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fr-FR" sz="800" b="1">
                          <a:latin typeface="Calibri"/>
                          <a:ea typeface="Calibri"/>
                          <a:cs typeface="Arial"/>
                        </a:rPr>
                        <a:t>TOTAL</a:t>
                      </a:r>
                      <a:endParaRPr lang="fr-FR" sz="800">
                        <a:latin typeface="Calibri"/>
                        <a:ea typeface="Calibri"/>
                        <a:cs typeface="Arial"/>
                      </a:endParaRPr>
                    </a:p>
                  </a:txBody>
                  <a:tcPr marL="46910" marR="4691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800" dirty="0">
                        <a:latin typeface="Calibri"/>
                        <a:ea typeface="Calibri"/>
                        <a:cs typeface="Arial"/>
                      </a:endParaRPr>
                    </a:p>
                  </a:txBody>
                  <a:tcPr marL="46910" marR="4691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5" name="Rectangle 4"/>
          <p:cNvSpPr/>
          <p:nvPr/>
        </p:nvSpPr>
        <p:spPr>
          <a:xfrm>
            <a:off x="7381300" y="1018892"/>
            <a:ext cx="3922005" cy="375487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fr-FR" sz="1400" b="1" dirty="0" smtClean="0">
                <a:latin typeface="Arial" pitchFamily="34" charset="0"/>
                <a:ea typeface="Verdana" pitchFamily="34" charset="0"/>
                <a:cs typeface="Verdana" pitchFamily="34" charset="0"/>
              </a:rPr>
              <a:t>1. **Chiffre d'affaires** : Estimation des ventes de produits et des revenus publicitaires pour l'année.</a:t>
            </a:r>
          </a:p>
          <a:p>
            <a:pPr algn="just"/>
            <a:r>
              <a:rPr lang="fr-FR" sz="1400" b="1" dirty="0" smtClean="0">
                <a:latin typeface="Arial" pitchFamily="34" charset="0"/>
                <a:ea typeface="Verdana" pitchFamily="34" charset="0"/>
                <a:cs typeface="Verdana" pitchFamily="34" charset="0"/>
              </a:rPr>
              <a:t>2. **Coûts des ventes** : Inclut le coût des marchandises vendues, qui peut comprendre le coût d'achat des produits, les frais de stockage, etc.</a:t>
            </a:r>
          </a:p>
          <a:p>
            <a:pPr algn="just"/>
            <a:r>
              <a:rPr lang="fr-FR" sz="1400" b="1" dirty="0" smtClean="0">
                <a:latin typeface="Arial" pitchFamily="34" charset="0"/>
                <a:ea typeface="Verdana" pitchFamily="34" charset="0"/>
                <a:cs typeface="Verdana" pitchFamily="34" charset="0"/>
              </a:rPr>
              <a:t>3. **Charges d'exploitation** : Comprend toutes les dépenses nécessaires au fonctionnement de l'entreprise, y compris les salaires, le marketing, et les frais de fonctionnement.</a:t>
            </a:r>
          </a:p>
          <a:p>
            <a:pPr algn="just"/>
            <a:r>
              <a:rPr lang="fr-FR" sz="1400" b="1" dirty="0" smtClean="0">
                <a:latin typeface="Arial" pitchFamily="34" charset="0"/>
                <a:ea typeface="Verdana" pitchFamily="34" charset="0"/>
                <a:cs typeface="Verdana" pitchFamily="34" charset="0"/>
              </a:rPr>
              <a:t>4. **Résultat d'exploitation** : Montre la performance opérationnelle de l'entreprise avant les éléments financiers.</a:t>
            </a:r>
          </a:p>
          <a:p>
            <a:pPr algn="just"/>
            <a:r>
              <a:rPr lang="fr-FR" sz="1400" b="1" dirty="0" smtClean="0">
                <a:latin typeface="Arial" pitchFamily="34" charset="0"/>
                <a:ea typeface="Verdana" pitchFamily="34" charset="0"/>
                <a:cs typeface="Verdana" pitchFamily="34" charset="0"/>
              </a:rPr>
              <a:t>5. **Résultat net** : Représente le bénéfice ou la perte après impôts.</a:t>
            </a:r>
          </a:p>
        </p:txBody>
      </p:sp>
      <p:graphicFrame>
        <p:nvGraphicFramePr>
          <p:cNvPr id="6" name="Tableau 5"/>
          <p:cNvGraphicFramePr>
            <a:graphicFrameLocks noGrp="1"/>
          </p:cNvGraphicFramePr>
          <p:nvPr/>
        </p:nvGraphicFramePr>
        <p:xfrm>
          <a:off x="2313542" y="983473"/>
          <a:ext cx="4924540" cy="3899535"/>
        </p:xfrm>
        <a:graphic>
          <a:graphicData uri="http://schemas.openxmlformats.org/drawingml/2006/table">
            <a:tbl>
              <a:tblPr/>
              <a:tblGrid>
                <a:gridCol w="3899838"/>
                <a:gridCol w="1024702"/>
              </a:tblGrid>
              <a:tr h="0">
                <a:tc>
                  <a:txBody>
                    <a:bodyPr/>
                    <a:lstStyle/>
                    <a:p>
                      <a:pPr>
                        <a:lnSpc>
                          <a:spcPct val="115000"/>
                        </a:lnSpc>
                        <a:spcAft>
                          <a:spcPts val="0"/>
                        </a:spcAft>
                      </a:pP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fr-FR" sz="1000" b="1">
                          <a:latin typeface="Arial-BoldMT"/>
                          <a:ea typeface="Calibri"/>
                          <a:cs typeface="Arial-BoldMT"/>
                        </a:rPr>
                        <a:t>An 1</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pPr>
                      <a:r>
                        <a:rPr lang="fr-FR" sz="1000" b="1" dirty="0">
                          <a:solidFill>
                            <a:srgbClr val="C00000"/>
                          </a:solidFill>
                          <a:latin typeface="ArialMT"/>
                          <a:ea typeface="Calibri"/>
                          <a:cs typeface="ArialMT"/>
                        </a:rPr>
                        <a:t>**Chiffre d'affaires**</a:t>
                      </a:r>
                      <a:endParaRPr lang="fr-FR" sz="1100" dirty="0">
                        <a:latin typeface="Calibri"/>
                        <a:ea typeface="Calibri"/>
                        <a:cs typeface="Arial"/>
                      </a:endParaRPr>
                    </a:p>
                    <a:p>
                      <a:pPr marL="342900" lvl="0" indent="-342900">
                        <a:lnSpc>
                          <a:spcPct val="115000"/>
                        </a:lnSpc>
                        <a:spcAft>
                          <a:spcPts val="0"/>
                        </a:spcAft>
                        <a:buSzPts val="1000"/>
                        <a:buFont typeface="ArialMT"/>
                        <a:buChar char="-"/>
                      </a:pPr>
                      <a:r>
                        <a:rPr lang="fr-FR" sz="1000" dirty="0">
                          <a:solidFill>
                            <a:srgbClr val="000000"/>
                          </a:solidFill>
                          <a:latin typeface="Calibri"/>
                          <a:ea typeface="Calibri"/>
                          <a:cs typeface="ArialMT"/>
                        </a:rPr>
                        <a:t>Ventes de produits</a:t>
                      </a:r>
                      <a:endParaRPr lang="fr-FR" sz="1100" dirty="0">
                        <a:latin typeface="Calibri"/>
                        <a:ea typeface="Calibri"/>
                        <a:cs typeface="ArialMT"/>
                      </a:endParaRPr>
                    </a:p>
                    <a:p>
                      <a:pPr marL="342900" lvl="0" indent="-342900">
                        <a:lnSpc>
                          <a:spcPct val="115000"/>
                        </a:lnSpc>
                        <a:spcAft>
                          <a:spcPts val="0"/>
                        </a:spcAft>
                        <a:buSzPts val="1000"/>
                        <a:buFont typeface="ArialMT"/>
                        <a:buChar char="-"/>
                      </a:pPr>
                      <a:r>
                        <a:rPr lang="fr-FR" sz="1000" dirty="0">
                          <a:solidFill>
                            <a:srgbClr val="000000"/>
                          </a:solidFill>
                          <a:latin typeface="Calibri"/>
                          <a:ea typeface="Calibri"/>
                          <a:cs typeface="ArialMT"/>
                        </a:rPr>
                        <a:t>Revenus publicitaires </a:t>
                      </a:r>
                      <a:r>
                        <a:rPr lang="fr-FR" sz="1100" dirty="0">
                          <a:latin typeface="Calibri"/>
                          <a:ea typeface="Calibri"/>
                          <a:cs typeface="ArialMT"/>
                        </a:rPr>
                        <a:t>  </a:t>
                      </a:r>
                    </a:p>
                    <a:p>
                      <a:pPr marL="110490" indent="-90170" algn="r">
                        <a:lnSpc>
                          <a:spcPct val="115000"/>
                        </a:lnSpc>
                        <a:spcAft>
                          <a:spcPts val="0"/>
                        </a:spcAft>
                      </a:pPr>
                      <a:r>
                        <a:rPr lang="fr-FR" sz="1200" b="1" dirty="0">
                          <a:solidFill>
                            <a:srgbClr val="000000"/>
                          </a:solidFill>
                          <a:latin typeface="Calibri"/>
                          <a:ea typeface="Calibri"/>
                          <a:cs typeface="Arial"/>
                        </a:rPr>
                        <a:t>**Total Chiffre d'affaires** </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endParaRPr lang="fr-FR" sz="1000">
                        <a:latin typeface="Calibri"/>
                        <a:ea typeface="Calibri"/>
                        <a:cs typeface="Arial"/>
                      </a:endParaRPr>
                    </a:p>
                    <a:p>
                      <a:pPr algn="r">
                        <a:lnSpc>
                          <a:spcPct val="115000"/>
                        </a:lnSpc>
                        <a:spcAft>
                          <a:spcPts val="0"/>
                        </a:spcAft>
                      </a:pPr>
                      <a:r>
                        <a:rPr lang="fr-FR" sz="1000">
                          <a:latin typeface="Calibri"/>
                          <a:ea typeface="Calibri"/>
                          <a:cs typeface="Arial"/>
                        </a:rPr>
                        <a:t>500000</a:t>
                      </a:r>
                      <a:endParaRPr lang="fr-FR" sz="1100">
                        <a:latin typeface="Calibri"/>
                        <a:ea typeface="Calibri"/>
                        <a:cs typeface="Arial"/>
                      </a:endParaRPr>
                    </a:p>
                    <a:p>
                      <a:pPr algn="r">
                        <a:lnSpc>
                          <a:spcPct val="115000"/>
                        </a:lnSpc>
                        <a:spcAft>
                          <a:spcPts val="0"/>
                        </a:spcAft>
                      </a:pPr>
                      <a:r>
                        <a:rPr lang="fr-FR" sz="1000">
                          <a:latin typeface="Calibri"/>
                          <a:ea typeface="Calibri"/>
                          <a:cs typeface="Arial"/>
                        </a:rPr>
                        <a:t>50000</a:t>
                      </a:r>
                      <a:endParaRPr lang="fr-FR" sz="1100">
                        <a:latin typeface="Calibri"/>
                        <a:ea typeface="Calibri"/>
                        <a:cs typeface="Arial"/>
                      </a:endParaRPr>
                    </a:p>
                    <a:p>
                      <a:pPr algn="r">
                        <a:lnSpc>
                          <a:spcPct val="115000"/>
                        </a:lnSpc>
                        <a:spcAft>
                          <a:spcPts val="0"/>
                        </a:spcAft>
                      </a:pPr>
                      <a:r>
                        <a:rPr lang="fr-FR" sz="1000" b="1">
                          <a:latin typeface="Calibri"/>
                          <a:ea typeface="Calibri"/>
                          <a:cs typeface="Arial"/>
                        </a:rPr>
                        <a:t>550000</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pPr>
                      <a:r>
                        <a:rPr lang="fr-FR" sz="1000" b="1" dirty="0">
                          <a:solidFill>
                            <a:srgbClr val="C00000"/>
                          </a:solidFill>
                          <a:latin typeface="ArialMT"/>
                          <a:ea typeface="Calibri"/>
                          <a:cs typeface="ArialMT"/>
                        </a:rPr>
                        <a:t>**Coûts des ventes**</a:t>
                      </a:r>
                      <a:endParaRPr lang="fr-FR" sz="1100" dirty="0">
                        <a:latin typeface="Calibri"/>
                        <a:ea typeface="Calibri"/>
                        <a:cs typeface="Arial"/>
                      </a:endParaRPr>
                    </a:p>
                    <a:p>
                      <a:pPr marL="342900" lvl="0" indent="-342900">
                        <a:lnSpc>
                          <a:spcPct val="115000"/>
                        </a:lnSpc>
                        <a:spcAft>
                          <a:spcPts val="0"/>
                        </a:spcAft>
                        <a:buSzPts val="1000"/>
                        <a:buFont typeface="ArialMT"/>
                        <a:buChar char="-"/>
                      </a:pPr>
                      <a:r>
                        <a:rPr lang="fr-FR" sz="1000" dirty="0">
                          <a:solidFill>
                            <a:srgbClr val="000000"/>
                          </a:solidFill>
                          <a:latin typeface="Calibri"/>
                          <a:ea typeface="Calibri"/>
                          <a:cs typeface="ArialMT"/>
                        </a:rPr>
                        <a:t>Coût des marchandises vendues </a:t>
                      </a:r>
                      <a:endParaRPr lang="fr-FR" sz="1100" dirty="0">
                        <a:latin typeface="Calibri"/>
                        <a:ea typeface="Calibri"/>
                        <a:cs typeface="ArialMT"/>
                      </a:endParaRPr>
                    </a:p>
                    <a:p>
                      <a:pPr marL="457200" algn="r">
                        <a:lnSpc>
                          <a:spcPct val="115000"/>
                        </a:lnSpc>
                        <a:spcAft>
                          <a:spcPts val="0"/>
                        </a:spcAft>
                      </a:pPr>
                      <a:r>
                        <a:rPr lang="fr-FR" sz="1200" b="1" dirty="0">
                          <a:solidFill>
                            <a:srgbClr val="000000"/>
                          </a:solidFill>
                          <a:latin typeface="Calibri"/>
                          <a:ea typeface="Calibri"/>
                          <a:cs typeface="Arial"/>
                        </a:rPr>
                        <a:t> **Total Coûts des ventes**   </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endParaRPr lang="fr-FR" sz="1000">
                        <a:latin typeface="Calibri"/>
                        <a:ea typeface="Calibri"/>
                        <a:cs typeface="Arial"/>
                      </a:endParaRPr>
                    </a:p>
                    <a:p>
                      <a:pPr algn="r">
                        <a:lnSpc>
                          <a:spcPct val="115000"/>
                        </a:lnSpc>
                        <a:spcAft>
                          <a:spcPts val="0"/>
                        </a:spcAft>
                      </a:pPr>
                      <a:r>
                        <a:rPr lang="fr-FR" sz="1000">
                          <a:latin typeface="Calibri"/>
                          <a:ea typeface="Calibri"/>
                          <a:cs typeface="Arial"/>
                        </a:rPr>
                        <a:t>300000</a:t>
                      </a:r>
                      <a:endParaRPr lang="fr-FR" sz="1100">
                        <a:latin typeface="Calibri"/>
                        <a:ea typeface="Calibri"/>
                        <a:cs typeface="Arial"/>
                      </a:endParaRPr>
                    </a:p>
                    <a:p>
                      <a:pPr algn="r">
                        <a:lnSpc>
                          <a:spcPct val="115000"/>
                        </a:lnSpc>
                        <a:spcAft>
                          <a:spcPts val="0"/>
                        </a:spcAft>
                      </a:pPr>
                      <a:r>
                        <a:rPr lang="fr-FR" sz="1000" b="1">
                          <a:latin typeface="Calibri"/>
                          <a:ea typeface="Calibri"/>
                          <a:cs typeface="Arial"/>
                        </a:rPr>
                        <a:t>300000</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pPr>
                      <a:r>
                        <a:rPr lang="fr-FR" sz="1000" b="1" dirty="0">
                          <a:solidFill>
                            <a:srgbClr val="C00000"/>
                          </a:solidFill>
                          <a:latin typeface="ArialMT"/>
                          <a:ea typeface="Calibri"/>
                          <a:cs typeface="ArialMT"/>
                        </a:rPr>
                        <a:t>| **Charges d'exploitation**</a:t>
                      </a:r>
                      <a:endParaRPr lang="fr-FR" sz="1100" dirty="0">
                        <a:latin typeface="Calibri"/>
                        <a:ea typeface="Calibri"/>
                        <a:cs typeface="Arial"/>
                      </a:endParaRPr>
                    </a:p>
                    <a:p>
                      <a:pPr marL="342900" lvl="0" indent="-342900">
                        <a:lnSpc>
                          <a:spcPct val="115000"/>
                        </a:lnSpc>
                        <a:spcAft>
                          <a:spcPts val="0"/>
                        </a:spcAft>
                        <a:buSzPts val="1000"/>
                        <a:buFont typeface="ArialMT"/>
                        <a:buChar char="-"/>
                      </a:pPr>
                      <a:r>
                        <a:rPr lang="fr-FR" sz="1000" dirty="0">
                          <a:solidFill>
                            <a:srgbClr val="000000"/>
                          </a:solidFill>
                          <a:latin typeface="Calibri"/>
                          <a:ea typeface="Calibri"/>
                          <a:cs typeface="ArialMT"/>
                        </a:rPr>
                        <a:t>Salaires et charges sociales  </a:t>
                      </a:r>
                      <a:endParaRPr lang="fr-FR" sz="1100" dirty="0">
                        <a:latin typeface="Calibri"/>
                        <a:ea typeface="Calibri"/>
                        <a:cs typeface="ArialMT"/>
                      </a:endParaRPr>
                    </a:p>
                    <a:p>
                      <a:pPr marL="342900" lvl="0" indent="-342900">
                        <a:lnSpc>
                          <a:spcPct val="115000"/>
                        </a:lnSpc>
                        <a:spcAft>
                          <a:spcPts val="0"/>
                        </a:spcAft>
                        <a:buSzPts val="1000"/>
                        <a:buFont typeface="ArialMT"/>
                        <a:buChar char="-"/>
                      </a:pPr>
                      <a:r>
                        <a:rPr lang="fr-FR" sz="1000" dirty="0">
                          <a:solidFill>
                            <a:srgbClr val="000000"/>
                          </a:solidFill>
                          <a:latin typeface="Calibri"/>
                          <a:ea typeface="Calibri"/>
                          <a:cs typeface="ArialMT"/>
                        </a:rPr>
                        <a:t>Marketing et publicité</a:t>
                      </a:r>
                      <a:endParaRPr lang="fr-FR" sz="1100" dirty="0">
                        <a:latin typeface="Calibri"/>
                        <a:ea typeface="Calibri"/>
                        <a:cs typeface="ArialMT"/>
                      </a:endParaRPr>
                    </a:p>
                    <a:p>
                      <a:pPr marL="342900" lvl="0" indent="-342900">
                        <a:lnSpc>
                          <a:spcPct val="115000"/>
                        </a:lnSpc>
                        <a:spcAft>
                          <a:spcPts val="0"/>
                        </a:spcAft>
                        <a:buSzPts val="1000"/>
                        <a:buFont typeface="ArialMT"/>
                        <a:buChar char="-"/>
                      </a:pPr>
                      <a:r>
                        <a:rPr lang="fr-FR" sz="1350" dirty="0">
                          <a:solidFill>
                            <a:srgbClr val="000000"/>
                          </a:solidFill>
                          <a:latin typeface="Calibri"/>
                          <a:ea typeface="Calibri"/>
                          <a:cs typeface="ArialMT"/>
                        </a:rPr>
                        <a:t> </a:t>
                      </a:r>
                      <a:r>
                        <a:rPr lang="fr-FR" sz="1000" dirty="0">
                          <a:solidFill>
                            <a:srgbClr val="000000"/>
                          </a:solidFill>
                          <a:latin typeface="Calibri"/>
                          <a:ea typeface="Calibri"/>
                          <a:cs typeface="ArialMT"/>
                        </a:rPr>
                        <a:t>Développement et maintenance</a:t>
                      </a:r>
                      <a:endParaRPr lang="fr-FR" sz="1100" dirty="0">
                        <a:latin typeface="Calibri"/>
                        <a:ea typeface="Calibri"/>
                        <a:cs typeface="ArialMT"/>
                      </a:endParaRPr>
                    </a:p>
                    <a:p>
                      <a:pPr marL="342900" lvl="0" indent="-342900">
                        <a:lnSpc>
                          <a:spcPct val="115000"/>
                        </a:lnSpc>
                        <a:spcAft>
                          <a:spcPts val="0"/>
                        </a:spcAft>
                        <a:buSzPts val="1000"/>
                        <a:buFont typeface="ArialMT"/>
                        <a:buChar char="-"/>
                      </a:pPr>
                      <a:r>
                        <a:rPr lang="fr-FR" sz="1000" dirty="0">
                          <a:solidFill>
                            <a:srgbClr val="000000"/>
                          </a:solidFill>
                          <a:latin typeface="Calibri"/>
                          <a:ea typeface="Calibri"/>
                          <a:cs typeface="ArialMT"/>
                        </a:rPr>
                        <a:t>Loyer et charges locatives</a:t>
                      </a:r>
                      <a:endParaRPr lang="fr-FR" sz="1100" dirty="0">
                        <a:latin typeface="Calibri"/>
                        <a:ea typeface="Calibri"/>
                        <a:cs typeface="ArialMT"/>
                      </a:endParaRPr>
                    </a:p>
                    <a:p>
                      <a:pPr marL="342900" lvl="0" indent="-342900">
                        <a:lnSpc>
                          <a:spcPct val="115000"/>
                        </a:lnSpc>
                        <a:spcAft>
                          <a:spcPts val="0"/>
                        </a:spcAft>
                        <a:buSzPts val="1000"/>
                        <a:buFont typeface="ArialMT"/>
                        <a:buChar char="-"/>
                      </a:pPr>
                      <a:r>
                        <a:rPr lang="fr-FR" sz="1000" dirty="0">
                          <a:solidFill>
                            <a:srgbClr val="000000"/>
                          </a:solidFill>
                          <a:latin typeface="Calibri"/>
                          <a:ea typeface="Calibri"/>
                          <a:cs typeface="ArialMT"/>
                        </a:rPr>
                        <a:t>Services externes (consultants)</a:t>
                      </a:r>
                      <a:endParaRPr lang="fr-FR" sz="1100" dirty="0">
                        <a:latin typeface="Calibri"/>
                        <a:ea typeface="Calibri"/>
                        <a:cs typeface="ArialMT"/>
                      </a:endParaRPr>
                    </a:p>
                    <a:p>
                      <a:pPr marL="342900" lvl="0" indent="-342900">
                        <a:lnSpc>
                          <a:spcPct val="115000"/>
                        </a:lnSpc>
                        <a:spcAft>
                          <a:spcPts val="0"/>
                        </a:spcAft>
                        <a:buSzPts val="1000"/>
                        <a:buFont typeface="ArialMT"/>
                        <a:buChar char="-"/>
                      </a:pPr>
                      <a:r>
                        <a:rPr lang="fr-FR" sz="1000" dirty="0">
                          <a:solidFill>
                            <a:srgbClr val="000000"/>
                          </a:solidFill>
                          <a:latin typeface="Calibri"/>
                          <a:ea typeface="Calibri"/>
                          <a:cs typeface="ArialMT"/>
                        </a:rPr>
                        <a:t>Autres charges </a:t>
                      </a:r>
                      <a:endParaRPr lang="fr-FR" sz="1100" dirty="0">
                        <a:latin typeface="Calibri"/>
                        <a:ea typeface="Calibri"/>
                        <a:cs typeface="ArialMT"/>
                      </a:endParaRPr>
                    </a:p>
                    <a:p>
                      <a:pPr marL="457200" algn="r">
                        <a:lnSpc>
                          <a:spcPct val="115000"/>
                        </a:lnSpc>
                        <a:spcAft>
                          <a:spcPts val="0"/>
                        </a:spcAft>
                      </a:pPr>
                      <a:r>
                        <a:rPr lang="fr-FR" sz="1200" b="1" dirty="0">
                          <a:solidFill>
                            <a:srgbClr val="000000"/>
                          </a:solidFill>
                          <a:latin typeface="Calibri"/>
                          <a:ea typeface="Calibri"/>
                          <a:cs typeface="Arial"/>
                        </a:rPr>
                        <a:t>**Total Charges d'exploitation**</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endParaRPr lang="fr-FR" sz="1000" dirty="0">
                        <a:latin typeface="Calibri"/>
                        <a:ea typeface="Calibri"/>
                        <a:cs typeface="Arial"/>
                      </a:endParaRPr>
                    </a:p>
                    <a:p>
                      <a:pPr algn="r">
                        <a:lnSpc>
                          <a:spcPct val="115000"/>
                        </a:lnSpc>
                        <a:spcAft>
                          <a:spcPts val="0"/>
                        </a:spcAft>
                      </a:pPr>
                      <a:r>
                        <a:rPr lang="fr-FR" sz="1000" dirty="0">
                          <a:latin typeface="Calibri"/>
                          <a:ea typeface="Calibri"/>
                          <a:cs typeface="Arial"/>
                        </a:rPr>
                        <a:t>100000</a:t>
                      </a:r>
                      <a:endParaRPr lang="fr-FR" sz="1100" dirty="0">
                        <a:latin typeface="Calibri"/>
                        <a:ea typeface="Calibri"/>
                        <a:cs typeface="Arial"/>
                      </a:endParaRPr>
                    </a:p>
                    <a:p>
                      <a:pPr algn="r">
                        <a:lnSpc>
                          <a:spcPct val="115000"/>
                        </a:lnSpc>
                        <a:spcAft>
                          <a:spcPts val="0"/>
                        </a:spcAft>
                      </a:pPr>
                      <a:r>
                        <a:rPr lang="fr-FR" sz="1000" dirty="0">
                          <a:latin typeface="Calibri"/>
                          <a:ea typeface="Calibri"/>
                          <a:cs typeface="Arial"/>
                        </a:rPr>
                        <a:t>50000</a:t>
                      </a:r>
                      <a:endParaRPr lang="fr-FR" sz="1100" dirty="0">
                        <a:latin typeface="Calibri"/>
                        <a:ea typeface="Calibri"/>
                        <a:cs typeface="Arial"/>
                      </a:endParaRPr>
                    </a:p>
                    <a:p>
                      <a:pPr algn="r">
                        <a:lnSpc>
                          <a:spcPct val="115000"/>
                        </a:lnSpc>
                        <a:spcAft>
                          <a:spcPts val="0"/>
                        </a:spcAft>
                      </a:pPr>
                      <a:r>
                        <a:rPr lang="fr-FR" sz="1000" dirty="0">
                          <a:latin typeface="Calibri"/>
                          <a:ea typeface="Calibri"/>
                          <a:cs typeface="Arial"/>
                        </a:rPr>
                        <a:t>30000</a:t>
                      </a:r>
                      <a:endParaRPr lang="fr-FR" sz="1100" dirty="0">
                        <a:latin typeface="Calibri"/>
                        <a:ea typeface="Calibri"/>
                        <a:cs typeface="Arial"/>
                      </a:endParaRPr>
                    </a:p>
                    <a:p>
                      <a:pPr algn="r">
                        <a:lnSpc>
                          <a:spcPct val="115000"/>
                        </a:lnSpc>
                        <a:spcAft>
                          <a:spcPts val="0"/>
                        </a:spcAft>
                      </a:pPr>
                      <a:r>
                        <a:rPr lang="fr-FR" sz="1000" dirty="0">
                          <a:latin typeface="Calibri"/>
                          <a:ea typeface="Calibri"/>
                          <a:cs typeface="Arial"/>
                        </a:rPr>
                        <a:t>12000</a:t>
                      </a:r>
                      <a:endParaRPr lang="fr-FR" sz="1100" dirty="0">
                        <a:latin typeface="Calibri"/>
                        <a:ea typeface="Calibri"/>
                        <a:cs typeface="Arial"/>
                      </a:endParaRPr>
                    </a:p>
                    <a:p>
                      <a:pPr algn="r">
                        <a:lnSpc>
                          <a:spcPct val="115000"/>
                        </a:lnSpc>
                        <a:spcAft>
                          <a:spcPts val="0"/>
                        </a:spcAft>
                      </a:pPr>
                      <a:r>
                        <a:rPr lang="fr-FR" sz="1000" dirty="0">
                          <a:latin typeface="Calibri"/>
                          <a:ea typeface="Calibri"/>
                          <a:cs typeface="Arial"/>
                        </a:rPr>
                        <a:t>8000</a:t>
                      </a:r>
                      <a:endParaRPr lang="fr-FR" sz="1100" dirty="0">
                        <a:latin typeface="Calibri"/>
                        <a:ea typeface="Calibri"/>
                        <a:cs typeface="Arial"/>
                      </a:endParaRPr>
                    </a:p>
                    <a:p>
                      <a:pPr algn="r">
                        <a:lnSpc>
                          <a:spcPct val="115000"/>
                        </a:lnSpc>
                        <a:spcAft>
                          <a:spcPts val="0"/>
                        </a:spcAft>
                      </a:pPr>
                      <a:r>
                        <a:rPr lang="fr-FR" sz="1000" dirty="0">
                          <a:latin typeface="Calibri"/>
                          <a:ea typeface="Calibri"/>
                          <a:cs typeface="Arial"/>
                        </a:rPr>
                        <a:t>5000</a:t>
                      </a:r>
                      <a:endParaRPr lang="fr-FR" sz="1100" dirty="0">
                        <a:latin typeface="Calibri"/>
                        <a:ea typeface="Calibri"/>
                        <a:cs typeface="Arial"/>
                      </a:endParaRPr>
                    </a:p>
                    <a:p>
                      <a:pPr algn="r">
                        <a:lnSpc>
                          <a:spcPct val="115000"/>
                        </a:lnSpc>
                        <a:spcAft>
                          <a:spcPts val="0"/>
                        </a:spcAft>
                      </a:pPr>
                      <a:r>
                        <a:rPr lang="fr-FR" sz="1000" b="1" dirty="0">
                          <a:latin typeface="Calibri"/>
                          <a:ea typeface="Calibri"/>
                          <a:cs typeface="Arial"/>
                        </a:rPr>
                        <a:t>305000</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pPr>
                      <a:r>
                        <a:rPr lang="fr-FR" sz="1000" b="1">
                          <a:solidFill>
                            <a:srgbClr val="C00000"/>
                          </a:solidFill>
                          <a:latin typeface="ArialMT"/>
                          <a:ea typeface="Calibri"/>
                          <a:cs typeface="ArialMT"/>
                        </a:rPr>
                        <a:t>**Résultat d'exploitation**</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indent="16510" algn="r">
                        <a:lnSpc>
                          <a:spcPct val="115000"/>
                        </a:lnSpc>
                        <a:spcAft>
                          <a:spcPts val="0"/>
                        </a:spcAft>
                      </a:pPr>
                      <a:r>
                        <a:rPr lang="fr-FR" sz="1000">
                          <a:latin typeface="Calibri"/>
                          <a:ea typeface="Calibri"/>
                          <a:cs typeface="Arial"/>
                        </a:rPr>
                        <a:t>-55000</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pPr>
                      <a:r>
                        <a:rPr lang="fr-FR" sz="1000" b="1">
                          <a:solidFill>
                            <a:srgbClr val="C00000"/>
                          </a:solidFill>
                          <a:latin typeface="ArialMT"/>
                          <a:ea typeface="Calibri"/>
                          <a:cs typeface="ArialMT"/>
                        </a:rPr>
                        <a:t>**Charges financières**</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fr-FR" sz="1000">
                          <a:latin typeface="Calibri"/>
                          <a:ea typeface="Calibri"/>
                          <a:cs typeface="Arial"/>
                        </a:rPr>
                        <a:t>4000</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pPr>
                      <a:r>
                        <a:rPr lang="fr-FR" sz="1000" b="1">
                          <a:solidFill>
                            <a:srgbClr val="C00000"/>
                          </a:solidFill>
                          <a:latin typeface="ArialMT"/>
                          <a:ea typeface="Calibri"/>
                          <a:cs typeface="ArialMT"/>
                        </a:rPr>
                        <a:t>**Résultat avant impôts**</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fr-FR" sz="1000">
                          <a:latin typeface="Calibri"/>
                          <a:ea typeface="Calibri"/>
                          <a:cs typeface="Arial"/>
                        </a:rPr>
                        <a:t>-54000</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pPr>
                      <a:r>
                        <a:rPr lang="fr-FR" sz="1000" b="1">
                          <a:solidFill>
                            <a:srgbClr val="C00000"/>
                          </a:solidFill>
                          <a:latin typeface="ArialMT"/>
                          <a:ea typeface="Calibri"/>
                          <a:cs typeface="ArialMT"/>
                        </a:rPr>
                        <a:t>Impôt sur les sociétés</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fr-FR" sz="1100">
                          <a:latin typeface="Calibri"/>
                          <a:ea typeface="Calibri"/>
                          <a:cs typeface="Arial"/>
                        </a:rPr>
                        <a:t>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pPr>
                      <a:r>
                        <a:rPr lang="fr-FR" sz="1000" b="1">
                          <a:solidFill>
                            <a:srgbClr val="C00000"/>
                          </a:solidFill>
                          <a:latin typeface="ArialMT"/>
                          <a:ea typeface="Calibri"/>
                          <a:cs typeface="ArialMT"/>
                        </a:rPr>
                        <a:t>| **Résultat net**</a:t>
                      </a:r>
                      <a:endParaRPr lang="fr-FR" sz="11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fr-FR" sz="1000" dirty="0">
                          <a:latin typeface="Calibri"/>
                          <a:ea typeface="Calibri"/>
                          <a:cs typeface="Arial"/>
                        </a:rPr>
                        <a:t>-54000</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04449" name="Rectangle 1"/>
          <p:cNvSpPr>
            <a:spLocks noChangeArrowheads="1"/>
          </p:cNvSpPr>
          <p:nvPr/>
        </p:nvSpPr>
        <p:spPr bwMode="auto">
          <a:xfrm>
            <a:off x="0" y="0"/>
            <a:ext cx="12192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8" name="Rectangle 7"/>
          <p:cNvSpPr/>
          <p:nvPr/>
        </p:nvSpPr>
        <p:spPr>
          <a:xfrm>
            <a:off x="1487277" y="4969252"/>
            <a:ext cx="9353321" cy="160043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endParaRPr lang="fr-FR" sz="1600" b="1" dirty="0" smtClean="0">
              <a:latin typeface="Arial" pitchFamily="34" charset="0"/>
              <a:ea typeface="Verdana" pitchFamily="34" charset="0"/>
              <a:cs typeface="Verdana" pitchFamily="34" charset="0"/>
            </a:endParaRPr>
          </a:p>
          <a:p>
            <a:pPr algn="just"/>
            <a:r>
              <a:rPr lang="fr-FR" sz="1600" b="1" dirty="0" smtClean="0">
                <a:latin typeface="Arial" pitchFamily="34" charset="0"/>
                <a:ea typeface="Verdana" pitchFamily="34" charset="0"/>
                <a:cs typeface="Verdana" pitchFamily="34" charset="0"/>
              </a:rPr>
              <a:t>Cet exemple est très simplifié et peut varier considérablement en fonction de la nature spécifique de l'entreprise digitale, de son modèle économique, de sa taille et de son stade de développement. Il est important d'adapter les chiffres et les catégories aux réalités de l'entreprise concernée.</a:t>
            </a:r>
          </a:p>
          <a:p>
            <a:pPr algn="just"/>
            <a:endParaRPr lang="fr-FR" dirty="0"/>
          </a:p>
        </p:txBody>
      </p:sp>
      <p:sp>
        <p:nvSpPr>
          <p:cNvPr id="7" name="Rectangle 6"/>
          <p:cNvSpPr/>
          <p:nvPr/>
        </p:nvSpPr>
        <p:spPr>
          <a:xfrm>
            <a:off x="1051112" y="2627390"/>
            <a:ext cx="1188146" cy="369332"/>
          </a:xfrm>
          <a:prstGeom prst="rect">
            <a:avLst/>
          </a:prstGeom>
        </p:spPr>
        <p:txBody>
          <a:bodyPr wrap="none">
            <a:spAutoFit/>
          </a:bodyPr>
          <a:lstStyle/>
          <a:p>
            <a:r>
              <a:rPr lang="fr-FR" b="1" dirty="0" smtClean="0"/>
              <a:t>EXEMPLE :</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244906" y="1859340"/>
            <a:ext cx="9805012" cy="286232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fr-FR" sz="2000" b="1" dirty="0" smtClean="0">
                <a:solidFill>
                  <a:srgbClr val="C00000"/>
                </a:solidFill>
                <a:latin typeface="Arial" pitchFamily="34" charset="0"/>
                <a:ea typeface="Verdana" pitchFamily="34" charset="0"/>
                <a:cs typeface="Verdana" pitchFamily="34" charset="0"/>
              </a:rPr>
              <a:t>2.3 Établir le plan de trésorerie</a:t>
            </a:r>
          </a:p>
          <a:p>
            <a:endParaRPr lang="fr-FR" sz="2000" b="1" dirty="0" smtClean="0">
              <a:solidFill>
                <a:srgbClr val="C00000"/>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Le plan de trésorerie est un tableau qui permet de connaître, à chaque instant, l’équilibre financier de l’entreprise. Il présente les décaissements et les encaissements prévus au cours de la 1re année, en les ventilant mois par mois, donc dans 12 colonnes.</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On porte chaque entrée ou sortie de fonds (en TTC pour les opérations assujetties à</a:t>
            </a:r>
          </a:p>
          <a:p>
            <a:pPr algn="just"/>
            <a:r>
              <a:rPr lang="fr-FR" sz="2000" dirty="0" smtClean="0">
                <a:solidFill>
                  <a:schemeClr val="dk1"/>
                </a:solidFill>
                <a:latin typeface="Arial" pitchFamily="34" charset="0"/>
                <a:ea typeface="Verdana" pitchFamily="34" charset="0"/>
                <a:cs typeface="Verdana" pitchFamily="34" charset="0"/>
              </a:rPr>
              <a:t>la TVA) dans la colonne du mois où elle doit normalement se produire.</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graphicFrame>
        <p:nvGraphicFramePr>
          <p:cNvPr id="3" name="Tableau 2"/>
          <p:cNvGraphicFramePr>
            <a:graphicFrameLocks noGrp="1"/>
          </p:cNvGraphicFramePr>
          <p:nvPr/>
        </p:nvGraphicFramePr>
        <p:xfrm>
          <a:off x="5427197" y="976875"/>
          <a:ext cx="5876556" cy="5433060"/>
        </p:xfrm>
        <a:graphic>
          <a:graphicData uri="http://schemas.openxmlformats.org/drawingml/2006/table">
            <a:tbl>
              <a:tblPr/>
              <a:tblGrid>
                <a:gridCol w="3300219"/>
                <a:gridCol w="628885"/>
                <a:gridCol w="721982"/>
                <a:gridCol w="721982"/>
                <a:gridCol w="503488"/>
              </a:tblGrid>
              <a:tr h="127122">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ctr">
                        <a:lnSpc>
                          <a:spcPct val="115000"/>
                        </a:lnSpc>
                        <a:spcAft>
                          <a:spcPts val="0"/>
                        </a:spcAft>
                      </a:pPr>
                      <a:r>
                        <a:rPr lang="fr-FR" sz="1100" b="1">
                          <a:latin typeface="Calibri"/>
                          <a:ea typeface="Calibri"/>
                          <a:cs typeface="Arial"/>
                        </a:rPr>
                        <a:t>Janvier</a:t>
                      </a: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fr-FR" sz="1100" b="1">
                          <a:latin typeface="Calibri"/>
                          <a:ea typeface="Calibri"/>
                          <a:cs typeface="Arial"/>
                        </a:rPr>
                        <a:t>Février</a:t>
                      </a: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fr-FR" sz="1100" b="1">
                          <a:latin typeface="Calibri"/>
                          <a:ea typeface="Calibri"/>
                          <a:cs typeface="Arial"/>
                        </a:rPr>
                        <a:t>Mars</a:t>
                      </a: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fr-FR" sz="1100" b="1">
                          <a:latin typeface="Calibri"/>
                          <a:ea typeface="Calibri"/>
                          <a:cs typeface="Arial"/>
                        </a:rPr>
                        <a:t>etc</a:t>
                      </a: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7122">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9760">
                <a:tc>
                  <a:txBody>
                    <a:bodyPr/>
                    <a:lstStyle/>
                    <a:p>
                      <a:pPr>
                        <a:lnSpc>
                          <a:spcPct val="115000"/>
                        </a:lnSpc>
                        <a:spcAft>
                          <a:spcPts val="0"/>
                        </a:spcAft>
                      </a:pPr>
                      <a:r>
                        <a:rPr lang="fr-FR" sz="1200" b="1">
                          <a:latin typeface="Arial-BoldMT"/>
                          <a:ea typeface="Calibri"/>
                          <a:cs typeface="Arial-BoldMT"/>
                        </a:rPr>
                        <a:t>Soldes en début de mois (+ ou</a:t>
                      </a:r>
                      <a:r>
                        <a:rPr lang="fr-FR" sz="1200" b="1">
                          <a:solidFill>
                            <a:srgbClr val="FFFFFF"/>
                          </a:solidFill>
                          <a:latin typeface="Arial-BoldMT"/>
                          <a:ea typeface="Calibri"/>
                          <a:cs typeface="Arial-BoldMT"/>
                        </a:rPr>
                        <a:t> -)</a:t>
                      </a: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r>
              <a:tr h="1100512">
                <a:tc>
                  <a:txBody>
                    <a:bodyPr/>
                    <a:lstStyle/>
                    <a:p>
                      <a:pPr>
                        <a:lnSpc>
                          <a:spcPct val="115000"/>
                        </a:lnSpc>
                        <a:spcAft>
                          <a:spcPts val="0"/>
                        </a:spcAft>
                      </a:pPr>
                      <a:r>
                        <a:rPr lang="fr-FR" sz="1200" b="1">
                          <a:solidFill>
                            <a:srgbClr val="FF5A00"/>
                          </a:solidFill>
                          <a:latin typeface="Arial-BoldMT"/>
                          <a:ea typeface="Calibri"/>
                          <a:cs typeface="Arial-BoldMT"/>
                        </a:rPr>
                        <a:t>Encaissements (TTC)</a:t>
                      </a:r>
                      <a:endParaRPr lang="fr-FR" sz="1100">
                        <a:latin typeface="Calibri"/>
                        <a:ea typeface="Calibri"/>
                        <a:cs typeface="Arial"/>
                      </a:endParaRPr>
                    </a:p>
                    <a:p>
                      <a:pPr>
                        <a:lnSpc>
                          <a:spcPct val="115000"/>
                        </a:lnSpc>
                        <a:spcAft>
                          <a:spcPts val="0"/>
                        </a:spcAft>
                      </a:pPr>
                      <a:r>
                        <a:rPr lang="fr-FR" sz="1200">
                          <a:solidFill>
                            <a:srgbClr val="FF5A00"/>
                          </a:solidFill>
                          <a:latin typeface="ArialMT"/>
                          <a:ea typeface="Calibri"/>
                          <a:cs typeface="ArialMT"/>
                        </a:rPr>
                        <a:t>• Exploitation</a:t>
                      </a:r>
                      <a:endParaRPr lang="fr-FR" sz="1100">
                        <a:latin typeface="Calibri"/>
                        <a:ea typeface="Calibri"/>
                        <a:cs typeface="Arial"/>
                      </a:endParaRPr>
                    </a:p>
                    <a:p>
                      <a:pPr>
                        <a:lnSpc>
                          <a:spcPct val="115000"/>
                        </a:lnSpc>
                        <a:spcAft>
                          <a:spcPts val="0"/>
                        </a:spcAft>
                      </a:pPr>
                      <a:r>
                        <a:rPr lang="fr-FR" sz="1200">
                          <a:solidFill>
                            <a:srgbClr val="000000"/>
                          </a:solidFill>
                          <a:latin typeface="ArialMT"/>
                          <a:ea typeface="Calibri"/>
                          <a:cs typeface="ArialMT"/>
                        </a:rPr>
                        <a:t>• Ventes prévisionnelles</a:t>
                      </a:r>
                      <a:endParaRPr lang="fr-FR" sz="1100">
                        <a:latin typeface="Calibri"/>
                        <a:ea typeface="Calibri"/>
                        <a:cs typeface="Arial"/>
                      </a:endParaRPr>
                    </a:p>
                    <a:p>
                      <a:pPr>
                        <a:lnSpc>
                          <a:spcPct val="115000"/>
                        </a:lnSpc>
                        <a:spcAft>
                          <a:spcPts val="0"/>
                        </a:spcAft>
                      </a:pPr>
                      <a:r>
                        <a:rPr lang="fr-FR" sz="1200">
                          <a:solidFill>
                            <a:srgbClr val="000000"/>
                          </a:solidFill>
                          <a:latin typeface="ArialMT"/>
                          <a:ea typeface="Calibri"/>
                          <a:cs typeface="ArialMT"/>
                        </a:rPr>
                        <a:t>• Remboursement TVA</a:t>
                      </a:r>
                      <a:endParaRPr lang="fr-FR" sz="1100">
                        <a:latin typeface="Calibri"/>
                        <a:ea typeface="Calibri"/>
                        <a:cs typeface="Arial"/>
                      </a:endParaRPr>
                    </a:p>
                    <a:p>
                      <a:pPr>
                        <a:lnSpc>
                          <a:spcPct val="115000"/>
                        </a:lnSpc>
                        <a:spcAft>
                          <a:spcPts val="0"/>
                        </a:spcAft>
                      </a:pPr>
                      <a:r>
                        <a:rPr lang="fr-FR" sz="1200">
                          <a:solidFill>
                            <a:srgbClr val="FF5A00"/>
                          </a:solidFill>
                          <a:latin typeface="ArialMT"/>
                          <a:ea typeface="Calibri"/>
                          <a:cs typeface="ArialMT"/>
                        </a:rPr>
                        <a:t>• Hors exploitation</a:t>
                      </a:r>
                      <a:endParaRPr lang="fr-FR" sz="1100">
                        <a:latin typeface="Calibri"/>
                        <a:ea typeface="Calibri"/>
                        <a:cs typeface="Arial"/>
                      </a:endParaRPr>
                    </a:p>
                    <a:p>
                      <a:pPr>
                        <a:lnSpc>
                          <a:spcPct val="115000"/>
                        </a:lnSpc>
                        <a:spcAft>
                          <a:spcPts val="0"/>
                        </a:spcAft>
                      </a:pPr>
                      <a:r>
                        <a:rPr lang="fr-FR" sz="1200">
                          <a:solidFill>
                            <a:srgbClr val="000000"/>
                          </a:solidFill>
                          <a:latin typeface="ArialMT"/>
                          <a:ea typeface="Calibri"/>
                          <a:cs typeface="ArialMT"/>
                        </a:rPr>
                        <a:t>• Apports en capital</a:t>
                      </a:r>
                      <a:endParaRPr lang="fr-FR" sz="1100">
                        <a:latin typeface="Calibri"/>
                        <a:ea typeface="Calibri"/>
                        <a:cs typeface="Arial"/>
                      </a:endParaRPr>
                    </a:p>
                    <a:p>
                      <a:pPr>
                        <a:lnSpc>
                          <a:spcPct val="115000"/>
                        </a:lnSpc>
                        <a:spcAft>
                          <a:spcPts val="0"/>
                        </a:spcAft>
                      </a:pPr>
                      <a:r>
                        <a:rPr lang="fr-FR" sz="1200">
                          <a:solidFill>
                            <a:srgbClr val="000000"/>
                          </a:solidFill>
                          <a:latin typeface="ArialMT"/>
                          <a:ea typeface="Calibri"/>
                          <a:cs typeface="ArialMT"/>
                        </a:rPr>
                        <a:t>• Déblocage emprunts LMT contractés</a:t>
                      </a:r>
                      <a:endParaRPr lang="fr-FR" sz="1100">
                        <a:latin typeface="Calibri"/>
                        <a:ea typeface="Calibri"/>
                        <a:cs typeface="Arial"/>
                      </a:endParaRPr>
                    </a:p>
                    <a:p>
                      <a:pPr>
                        <a:lnSpc>
                          <a:spcPct val="115000"/>
                        </a:lnSpc>
                        <a:spcAft>
                          <a:spcPts val="0"/>
                        </a:spcAft>
                      </a:pPr>
                      <a:r>
                        <a:rPr lang="fr-FR" sz="1200">
                          <a:solidFill>
                            <a:srgbClr val="000000"/>
                          </a:solidFill>
                          <a:latin typeface="ArialMT"/>
                          <a:ea typeface="Calibri"/>
                          <a:cs typeface="ArialMT"/>
                        </a:rPr>
                        <a:t>• Prime / subvention d’équipement</a:t>
                      </a: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9760">
                <a:tc>
                  <a:txBody>
                    <a:bodyPr/>
                    <a:lstStyle/>
                    <a:p>
                      <a:pPr>
                        <a:lnSpc>
                          <a:spcPct val="115000"/>
                        </a:lnSpc>
                        <a:spcAft>
                          <a:spcPts val="0"/>
                        </a:spcAft>
                      </a:pPr>
                      <a:r>
                        <a:rPr lang="fr-FR" sz="1200" b="1">
                          <a:solidFill>
                            <a:srgbClr val="FF5A00"/>
                          </a:solidFill>
                          <a:latin typeface="Arial-BoldMT"/>
                          <a:ea typeface="Calibri"/>
                          <a:cs typeface="Arial-BoldMT"/>
                        </a:rPr>
                        <a:t>TOTAL (1)</a:t>
                      </a: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nSpc>
                          <a:spcPct val="115000"/>
                        </a:lnSpc>
                        <a:spcAft>
                          <a:spcPts val="0"/>
                        </a:spcAft>
                      </a:pPr>
                      <a:endParaRPr lang="fr-FR" sz="1100">
                        <a:highlight>
                          <a:srgbClr val="800080"/>
                        </a:highlight>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nSpc>
                          <a:spcPct val="115000"/>
                        </a:lnSpc>
                        <a:spcAft>
                          <a:spcPts val="0"/>
                        </a:spcAft>
                      </a:pPr>
                      <a:endParaRPr lang="fr-FR" sz="1100">
                        <a:highlight>
                          <a:srgbClr val="800080"/>
                        </a:highlight>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nSpc>
                          <a:spcPct val="115000"/>
                        </a:lnSpc>
                        <a:spcAft>
                          <a:spcPts val="0"/>
                        </a:spcAft>
                      </a:pPr>
                      <a:endParaRPr lang="fr-FR" sz="1100">
                        <a:highlight>
                          <a:srgbClr val="800080"/>
                        </a:highlight>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nSpc>
                          <a:spcPct val="115000"/>
                        </a:lnSpc>
                        <a:spcAft>
                          <a:spcPts val="0"/>
                        </a:spcAft>
                      </a:pPr>
                      <a:endParaRPr lang="fr-FR" sz="1100">
                        <a:highlight>
                          <a:srgbClr val="800080"/>
                        </a:highlight>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r>
              <a:tr h="1655226">
                <a:tc>
                  <a:txBody>
                    <a:bodyPr/>
                    <a:lstStyle/>
                    <a:p>
                      <a:pPr>
                        <a:lnSpc>
                          <a:spcPct val="115000"/>
                        </a:lnSpc>
                        <a:spcAft>
                          <a:spcPts val="0"/>
                        </a:spcAft>
                      </a:pPr>
                      <a:r>
                        <a:rPr lang="fr-FR" sz="1200" b="1">
                          <a:solidFill>
                            <a:srgbClr val="FF5A00"/>
                          </a:solidFill>
                          <a:latin typeface="Arial-BoldMT"/>
                          <a:ea typeface="Calibri"/>
                          <a:cs typeface="Arial-BoldMT"/>
                        </a:rPr>
                        <a:t>Décaissements (TTC)</a:t>
                      </a:r>
                      <a:endParaRPr lang="fr-FR" sz="1100">
                        <a:latin typeface="Calibri"/>
                        <a:ea typeface="Calibri"/>
                        <a:cs typeface="Arial"/>
                      </a:endParaRPr>
                    </a:p>
                    <a:p>
                      <a:pPr>
                        <a:lnSpc>
                          <a:spcPct val="115000"/>
                        </a:lnSpc>
                        <a:spcAft>
                          <a:spcPts val="0"/>
                        </a:spcAft>
                      </a:pPr>
                      <a:r>
                        <a:rPr lang="fr-FR" sz="1200">
                          <a:solidFill>
                            <a:srgbClr val="FF5A00"/>
                          </a:solidFill>
                          <a:latin typeface="ArialMT"/>
                          <a:ea typeface="Calibri"/>
                          <a:cs typeface="ArialMT"/>
                        </a:rPr>
                        <a:t>• D’exploitation</a:t>
                      </a:r>
                      <a:endParaRPr lang="fr-FR" sz="1100">
                        <a:latin typeface="Calibri"/>
                        <a:ea typeface="Calibri"/>
                        <a:cs typeface="Arial"/>
                      </a:endParaRPr>
                    </a:p>
                    <a:p>
                      <a:pPr>
                        <a:lnSpc>
                          <a:spcPct val="115000"/>
                        </a:lnSpc>
                        <a:spcAft>
                          <a:spcPts val="0"/>
                        </a:spcAft>
                      </a:pPr>
                      <a:r>
                        <a:rPr lang="fr-FR" sz="1200">
                          <a:solidFill>
                            <a:srgbClr val="000000"/>
                          </a:solidFill>
                          <a:latin typeface="ArialMT"/>
                          <a:ea typeface="Calibri"/>
                          <a:cs typeface="ArialMT"/>
                        </a:rPr>
                        <a:t>• Achats prévisionnels</a:t>
                      </a:r>
                      <a:endParaRPr lang="fr-FR" sz="1100">
                        <a:latin typeface="Calibri"/>
                        <a:ea typeface="Calibri"/>
                        <a:cs typeface="Arial"/>
                      </a:endParaRPr>
                    </a:p>
                    <a:p>
                      <a:pPr>
                        <a:lnSpc>
                          <a:spcPct val="115000"/>
                        </a:lnSpc>
                        <a:spcAft>
                          <a:spcPts val="0"/>
                        </a:spcAft>
                      </a:pPr>
                      <a:r>
                        <a:rPr lang="fr-FR" sz="1200">
                          <a:solidFill>
                            <a:srgbClr val="000000"/>
                          </a:solidFill>
                          <a:latin typeface="ArialMT"/>
                          <a:ea typeface="Calibri"/>
                          <a:cs typeface="ArialMT"/>
                        </a:rPr>
                        <a:t>• Autres charges externes</a:t>
                      </a:r>
                      <a:endParaRPr lang="fr-FR" sz="1100">
                        <a:latin typeface="Calibri"/>
                        <a:ea typeface="Calibri"/>
                        <a:cs typeface="Arial"/>
                      </a:endParaRPr>
                    </a:p>
                    <a:p>
                      <a:pPr>
                        <a:lnSpc>
                          <a:spcPct val="115000"/>
                        </a:lnSpc>
                        <a:spcAft>
                          <a:spcPts val="0"/>
                        </a:spcAft>
                      </a:pPr>
                      <a:r>
                        <a:rPr lang="fr-FR" sz="1200">
                          <a:solidFill>
                            <a:srgbClr val="000000"/>
                          </a:solidFill>
                          <a:latin typeface="ArialMT"/>
                          <a:ea typeface="Calibri"/>
                          <a:cs typeface="ArialMT"/>
                        </a:rPr>
                        <a:t>• Impôts et taxes</a:t>
                      </a:r>
                      <a:endParaRPr lang="fr-FR" sz="1100">
                        <a:latin typeface="Calibri"/>
                        <a:ea typeface="Calibri"/>
                        <a:cs typeface="Arial"/>
                      </a:endParaRPr>
                    </a:p>
                    <a:p>
                      <a:pPr>
                        <a:lnSpc>
                          <a:spcPct val="115000"/>
                        </a:lnSpc>
                        <a:spcAft>
                          <a:spcPts val="0"/>
                        </a:spcAft>
                      </a:pPr>
                      <a:r>
                        <a:rPr lang="fr-FR" sz="1200">
                          <a:solidFill>
                            <a:srgbClr val="000000"/>
                          </a:solidFill>
                          <a:latin typeface="ArialMT"/>
                          <a:ea typeface="Calibri"/>
                          <a:cs typeface="ArialMT"/>
                        </a:rPr>
                        <a:t>• Frais de personnel</a:t>
                      </a:r>
                      <a:endParaRPr lang="fr-FR" sz="1100">
                        <a:latin typeface="Calibri"/>
                        <a:ea typeface="Calibri"/>
                        <a:cs typeface="Arial"/>
                      </a:endParaRPr>
                    </a:p>
                    <a:p>
                      <a:pPr>
                        <a:lnSpc>
                          <a:spcPct val="115000"/>
                        </a:lnSpc>
                        <a:spcAft>
                          <a:spcPts val="0"/>
                        </a:spcAft>
                      </a:pPr>
                      <a:r>
                        <a:rPr lang="fr-FR" sz="1200">
                          <a:solidFill>
                            <a:srgbClr val="000000"/>
                          </a:solidFill>
                          <a:latin typeface="ArialMT"/>
                          <a:ea typeface="Calibri"/>
                          <a:cs typeface="ArialMT"/>
                        </a:rPr>
                        <a:t>• Charges sociales</a:t>
                      </a:r>
                      <a:endParaRPr lang="fr-FR" sz="1100">
                        <a:latin typeface="Calibri"/>
                        <a:ea typeface="Calibri"/>
                        <a:cs typeface="Arial"/>
                      </a:endParaRPr>
                    </a:p>
                    <a:p>
                      <a:pPr>
                        <a:lnSpc>
                          <a:spcPct val="115000"/>
                        </a:lnSpc>
                        <a:spcAft>
                          <a:spcPts val="0"/>
                        </a:spcAft>
                      </a:pPr>
                      <a:r>
                        <a:rPr lang="fr-FR" sz="1200">
                          <a:solidFill>
                            <a:srgbClr val="000000"/>
                          </a:solidFill>
                          <a:latin typeface="ArialMT"/>
                          <a:ea typeface="Calibri"/>
                          <a:cs typeface="ArialMT"/>
                        </a:rPr>
                        <a:t>• TVA reversée</a:t>
                      </a:r>
                      <a:endParaRPr lang="fr-FR" sz="1100">
                        <a:latin typeface="Calibri"/>
                        <a:ea typeface="Calibri"/>
                        <a:cs typeface="Arial"/>
                      </a:endParaRPr>
                    </a:p>
                    <a:p>
                      <a:pPr>
                        <a:lnSpc>
                          <a:spcPct val="115000"/>
                        </a:lnSpc>
                        <a:spcAft>
                          <a:spcPts val="0"/>
                        </a:spcAft>
                      </a:pPr>
                      <a:r>
                        <a:rPr lang="fr-FR" sz="1200">
                          <a:solidFill>
                            <a:srgbClr val="FF5A00"/>
                          </a:solidFill>
                          <a:latin typeface="ArialMT"/>
                          <a:ea typeface="Calibri"/>
                          <a:cs typeface="ArialMT"/>
                        </a:rPr>
                        <a:t>• Hors exploitation</a:t>
                      </a:r>
                      <a:endParaRPr lang="fr-FR" sz="1100">
                        <a:latin typeface="Calibri"/>
                        <a:ea typeface="Calibri"/>
                        <a:cs typeface="Arial"/>
                      </a:endParaRPr>
                    </a:p>
                    <a:p>
                      <a:pPr>
                        <a:lnSpc>
                          <a:spcPct val="115000"/>
                        </a:lnSpc>
                        <a:spcAft>
                          <a:spcPts val="0"/>
                        </a:spcAft>
                      </a:pPr>
                      <a:r>
                        <a:rPr lang="fr-FR" sz="1200">
                          <a:solidFill>
                            <a:srgbClr val="000000"/>
                          </a:solidFill>
                          <a:latin typeface="ArialMT"/>
                          <a:ea typeface="Calibri"/>
                          <a:cs typeface="ArialMT"/>
                        </a:rPr>
                        <a:t>• Remboursements d’emprunts</a:t>
                      </a:r>
                      <a:endParaRPr lang="fr-FR" sz="1100">
                        <a:latin typeface="Calibri"/>
                        <a:ea typeface="Calibri"/>
                        <a:cs typeface="Arial"/>
                      </a:endParaRPr>
                    </a:p>
                    <a:p>
                      <a:pPr>
                        <a:lnSpc>
                          <a:spcPct val="115000"/>
                        </a:lnSpc>
                        <a:spcAft>
                          <a:spcPts val="0"/>
                        </a:spcAft>
                      </a:pPr>
                      <a:r>
                        <a:rPr lang="fr-FR" sz="1200">
                          <a:solidFill>
                            <a:srgbClr val="000000"/>
                          </a:solidFill>
                          <a:latin typeface="ArialMT"/>
                          <a:ea typeface="Calibri"/>
                          <a:cs typeface="ArialMT"/>
                        </a:rPr>
                        <a:t>• Prélèvement de l’exploitant si entreprise individuelle</a:t>
                      </a: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9760">
                <a:tc>
                  <a:txBody>
                    <a:bodyPr/>
                    <a:lstStyle/>
                    <a:p>
                      <a:pPr>
                        <a:lnSpc>
                          <a:spcPct val="115000"/>
                        </a:lnSpc>
                        <a:spcAft>
                          <a:spcPts val="0"/>
                        </a:spcAft>
                      </a:pPr>
                      <a:r>
                        <a:rPr lang="fr-FR" sz="1200" b="1">
                          <a:solidFill>
                            <a:srgbClr val="FF5A00"/>
                          </a:solidFill>
                          <a:latin typeface="Arial-BoldMT"/>
                          <a:ea typeface="Calibri"/>
                          <a:cs typeface="Arial-BoldMT"/>
                        </a:rPr>
                        <a:t>TOTAL (2)</a:t>
                      </a: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r>
              <a:tr h="129760">
                <a:tc>
                  <a:txBody>
                    <a:bodyPr/>
                    <a:lstStyle/>
                    <a:p>
                      <a:pPr>
                        <a:lnSpc>
                          <a:spcPct val="115000"/>
                        </a:lnSpc>
                        <a:spcAft>
                          <a:spcPts val="0"/>
                        </a:spcAft>
                      </a:pPr>
                      <a:r>
                        <a:rPr lang="fr-FR" sz="1200" b="1">
                          <a:latin typeface="Arial-BoldMT"/>
                          <a:ea typeface="Calibri"/>
                          <a:cs typeface="Arial-BoldMT"/>
                        </a:rPr>
                        <a:t>Solde en fin de mois (1- 2)</a:t>
                      </a: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nSpc>
                          <a:spcPct val="115000"/>
                        </a:lnSpc>
                        <a:spcAft>
                          <a:spcPts val="0"/>
                        </a:spcAft>
                      </a:pPr>
                      <a:endParaRPr lang="fr-FR" sz="110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c>
                  <a:txBody>
                    <a:bodyPr/>
                    <a:lstStyle/>
                    <a:p>
                      <a:pPr>
                        <a:lnSpc>
                          <a:spcPct val="115000"/>
                        </a:lnSpc>
                        <a:spcAft>
                          <a:spcPts val="0"/>
                        </a:spcAft>
                      </a:pPr>
                      <a:endParaRPr lang="fr-FR" sz="1100" dirty="0">
                        <a:latin typeface="Calibri"/>
                        <a:ea typeface="Calibri"/>
                        <a:cs typeface="Arial"/>
                      </a:endParaRPr>
                    </a:p>
                  </a:txBody>
                  <a:tcPr marL="68398" marR="6839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00"/>
                    </a:solidFill>
                  </a:tcPr>
                </a:tc>
              </a:tr>
            </a:tbl>
          </a:graphicData>
        </a:graphic>
      </p:graphicFrame>
      <p:sp>
        <p:nvSpPr>
          <p:cNvPr id="4" name="Rectangle 3"/>
          <p:cNvSpPr/>
          <p:nvPr/>
        </p:nvSpPr>
        <p:spPr>
          <a:xfrm>
            <a:off x="602256" y="3711750"/>
            <a:ext cx="4718891" cy="258532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dirty="0" smtClean="0">
                <a:solidFill>
                  <a:schemeClr val="dk1"/>
                </a:solidFill>
                <a:latin typeface="Arial" pitchFamily="34" charset="0"/>
                <a:ea typeface="Verdana" pitchFamily="34" charset="0"/>
                <a:cs typeface="Verdana" pitchFamily="34" charset="0"/>
              </a:rPr>
              <a:t>Si le document prévisionnel fait apparaître un solde négatif à une certaine période , anticipez la recherche d’une solution de financement à court terme de type escompte, découvert, etc. Tenez compte de leur coût dans le compte de résultat (les taux d’intérêt sont généralement plus élevés en comparaison de ceux pratiqués dans le cadre d’emprunts à moyen terme).</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112703" y="1169985"/>
            <a:ext cx="10190603" cy="501675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fr-FR" sz="2000" b="1" dirty="0" smtClean="0">
                <a:solidFill>
                  <a:srgbClr val="C00000"/>
                </a:solidFill>
                <a:latin typeface="Arial" pitchFamily="34" charset="0"/>
                <a:ea typeface="Verdana" pitchFamily="34" charset="0"/>
                <a:cs typeface="Verdana" pitchFamily="34" charset="0"/>
              </a:rPr>
              <a:t>2.4 Calculer le seuil de rentabilité</a:t>
            </a:r>
          </a:p>
          <a:p>
            <a:endParaRPr lang="fr-FR" sz="2000" b="1" dirty="0" smtClean="0">
              <a:solidFill>
                <a:srgbClr val="C00000"/>
              </a:solidFill>
              <a:latin typeface="Arial" pitchFamily="34" charset="0"/>
              <a:ea typeface="Verdana" pitchFamily="34" charset="0"/>
              <a:cs typeface="Verdana" pitchFamily="34" charset="0"/>
            </a:endParaRPr>
          </a:p>
          <a:p>
            <a:pPr algn="just"/>
            <a:r>
              <a:rPr lang="fr-FR" sz="2000" dirty="0" smtClean="0">
                <a:latin typeface="Arial" pitchFamily="34" charset="0"/>
                <a:ea typeface="Verdana" pitchFamily="34" charset="0"/>
                <a:cs typeface="Verdana" pitchFamily="34" charset="0"/>
              </a:rPr>
              <a:t>Le seuil de rentabilité correspond au niveau de chiffre d’affaires à partir duquel l’entreprise commence à avoir les moyens de payer toutes ses charges. Au-delà de ce seuil, l’entreprise réalise un bénéfice.</a:t>
            </a:r>
          </a:p>
          <a:p>
            <a:pPr algn="just"/>
            <a:endParaRPr lang="fr-FR" sz="2000" dirty="0" smtClean="0">
              <a:latin typeface="Arial" pitchFamily="34" charset="0"/>
              <a:ea typeface="Verdana" pitchFamily="34" charset="0"/>
              <a:cs typeface="Verdana" pitchFamily="34" charset="0"/>
            </a:endParaRPr>
          </a:p>
          <a:p>
            <a:pPr algn="just"/>
            <a:r>
              <a:rPr lang="fr-FR" sz="2000" dirty="0" smtClean="0">
                <a:latin typeface="Arial" pitchFamily="34" charset="0"/>
                <a:ea typeface="Verdana" pitchFamily="34" charset="0"/>
                <a:cs typeface="Verdana" pitchFamily="34" charset="0"/>
              </a:rPr>
              <a:t>Pour le calculer, il faut :</a:t>
            </a:r>
          </a:p>
          <a:p>
            <a:pPr algn="just"/>
            <a:endParaRPr lang="fr-FR" sz="2000" dirty="0" smtClean="0">
              <a:latin typeface="Arial" pitchFamily="34" charset="0"/>
              <a:ea typeface="Verdana" pitchFamily="34" charset="0"/>
              <a:cs typeface="Verdana" pitchFamily="34" charset="0"/>
            </a:endParaRPr>
          </a:p>
          <a:p>
            <a:pPr algn="just"/>
            <a:r>
              <a:rPr lang="fr-FR" sz="2000" dirty="0" smtClean="0">
                <a:latin typeface="Arial" pitchFamily="34" charset="0"/>
                <a:ea typeface="Verdana" pitchFamily="34" charset="0"/>
                <a:cs typeface="Verdana" pitchFamily="34" charset="0"/>
              </a:rPr>
              <a:t>1 Répartir l’ensemble des charges de l’exercice en 2 catégories :</a:t>
            </a:r>
          </a:p>
          <a:p>
            <a:pPr algn="just"/>
            <a:r>
              <a:rPr lang="fr-FR" sz="2000" dirty="0" smtClean="0">
                <a:latin typeface="Arial" pitchFamily="34" charset="0"/>
                <a:ea typeface="Verdana" pitchFamily="34" charset="0"/>
                <a:cs typeface="Verdana" pitchFamily="34" charset="0"/>
              </a:rPr>
              <a:t>• les </a:t>
            </a:r>
            <a:r>
              <a:rPr lang="fr-FR" sz="2000" b="1" dirty="0" smtClean="0">
                <a:latin typeface="Arial" pitchFamily="34" charset="0"/>
                <a:ea typeface="Verdana" pitchFamily="34" charset="0"/>
                <a:cs typeface="Verdana" pitchFamily="34" charset="0"/>
              </a:rPr>
              <a:t>charges fixes </a:t>
            </a:r>
            <a:r>
              <a:rPr lang="fr-FR" sz="2000" dirty="0" smtClean="0">
                <a:latin typeface="Arial" pitchFamily="34" charset="0"/>
                <a:ea typeface="Verdana" pitchFamily="34" charset="0"/>
                <a:cs typeface="Verdana" pitchFamily="34" charset="0"/>
              </a:rPr>
              <a:t>qui représentent l’ensemble des dépenses que l’entreprise doit assumer quel que soit son niveau d’activité (par exemple le loyer du local commercial, les charges sociales, les assurances, salaires des employés permanents, amortissements  etc.) ;</a:t>
            </a:r>
          </a:p>
          <a:p>
            <a:pPr algn="just"/>
            <a:r>
              <a:rPr lang="fr-FR" sz="2000" dirty="0" smtClean="0">
                <a:latin typeface="Arial" pitchFamily="34" charset="0"/>
                <a:ea typeface="Verdana" pitchFamily="34" charset="0"/>
                <a:cs typeface="Verdana" pitchFamily="34" charset="0"/>
              </a:rPr>
              <a:t>• les </a:t>
            </a:r>
            <a:r>
              <a:rPr lang="fr-FR" sz="2000" b="1" dirty="0" smtClean="0">
                <a:latin typeface="Arial" pitchFamily="34" charset="0"/>
                <a:ea typeface="Verdana" pitchFamily="34" charset="0"/>
                <a:cs typeface="Verdana" pitchFamily="34" charset="0"/>
              </a:rPr>
              <a:t>charges variables </a:t>
            </a:r>
            <a:r>
              <a:rPr lang="fr-FR" sz="2000" dirty="0" smtClean="0">
                <a:latin typeface="Arial" pitchFamily="34" charset="0"/>
                <a:ea typeface="Verdana" pitchFamily="34" charset="0"/>
                <a:cs typeface="Verdana" pitchFamily="34" charset="0"/>
              </a:rPr>
              <a:t>dont le montant découle du niveau des ventes (par exemple, le montant des approvisionnements correspondant au chiffre d’affaires réalisé, les frais de transport sur achats et / ou sur ventes, salaires des employés temporaires etc.).</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925417" y="1305342"/>
            <a:ext cx="10344838" cy="37856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dirty="0" smtClean="0">
                <a:solidFill>
                  <a:schemeClr val="dk1"/>
                </a:solidFill>
                <a:latin typeface="Arial" pitchFamily="34" charset="0"/>
                <a:ea typeface="Verdana" pitchFamily="34" charset="0"/>
                <a:cs typeface="Verdana" pitchFamily="34" charset="0"/>
              </a:rPr>
              <a:t>2 Calculer </a:t>
            </a:r>
            <a:r>
              <a:rPr lang="fr-FR" sz="2000" b="1" dirty="0" smtClean="0">
                <a:solidFill>
                  <a:schemeClr val="dk1"/>
                </a:solidFill>
                <a:latin typeface="Arial" pitchFamily="34" charset="0"/>
                <a:ea typeface="Verdana" pitchFamily="34" charset="0"/>
                <a:cs typeface="Verdana" pitchFamily="34" charset="0"/>
              </a:rPr>
              <a:t>la marge sur coûts variables</a:t>
            </a:r>
            <a:r>
              <a:rPr lang="fr-FR" sz="2000" dirty="0" smtClean="0">
                <a:solidFill>
                  <a:schemeClr val="dk1"/>
                </a:solidFill>
                <a:latin typeface="Arial" pitchFamily="34" charset="0"/>
                <a:ea typeface="Verdana" pitchFamily="34" charset="0"/>
                <a:cs typeface="Verdana" pitchFamily="34" charset="0"/>
              </a:rPr>
              <a:t>. Elle est égale au montant prévisionnel du chiffre d’affaires diminué des charges variables.</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3 Calculer </a:t>
            </a:r>
            <a:r>
              <a:rPr lang="fr-FR" sz="2000" b="1" dirty="0" smtClean="0">
                <a:solidFill>
                  <a:schemeClr val="dk1"/>
                </a:solidFill>
                <a:latin typeface="Arial" pitchFamily="34" charset="0"/>
                <a:ea typeface="Verdana" pitchFamily="34" charset="0"/>
                <a:cs typeface="Verdana" pitchFamily="34" charset="0"/>
              </a:rPr>
              <a:t>le taux de marge sur coût variable </a:t>
            </a:r>
            <a:r>
              <a:rPr lang="fr-FR" sz="2000" dirty="0" smtClean="0">
                <a:solidFill>
                  <a:schemeClr val="dk1"/>
                </a:solidFill>
                <a:latin typeface="Arial" pitchFamily="34" charset="0"/>
                <a:ea typeface="Verdana" pitchFamily="34" charset="0"/>
                <a:cs typeface="Verdana" pitchFamily="34" charset="0"/>
              </a:rPr>
              <a:t>qui est la traduction de la marge sur coûts variables en pourcentage de chiffre d’affaires. On l’obtient en divisant la marge sur coûts variables par le montant du chiffre d’affaires et en multipliant le résultat par 100.</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4 Diviser le montant des charges fixes par ce taux de marge pour obtenir le seuil de rentabilité qui est le </a:t>
            </a:r>
            <a:r>
              <a:rPr lang="fr-FR" sz="2000" u="sng" dirty="0" smtClean="0">
                <a:solidFill>
                  <a:schemeClr val="dk1"/>
                </a:solidFill>
                <a:latin typeface="Arial" pitchFamily="34" charset="0"/>
                <a:ea typeface="Verdana" pitchFamily="34" charset="0"/>
                <a:cs typeface="Verdana" pitchFamily="34" charset="0"/>
              </a:rPr>
              <a:t>montant du chiffre d’affaires à réaliser nécessairement pour payer au moins les charges fixes</a:t>
            </a:r>
            <a:r>
              <a:rPr lang="fr-FR" sz="2000" dirty="0" smtClean="0">
                <a:solidFill>
                  <a:schemeClr val="dk1"/>
                </a:solidFill>
                <a:latin typeface="Arial" pitchFamily="34" charset="0"/>
                <a:ea typeface="Verdana" pitchFamily="34" charset="0"/>
                <a:cs typeface="Verdana" pitchFamily="34" charset="0"/>
              </a:rPr>
              <a:t>.</a:t>
            </a:r>
          </a:p>
          <a:p>
            <a:pPr algn="just"/>
            <a:endParaRPr lang="fr-FR" sz="2000" dirty="0" smtClean="0">
              <a:latin typeface="Arial" pitchFamily="34" charset="0"/>
              <a:ea typeface="Verdana" pitchFamily="34" charset="0"/>
              <a:cs typeface="Verdana" pitchFamily="34" charset="0"/>
            </a:endParaRPr>
          </a:p>
          <a:p>
            <a:pPr algn="just"/>
            <a:endParaRPr lang="fr-FR" sz="2000" dirty="0" smtClean="0">
              <a:solidFill>
                <a:schemeClr val="dk1"/>
              </a:solidFill>
              <a:latin typeface="Arial" pitchFamily="34" charset="0"/>
              <a:ea typeface="Verdana" pitchFamily="34" charset="0"/>
              <a:cs typeface="Verdana" pitchFamily="34" charset="0"/>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421794" y="1007910"/>
            <a:ext cx="3469219" cy="677108"/>
          </a:xfrm>
          <a:prstGeom prst="rect">
            <a:avLst/>
          </a:prstGeom>
        </p:spPr>
        <p:txBody>
          <a:bodyPr wrap="none">
            <a:spAutoFit/>
          </a:bodyPr>
          <a:lstStyle/>
          <a:p>
            <a:r>
              <a:rPr lang="fr-FR" sz="2000" b="1" dirty="0" smtClean="0">
                <a:solidFill>
                  <a:srgbClr val="C00000"/>
                </a:solidFill>
                <a:latin typeface="Arial" pitchFamily="34" charset="0"/>
                <a:ea typeface="Verdana" pitchFamily="34" charset="0"/>
                <a:cs typeface="Verdana" pitchFamily="34" charset="0"/>
              </a:rPr>
              <a:t>2.6</a:t>
            </a:r>
            <a:r>
              <a:rPr lang="fr-FR" dirty="0" smtClean="0"/>
              <a:t> </a:t>
            </a:r>
            <a:r>
              <a:rPr lang="fr-FR" sz="2000" b="1" dirty="0" smtClean="0">
                <a:solidFill>
                  <a:srgbClr val="C00000"/>
                </a:solidFill>
                <a:latin typeface="Arial" pitchFamily="34" charset="0"/>
                <a:ea typeface="Verdana" pitchFamily="34" charset="0"/>
                <a:cs typeface="Verdana" pitchFamily="34" charset="0"/>
              </a:rPr>
              <a:t>Obtenir un financement</a:t>
            </a:r>
          </a:p>
          <a:p>
            <a:endParaRPr lang="fr-FR" dirty="0"/>
          </a:p>
        </p:txBody>
      </p:sp>
      <p:sp>
        <p:nvSpPr>
          <p:cNvPr id="4" name="Rectangle 3"/>
          <p:cNvSpPr/>
          <p:nvPr/>
        </p:nvSpPr>
        <p:spPr>
          <a:xfrm>
            <a:off x="1200838" y="1585484"/>
            <a:ext cx="10333822" cy="347787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dirty="0" smtClean="0">
                <a:latin typeface="Arial" pitchFamily="34" charset="0"/>
                <a:ea typeface="Verdana" pitchFamily="34" charset="0"/>
                <a:cs typeface="Verdana" pitchFamily="34" charset="0"/>
              </a:rPr>
              <a:t>En fonction de ses caractéristiques, de son ambition et de votre situation personnelle, le financement votre de projet de création d’entreprise résultera de la combinaison de plusieurs sources.</a:t>
            </a:r>
          </a:p>
          <a:p>
            <a:pPr algn="just"/>
            <a:endParaRPr lang="fr-FR" sz="2000" dirty="0" smtClean="0">
              <a:latin typeface="Arial" pitchFamily="34" charset="0"/>
              <a:ea typeface="Verdana" pitchFamily="34" charset="0"/>
              <a:cs typeface="Verdana" pitchFamily="34" charset="0"/>
            </a:endParaRPr>
          </a:p>
          <a:p>
            <a:pPr algn="just"/>
            <a:r>
              <a:rPr lang="fr-FR" sz="2000" dirty="0" smtClean="0">
                <a:latin typeface="Arial" pitchFamily="34" charset="0"/>
                <a:ea typeface="Verdana" pitchFamily="34" charset="0"/>
                <a:cs typeface="Verdana" pitchFamily="34" charset="0"/>
              </a:rPr>
              <a:t>Pour vous donner les meilleures chances d’obtenir un financement :</a:t>
            </a:r>
          </a:p>
          <a:p>
            <a:pPr algn="just"/>
            <a:endParaRPr lang="fr-FR" sz="2000" dirty="0" smtClean="0">
              <a:latin typeface="Arial" pitchFamily="34" charset="0"/>
              <a:ea typeface="Verdana" pitchFamily="34" charset="0"/>
              <a:cs typeface="Verdana" pitchFamily="34" charset="0"/>
            </a:endParaRPr>
          </a:p>
          <a:p>
            <a:pPr marL="628650" indent="-363538" algn="just">
              <a:buFont typeface="Wingdings" pitchFamily="2" charset="2"/>
              <a:buChar char="v"/>
            </a:pPr>
            <a:r>
              <a:rPr lang="fr-FR" sz="2000" dirty="0" smtClean="0">
                <a:latin typeface="Arial" pitchFamily="34" charset="0"/>
                <a:ea typeface="Verdana" pitchFamily="34" charset="0"/>
                <a:cs typeface="Verdana" pitchFamily="34" charset="0"/>
              </a:rPr>
              <a:t> présentez à vos interlocuteurs un dossier complet, précis, clair et soigné, en un mot « vendeur ». </a:t>
            </a:r>
          </a:p>
          <a:p>
            <a:pPr marL="628650" indent="-363538" algn="just">
              <a:buFont typeface="Wingdings" pitchFamily="2" charset="2"/>
              <a:buChar char="v"/>
            </a:pPr>
            <a:r>
              <a:rPr lang="fr-FR" sz="2000" dirty="0" smtClean="0">
                <a:latin typeface="Arial" pitchFamily="34" charset="0"/>
                <a:ea typeface="Verdana" pitchFamily="34" charset="0"/>
                <a:cs typeface="Verdana" pitchFamily="34" charset="0"/>
              </a:rPr>
              <a:t> préparez vos entretiens avec l’aide d’un conseiller ;</a:t>
            </a:r>
          </a:p>
          <a:p>
            <a:pPr marL="628650" indent="-363538" algn="just">
              <a:buFont typeface="Wingdings" pitchFamily="2" charset="2"/>
              <a:buChar char="v"/>
            </a:pPr>
            <a:r>
              <a:rPr lang="fr-FR" sz="2000" dirty="0" smtClean="0">
                <a:latin typeface="Arial" pitchFamily="34" charset="0"/>
                <a:ea typeface="Verdana" pitchFamily="34" charset="0"/>
                <a:cs typeface="Verdana" pitchFamily="34" charset="0"/>
              </a:rPr>
              <a:t> entraînez-vous à « </a:t>
            </a:r>
            <a:r>
              <a:rPr lang="fr-FR" sz="2000" dirty="0" err="1" smtClean="0">
                <a:latin typeface="Arial" pitchFamily="34" charset="0"/>
                <a:ea typeface="Verdana" pitchFamily="34" charset="0"/>
                <a:cs typeface="Verdana" pitchFamily="34" charset="0"/>
              </a:rPr>
              <a:t>pitcher</a:t>
            </a:r>
            <a:r>
              <a:rPr lang="fr-FR" sz="2000" dirty="0" smtClean="0">
                <a:latin typeface="Arial" pitchFamily="34" charset="0"/>
                <a:ea typeface="Verdana" pitchFamily="34" charset="0"/>
                <a:cs typeface="Verdana" pitchFamily="34" charset="0"/>
              </a:rPr>
              <a:t> » votre projet.</a:t>
            </a:r>
          </a:p>
          <a:p>
            <a:pPr algn="just"/>
            <a:endParaRPr lang="fr-FR" sz="2000" dirty="0" smtClean="0">
              <a:latin typeface="Arial" pitchFamily="34" charset="0"/>
              <a:ea typeface="Verdana" pitchFamily="34" charset="0"/>
              <a:cs typeface="Verdana" pitchFamily="34" charset="0"/>
            </a:endParaRPr>
          </a:p>
        </p:txBody>
      </p:sp>
      <p:sp>
        <p:nvSpPr>
          <p:cNvPr id="5" name="Rectangle 4"/>
          <p:cNvSpPr/>
          <p:nvPr/>
        </p:nvSpPr>
        <p:spPr>
          <a:xfrm>
            <a:off x="2563257" y="5103674"/>
            <a:ext cx="7968868" cy="1323439"/>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just"/>
            <a:r>
              <a:rPr lang="fr-FR" sz="2000" b="1" dirty="0" smtClean="0">
                <a:solidFill>
                  <a:srgbClr val="C00000"/>
                </a:solidFill>
                <a:latin typeface="Arial" pitchFamily="34" charset="0"/>
                <a:ea typeface="Verdana" pitchFamily="34" charset="0"/>
                <a:cs typeface="Verdana" pitchFamily="34" charset="0"/>
              </a:rPr>
              <a:t>Bon à savoir :</a:t>
            </a:r>
          </a:p>
          <a:p>
            <a:pPr algn="just"/>
            <a:r>
              <a:rPr lang="fr-FR" sz="2000" dirty="0" smtClean="0">
                <a:solidFill>
                  <a:schemeClr val="dk1"/>
                </a:solidFill>
                <a:latin typeface="Arial" pitchFamily="34" charset="0"/>
                <a:ea typeface="Verdana" pitchFamily="34" charset="0"/>
                <a:cs typeface="Verdana" pitchFamily="34" charset="0"/>
              </a:rPr>
              <a:t>Un projet présentant un plan de financement déséquilibré et peu d’éléments convaincants sur son marché ne présentera pas les garanties suffisantes pour séduire un banquier. C’est une évidence !</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4" name="Rectangle 3"/>
          <p:cNvSpPr/>
          <p:nvPr/>
        </p:nvSpPr>
        <p:spPr>
          <a:xfrm>
            <a:off x="1046602" y="993704"/>
            <a:ext cx="10256704" cy="495520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Font typeface="Wingdings" pitchFamily="2" charset="2"/>
              <a:buChar char="q"/>
            </a:pPr>
            <a:r>
              <a:rPr lang="fr-FR" sz="2000" dirty="0" smtClean="0">
                <a:solidFill>
                  <a:schemeClr val="dk1"/>
                </a:solidFill>
                <a:latin typeface="Arial" pitchFamily="34" charset="0"/>
                <a:ea typeface="Verdana" pitchFamily="34" charset="0"/>
                <a:cs typeface="Verdana" pitchFamily="34" charset="0"/>
              </a:rPr>
              <a:t> </a:t>
            </a:r>
            <a:r>
              <a:rPr lang="fr-FR" sz="2000" b="1" dirty="0" smtClean="0">
                <a:solidFill>
                  <a:schemeClr val="accent6">
                    <a:lumMod val="75000"/>
                  </a:schemeClr>
                </a:solidFill>
                <a:latin typeface="Arial" pitchFamily="34" charset="0"/>
                <a:ea typeface="Verdana" pitchFamily="34" charset="0"/>
                <a:cs typeface="Verdana" pitchFamily="34" charset="0"/>
              </a:rPr>
              <a:t>Recherchez des « coups de pouce »</a:t>
            </a:r>
          </a:p>
          <a:p>
            <a:pPr algn="just"/>
            <a:endParaRPr lang="fr-FR" sz="2000" b="1" dirty="0" smtClean="0">
              <a:solidFill>
                <a:schemeClr val="accent6">
                  <a:lumMod val="75000"/>
                </a:schemeClr>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En dehors de l’entraide familiale, plusieurs solutions s’offrent à vous :</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 les dons de particuliers versés sur une plateforme de </a:t>
            </a:r>
            <a:r>
              <a:rPr lang="fr-FR" sz="2000" dirty="0" err="1" smtClean="0">
                <a:solidFill>
                  <a:schemeClr val="dk1"/>
                </a:solidFill>
                <a:latin typeface="Arial" pitchFamily="34" charset="0"/>
                <a:ea typeface="Verdana" pitchFamily="34" charset="0"/>
                <a:cs typeface="Verdana" pitchFamily="34" charset="0"/>
              </a:rPr>
              <a:t>crowdfunding</a:t>
            </a:r>
            <a:r>
              <a:rPr lang="fr-FR" sz="2000" dirty="0" smtClean="0">
                <a:solidFill>
                  <a:schemeClr val="dk1"/>
                </a:solidFill>
                <a:latin typeface="Arial" pitchFamily="34" charset="0"/>
                <a:ea typeface="Verdana" pitchFamily="34" charset="0"/>
                <a:cs typeface="Verdana" pitchFamily="34" charset="0"/>
              </a:rPr>
              <a:t>. Le recours à ce mode de financement vous permet notamment de tester votre marché et l’accueil du public vis-à-vis de votre produit ou service. Il peut s’agir, selon les projets, de dons sans contrepartie, de dons avec contrepartie symbolique ou de préventes / précommandes du produit ou du service pour lequel la campagne de financement a été lancée ;</a:t>
            </a:r>
          </a:p>
          <a:p>
            <a:pPr algn="just"/>
            <a:endParaRPr lang="fr-FR" sz="8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 des prix attribués dans le cadre de concours à la création d’entreprise. Participer à des concours peut vous permettre, outre le fait de recevoir un prix, de vous faire connaître, de vous entraîner à présenter votre entreprise et même de rencontrer des partenaires commerciaux ;</a:t>
            </a:r>
          </a:p>
          <a:p>
            <a:pPr algn="just"/>
            <a:endParaRPr lang="fr-FR" sz="8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 des subventions peuvent être accordées sous certaines conditions. Pour les identifier, consultez la Base nationale des aides aux entreprises.</a:t>
            </a:r>
            <a:endParaRPr lang="fr-FR"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079652" y="916609"/>
            <a:ext cx="10146535" cy="563231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buFont typeface="Wingdings" pitchFamily="2" charset="2"/>
              <a:buChar char="q"/>
            </a:pPr>
            <a:r>
              <a:rPr lang="fr-FR" sz="2000" dirty="0" smtClean="0">
                <a:solidFill>
                  <a:schemeClr val="dk1"/>
                </a:solidFill>
                <a:latin typeface="Arial" pitchFamily="34" charset="0"/>
                <a:ea typeface="Verdana" pitchFamily="34" charset="0"/>
                <a:cs typeface="Verdana" pitchFamily="34" charset="0"/>
              </a:rPr>
              <a:t> </a:t>
            </a:r>
            <a:r>
              <a:rPr lang="fr-FR" sz="2000" b="1" dirty="0" smtClean="0">
                <a:solidFill>
                  <a:schemeClr val="accent6">
                    <a:lumMod val="75000"/>
                  </a:schemeClr>
                </a:solidFill>
                <a:latin typeface="Arial" pitchFamily="34" charset="0"/>
                <a:ea typeface="Verdana" pitchFamily="34" charset="0"/>
                <a:cs typeface="Verdana" pitchFamily="34" charset="0"/>
              </a:rPr>
              <a:t>Ouvrez le capital de votre entreprise à des investisseurs</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Ce type de financement des fonds propres ne vous concerne que si vous créez une société. Cela consiste à rechercher des personnes ou institutions susceptibles d’investir dans votre entreprise.</a:t>
            </a:r>
          </a:p>
          <a:p>
            <a:pPr algn="just"/>
            <a:endParaRPr lang="fr-FR" sz="8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Qui sont ces investisseurs ? Des particuliers, des clubs, des plateformes de </a:t>
            </a:r>
            <a:r>
              <a:rPr lang="fr-FR" sz="2000" dirty="0" err="1" smtClean="0">
                <a:solidFill>
                  <a:schemeClr val="dk1"/>
                </a:solidFill>
                <a:latin typeface="Arial" pitchFamily="34" charset="0"/>
                <a:ea typeface="Verdana" pitchFamily="34" charset="0"/>
                <a:cs typeface="Verdana" pitchFamily="34" charset="0"/>
              </a:rPr>
              <a:t>crowdequity</a:t>
            </a:r>
            <a:r>
              <a:rPr lang="fr-FR" sz="2000" dirty="0" smtClean="0">
                <a:solidFill>
                  <a:schemeClr val="dk1"/>
                </a:solidFill>
                <a:latin typeface="Arial" pitchFamily="34" charset="0"/>
                <a:ea typeface="Verdana" pitchFamily="34" charset="0"/>
                <a:cs typeface="Verdana" pitchFamily="34" charset="0"/>
              </a:rPr>
              <a:t> (financement participatif) et, pour les entreprises innovantes à forte croissance, des business </a:t>
            </a:r>
            <a:r>
              <a:rPr lang="fr-FR" sz="2000" dirty="0" err="1" smtClean="0">
                <a:solidFill>
                  <a:schemeClr val="dk1"/>
                </a:solidFill>
                <a:latin typeface="Arial" pitchFamily="34" charset="0"/>
                <a:ea typeface="Verdana" pitchFamily="34" charset="0"/>
                <a:cs typeface="Verdana" pitchFamily="34" charset="0"/>
              </a:rPr>
              <a:t>angels</a:t>
            </a:r>
            <a:r>
              <a:rPr lang="fr-FR" sz="2000" dirty="0" smtClean="0">
                <a:solidFill>
                  <a:schemeClr val="dk1"/>
                </a:solidFill>
                <a:latin typeface="Arial" pitchFamily="34" charset="0"/>
                <a:ea typeface="Verdana" pitchFamily="34" charset="0"/>
                <a:cs typeface="Verdana" pitchFamily="34" charset="0"/>
              </a:rPr>
              <a:t> ou encore des fonds d’investissement…</a:t>
            </a:r>
          </a:p>
          <a:p>
            <a:pPr algn="just"/>
            <a:endParaRPr lang="fr-FR" sz="2000" dirty="0" smtClean="0">
              <a:latin typeface="Arial" pitchFamily="34" charset="0"/>
              <a:ea typeface="Verdana" pitchFamily="34" charset="0"/>
              <a:cs typeface="Verdana" pitchFamily="34" charset="0"/>
            </a:endParaRPr>
          </a:p>
          <a:p>
            <a:pPr>
              <a:buFont typeface="Wingdings" pitchFamily="2" charset="2"/>
              <a:buChar char="q"/>
            </a:pPr>
            <a:r>
              <a:rPr lang="fr-FR" sz="2000" b="1" dirty="0" smtClean="0">
                <a:solidFill>
                  <a:schemeClr val="accent6">
                    <a:lumMod val="75000"/>
                  </a:schemeClr>
                </a:solidFill>
                <a:latin typeface="Arial" pitchFamily="34" charset="0"/>
                <a:ea typeface="Verdana" pitchFamily="34" charset="0"/>
                <a:cs typeface="Verdana" pitchFamily="34" charset="0"/>
              </a:rPr>
              <a:t> Sollicitez un ou plusieurs emprunts</a:t>
            </a:r>
          </a:p>
          <a:p>
            <a:pPr>
              <a:buFont typeface="Wingdings" pitchFamily="2" charset="2"/>
              <a:buChar char="q"/>
            </a:pPr>
            <a:endParaRPr lang="fr-FR" sz="2000" b="1" dirty="0" smtClean="0">
              <a:solidFill>
                <a:schemeClr val="accent6">
                  <a:lumMod val="75000"/>
                </a:schemeClr>
              </a:solidFill>
              <a:latin typeface="Arial" pitchFamily="34" charset="0"/>
              <a:ea typeface="Verdana" pitchFamily="34" charset="0"/>
              <a:cs typeface="Verdana" pitchFamily="34" charset="0"/>
            </a:endParaRPr>
          </a:p>
          <a:p>
            <a:pPr algn="just"/>
            <a:r>
              <a:rPr lang="fr-FR" sz="2000" dirty="0" smtClean="0">
                <a:latin typeface="Arial" pitchFamily="34" charset="0"/>
                <a:ea typeface="Verdana" pitchFamily="34" charset="0"/>
                <a:cs typeface="Verdana" pitchFamily="34" charset="0"/>
              </a:rPr>
              <a:t>Pour compléter votre plan de financement, vous pourrez, en fonction du type de projet que vous créez, solliciter un emprunt auprès : d’une banque, à commencer par la vôtre, d’un financeur solidaire qui finance principalement les activités ayant une dimension écologique, sociale et culturelle, d’un organisme de </a:t>
            </a:r>
            <a:r>
              <a:rPr lang="fr-FR" sz="2000" dirty="0" err="1" smtClean="0">
                <a:latin typeface="Arial" pitchFamily="34" charset="0"/>
                <a:ea typeface="Verdana" pitchFamily="34" charset="0"/>
                <a:cs typeface="Verdana" pitchFamily="34" charset="0"/>
              </a:rPr>
              <a:t>micro-crédit</a:t>
            </a:r>
            <a:r>
              <a:rPr lang="fr-FR" sz="2000" dirty="0" smtClean="0">
                <a:latin typeface="Arial" pitchFamily="34" charset="0"/>
                <a:ea typeface="Verdana" pitchFamily="34" charset="0"/>
                <a:cs typeface="Verdana" pitchFamily="34" charset="0"/>
              </a:rPr>
              <a:t> comme l’</a:t>
            </a:r>
            <a:r>
              <a:rPr lang="fr-FR" sz="2000" dirty="0" err="1" smtClean="0">
                <a:latin typeface="Arial" pitchFamily="34" charset="0"/>
                <a:ea typeface="Verdana" pitchFamily="34" charset="0"/>
                <a:cs typeface="Verdana" pitchFamily="34" charset="0"/>
              </a:rPr>
              <a:t>Adie</a:t>
            </a:r>
            <a:r>
              <a:rPr lang="fr-FR" sz="2000" dirty="0" smtClean="0">
                <a:latin typeface="Arial" pitchFamily="34" charset="0"/>
                <a:ea typeface="Verdana" pitchFamily="34" charset="0"/>
                <a:cs typeface="Verdana" pitchFamily="34" charset="0"/>
              </a:rPr>
              <a:t>, qui s’adresse aux créateurs de petites entreprises exclus du système financier classique car ne présentant pas de garanties suffisantes ; </a:t>
            </a:r>
            <a:endParaRPr lang="fr-FR" sz="2000" dirty="0" smtClean="0">
              <a:solidFill>
                <a:schemeClr val="dk1"/>
              </a:solidFill>
              <a:latin typeface="Arial" pitchFamily="34" charset="0"/>
              <a:ea typeface="Verdana" pitchFamily="34" charset="0"/>
              <a:cs typeface="Verdana" pitchFamily="34" charset="0"/>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167787" y="1069196"/>
            <a:ext cx="10047384" cy="467820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Font typeface="Wingdings" pitchFamily="2" charset="2"/>
              <a:buChar char="q"/>
            </a:pPr>
            <a:r>
              <a:rPr lang="fr-FR" sz="2000" b="1" dirty="0" smtClean="0">
                <a:solidFill>
                  <a:schemeClr val="accent6">
                    <a:lumMod val="75000"/>
                  </a:schemeClr>
                </a:solidFill>
                <a:latin typeface="Arial" pitchFamily="34" charset="0"/>
                <a:ea typeface="Verdana" pitchFamily="34" charset="0"/>
                <a:cs typeface="Verdana" pitchFamily="34" charset="0"/>
              </a:rPr>
              <a:t> Mécanismes de financement des jeunes entrepreneur en Tunisie</a:t>
            </a:r>
          </a:p>
          <a:p>
            <a:endParaRPr lang="fr-FR" dirty="0" smtClean="0"/>
          </a:p>
          <a:p>
            <a:pPr algn="just"/>
            <a:r>
              <a:rPr lang="fr-FR" sz="2000" dirty="0" smtClean="0">
                <a:solidFill>
                  <a:schemeClr val="dk1"/>
                </a:solidFill>
                <a:latin typeface="Arial" pitchFamily="34" charset="0"/>
                <a:ea typeface="Verdana" pitchFamily="34" charset="0"/>
                <a:cs typeface="Verdana" pitchFamily="34" charset="0"/>
              </a:rPr>
              <a:t>Le financement des jeunes entrepreneurs en Tunisie repose sur plusieurs mécanismes et dispositifs mis en place par l'État, des institutions financières, ainsi que des organisations non gouvernementales. Voici quelques-uns des principaux mécanismes de financement disponibles :</a:t>
            </a:r>
          </a:p>
          <a:p>
            <a:pPr algn="just"/>
            <a:r>
              <a:rPr lang="fr-FR" sz="2000" dirty="0" smtClean="0">
                <a:solidFill>
                  <a:schemeClr val="dk1"/>
                </a:solidFill>
                <a:latin typeface="Arial" pitchFamily="34" charset="0"/>
                <a:ea typeface="Verdana" pitchFamily="34" charset="0"/>
                <a:cs typeface="Verdana" pitchFamily="34" charset="0"/>
              </a:rPr>
              <a:t/>
            </a:r>
            <a:br>
              <a:rPr lang="fr-FR" sz="2000" dirty="0" smtClean="0">
                <a:solidFill>
                  <a:schemeClr val="dk1"/>
                </a:solidFill>
                <a:latin typeface="Arial" pitchFamily="34" charset="0"/>
                <a:ea typeface="Verdana" pitchFamily="34" charset="0"/>
                <a:cs typeface="Verdana" pitchFamily="34" charset="0"/>
              </a:rPr>
            </a:br>
            <a:r>
              <a:rPr lang="fr-FR" sz="2000" dirty="0" smtClean="0">
                <a:solidFill>
                  <a:schemeClr val="dk1"/>
                </a:solidFill>
                <a:latin typeface="Arial" pitchFamily="34" charset="0"/>
                <a:ea typeface="Verdana" pitchFamily="34" charset="0"/>
                <a:cs typeface="Verdana" pitchFamily="34" charset="0"/>
              </a:rPr>
              <a:t>1. </a:t>
            </a:r>
            <a:r>
              <a:rPr lang="fr-FR" b="1" dirty="0" smtClean="0">
                <a:solidFill>
                  <a:schemeClr val="accent4">
                    <a:lumMod val="75000"/>
                  </a:schemeClr>
                </a:solidFill>
                <a:latin typeface="Arial" pitchFamily="34" charset="0"/>
                <a:ea typeface="Verdana" pitchFamily="34" charset="0"/>
                <a:cs typeface="Verdana" pitchFamily="34" charset="0"/>
              </a:rPr>
              <a:t>Fonds de soutien à l'entrepreneuriat</a:t>
            </a:r>
            <a:r>
              <a:rPr lang="fr-FR" sz="2000" dirty="0" smtClean="0">
                <a:solidFill>
                  <a:schemeClr val="dk1"/>
                </a:solidFill>
                <a:latin typeface="Arial" pitchFamily="34" charset="0"/>
                <a:ea typeface="Verdana" pitchFamily="34" charset="0"/>
                <a:cs typeface="Verdana" pitchFamily="34" charset="0"/>
              </a:rPr>
              <a:t> : Le gouvernement tunisien a mis en place des fonds spécifiques pour soutenir les jeunes entrepreneurs, tels que</a:t>
            </a:r>
            <a:br>
              <a:rPr lang="fr-FR" sz="2000" dirty="0" smtClean="0">
                <a:solidFill>
                  <a:schemeClr val="dk1"/>
                </a:solidFill>
                <a:latin typeface="Arial" pitchFamily="34" charset="0"/>
                <a:ea typeface="Verdana" pitchFamily="34" charset="0"/>
                <a:cs typeface="Verdana" pitchFamily="34" charset="0"/>
              </a:rPr>
            </a:br>
            <a:r>
              <a:rPr lang="fr-FR" sz="2000" dirty="0" smtClean="0">
                <a:solidFill>
                  <a:schemeClr val="dk1"/>
                </a:solidFill>
                <a:latin typeface="Arial" pitchFamily="34" charset="0"/>
                <a:ea typeface="Verdana" pitchFamily="34" charset="0"/>
                <a:cs typeface="Verdana" pitchFamily="34" charset="0"/>
              </a:rPr>
              <a:t>le Fonds de Promotion de l'Emploi des Jeunes (FPEJ) qui offre des subventions et des prêts à taux réduit.</a:t>
            </a:r>
          </a:p>
          <a:p>
            <a:pPr algn="just"/>
            <a:r>
              <a:rPr lang="fr-FR" sz="2000" dirty="0" smtClean="0">
                <a:solidFill>
                  <a:schemeClr val="dk1"/>
                </a:solidFill>
                <a:latin typeface="Arial" pitchFamily="34" charset="0"/>
                <a:ea typeface="Verdana" pitchFamily="34" charset="0"/>
                <a:cs typeface="Verdana" pitchFamily="34" charset="0"/>
              </a:rPr>
              <a:t/>
            </a:r>
            <a:br>
              <a:rPr lang="fr-FR" sz="2000" dirty="0" smtClean="0">
                <a:solidFill>
                  <a:schemeClr val="dk1"/>
                </a:solidFill>
                <a:latin typeface="Arial" pitchFamily="34" charset="0"/>
                <a:ea typeface="Verdana" pitchFamily="34" charset="0"/>
                <a:cs typeface="Verdana" pitchFamily="34" charset="0"/>
              </a:rPr>
            </a:br>
            <a:r>
              <a:rPr lang="fr-FR" sz="2000" dirty="0" smtClean="0">
                <a:solidFill>
                  <a:schemeClr val="dk1"/>
                </a:solidFill>
                <a:latin typeface="Arial" pitchFamily="34" charset="0"/>
                <a:ea typeface="Verdana" pitchFamily="34" charset="0"/>
                <a:cs typeface="Verdana" pitchFamily="34" charset="0"/>
              </a:rPr>
              <a:t>2. </a:t>
            </a:r>
            <a:r>
              <a:rPr lang="fr-FR" b="1" dirty="0" smtClean="0">
                <a:solidFill>
                  <a:schemeClr val="accent4">
                    <a:lumMod val="75000"/>
                  </a:schemeClr>
                </a:solidFill>
                <a:latin typeface="Arial" pitchFamily="34" charset="0"/>
                <a:ea typeface="Verdana" pitchFamily="34" charset="0"/>
                <a:cs typeface="Verdana" pitchFamily="34" charset="0"/>
              </a:rPr>
              <a:t>Banques et institutions financières </a:t>
            </a:r>
            <a:r>
              <a:rPr lang="fr-FR" sz="2000" dirty="0" smtClean="0">
                <a:solidFill>
                  <a:schemeClr val="dk1"/>
                </a:solidFill>
                <a:latin typeface="Arial" pitchFamily="34" charset="0"/>
                <a:ea typeface="Verdana" pitchFamily="34" charset="0"/>
                <a:cs typeface="Verdana" pitchFamily="34" charset="0"/>
              </a:rPr>
              <a:t>: Plusieurs banques tunisiennes proposent des produits financiers adaptés aux jeunes entrepreneurs, comme des prêts à</a:t>
            </a:r>
            <a:br>
              <a:rPr lang="fr-FR" sz="2000" dirty="0" smtClean="0">
                <a:solidFill>
                  <a:schemeClr val="dk1"/>
                </a:solidFill>
                <a:latin typeface="Arial" pitchFamily="34" charset="0"/>
                <a:ea typeface="Verdana" pitchFamily="34" charset="0"/>
                <a:cs typeface="Verdana" pitchFamily="34" charset="0"/>
              </a:rPr>
            </a:br>
            <a:r>
              <a:rPr lang="fr-FR" sz="2000" dirty="0" smtClean="0">
                <a:solidFill>
                  <a:schemeClr val="dk1"/>
                </a:solidFill>
                <a:latin typeface="Arial" pitchFamily="34" charset="0"/>
                <a:ea typeface="Verdana" pitchFamily="34" charset="0"/>
                <a:cs typeface="Verdana" pitchFamily="34" charset="0"/>
              </a:rPr>
              <a:t>taux préférentiels ou des lignes de crédit spécifiques pour les startups.</a:t>
            </a:r>
            <a:endParaRPr lang="fr-FR"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134738" y="948690"/>
            <a:ext cx="10069416" cy="507831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dirty="0" smtClean="0">
                <a:solidFill>
                  <a:schemeClr val="dk1"/>
                </a:solidFill>
                <a:latin typeface="Arial" pitchFamily="34" charset="0"/>
                <a:ea typeface="Verdana" pitchFamily="34" charset="0"/>
                <a:cs typeface="Verdana" pitchFamily="34" charset="0"/>
              </a:rPr>
              <a:t>3. </a:t>
            </a:r>
            <a:r>
              <a:rPr lang="fr-FR" b="1" dirty="0" smtClean="0">
                <a:solidFill>
                  <a:schemeClr val="accent4">
                    <a:lumMod val="75000"/>
                  </a:schemeClr>
                </a:solidFill>
                <a:latin typeface="Arial" pitchFamily="34" charset="0"/>
                <a:ea typeface="Verdana" pitchFamily="34" charset="0"/>
                <a:cs typeface="Verdana" pitchFamily="34" charset="0"/>
              </a:rPr>
              <a:t>Incubateurs et accélérateurs </a:t>
            </a:r>
            <a:r>
              <a:rPr lang="fr-FR" dirty="0" smtClean="0">
                <a:solidFill>
                  <a:schemeClr val="dk1"/>
                </a:solidFill>
                <a:latin typeface="Arial" pitchFamily="34" charset="0"/>
                <a:ea typeface="Verdana" pitchFamily="34" charset="0"/>
                <a:cs typeface="Verdana" pitchFamily="34" charset="0"/>
              </a:rPr>
              <a:t>: De nombreux incubateurs et accélérateurs d'entreprises en Tunisie offrent non seulement un accompagnement technique et stratégique,</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mais aussi des opportunités de financement, que ce soit par le biais de capital-risque ou de subventions.</a:t>
            </a:r>
          </a:p>
          <a:p>
            <a:pPr algn="just"/>
            <a:r>
              <a:rPr lang="fr-FR" dirty="0" smtClean="0">
                <a:solidFill>
                  <a:schemeClr val="dk1"/>
                </a:solidFill>
                <a:latin typeface="Arial" pitchFamily="34" charset="0"/>
                <a:ea typeface="Verdana" pitchFamily="34" charset="0"/>
                <a:cs typeface="Verdana" pitchFamily="34" charset="0"/>
              </a:rPr>
              <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4. </a:t>
            </a:r>
            <a:r>
              <a:rPr lang="fr-FR" b="1" dirty="0" err="1" smtClean="0">
                <a:solidFill>
                  <a:schemeClr val="accent4">
                    <a:lumMod val="75000"/>
                  </a:schemeClr>
                </a:solidFill>
                <a:latin typeface="Arial" pitchFamily="34" charset="0"/>
                <a:ea typeface="Verdana" pitchFamily="34" charset="0"/>
                <a:cs typeface="Verdana" pitchFamily="34" charset="0"/>
              </a:rPr>
              <a:t>Microfinance</a:t>
            </a:r>
            <a:r>
              <a:rPr lang="fr-FR" b="1" dirty="0" smtClean="0">
                <a:solidFill>
                  <a:schemeClr val="accent4">
                    <a:lumMod val="75000"/>
                  </a:schemeClr>
                </a:solidFill>
                <a:latin typeface="Arial" pitchFamily="34" charset="0"/>
                <a:ea typeface="Verdana" pitchFamily="34" charset="0"/>
                <a:cs typeface="Verdana" pitchFamily="34" charset="0"/>
              </a:rPr>
              <a:t> </a:t>
            </a:r>
            <a:r>
              <a:rPr lang="fr-FR" dirty="0" smtClean="0">
                <a:solidFill>
                  <a:schemeClr val="dk1"/>
                </a:solidFill>
                <a:latin typeface="Arial" pitchFamily="34" charset="0"/>
                <a:ea typeface="Verdana" pitchFamily="34" charset="0"/>
                <a:cs typeface="Verdana" pitchFamily="34" charset="0"/>
              </a:rPr>
              <a:t>: Les institutions de </a:t>
            </a:r>
            <a:r>
              <a:rPr lang="fr-FR" dirty="0" err="1" smtClean="0">
                <a:solidFill>
                  <a:schemeClr val="dk1"/>
                </a:solidFill>
                <a:latin typeface="Arial" pitchFamily="34" charset="0"/>
                <a:ea typeface="Verdana" pitchFamily="34" charset="0"/>
                <a:cs typeface="Verdana" pitchFamily="34" charset="0"/>
              </a:rPr>
              <a:t>microfinance</a:t>
            </a:r>
            <a:r>
              <a:rPr lang="fr-FR" dirty="0" smtClean="0">
                <a:solidFill>
                  <a:schemeClr val="dk1"/>
                </a:solidFill>
                <a:latin typeface="Arial" pitchFamily="34" charset="0"/>
                <a:ea typeface="Verdana" pitchFamily="34" charset="0"/>
                <a:cs typeface="Verdana" pitchFamily="34" charset="0"/>
              </a:rPr>
              <a:t> jouent un rôle crucial en offrant des prêts de petite taille aux jeunes entrepreneurs qui n'ont pas accès</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aux financements traditionnels.</a:t>
            </a:r>
          </a:p>
          <a:p>
            <a:pPr algn="just"/>
            <a:r>
              <a:rPr lang="fr-FR" dirty="0" smtClean="0">
                <a:solidFill>
                  <a:schemeClr val="dk1"/>
                </a:solidFill>
                <a:latin typeface="Arial" pitchFamily="34" charset="0"/>
                <a:ea typeface="Verdana" pitchFamily="34" charset="0"/>
                <a:cs typeface="Verdana" pitchFamily="34" charset="0"/>
              </a:rPr>
              <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5. </a:t>
            </a:r>
            <a:r>
              <a:rPr lang="fr-FR" b="1" dirty="0" smtClean="0">
                <a:solidFill>
                  <a:schemeClr val="accent4">
                    <a:lumMod val="75000"/>
                  </a:schemeClr>
                </a:solidFill>
                <a:latin typeface="Arial" pitchFamily="34" charset="0"/>
                <a:ea typeface="Verdana" pitchFamily="34" charset="0"/>
                <a:cs typeface="Verdana" pitchFamily="34" charset="0"/>
              </a:rPr>
              <a:t>Programmes de formation et d'accompagnement </a:t>
            </a:r>
            <a:r>
              <a:rPr lang="fr-FR" dirty="0" smtClean="0">
                <a:solidFill>
                  <a:schemeClr val="dk1"/>
                </a:solidFill>
                <a:latin typeface="Arial" pitchFamily="34" charset="0"/>
                <a:ea typeface="Verdana" pitchFamily="34" charset="0"/>
                <a:cs typeface="Verdana" pitchFamily="34" charset="0"/>
              </a:rPr>
              <a:t>: Certains programmes, souvent soutenus par des ONG ou des organismes internationaux, offrent des formations</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en gestion d'entreprise et en élaboration de plans d'affaires, ce qui peut faciliter l'accès à des financements.</a:t>
            </a:r>
          </a:p>
          <a:p>
            <a:pPr algn="just"/>
            <a:r>
              <a:rPr lang="fr-FR" dirty="0" smtClean="0">
                <a:solidFill>
                  <a:schemeClr val="dk1"/>
                </a:solidFill>
                <a:latin typeface="Arial" pitchFamily="34" charset="0"/>
                <a:ea typeface="Verdana" pitchFamily="34" charset="0"/>
                <a:cs typeface="Verdana" pitchFamily="34" charset="0"/>
              </a:rPr>
              <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6. </a:t>
            </a:r>
            <a:r>
              <a:rPr lang="fr-FR" b="1" dirty="0" smtClean="0">
                <a:solidFill>
                  <a:schemeClr val="accent4">
                    <a:lumMod val="75000"/>
                  </a:schemeClr>
                </a:solidFill>
                <a:latin typeface="Arial" pitchFamily="34" charset="0"/>
                <a:ea typeface="Verdana" pitchFamily="34" charset="0"/>
                <a:cs typeface="Verdana" pitchFamily="34" charset="0"/>
              </a:rPr>
              <a:t>Investisseurs privés et business </a:t>
            </a:r>
            <a:r>
              <a:rPr lang="fr-FR" b="1" dirty="0" err="1" smtClean="0">
                <a:solidFill>
                  <a:schemeClr val="accent4">
                    <a:lumMod val="75000"/>
                  </a:schemeClr>
                </a:solidFill>
                <a:latin typeface="Arial" pitchFamily="34" charset="0"/>
                <a:ea typeface="Verdana" pitchFamily="34" charset="0"/>
                <a:cs typeface="Verdana" pitchFamily="34" charset="0"/>
              </a:rPr>
              <a:t>angels</a:t>
            </a:r>
            <a:r>
              <a:rPr lang="fr-FR" b="1" dirty="0" smtClean="0">
                <a:solidFill>
                  <a:schemeClr val="accent4">
                    <a:lumMod val="75000"/>
                  </a:schemeClr>
                </a:solidFill>
                <a:latin typeface="Arial" pitchFamily="34" charset="0"/>
                <a:ea typeface="Verdana" pitchFamily="34" charset="0"/>
                <a:cs typeface="Verdana" pitchFamily="34" charset="0"/>
              </a:rPr>
              <a:t> </a:t>
            </a:r>
            <a:r>
              <a:rPr lang="fr-FR" dirty="0" smtClean="0">
                <a:solidFill>
                  <a:schemeClr val="dk1"/>
                </a:solidFill>
                <a:latin typeface="Arial" pitchFamily="34" charset="0"/>
                <a:ea typeface="Verdana" pitchFamily="34" charset="0"/>
                <a:cs typeface="Verdana" pitchFamily="34" charset="0"/>
              </a:rPr>
              <a:t>: Les jeunes entrepreneurs peuvent également chercher des financements auprès d'investisseurs privés ou de business</a:t>
            </a:r>
            <a:br>
              <a:rPr lang="fr-FR" dirty="0" smtClean="0">
                <a:solidFill>
                  <a:schemeClr val="dk1"/>
                </a:solidFill>
                <a:latin typeface="Arial" pitchFamily="34" charset="0"/>
                <a:ea typeface="Verdana" pitchFamily="34" charset="0"/>
                <a:cs typeface="Verdana" pitchFamily="34" charset="0"/>
              </a:rPr>
            </a:br>
            <a:r>
              <a:rPr lang="fr-FR" dirty="0" err="1" smtClean="0">
                <a:solidFill>
                  <a:schemeClr val="dk1"/>
                </a:solidFill>
                <a:latin typeface="Arial" pitchFamily="34" charset="0"/>
                <a:ea typeface="Verdana" pitchFamily="34" charset="0"/>
                <a:cs typeface="Verdana" pitchFamily="34" charset="0"/>
              </a:rPr>
              <a:t>angels</a:t>
            </a:r>
            <a:r>
              <a:rPr lang="fr-FR" dirty="0" smtClean="0">
                <a:solidFill>
                  <a:schemeClr val="dk1"/>
                </a:solidFill>
                <a:latin typeface="Arial" pitchFamily="34" charset="0"/>
                <a:ea typeface="Verdana" pitchFamily="34" charset="0"/>
                <a:cs typeface="Verdana" pitchFamily="34" charset="0"/>
              </a:rPr>
              <a:t> qui sont intéressés par le soutien à des projets innovants.</a:t>
            </a:r>
          </a:p>
          <a:p>
            <a:pPr algn="just"/>
            <a:endParaRPr lang="fr-FR"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145753" y="1305342"/>
            <a:ext cx="9970265" cy="369331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dirty="0" smtClean="0">
                <a:solidFill>
                  <a:schemeClr val="dk1"/>
                </a:solidFill>
                <a:latin typeface="Arial" pitchFamily="34" charset="0"/>
                <a:ea typeface="Verdana" pitchFamily="34" charset="0"/>
                <a:cs typeface="Verdana" pitchFamily="34" charset="0"/>
              </a:rPr>
              <a:t>7. </a:t>
            </a:r>
            <a:r>
              <a:rPr lang="fr-FR" b="1" dirty="0" err="1" smtClean="0">
                <a:solidFill>
                  <a:schemeClr val="accent4">
                    <a:lumMod val="75000"/>
                  </a:schemeClr>
                </a:solidFill>
                <a:latin typeface="Arial" pitchFamily="34" charset="0"/>
                <a:ea typeface="Verdana" pitchFamily="34" charset="0"/>
                <a:cs typeface="Verdana" pitchFamily="34" charset="0"/>
              </a:rPr>
              <a:t>Crowdfunding</a:t>
            </a:r>
            <a:r>
              <a:rPr lang="fr-FR" b="1" dirty="0" smtClean="0">
                <a:solidFill>
                  <a:schemeClr val="accent4">
                    <a:lumMod val="75000"/>
                  </a:schemeClr>
                </a:solidFill>
                <a:latin typeface="Arial" pitchFamily="34" charset="0"/>
                <a:ea typeface="Verdana" pitchFamily="34" charset="0"/>
                <a:cs typeface="Verdana" pitchFamily="34" charset="0"/>
              </a:rPr>
              <a:t> </a:t>
            </a:r>
            <a:r>
              <a:rPr lang="fr-FR" dirty="0" smtClean="0">
                <a:solidFill>
                  <a:schemeClr val="dk1"/>
                </a:solidFill>
                <a:latin typeface="Arial" pitchFamily="34" charset="0"/>
                <a:ea typeface="Verdana" pitchFamily="34" charset="0"/>
                <a:cs typeface="Verdana" pitchFamily="34" charset="0"/>
              </a:rPr>
              <a:t>: Le financement participatif est une option de plus en plus populaire, permettant aux entrepreneurs de lever des fonds via des plateformes</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en ligne en échange de produits, de services ou d'une participation au capital.</a:t>
            </a:r>
          </a:p>
          <a:p>
            <a:pPr algn="just"/>
            <a:r>
              <a:rPr lang="fr-FR" dirty="0" smtClean="0">
                <a:solidFill>
                  <a:schemeClr val="dk1"/>
                </a:solidFill>
                <a:latin typeface="Arial" pitchFamily="34" charset="0"/>
                <a:ea typeface="Verdana" pitchFamily="34" charset="0"/>
                <a:cs typeface="Verdana" pitchFamily="34" charset="0"/>
              </a:rPr>
              <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8. </a:t>
            </a:r>
            <a:r>
              <a:rPr lang="fr-FR" b="1" dirty="0" smtClean="0">
                <a:solidFill>
                  <a:schemeClr val="accent4">
                    <a:lumMod val="75000"/>
                  </a:schemeClr>
                </a:solidFill>
                <a:latin typeface="Arial" pitchFamily="34" charset="0"/>
                <a:ea typeface="Verdana" pitchFamily="34" charset="0"/>
                <a:cs typeface="Verdana" pitchFamily="34" charset="0"/>
              </a:rPr>
              <a:t>Partenariats avec des entreprises </a:t>
            </a:r>
            <a:r>
              <a:rPr lang="fr-FR" dirty="0" smtClean="0">
                <a:solidFill>
                  <a:schemeClr val="dk1"/>
                </a:solidFill>
                <a:latin typeface="Arial" pitchFamily="34" charset="0"/>
                <a:ea typeface="Verdana" pitchFamily="34" charset="0"/>
                <a:cs typeface="Verdana" pitchFamily="34" charset="0"/>
              </a:rPr>
              <a:t>: Certaines grandes entreprises mettent en place des programmes de partenariat ou de sponsoring pour soutenir les jeunes</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entrepreneurs, en leur offrant des ressources financières ou techniques.</a:t>
            </a:r>
          </a:p>
          <a:p>
            <a:pPr algn="just"/>
            <a:r>
              <a:rPr lang="fr-FR" dirty="0" smtClean="0">
                <a:solidFill>
                  <a:schemeClr val="dk1"/>
                </a:solidFill>
                <a:latin typeface="Arial" pitchFamily="34" charset="0"/>
                <a:ea typeface="Verdana" pitchFamily="34" charset="0"/>
                <a:cs typeface="Verdana" pitchFamily="34" charset="0"/>
              </a:rPr>
              <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
            </a:r>
            <a:br>
              <a:rPr lang="fr-FR" dirty="0" smtClean="0">
                <a:solidFill>
                  <a:schemeClr val="dk1"/>
                </a:solidFill>
                <a:latin typeface="Arial" pitchFamily="34" charset="0"/>
                <a:ea typeface="Verdana" pitchFamily="34" charset="0"/>
                <a:cs typeface="Verdana" pitchFamily="34" charset="0"/>
              </a:rPr>
            </a:br>
            <a:r>
              <a:rPr lang="fr-FR" b="1" dirty="0" smtClean="0">
                <a:solidFill>
                  <a:schemeClr val="dk1"/>
                </a:solidFill>
                <a:latin typeface="Arial" pitchFamily="34" charset="0"/>
                <a:ea typeface="Verdana" pitchFamily="34" charset="0"/>
                <a:cs typeface="Verdana" pitchFamily="34" charset="0"/>
              </a:rPr>
              <a:t>Ces mécanismes visent à encourager l'initiative entrepreneuriale chez les jeunes et à stimuler la création d'emplois en Tunisie</a:t>
            </a:r>
          </a:p>
          <a:p>
            <a:pPr algn="just"/>
            <a:endParaRPr lang="fr-FR" dirty="0" smtClean="0">
              <a:solidFill>
                <a:schemeClr val="dk1"/>
              </a:solidFill>
              <a:latin typeface="Arial" pitchFamily="34" charset="0"/>
              <a:ea typeface="Verdana" pitchFamily="34" charset="0"/>
              <a:cs typeface="Verdana" pitchFamily="34" charset="0"/>
            </a:endParaRPr>
          </a:p>
          <a:p>
            <a:pPr algn="just"/>
            <a:endParaRPr lang="fr-FR" dirty="0" smtClean="0">
              <a:solidFill>
                <a:schemeClr val="dk1"/>
              </a:solidFill>
              <a:latin typeface="Arial" pitchFamily="34" charset="0"/>
              <a:ea typeface="Verdana" pitchFamily="34" charset="0"/>
              <a:cs typeface="Verdana" pitchFamily="34" charset="0"/>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2411393" y="1080266"/>
            <a:ext cx="7691074" cy="400110"/>
          </a:xfrm>
          <a:prstGeom prst="rect">
            <a:avLst/>
          </a:prstGeom>
        </p:spPr>
        <p:txBody>
          <a:bodyPr wrap="square">
            <a:spAutoFit/>
          </a:bodyPr>
          <a:lstStyle/>
          <a:p>
            <a:r>
              <a:rPr lang="fr-FR" sz="2000" b="1" dirty="0" smtClean="0">
                <a:solidFill>
                  <a:srgbClr val="C00000"/>
                </a:solidFill>
              </a:rPr>
              <a:t>C- OUTILS DE PLANIFICATION POUR LA CREATION DE L’ENTREPRISE</a:t>
            </a:r>
            <a:endParaRPr lang="fr-FR" sz="2000" b="1" dirty="0">
              <a:solidFill>
                <a:srgbClr val="C00000"/>
              </a:solidFill>
            </a:endParaRPr>
          </a:p>
        </p:txBody>
      </p:sp>
      <p:sp>
        <p:nvSpPr>
          <p:cNvPr id="7" name="Étiquette 6"/>
          <p:cNvSpPr/>
          <p:nvPr/>
        </p:nvSpPr>
        <p:spPr>
          <a:xfrm>
            <a:off x="1242079" y="2047875"/>
            <a:ext cx="3049450" cy="3466505"/>
          </a:xfrm>
          <a:prstGeom prst="plaque">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lvl="0"/>
            <a:endParaRPr lang="fr-FR" b="1" dirty="0" smtClean="0"/>
          </a:p>
          <a:p>
            <a:pPr lvl="0"/>
            <a:endParaRPr lang="fr-FR" b="1" dirty="0" smtClean="0"/>
          </a:p>
          <a:p>
            <a:pPr lvl="0"/>
            <a:endParaRPr lang="fr-FR" b="1" dirty="0" smtClean="0"/>
          </a:p>
          <a:p>
            <a:pPr lvl="0"/>
            <a:endParaRPr lang="fr-FR" b="1" dirty="0" smtClean="0"/>
          </a:p>
          <a:p>
            <a:pPr lvl="0" algn="ctr"/>
            <a:r>
              <a:rPr lang="fr-FR" sz="2400" b="1" dirty="0" smtClean="0"/>
              <a:t>1</a:t>
            </a:r>
          </a:p>
          <a:p>
            <a:pPr lvl="0" algn="ctr"/>
            <a:r>
              <a:rPr lang="fr-FR" sz="2400" b="1" dirty="0" smtClean="0"/>
              <a:t>La matrice SWOT</a:t>
            </a:r>
          </a:p>
          <a:p>
            <a:pPr lvl="0"/>
            <a:endParaRPr lang="fr-FR" b="1" dirty="0" smtClean="0"/>
          </a:p>
          <a:p>
            <a:pPr lvl="0"/>
            <a:endParaRPr lang="fr-FR" b="1" dirty="0" smtClean="0"/>
          </a:p>
          <a:p>
            <a:pPr lvl="0"/>
            <a:endParaRPr lang="fr-FR" b="1" dirty="0"/>
          </a:p>
        </p:txBody>
      </p:sp>
      <p:sp>
        <p:nvSpPr>
          <p:cNvPr id="8" name="Étiquette 7"/>
          <p:cNvSpPr/>
          <p:nvPr/>
        </p:nvSpPr>
        <p:spPr>
          <a:xfrm>
            <a:off x="4783305" y="1943099"/>
            <a:ext cx="2972569" cy="3881914"/>
          </a:xfrm>
          <a:prstGeom prst="plaque">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lvl="0"/>
            <a:endParaRPr lang="fr-FR" b="1" dirty="0" smtClean="0"/>
          </a:p>
          <a:p>
            <a:pPr lvl="0"/>
            <a:endParaRPr lang="fr-FR" b="1" dirty="0" smtClean="0"/>
          </a:p>
          <a:p>
            <a:pPr lvl="0"/>
            <a:endParaRPr lang="fr-FR" b="1" dirty="0" smtClean="0"/>
          </a:p>
          <a:p>
            <a:pPr lvl="0" algn="ctr"/>
            <a:endParaRPr lang="fr-FR" sz="1600" b="1" dirty="0" smtClean="0"/>
          </a:p>
          <a:p>
            <a:pPr lvl="0" algn="ctr"/>
            <a:r>
              <a:rPr lang="fr-FR" sz="2400" b="1" dirty="0" smtClean="0"/>
              <a:t>2</a:t>
            </a:r>
          </a:p>
          <a:p>
            <a:pPr lvl="0" algn="ctr"/>
            <a:r>
              <a:rPr lang="fr-FR" sz="2400" b="1" dirty="0" smtClean="0"/>
              <a:t>Le business model canevas</a:t>
            </a:r>
          </a:p>
          <a:p>
            <a:pPr lvl="0" algn="ctr"/>
            <a:r>
              <a:rPr lang="fr-FR" sz="2400" b="1" dirty="0" smtClean="0"/>
              <a:t>BMC</a:t>
            </a:r>
          </a:p>
          <a:p>
            <a:pPr lvl="0" algn="ctr"/>
            <a:endParaRPr lang="fr-FR" b="1" dirty="0" smtClean="0"/>
          </a:p>
          <a:p>
            <a:pPr lvl="0"/>
            <a:endParaRPr lang="fr-FR" b="1" dirty="0" smtClean="0"/>
          </a:p>
        </p:txBody>
      </p:sp>
      <p:sp>
        <p:nvSpPr>
          <p:cNvPr id="9" name="Étiquette 8"/>
          <p:cNvSpPr/>
          <p:nvPr/>
        </p:nvSpPr>
        <p:spPr>
          <a:xfrm>
            <a:off x="7993044" y="1856209"/>
            <a:ext cx="2594165" cy="3636347"/>
          </a:xfrm>
          <a:prstGeom prst="plaque">
            <a:avLst/>
          </a:prstGeom>
        </p:spPr>
        <p:style>
          <a:lnRef idx="3">
            <a:schemeClr val="lt1"/>
          </a:lnRef>
          <a:fillRef idx="1">
            <a:schemeClr val="accent5"/>
          </a:fillRef>
          <a:effectRef idx="1">
            <a:schemeClr val="accent5"/>
          </a:effectRef>
          <a:fontRef idx="minor">
            <a:schemeClr val="lt1"/>
          </a:fontRef>
        </p:style>
        <p:txBody>
          <a:bodyPr wrap="square">
            <a:spAutoFit/>
          </a:bodyPr>
          <a:lstStyle/>
          <a:p>
            <a:pPr lvl="0" algn="ctr"/>
            <a:endParaRPr lang="fr-FR" sz="2400" b="1" dirty="0" smtClean="0"/>
          </a:p>
          <a:p>
            <a:pPr lvl="0" algn="ctr"/>
            <a:endParaRPr lang="fr-FR" sz="2400" b="1" dirty="0" smtClean="0"/>
          </a:p>
          <a:p>
            <a:pPr lvl="0" algn="ctr"/>
            <a:endParaRPr lang="fr-FR" sz="2400" b="1" dirty="0" smtClean="0"/>
          </a:p>
          <a:p>
            <a:pPr lvl="0" algn="ctr"/>
            <a:r>
              <a:rPr lang="fr-FR" sz="2400" b="1" dirty="0" smtClean="0"/>
              <a:t>3</a:t>
            </a:r>
          </a:p>
          <a:p>
            <a:pPr lvl="0" algn="ctr"/>
            <a:r>
              <a:rPr lang="fr-FR" sz="2400" b="1" dirty="0" smtClean="0"/>
              <a:t>Le business plan</a:t>
            </a:r>
          </a:p>
          <a:p>
            <a:pPr lvl="0" algn="ctr"/>
            <a:endParaRPr lang="fr-FR" sz="2400" b="1" dirty="0" smtClean="0"/>
          </a:p>
          <a:p>
            <a:pPr lvl="0" algn="ctr"/>
            <a:endParaRPr lang="fr-FR" sz="2400" b="1" dirty="0" smtClean="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156771" y="1720850"/>
            <a:ext cx="9970265" cy="286232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dirty="0" smtClean="0">
                <a:solidFill>
                  <a:schemeClr val="dk1"/>
                </a:solidFill>
                <a:latin typeface="Arial" pitchFamily="34" charset="0"/>
                <a:ea typeface="Verdana" pitchFamily="34" charset="0"/>
                <a:cs typeface="Verdana" pitchFamily="34" charset="0"/>
              </a:rPr>
              <a:t>La création d'une entreprise nécessite une planification rigoureuse et l'utilisation d'outils adaptés pour maximiser les chances de succès : La matrice SWOT, le business model </a:t>
            </a:r>
            <a:r>
              <a:rPr lang="fr-FR" sz="2000" dirty="0" err="1" smtClean="0">
                <a:solidFill>
                  <a:schemeClr val="dk1"/>
                </a:solidFill>
                <a:latin typeface="Arial" pitchFamily="34" charset="0"/>
                <a:ea typeface="Verdana" pitchFamily="34" charset="0"/>
                <a:cs typeface="Verdana" pitchFamily="34" charset="0"/>
              </a:rPr>
              <a:t>canvas</a:t>
            </a:r>
            <a:r>
              <a:rPr lang="fr-FR" sz="2000" dirty="0" smtClean="0">
                <a:solidFill>
                  <a:schemeClr val="dk1"/>
                </a:solidFill>
                <a:latin typeface="Arial" pitchFamily="34" charset="0"/>
                <a:ea typeface="Verdana" pitchFamily="34" charset="0"/>
                <a:cs typeface="Verdana" pitchFamily="34" charset="0"/>
              </a:rPr>
              <a:t> et le business plan.</a:t>
            </a:r>
          </a:p>
          <a:p>
            <a:pPr algn="just"/>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Ces outils de planification sont complémentaires et peuvent être utilisés ensemble pour élaborer une stratégie solide pour la création d'entreprise. La matrice</a:t>
            </a:r>
            <a:br>
              <a:rPr lang="fr-FR" sz="2000" dirty="0" smtClean="0">
                <a:solidFill>
                  <a:schemeClr val="dk1"/>
                </a:solidFill>
                <a:latin typeface="Arial" pitchFamily="34" charset="0"/>
                <a:ea typeface="Verdana" pitchFamily="34" charset="0"/>
                <a:cs typeface="Verdana" pitchFamily="34" charset="0"/>
              </a:rPr>
            </a:br>
            <a:r>
              <a:rPr lang="fr-FR" sz="2000" dirty="0" smtClean="0">
                <a:solidFill>
                  <a:schemeClr val="dk1"/>
                </a:solidFill>
                <a:latin typeface="Arial" pitchFamily="34" charset="0"/>
                <a:ea typeface="Verdana" pitchFamily="34" charset="0"/>
                <a:cs typeface="Verdana" pitchFamily="34" charset="0"/>
              </a:rPr>
              <a:t>SWOT aide à comprendre le contexte interne et externe, le Business Model </a:t>
            </a:r>
            <a:r>
              <a:rPr lang="fr-FR" sz="2000" dirty="0" err="1" smtClean="0">
                <a:solidFill>
                  <a:schemeClr val="dk1"/>
                </a:solidFill>
                <a:latin typeface="Arial" pitchFamily="34" charset="0"/>
                <a:ea typeface="Verdana" pitchFamily="34" charset="0"/>
                <a:cs typeface="Verdana" pitchFamily="34" charset="0"/>
              </a:rPr>
              <a:t>Canvas</a:t>
            </a:r>
            <a:r>
              <a:rPr lang="fr-FR" sz="2000" dirty="0" smtClean="0">
                <a:solidFill>
                  <a:schemeClr val="dk1"/>
                </a:solidFill>
                <a:latin typeface="Arial" pitchFamily="34" charset="0"/>
                <a:ea typeface="Verdana" pitchFamily="34" charset="0"/>
                <a:cs typeface="Verdana" pitchFamily="34" charset="0"/>
              </a:rPr>
              <a:t> permet de visualiser le modèle économique, et le business plan fournit une feuille</a:t>
            </a:r>
            <a:br>
              <a:rPr lang="fr-FR" sz="2000" dirty="0" smtClean="0">
                <a:solidFill>
                  <a:schemeClr val="dk1"/>
                </a:solidFill>
                <a:latin typeface="Arial" pitchFamily="34" charset="0"/>
                <a:ea typeface="Verdana" pitchFamily="34" charset="0"/>
                <a:cs typeface="Verdana" pitchFamily="34" charset="0"/>
              </a:rPr>
            </a:br>
            <a:r>
              <a:rPr lang="fr-FR" sz="2000" dirty="0" smtClean="0">
                <a:solidFill>
                  <a:schemeClr val="dk1"/>
                </a:solidFill>
                <a:latin typeface="Arial" pitchFamily="34" charset="0"/>
                <a:ea typeface="Verdana" pitchFamily="34" charset="0"/>
                <a:cs typeface="Verdana" pitchFamily="34" charset="0"/>
              </a:rPr>
              <a:t>de route détaillée pour la mise en œuvre du projet.</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ogner un rectangle avec un coin du même côté 2"/>
          <p:cNvSpPr/>
          <p:nvPr/>
        </p:nvSpPr>
        <p:spPr>
          <a:xfrm>
            <a:off x="1553378" y="1232968"/>
            <a:ext cx="4516916" cy="434935"/>
          </a:xfrm>
          <a:prstGeom prst="snip2SameRect">
            <a:avLst/>
          </a:prstGeom>
        </p:spPr>
        <p:style>
          <a:lnRef idx="2">
            <a:schemeClr val="dk1"/>
          </a:lnRef>
          <a:fillRef idx="1">
            <a:schemeClr val="lt1"/>
          </a:fillRef>
          <a:effectRef idx="0">
            <a:schemeClr val="dk1"/>
          </a:effectRef>
          <a:fontRef idx="minor">
            <a:schemeClr val="dk1"/>
          </a:fontRef>
        </p:style>
        <p:txBody>
          <a:bodyPr wrap="square">
            <a:spAutoFit/>
          </a:bodyPr>
          <a:lstStyle/>
          <a:p>
            <a:pPr lvl="0" algn="ctr"/>
            <a:r>
              <a:rPr lang="fr-FR" sz="2000" b="1" dirty="0" smtClean="0">
                <a:solidFill>
                  <a:srgbClr val="C00000"/>
                </a:solidFill>
              </a:rPr>
              <a:t>A- LA MATRICE SWOT</a:t>
            </a:r>
          </a:p>
        </p:txBody>
      </p:sp>
      <p:sp>
        <p:nvSpPr>
          <p:cNvPr id="4" name="Rectangle 14"/>
          <p:cNvSpPr>
            <a:spLocks noChangeArrowheads="1"/>
          </p:cNvSpPr>
          <p:nvPr/>
        </p:nvSpPr>
        <p:spPr bwMode="auto">
          <a:xfrm>
            <a:off x="952464" y="2000240"/>
            <a:ext cx="10072758" cy="1323439"/>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tab pos="260350" algn="l"/>
              </a:tabLst>
            </a:pPr>
            <a:r>
              <a:rPr lang="fr-FR" sz="2000" dirty="0" smtClean="0">
                <a:latin typeface="Arial" pitchFamily="34" charset="0"/>
                <a:ea typeface="Verdana" pitchFamily="34" charset="0"/>
                <a:cs typeface="Verdana" pitchFamily="34" charset="0"/>
              </a:rPr>
              <a:t>La matrice </a:t>
            </a:r>
            <a:r>
              <a:rPr kumimoji="0" lang="fr-FR" sz="2000" b="1" i="0" u="none" strike="noStrike" cap="none" normalizeH="0" baseline="0" dirty="0" smtClean="0">
                <a:ln>
                  <a:noFill/>
                </a:ln>
                <a:solidFill>
                  <a:schemeClr val="tx1"/>
                </a:solidFill>
                <a:effectLst/>
                <a:latin typeface="Tahoma" pitchFamily="34" charset="0"/>
                <a:ea typeface="Verdana" pitchFamily="34" charset="0"/>
                <a:cs typeface="Tahoma" pitchFamily="34" charset="0"/>
              </a:rPr>
              <a:t>SWOT </a:t>
            </a:r>
            <a:r>
              <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est un </a:t>
            </a:r>
            <a:r>
              <a:rPr kumimoji="0" lang="fr-FR" sz="2000" b="0" i="1" u="none" strike="noStrike" cap="none" normalizeH="0" baseline="0" dirty="0" smtClean="0">
                <a:ln>
                  <a:noFill/>
                </a:ln>
                <a:solidFill>
                  <a:schemeClr val="tx1"/>
                </a:solidFill>
                <a:effectLst/>
                <a:latin typeface="Arial" pitchFamily="34" charset="0"/>
                <a:ea typeface="Verdana" pitchFamily="34" charset="0"/>
                <a:cs typeface="Verdana" pitchFamily="34" charset="0"/>
              </a:rPr>
              <a:t>outil d'analyse stratégique </a:t>
            </a:r>
            <a:r>
              <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qui combine l'étude des </a:t>
            </a:r>
            <a:r>
              <a:rPr kumimoji="0" lang="fr-FR" sz="2000" b="0" i="0" u="none" strike="noStrike" cap="none" normalizeH="0" baseline="0" dirty="0" smtClean="0">
                <a:ln>
                  <a:noFill/>
                </a:ln>
                <a:solidFill>
                  <a:srgbClr val="34879F"/>
                </a:solidFill>
                <a:effectLst/>
                <a:latin typeface="Arial" pitchFamily="34" charset="0"/>
                <a:ea typeface="Verdana" pitchFamily="34" charset="0"/>
                <a:cs typeface="Verdana" pitchFamily="34" charset="0"/>
              </a:rPr>
              <a:t>forces </a:t>
            </a:r>
            <a:r>
              <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et des </a:t>
            </a:r>
            <a:r>
              <a:rPr kumimoji="0" lang="fr-FR" sz="2000" b="0" i="0" u="none" strike="noStrike" cap="none" normalizeH="0" baseline="0" dirty="0" smtClean="0">
                <a:ln>
                  <a:noFill/>
                </a:ln>
                <a:solidFill>
                  <a:srgbClr val="EF3E2B"/>
                </a:solidFill>
                <a:effectLst/>
                <a:latin typeface="Arial" pitchFamily="34" charset="0"/>
                <a:ea typeface="Verdana" pitchFamily="34" charset="0"/>
                <a:cs typeface="Verdana" pitchFamily="34" charset="0"/>
              </a:rPr>
              <a:t>faiblesses </a:t>
            </a:r>
            <a:r>
              <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issues du </a:t>
            </a:r>
            <a:r>
              <a:rPr kumimoji="0" lang="fr-FR" sz="2000" b="0" i="0" u="sng" strike="noStrike" cap="none" normalizeH="0" baseline="0" dirty="0" smtClean="0">
                <a:ln>
                  <a:noFill/>
                </a:ln>
                <a:solidFill>
                  <a:schemeClr val="tx1"/>
                </a:solidFill>
                <a:effectLst/>
                <a:latin typeface="Arial" pitchFamily="34" charset="0"/>
                <a:ea typeface="Verdana" pitchFamily="34" charset="0"/>
                <a:cs typeface="Verdana" pitchFamily="34" charset="0"/>
              </a:rPr>
              <a:t>diagnostic interne </a:t>
            </a:r>
            <a:r>
              <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de l’entreprise avec celle des </a:t>
            </a:r>
            <a:r>
              <a:rPr kumimoji="0" lang="fr-FR" sz="2000" b="0" i="0" u="none" strike="noStrike" cap="none" normalizeH="0" baseline="0" dirty="0" smtClean="0">
                <a:ln>
                  <a:noFill/>
                </a:ln>
                <a:solidFill>
                  <a:srgbClr val="34879F"/>
                </a:solidFill>
                <a:effectLst/>
                <a:latin typeface="Arial" pitchFamily="34" charset="0"/>
                <a:ea typeface="Verdana" pitchFamily="34" charset="0"/>
                <a:cs typeface="Verdana" pitchFamily="34" charset="0"/>
              </a:rPr>
              <a:t>opportunités </a:t>
            </a:r>
            <a:r>
              <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et des </a:t>
            </a:r>
            <a:r>
              <a:rPr kumimoji="0" lang="fr-FR" sz="2000" b="0" i="0" u="none" strike="noStrike" cap="none" normalizeH="0" baseline="0" dirty="0" smtClean="0">
                <a:ln>
                  <a:noFill/>
                </a:ln>
                <a:solidFill>
                  <a:srgbClr val="EF3E2B"/>
                </a:solidFill>
                <a:effectLst/>
                <a:latin typeface="Arial" pitchFamily="34" charset="0"/>
                <a:ea typeface="Verdana" pitchFamily="34" charset="0"/>
                <a:cs typeface="Verdana" pitchFamily="34" charset="0"/>
              </a:rPr>
              <a:t>menaces </a:t>
            </a:r>
            <a:r>
              <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de son </a:t>
            </a:r>
            <a:r>
              <a:rPr kumimoji="0" lang="fr-FR" sz="2000" b="0" i="0" u="sng" strike="noStrike" cap="none" normalizeH="0" baseline="0" dirty="0" smtClean="0">
                <a:ln>
                  <a:noFill/>
                </a:ln>
                <a:solidFill>
                  <a:schemeClr val="tx1"/>
                </a:solidFill>
                <a:effectLst/>
                <a:latin typeface="Arial" pitchFamily="34" charset="0"/>
                <a:ea typeface="Verdana" pitchFamily="34" charset="0"/>
                <a:cs typeface="Verdana" pitchFamily="34" charset="0"/>
              </a:rPr>
              <a:t>environnement externe </a:t>
            </a:r>
            <a:r>
              <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afin d'aider à </a:t>
            </a:r>
            <a:r>
              <a:rPr kumimoji="0" lang="fr-FR" sz="2000" b="1" i="0" u="none" strike="noStrike" cap="none" normalizeH="0" baseline="0" dirty="0" smtClean="0">
                <a:ln>
                  <a:noFill/>
                </a:ln>
                <a:solidFill>
                  <a:srgbClr val="56903E"/>
                </a:solidFill>
                <a:effectLst/>
                <a:latin typeface="Tahoma" pitchFamily="34" charset="0"/>
                <a:ea typeface="Verdana" pitchFamily="34" charset="0"/>
                <a:cs typeface="Tahoma" pitchFamily="34" charset="0"/>
              </a:rPr>
              <a:t>la prise de décision </a:t>
            </a:r>
            <a:r>
              <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entre plusieurs solutions possibles.</a:t>
            </a:r>
            <a:endParaRPr kumimoji="0" lang="fr-FR" sz="2000" b="0" i="0" u="none" strike="noStrike" cap="none" normalizeH="0" baseline="0" dirty="0" smtClean="0">
              <a:ln>
                <a:noFill/>
              </a:ln>
              <a:solidFill>
                <a:schemeClr val="tx1"/>
              </a:solidFill>
              <a:effectLst/>
              <a:latin typeface="Arial" pitchFamily="34" charset="0"/>
              <a:cs typeface="Arial" pitchFamily="34" charset="0"/>
            </a:endParaRPr>
          </a:p>
        </p:txBody>
      </p:sp>
      <p:sp>
        <p:nvSpPr>
          <p:cNvPr id="5" name="Text Box 25"/>
          <p:cNvSpPr txBox="1">
            <a:spLocks noChangeArrowheads="1"/>
          </p:cNvSpPr>
          <p:nvPr/>
        </p:nvSpPr>
        <p:spPr bwMode="auto">
          <a:xfrm>
            <a:off x="1309654" y="3571876"/>
            <a:ext cx="9412288" cy="2000264"/>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0" tIns="0" rIns="0" bIns="0" numCol="1" anchor="t" anchorCtr="0" compatLnSpc="1">
            <a:prstTxWarp prst="textNoShape">
              <a:avLst/>
            </a:prstTxWarp>
          </a:bodyPr>
          <a:lstStyle/>
          <a:p>
            <a:pPr marL="457200" marR="0" lvl="1" indent="0" defTabSz="914400" rtl="0" eaLnBrk="1" fontAlgn="base" latinLnBrk="0" hangingPunct="1">
              <a:lnSpc>
                <a:spcPct val="100000"/>
              </a:lnSpc>
              <a:buClrTx/>
              <a:buSzTx/>
              <a:buFontTx/>
              <a:buNone/>
              <a:tabLst/>
            </a:pPr>
            <a:r>
              <a:rPr lang="fr-FR" sz="2000" dirty="0" smtClean="0">
                <a:latin typeface="Arial" pitchFamily="34" charset="0"/>
                <a:ea typeface="Verdana" pitchFamily="34" charset="0"/>
                <a:cs typeface="Verdana" pitchFamily="34" charset="0"/>
              </a:rPr>
              <a:t>Le terme </a:t>
            </a:r>
            <a:r>
              <a:rPr lang="fr-FR" sz="2000" b="1" dirty="0" smtClean="0">
                <a:solidFill>
                  <a:srgbClr val="C00000"/>
                </a:solidFill>
                <a:latin typeface="Arial" pitchFamily="34" charset="0"/>
                <a:ea typeface="Verdana" pitchFamily="34" charset="0"/>
                <a:cs typeface="Verdana" pitchFamily="34" charset="0"/>
              </a:rPr>
              <a:t>SWOT</a:t>
            </a:r>
            <a:r>
              <a:rPr lang="fr-FR" sz="2000" dirty="0" smtClean="0">
                <a:latin typeface="Arial" pitchFamily="34" charset="0"/>
                <a:ea typeface="Verdana" pitchFamily="34" charset="0"/>
                <a:cs typeface="Verdana" pitchFamily="34" charset="0"/>
              </a:rPr>
              <a:t> vient des initiales des mots anglais :</a:t>
            </a:r>
          </a:p>
          <a:p>
            <a:pPr marL="457200" marR="0" lvl="1" indent="0" defTabSz="914400" rtl="0" eaLnBrk="1" fontAlgn="base" latinLnBrk="0" hangingPunct="1">
              <a:lnSpc>
                <a:spcPct val="100000"/>
              </a:lnSpc>
              <a:buClrTx/>
              <a:buSzTx/>
              <a:buFontTx/>
              <a:buNone/>
              <a:tabLst/>
            </a:pPr>
            <a:endParaRPr lang="fr-FR" sz="2000" dirty="0" smtClean="0">
              <a:latin typeface="Arial" pitchFamily="34" charset="0"/>
              <a:ea typeface="Verdana" pitchFamily="34" charset="0"/>
              <a:cs typeface="Verdana" pitchFamily="34" charset="0"/>
            </a:endParaRPr>
          </a:p>
          <a:p>
            <a:pPr marL="457200" marR="0" lvl="1" indent="0" defTabSz="914400" rtl="0" eaLnBrk="1" fontAlgn="base" latinLnBrk="0" hangingPunct="1">
              <a:lnSpc>
                <a:spcPct val="100000"/>
              </a:lnSpc>
              <a:buClrTx/>
              <a:buSzTx/>
              <a:buFontTx/>
              <a:buNone/>
              <a:tabLst/>
            </a:pPr>
            <a:r>
              <a:rPr lang="fr-FR" sz="2000" b="1" dirty="0" err="1" smtClean="0">
                <a:solidFill>
                  <a:srgbClr val="C00000"/>
                </a:solidFill>
                <a:latin typeface="Arial" pitchFamily="34" charset="0"/>
                <a:ea typeface="Verdana" pitchFamily="34" charset="0"/>
                <a:cs typeface="Verdana" pitchFamily="34" charset="0"/>
              </a:rPr>
              <a:t>S</a:t>
            </a:r>
            <a:r>
              <a:rPr lang="fr-FR" sz="2000" dirty="0" err="1" smtClean="0">
                <a:latin typeface="Arial" pitchFamily="34" charset="0"/>
                <a:ea typeface="Verdana" pitchFamily="34" charset="0"/>
                <a:cs typeface="Verdana" pitchFamily="34" charset="0"/>
              </a:rPr>
              <a:t>trengths</a:t>
            </a:r>
            <a:r>
              <a:rPr lang="fr-FR" sz="2000" dirty="0" smtClean="0">
                <a:latin typeface="Arial" pitchFamily="34" charset="0"/>
                <a:ea typeface="Verdana" pitchFamily="34" charset="0"/>
                <a:cs typeface="Verdana" pitchFamily="34" charset="0"/>
              </a:rPr>
              <a:t> (Forces),</a:t>
            </a:r>
          </a:p>
          <a:p>
            <a:pPr marL="457200" marR="0" lvl="1" indent="0" defTabSz="914400" rtl="0" eaLnBrk="1" fontAlgn="base" latinLnBrk="0" hangingPunct="1">
              <a:lnSpc>
                <a:spcPct val="100000"/>
              </a:lnSpc>
              <a:buClrTx/>
              <a:buSzTx/>
              <a:buFontTx/>
              <a:buNone/>
              <a:tabLst/>
            </a:pPr>
            <a:r>
              <a:rPr lang="fr-FR" sz="2000" b="1" dirty="0" err="1" smtClean="0">
                <a:solidFill>
                  <a:srgbClr val="C00000"/>
                </a:solidFill>
                <a:latin typeface="Arial" pitchFamily="34" charset="0"/>
                <a:ea typeface="Verdana" pitchFamily="34" charset="0"/>
                <a:cs typeface="Verdana" pitchFamily="34" charset="0"/>
              </a:rPr>
              <a:t>W</a:t>
            </a:r>
            <a:r>
              <a:rPr lang="fr-FR" sz="2000" dirty="0" err="1" smtClean="0">
                <a:latin typeface="Arial" pitchFamily="34" charset="0"/>
                <a:ea typeface="Verdana" pitchFamily="34" charset="0"/>
                <a:cs typeface="Verdana" pitchFamily="34" charset="0"/>
              </a:rPr>
              <a:t>eaknesses</a:t>
            </a:r>
            <a:r>
              <a:rPr lang="fr-FR" sz="2000" dirty="0" smtClean="0">
                <a:latin typeface="Arial" pitchFamily="34" charset="0"/>
                <a:ea typeface="Verdana" pitchFamily="34" charset="0"/>
                <a:cs typeface="Verdana" pitchFamily="34" charset="0"/>
              </a:rPr>
              <a:t> (Faiblesses), </a:t>
            </a:r>
          </a:p>
          <a:p>
            <a:pPr marL="457200" marR="0" lvl="1" indent="0" defTabSz="914400" rtl="0" eaLnBrk="1" fontAlgn="base" latinLnBrk="0" hangingPunct="1">
              <a:lnSpc>
                <a:spcPct val="100000"/>
              </a:lnSpc>
              <a:buClrTx/>
              <a:buSzTx/>
              <a:buFontTx/>
              <a:buNone/>
              <a:tabLst/>
            </a:pPr>
            <a:r>
              <a:rPr lang="fr-FR" sz="2000" b="1" dirty="0" err="1" smtClean="0">
                <a:solidFill>
                  <a:srgbClr val="C00000"/>
                </a:solidFill>
                <a:latin typeface="Arial" pitchFamily="34" charset="0"/>
                <a:ea typeface="Verdana" pitchFamily="34" charset="0"/>
                <a:cs typeface="Verdana" pitchFamily="34" charset="0"/>
              </a:rPr>
              <a:t>O</a:t>
            </a:r>
            <a:r>
              <a:rPr lang="fr-FR" sz="2000" dirty="0" smtClean="0">
                <a:latin typeface="Arial" pitchFamily="34" charset="0"/>
                <a:ea typeface="Verdana" pitchFamily="34" charset="0"/>
                <a:cs typeface="Verdana" pitchFamily="34" charset="0"/>
              </a:rPr>
              <a:t>pportunities (Opportunités) et </a:t>
            </a:r>
          </a:p>
          <a:p>
            <a:pPr marL="457200" marR="0" lvl="1" indent="0" defTabSz="914400" rtl="0" eaLnBrk="1" fontAlgn="base" latinLnBrk="0" hangingPunct="1">
              <a:lnSpc>
                <a:spcPct val="100000"/>
              </a:lnSpc>
              <a:buClrTx/>
              <a:buSzTx/>
              <a:buFontTx/>
              <a:buNone/>
              <a:tabLst/>
            </a:pPr>
            <a:r>
              <a:rPr lang="fr-FR" sz="2000" b="1" dirty="0" err="1" smtClean="0">
                <a:solidFill>
                  <a:srgbClr val="C00000"/>
                </a:solidFill>
                <a:latin typeface="Arial" pitchFamily="34" charset="0"/>
                <a:ea typeface="Verdana" pitchFamily="34" charset="0"/>
                <a:cs typeface="Verdana" pitchFamily="34" charset="0"/>
              </a:rPr>
              <a:t>T</a:t>
            </a:r>
            <a:r>
              <a:rPr lang="fr-FR" sz="2000" dirty="0" smtClean="0">
                <a:latin typeface="Arial" pitchFamily="34" charset="0"/>
                <a:ea typeface="Verdana" pitchFamily="34" charset="0"/>
                <a:cs typeface="Verdana" pitchFamily="34" charset="0"/>
              </a:rPr>
              <a:t>hreats (Menaces).</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a:xfrm>
            <a:off x="8763000" y="6450458"/>
            <a:ext cx="2805620" cy="342900"/>
          </a:xfrm>
        </p:spPr>
        <p:txBody>
          <a:bodyPr/>
          <a:lstStyle/>
          <a:p>
            <a:fld id="{B6F15528-21DE-4FAA-801E-634DDDAF4B2B}" type="slidenum">
              <a:rPr lang="fr-FR" smtClean="0"/>
              <a:pPr/>
              <a:t>143</a:t>
            </a:fld>
            <a:endParaRPr lang="fr-FR" dirty="0"/>
          </a:p>
        </p:txBody>
      </p:sp>
      <p:sp>
        <p:nvSpPr>
          <p:cNvPr id="2" name="AutoShape 2" descr="Le Wagon logo"/>
          <p:cNvSpPr>
            <a:spLocks noChangeAspect="1" noChangeArrowheads="1"/>
          </p:cNvSpPr>
          <p:nvPr/>
        </p:nvSpPr>
        <p:spPr bwMode="auto">
          <a:xfrm>
            <a:off x="155575" y="-144463"/>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dirty="0"/>
          </a:p>
        </p:txBody>
      </p:sp>
      <p:sp>
        <p:nvSpPr>
          <p:cNvPr id="139265" name="Rectangle 1"/>
          <p:cNvSpPr>
            <a:spLocks noChangeArrowheads="1"/>
          </p:cNvSpPr>
          <p:nvPr/>
        </p:nvSpPr>
        <p:spPr bwMode="auto">
          <a:xfrm>
            <a:off x="809588" y="1071546"/>
            <a:ext cx="4290726" cy="43088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tabLst/>
            </a:pPr>
            <a:r>
              <a:rPr kumimoji="0" lang="fr-FR" sz="2200" b="1" i="0" u="none" strike="noStrike" cap="none" normalizeH="0" baseline="0" dirty="0" smtClean="0">
                <a:ln>
                  <a:noFill/>
                </a:ln>
                <a:solidFill>
                  <a:srgbClr val="215868"/>
                </a:solidFill>
                <a:effectLst/>
                <a:latin typeface="Arial" pitchFamily="34" charset="0"/>
                <a:ea typeface="Verdana" pitchFamily="34" charset="0"/>
                <a:cs typeface="Verdana" pitchFamily="34" charset="0"/>
              </a:rPr>
              <a:t>a) Analyse /Diagnostic interne </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grpSp>
        <p:nvGrpSpPr>
          <p:cNvPr id="3" name="Group 2"/>
          <p:cNvGrpSpPr>
            <a:grpSpLocks/>
          </p:cNvGrpSpPr>
          <p:nvPr/>
        </p:nvGrpSpPr>
        <p:grpSpPr bwMode="auto">
          <a:xfrm>
            <a:off x="952464" y="1643050"/>
            <a:ext cx="9037637" cy="2060575"/>
            <a:chOff x="1517" y="1726"/>
            <a:chExt cx="14232" cy="3245"/>
          </a:xfrm>
        </p:grpSpPr>
        <p:sp>
          <p:nvSpPr>
            <p:cNvPr id="139267" name="Freeform 3"/>
            <p:cNvSpPr>
              <a:spLocks/>
            </p:cNvSpPr>
            <p:nvPr/>
          </p:nvSpPr>
          <p:spPr bwMode="auto">
            <a:xfrm>
              <a:off x="7209" y="1735"/>
              <a:ext cx="8530" cy="3226"/>
            </a:xfrm>
            <a:custGeom>
              <a:avLst/>
              <a:gdLst/>
              <a:ahLst/>
              <a:cxnLst>
                <a:cxn ang="0">
                  <a:pos x="6916" y="0"/>
                </a:cxn>
                <a:cxn ang="0">
                  <a:pos x="6916" y="404"/>
                </a:cxn>
                <a:cxn ang="0">
                  <a:pos x="0" y="404"/>
                </a:cxn>
                <a:cxn ang="0">
                  <a:pos x="0" y="2823"/>
                </a:cxn>
                <a:cxn ang="0">
                  <a:pos x="6916" y="2823"/>
                </a:cxn>
                <a:cxn ang="0">
                  <a:pos x="6916" y="3226"/>
                </a:cxn>
                <a:cxn ang="0">
                  <a:pos x="8529" y="1613"/>
                </a:cxn>
                <a:cxn ang="0">
                  <a:pos x="6916" y="0"/>
                </a:cxn>
              </a:cxnLst>
              <a:rect l="0" t="0" r="r" b="b"/>
              <a:pathLst>
                <a:path w="8530" h="3226">
                  <a:moveTo>
                    <a:pt x="6916" y="0"/>
                  </a:moveTo>
                  <a:lnTo>
                    <a:pt x="6916" y="404"/>
                  </a:lnTo>
                  <a:lnTo>
                    <a:pt x="0" y="404"/>
                  </a:lnTo>
                  <a:lnTo>
                    <a:pt x="0" y="2823"/>
                  </a:lnTo>
                  <a:lnTo>
                    <a:pt x="6916" y="2823"/>
                  </a:lnTo>
                  <a:lnTo>
                    <a:pt x="6916" y="3226"/>
                  </a:lnTo>
                  <a:lnTo>
                    <a:pt x="8529" y="1613"/>
                  </a:lnTo>
                  <a:lnTo>
                    <a:pt x="6916" y="0"/>
                  </a:lnTo>
                  <a:close/>
                </a:path>
              </a:pathLst>
            </a:custGeom>
            <a:solidFill>
              <a:srgbClr val="CDDADF">
                <a:alpha val="90195"/>
              </a:srgbClr>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39268" name="Freeform 4"/>
            <p:cNvSpPr>
              <a:spLocks/>
            </p:cNvSpPr>
            <p:nvPr/>
          </p:nvSpPr>
          <p:spPr bwMode="auto">
            <a:xfrm>
              <a:off x="7209" y="1735"/>
              <a:ext cx="8530" cy="3226"/>
            </a:xfrm>
            <a:custGeom>
              <a:avLst/>
              <a:gdLst/>
              <a:ahLst/>
              <a:cxnLst>
                <a:cxn ang="0">
                  <a:pos x="0" y="404"/>
                </a:cxn>
                <a:cxn ang="0">
                  <a:pos x="6916" y="404"/>
                </a:cxn>
                <a:cxn ang="0">
                  <a:pos x="6916" y="0"/>
                </a:cxn>
                <a:cxn ang="0">
                  <a:pos x="8529" y="1613"/>
                </a:cxn>
                <a:cxn ang="0">
                  <a:pos x="6916" y="3226"/>
                </a:cxn>
                <a:cxn ang="0">
                  <a:pos x="6916" y="2823"/>
                </a:cxn>
                <a:cxn ang="0">
                  <a:pos x="0" y="2823"/>
                </a:cxn>
                <a:cxn ang="0">
                  <a:pos x="0" y="404"/>
                </a:cxn>
              </a:cxnLst>
              <a:rect l="0" t="0" r="r" b="b"/>
              <a:pathLst>
                <a:path w="8530" h="3226">
                  <a:moveTo>
                    <a:pt x="0" y="404"/>
                  </a:moveTo>
                  <a:lnTo>
                    <a:pt x="6916" y="404"/>
                  </a:lnTo>
                  <a:lnTo>
                    <a:pt x="6916" y="0"/>
                  </a:lnTo>
                  <a:lnTo>
                    <a:pt x="8529" y="1613"/>
                  </a:lnTo>
                  <a:lnTo>
                    <a:pt x="6916" y="3226"/>
                  </a:lnTo>
                  <a:lnTo>
                    <a:pt x="6916" y="2823"/>
                  </a:lnTo>
                  <a:lnTo>
                    <a:pt x="0" y="2823"/>
                  </a:lnTo>
                  <a:lnTo>
                    <a:pt x="0" y="404"/>
                  </a:lnTo>
                  <a:close/>
                </a:path>
              </a:pathLst>
            </a:custGeom>
            <a:noFill/>
            <a:ln w="12192">
              <a:solidFill>
                <a:srgbClr val="CDDADF"/>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39269" name="Freeform 5"/>
            <p:cNvSpPr>
              <a:spLocks/>
            </p:cNvSpPr>
            <p:nvPr/>
          </p:nvSpPr>
          <p:spPr bwMode="auto">
            <a:xfrm>
              <a:off x="1526" y="1735"/>
              <a:ext cx="5684" cy="3226"/>
            </a:xfrm>
            <a:custGeom>
              <a:avLst/>
              <a:gdLst/>
              <a:ahLst/>
              <a:cxnLst>
                <a:cxn ang="0">
                  <a:pos x="5146" y="0"/>
                </a:cxn>
                <a:cxn ang="0">
                  <a:pos x="538" y="0"/>
                </a:cxn>
                <a:cxn ang="0">
                  <a:pos x="465" y="5"/>
                </a:cxn>
                <a:cxn ang="0">
                  <a:pos x="395" y="20"/>
                </a:cxn>
                <a:cxn ang="0">
                  <a:pos x="329" y="43"/>
                </a:cxn>
                <a:cxn ang="0">
                  <a:pos x="267" y="74"/>
                </a:cxn>
                <a:cxn ang="0">
                  <a:pos x="209" y="112"/>
                </a:cxn>
                <a:cxn ang="0">
                  <a:pos x="158" y="158"/>
                </a:cxn>
                <a:cxn ang="0">
                  <a:pos x="112" y="210"/>
                </a:cxn>
                <a:cxn ang="0">
                  <a:pos x="74" y="267"/>
                </a:cxn>
                <a:cxn ang="0">
                  <a:pos x="43" y="329"/>
                </a:cxn>
                <a:cxn ang="0">
                  <a:pos x="20" y="395"/>
                </a:cxn>
                <a:cxn ang="0">
                  <a:pos x="5" y="465"/>
                </a:cxn>
                <a:cxn ang="0">
                  <a:pos x="0" y="538"/>
                </a:cxn>
                <a:cxn ang="0">
                  <a:pos x="0" y="2688"/>
                </a:cxn>
                <a:cxn ang="0">
                  <a:pos x="5" y="2761"/>
                </a:cxn>
                <a:cxn ang="0">
                  <a:pos x="20" y="2831"/>
                </a:cxn>
                <a:cxn ang="0">
                  <a:pos x="43" y="2898"/>
                </a:cxn>
                <a:cxn ang="0">
                  <a:pos x="74" y="2960"/>
                </a:cxn>
                <a:cxn ang="0">
                  <a:pos x="112" y="3017"/>
                </a:cxn>
                <a:cxn ang="0">
                  <a:pos x="158" y="3069"/>
                </a:cxn>
                <a:cxn ang="0">
                  <a:pos x="209" y="3114"/>
                </a:cxn>
                <a:cxn ang="0">
                  <a:pos x="267" y="3153"/>
                </a:cxn>
                <a:cxn ang="0">
                  <a:pos x="329" y="3184"/>
                </a:cxn>
                <a:cxn ang="0">
                  <a:pos x="395" y="3207"/>
                </a:cxn>
                <a:cxn ang="0">
                  <a:pos x="465" y="3221"/>
                </a:cxn>
                <a:cxn ang="0">
                  <a:pos x="538" y="3226"/>
                </a:cxn>
                <a:cxn ang="0">
                  <a:pos x="5146" y="3226"/>
                </a:cxn>
                <a:cxn ang="0">
                  <a:pos x="5219" y="3221"/>
                </a:cxn>
                <a:cxn ang="0">
                  <a:pos x="5289" y="3207"/>
                </a:cxn>
                <a:cxn ang="0">
                  <a:pos x="5355" y="3184"/>
                </a:cxn>
                <a:cxn ang="0">
                  <a:pos x="5417" y="3153"/>
                </a:cxn>
                <a:cxn ang="0">
                  <a:pos x="5475" y="3114"/>
                </a:cxn>
                <a:cxn ang="0">
                  <a:pos x="5526" y="3069"/>
                </a:cxn>
                <a:cxn ang="0">
                  <a:pos x="5572" y="3017"/>
                </a:cxn>
                <a:cxn ang="0">
                  <a:pos x="5610" y="2960"/>
                </a:cxn>
                <a:cxn ang="0">
                  <a:pos x="5641" y="2898"/>
                </a:cxn>
                <a:cxn ang="0">
                  <a:pos x="5664" y="2831"/>
                </a:cxn>
                <a:cxn ang="0">
                  <a:pos x="5679" y="2761"/>
                </a:cxn>
                <a:cxn ang="0">
                  <a:pos x="5684" y="2688"/>
                </a:cxn>
                <a:cxn ang="0">
                  <a:pos x="5684" y="538"/>
                </a:cxn>
                <a:cxn ang="0">
                  <a:pos x="5679" y="465"/>
                </a:cxn>
                <a:cxn ang="0">
                  <a:pos x="5664" y="395"/>
                </a:cxn>
                <a:cxn ang="0">
                  <a:pos x="5641" y="329"/>
                </a:cxn>
                <a:cxn ang="0">
                  <a:pos x="5610" y="267"/>
                </a:cxn>
                <a:cxn ang="0">
                  <a:pos x="5572" y="210"/>
                </a:cxn>
                <a:cxn ang="0">
                  <a:pos x="5526" y="158"/>
                </a:cxn>
                <a:cxn ang="0">
                  <a:pos x="5475" y="112"/>
                </a:cxn>
                <a:cxn ang="0">
                  <a:pos x="5417" y="74"/>
                </a:cxn>
                <a:cxn ang="0">
                  <a:pos x="5355" y="43"/>
                </a:cxn>
                <a:cxn ang="0">
                  <a:pos x="5289" y="20"/>
                </a:cxn>
                <a:cxn ang="0">
                  <a:pos x="5219" y="5"/>
                </a:cxn>
                <a:cxn ang="0">
                  <a:pos x="5146" y="0"/>
                </a:cxn>
              </a:cxnLst>
              <a:rect l="0" t="0" r="r" b="b"/>
              <a:pathLst>
                <a:path w="5684" h="3226">
                  <a:moveTo>
                    <a:pt x="5146" y="0"/>
                  </a:moveTo>
                  <a:lnTo>
                    <a:pt x="538" y="0"/>
                  </a:lnTo>
                  <a:lnTo>
                    <a:pt x="465" y="5"/>
                  </a:lnTo>
                  <a:lnTo>
                    <a:pt x="395" y="20"/>
                  </a:lnTo>
                  <a:lnTo>
                    <a:pt x="329" y="43"/>
                  </a:lnTo>
                  <a:lnTo>
                    <a:pt x="267" y="74"/>
                  </a:lnTo>
                  <a:lnTo>
                    <a:pt x="209" y="112"/>
                  </a:lnTo>
                  <a:lnTo>
                    <a:pt x="158" y="158"/>
                  </a:lnTo>
                  <a:lnTo>
                    <a:pt x="112" y="210"/>
                  </a:lnTo>
                  <a:lnTo>
                    <a:pt x="74" y="267"/>
                  </a:lnTo>
                  <a:lnTo>
                    <a:pt x="43" y="329"/>
                  </a:lnTo>
                  <a:lnTo>
                    <a:pt x="20" y="395"/>
                  </a:lnTo>
                  <a:lnTo>
                    <a:pt x="5" y="465"/>
                  </a:lnTo>
                  <a:lnTo>
                    <a:pt x="0" y="538"/>
                  </a:lnTo>
                  <a:lnTo>
                    <a:pt x="0" y="2688"/>
                  </a:lnTo>
                  <a:lnTo>
                    <a:pt x="5" y="2761"/>
                  </a:lnTo>
                  <a:lnTo>
                    <a:pt x="20" y="2831"/>
                  </a:lnTo>
                  <a:lnTo>
                    <a:pt x="43" y="2898"/>
                  </a:lnTo>
                  <a:lnTo>
                    <a:pt x="74" y="2960"/>
                  </a:lnTo>
                  <a:lnTo>
                    <a:pt x="112" y="3017"/>
                  </a:lnTo>
                  <a:lnTo>
                    <a:pt x="158" y="3069"/>
                  </a:lnTo>
                  <a:lnTo>
                    <a:pt x="209" y="3114"/>
                  </a:lnTo>
                  <a:lnTo>
                    <a:pt x="267" y="3153"/>
                  </a:lnTo>
                  <a:lnTo>
                    <a:pt x="329" y="3184"/>
                  </a:lnTo>
                  <a:lnTo>
                    <a:pt x="395" y="3207"/>
                  </a:lnTo>
                  <a:lnTo>
                    <a:pt x="465" y="3221"/>
                  </a:lnTo>
                  <a:lnTo>
                    <a:pt x="538" y="3226"/>
                  </a:lnTo>
                  <a:lnTo>
                    <a:pt x="5146" y="3226"/>
                  </a:lnTo>
                  <a:lnTo>
                    <a:pt x="5219" y="3221"/>
                  </a:lnTo>
                  <a:lnTo>
                    <a:pt x="5289" y="3207"/>
                  </a:lnTo>
                  <a:lnTo>
                    <a:pt x="5355" y="3184"/>
                  </a:lnTo>
                  <a:lnTo>
                    <a:pt x="5417" y="3153"/>
                  </a:lnTo>
                  <a:lnTo>
                    <a:pt x="5475" y="3114"/>
                  </a:lnTo>
                  <a:lnTo>
                    <a:pt x="5526" y="3069"/>
                  </a:lnTo>
                  <a:lnTo>
                    <a:pt x="5572" y="3017"/>
                  </a:lnTo>
                  <a:lnTo>
                    <a:pt x="5610" y="2960"/>
                  </a:lnTo>
                  <a:lnTo>
                    <a:pt x="5641" y="2898"/>
                  </a:lnTo>
                  <a:lnTo>
                    <a:pt x="5664" y="2831"/>
                  </a:lnTo>
                  <a:lnTo>
                    <a:pt x="5679" y="2761"/>
                  </a:lnTo>
                  <a:lnTo>
                    <a:pt x="5684" y="2688"/>
                  </a:lnTo>
                  <a:lnTo>
                    <a:pt x="5684" y="538"/>
                  </a:lnTo>
                  <a:lnTo>
                    <a:pt x="5679" y="465"/>
                  </a:lnTo>
                  <a:lnTo>
                    <a:pt x="5664" y="395"/>
                  </a:lnTo>
                  <a:lnTo>
                    <a:pt x="5641" y="329"/>
                  </a:lnTo>
                  <a:lnTo>
                    <a:pt x="5610" y="267"/>
                  </a:lnTo>
                  <a:lnTo>
                    <a:pt x="5572" y="210"/>
                  </a:lnTo>
                  <a:lnTo>
                    <a:pt x="5526" y="158"/>
                  </a:lnTo>
                  <a:lnTo>
                    <a:pt x="5475" y="112"/>
                  </a:lnTo>
                  <a:lnTo>
                    <a:pt x="5417" y="74"/>
                  </a:lnTo>
                  <a:lnTo>
                    <a:pt x="5355" y="43"/>
                  </a:lnTo>
                  <a:lnTo>
                    <a:pt x="5289" y="20"/>
                  </a:lnTo>
                  <a:lnTo>
                    <a:pt x="5219" y="5"/>
                  </a:lnTo>
                  <a:lnTo>
                    <a:pt x="5146" y="0"/>
                  </a:lnTo>
                  <a:close/>
                </a:path>
              </a:pathLst>
            </a:custGeom>
            <a:solidFill>
              <a:srgbClr val="34879F"/>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39270" name="Freeform 6"/>
            <p:cNvSpPr>
              <a:spLocks/>
            </p:cNvSpPr>
            <p:nvPr/>
          </p:nvSpPr>
          <p:spPr bwMode="auto">
            <a:xfrm>
              <a:off x="1526" y="1735"/>
              <a:ext cx="5684" cy="3226"/>
            </a:xfrm>
            <a:custGeom>
              <a:avLst/>
              <a:gdLst/>
              <a:ahLst/>
              <a:cxnLst>
                <a:cxn ang="0">
                  <a:pos x="0" y="538"/>
                </a:cxn>
                <a:cxn ang="0">
                  <a:pos x="5" y="465"/>
                </a:cxn>
                <a:cxn ang="0">
                  <a:pos x="20" y="395"/>
                </a:cxn>
                <a:cxn ang="0">
                  <a:pos x="43" y="329"/>
                </a:cxn>
                <a:cxn ang="0">
                  <a:pos x="74" y="267"/>
                </a:cxn>
                <a:cxn ang="0">
                  <a:pos x="112" y="210"/>
                </a:cxn>
                <a:cxn ang="0">
                  <a:pos x="158" y="158"/>
                </a:cxn>
                <a:cxn ang="0">
                  <a:pos x="209" y="112"/>
                </a:cxn>
                <a:cxn ang="0">
                  <a:pos x="267" y="74"/>
                </a:cxn>
                <a:cxn ang="0">
                  <a:pos x="329" y="43"/>
                </a:cxn>
                <a:cxn ang="0">
                  <a:pos x="395" y="20"/>
                </a:cxn>
                <a:cxn ang="0">
                  <a:pos x="465" y="5"/>
                </a:cxn>
                <a:cxn ang="0">
                  <a:pos x="538" y="0"/>
                </a:cxn>
                <a:cxn ang="0">
                  <a:pos x="5146" y="0"/>
                </a:cxn>
                <a:cxn ang="0">
                  <a:pos x="5219" y="5"/>
                </a:cxn>
                <a:cxn ang="0">
                  <a:pos x="5289" y="20"/>
                </a:cxn>
                <a:cxn ang="0">
                  <a:pos x="5355" y="43"/>
                </a:cxn>
                <a:cxn ang="0">
                  <a:pos x="5417" y="74"/>
                </a:cxn>
                <a:cxn ang="0">
                  <a:pos x="5475" y="112"/>
                </a:cxn>
                <a:cxn ang="0">
                  <a:pos x="5526" y="158"/>
                </a:cxn>
                <a:cxn ang="0">
                  <a:pos x="5572" y="210"/>
                </a:cxn>
                <a:cxn ang="0">
                  <a:pos x="5610" y="267"/>
                </a:cxn>
                <a:cxn ang="0">
                  <a:pos x="5641" y="329"/>
                </a:cxn>
                <a:cxn ang="0">
                  <a:pos x="5664" y="395"/>
                </a:cxn>
                <a:cxn ang="0">
                  <a:pos x="5679" y="465"/>
                </a:cxn>
                <a:cxn ang="0">
                  <a:pos x="5684" y="538"/>
                </a:cxn>
                <a:cxn ang="0">
                  <a:pos x="5684" y="2688"/>
                </a:cxn>
                <a:cxn ang="0">
                  <a:pos x="5679" y="2761"/>
                </a:cxn>
                <a:cxn ang="0">
                  <a:pos x="5664" y="2831"/>
                </a:cxn>
                <a:cxn ang="0">
                  <a:pos x="5641" y="2898"/>
                </a:cxn>
                <a:cxn ang="0">
                  <a:pos x="5610" y="2960"/>
                </a:cxn>
                <a:cxn ang="0">
                  <a:pos x="5572" y="3017"/>
                </a:cxn>
                <a:cxn ang="0">
                  <a:pos x="5526" y="3069"/>
                </a:cxn>
                <a:cxn ang="0">
                  <a:pos x="5475" y="3114"/>
                </a:cxn>
                <a:cxn ang="0">
                  <a:pos x="5417" y="3153"/>
                </a:cxn>
                <a:cxn ang="0">
                  <a:pos x="5355" y="3184"/>
                </a:cxn>
                <a:cxn ang="0">
                  <a:pos x="5289" y="3207"/>
                </a:cxn>
                <a:cxn ang="0">
                  <a:pos x="5219" y="3221"/>
                </a:cxn>
                <a:cxn ang="0">
                  <a:pos x="5146" y="3226"/>
                </a:cxn>
                <a:cxn ang="0">
                  <a:pos x="538" y="3226"/>
                </a:cxn>
                <a:cxn ang="0">
                  <a:pos x="465" y="3221"/>
                </a:cxn>
                <a:cxn ang="0">
                  <a:pos x="395" y="3207"/>
                </a:cxn>
                <a:cxn ang="0">
                  <a:pos x="329" y="3184"/>
                </a:cxn>
                <a:cxn ang="0">
                  <a:pos x="267" y="3153"/>
                </a:cxn>
                <a:cxn ang="0">
                  <a:pos x="209" y="3114"/>
                </a:cxn>
                <a:cxn ang="0">
                  <a:pos x="158" y="3069"/>
                </a:cxn>
                <a:cxn ang="0">
                  <a:pos x="112" y="3017"/>
                </a:cxn>
                <a:cxn ang="0">
                  <a:pos x="74" y="2960"/>
                </a:cxn>
                <a:cxn ang="0">
                  <a:pos x="43" y="2898"/>
                </a:cxn>
                <a:cxn ang="0">
                  <a:pos x="20" y="2831"/>
                </a:cxn>
                <a:cxn ang="0">
                  <a:pos x="5" y="2761"/>
                </a:cxn>
                <a:cxn ang="0">
                  <a:pos x="0" y="2688"/>
                </a:cxn>
                <a:cxn ang="0">
                  <a:pos x="0" y="538"/>
                </a:cxn>
              </a:cxnLst>
              <a:rect l="0" t="0" r="r" b="b"/>
              <a:pathLst>
                <a:path w="5684" h="3226">
                  <a:moveTo>
                    <a:pt x="0" y="538"/>
                  </a:moveTo>
                  <a:lnTo>
                    <a:pt x="5" y="465"/>
                  </a:lnTo>
                  <a:lnTo>
                    <a:pt x="20" y="395"/>
                  </a:lnTo>
                  <a:lnTo>
                    <a:pt x="43" y="329"/>
                  </a:lnTo>
                  <a:lnTo>
                    <a:pt x="74" y="267"/>
                  </a:lnTo>
                  <a:lnTo>
                    <a:pt x="112" y="210"/>
                  </a:lnTo>
                  <a:lnTo>
                    <a:pt x="158" y="158"/>
                  </a:lnTo>
                  <a:lnTo>
                    <a:pt x="209" y="112"/>
                  </a:lnTo>
                  <a:lnTo>
                    <a:pt x="267" y="74"/>
                  </a:lnTo>
                  <a:lnTo>
                    <a:pt x="329" y="43"/>
                  </a:lnTo>
                  <a:lnTo>
                    <a:pt x="395" y="20"/>
                  </a:lnTo>
                  <a:lnTo>
                    <a:pt x="465" y="5"/>
                  </a:lnTo>
                  <a:lnTo>
                    <a:pt x="538" y="0"/>
                  </a:lnTo>
                  <a:lnTo>
                    <a:pt x="5146" y="0"/>
                  </a:lnTo>
                  <a:lnTo>
                    <a:pt x="5219" y="5"/>
                  </a:lnTo>
                  <a:lnTo>
                    <a:pt x="5289" y="20"/>
                  </a:lnTo>
                  <a:lnTo>
                    <a:pt x="5355" y="43"/>
                  </a:lnTo>
                  <a:lnTo>
                    <a:pt x="5417" y="74"/>
                  </a:lnTo>
                  <a:lnTo>
                    <a:pt x="5475" y="112"/>
                  </a:lnTo>
                  <a:lnTo>
                    <a:pt x="5526" y="158"/>
                  </a:lnTo>
                  <a:lnTo>
                    <a:pt x="5572" y="210"/>
                  </a:lnTo>
                  <a:lnTo>
                    <a:pt x="5610" y="267"/>
                  </a:lnTo>
                  <a:lnTo>
                    <a:pt x="5641" y="329"/>
                  </a:lnTo>
                  <a:lnTo>
                    <a:pt x="5664" y="395"/>
                  </a:lnTo>
                  <a:lnTo>
                    <a:pt x="5679" y="465"/>
                  </a:lnTo>
                  <a:lnTo>
                    <a:pt x="5684" y="538"/>
                  </a:lnTo>
                  <a:lnTo>
                    <a:pt x="5684" y="2688"/>
                  </a:lnTo>
                  <a:lnTo>
                    <a:pt x="5679" y="2761"/>
                  </a:lnTo>
                  <a:lnTo>
                    <a:pt x="5664" y="2831"/>
                  </a:lnTo>
                  <a:lnTo>
                    <a:pt x="5641" y="2898"/>
                  </a:lnTo>
                  <a:lnTo>
                    <a:pt x="5610" y="2960"/>
                  </a:lnTo>
                  <a:lnTo>
                    <a:pt x="5572" y="3017"/>
                  </a:lnTo>
                  <a:lnTo>
                    <a:pt x="5526" y="3069"/>
                  </a:lnTo>
                  <a:lnTo>
                    <a:pt x="5475" y="3114"/>
                  </a:lnTo>
                  <a:lnTo>
                    <a:pt x="5417" y="3153"/>
                  </a:lnTo>
                  <a:lnTo>
                    <a:pt x="5355" y="3184"/>
                  </a:lnTo>
                  <a:lnTo>
                    <a:pt x="5289" y="3207"/>
                  </a:lnTo>
                  <a:lnTo>
                    <a:pt x="5219" y="3221"/>
                  </a:lnTo>
                  <a:lnTo>
                    <a:pt x="5146" y="3226"/>
                  </a:lnTo>
                  <a:lnTo>
                    <a:pt x="538" y="3226"/>
                  </a:lnTo>
                  <a:lnTo>
                    <a:pt x="465" y="3221"/>
                  </a:lnTo>
                  <a:lnTo>
                    <a:pt x="395" y="3207"/>
                  </a:lnTo>
                  <a:lnTo>
                    <a:pt x="329" y="3184"/>
                  </a:lnTo>
                  <a:lnTo>
                    <a:pt x="267" y="3153"/>
                  </a:lnTo>
                  <a:lnTo>
                    <a:pt x="209" y="3114"/>
                  </a:lnTo>
                  <a:lnTo>
                    <a:pt x="158" y="3069"/>
                  </a:lnTo>
                  <a:lnTo>
                    <a:pt x="112" y="3017"/>
                  </a:lnTo>
                  <a:lnTo>
                    <a:pt x="74" y="2960"/>
                  </a:lnTo>
                  <a:lnTo>
                    <a:pt x="43" y="2898"/>
                  </a:lnTo>
                  <a:lnTo>
                    <a:pt x="20" y="2831"/>
                  </a:lnTo>
                  <a:lnTo>
                    <a:pt x="5" y="2761"/>
                  </a:lnTo>
                  <a:lnTo>
                    <a:pt x="0" y="2688"/>
                  </a:lnTo>
                  <a:lnTo>
                    <a:pt x="0" y="538"/>
                  </a:lnTo>
                  <a:close/>
                </a:path>
              </a:pathLst>
            </a:custGeom>
            <a:noFill/>
            <a:ln w="12192">
              <a:solidFill>
                <a:srgbClr val="FFFFFF"/>
              </a:solidFill>
              <a:round/>
              <a:headEnd/>
              <a:tailEnd/>
            </a:ln>
          </p:spPr>
          <p:txBody>
            <a:bodyPr vert="horz" wrap="square" lIns="91440" tIns="45720" rIns="91440" bIns="45720" numCol="1" anchor="t" anchorCtr="0" compatLnSpc="1">
              <a:prstTxWarp prst="textNoShape">
                <a:avLst/>
              </a:prstTxWarp>
            </a:bodyPr>
            <a:lstStyle/>
            <a:p>
              <a:endParaRPr lang="fr-FR"/>
            </a:p>
          </p:txBody>
        </p:sp>
      </p:grpSp>
      <p:sp>
        <p:nvSpPr>
          <p:cNvPr id="139271" name="Rectangle 7"/>
          <p:cNvSpPr>
            <a:spLocks noChangeArrowheads="1"/>
          </p:cNvSpPr>
          <p:nvPr/>
        </p:nvSpPr>
        <p:spPr bwMode="auto">
          <a:xfrm>
            <a:off x="2095472" y="2143116"/>
            <a:ext cx="1500198"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sz="2400" b="1" i="0" u="none" strike="noStrike" cap="none" normalizeH="0" baseline="0" dirty="0" smtClean="0">
                <a:ln>
                  <a:noFill/>
                </a:ln>
                <a:solidFill>
                  <a:srgbClr val="FFFFFF"/>
                </a:solidFill>
                <a:effectLst/>
                <a:latin typeface="Arial" pitchFamily="34" charset="0"/>
                <a:ea typeface="Verdana" pitchFamily="34" charset="0"/>
                <a:cs typeface="Verdana" pitchFamily="34" charset="0"/>
              </a:rPr>
              <a:t>Les Forces</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39272" name="Rectangle 8"/>
          <p:cNvSpPr>
            <a:spLocks noChangeArrowheads="1"/>
          </p:cNvSpPr>
          <p:nvPr/>
        </p:nvSpPr>
        <p:spPr bwMode="auto">
          <a:xfrm>
            <a:off x="4738678" y="2143116"/>
            <a:ext cx="4286280" cy="10618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173038" marR="0" lvl="1" indent="-80963" algn="ctr" defTabSz="914400" rtl="0" eaLnBrk="1" fontAlgn="base" latinLnBrk="0" hangingPunct="1">
              <a:lnSpc>
                <a:spcPct val="100000"/>
              </a:lnSpc>
              <a:spcBef>
                <a:spcPct val="0"/>
              </a:spcBef>
              <a:spcAft>
                <a:spcPct val="0"/>
              </a:spcAft>
              <a:buClrTx/>
              <a:buSzTx/>
              <a:buFontTx/>
              <a:buChar char="◦"/>
              <a:tabLst>
                <a:tab pos="528638" algn="l"/>
              </a:tabLst>
            </a:pPr>
            <a:r>
              <a:rPr kumimoji="0" lang="fr-FR" sz="21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Les facteurs internes à l’entreprise et qui lui procurent un avantage sur les concurrents</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grpSp>
        <p:nvGrpSpPr>
          <p:cNvPr id="4" name="Group 9"/>
          <p:cNvGrpSpPr>
            <a:grpSpLocks/>
          </p:cNvGrpSpPr>
          <p:nvPr/>
        </p:nvGrpSpPr>
        <p:grpSpPr bwMode="auto">
          <a:xfrm>
            <a:off x="952464" y="3857628"/>
            <a:ext cx="9037638" cy="2060575"/>
            <a:chOff x="1517" y="3272"/>
            <a:chExt cx="14232" cy="3245"/>
          </a:xfrm>
        </p:grpSpPr>
        <p:sp>
          <p:nvSpPr>
            <p:cNvPr id="139274" name="Freeform 10"/>
            <p:cNvSpPr>
              <a:spLocks/>
            </p:cNvSpPr>
            <p:nvPr/>
          </p:nvSpPr>
          <p:spPr bwMode="auto">
            <a:xfrm>
              <a:off x="7209" y="3281"/>
              <a:ext cx="8530" cy="3226"/>
            </a:xfrm>
            <a:custGeom>
              <a:avLst/>
              <a:gdLst/>
              <a:ahLst/>
              <a:cxnLst>
                <a:cxn ang="0">
                  <a:pos x="6916" y="0"/>
                </a:cxn>
                <a:cxn ang="0">
                  <a:pos x="6916" y="403"/>
                </a:cxn>
                <a:cxn ang="0">
                  <a:pos x="0" y="403"/>
                </a:cxn>
                <a:cxn ang="0">
                  <a:pos x="0" y="2822"/>
                </a:cxn>
                <a:cxn ang="0">
                  <a:pos x="6916" y="2822"/>
                </a:cxn>
                <a:cxn ang="0">
                  <a:pos x="6916" y="3225"/>
                </a:cxn>
                <a:cxn ang="0">
                  <a:pos x="8529" y="1613"/>
                </a:cxn>
                <a:cxn ang="0">
                  <a:pos x="6916" y="0"/>
                </a:cxn>
              </a:cxnLst>
              <a:rect l="0" t="0" r="r" b="b"/>
              <a:pathLst>
                <a:path w="8530" h="3226">
                  <a:moveTo>
                    <a:pt x="6916" y="0"/>
                  </a:moveTo>
                  <a:lnTo>
                    <a:pt x="6916" y="403"/>
                  </a:lnTo>
                  <a:lnTo>
                    <a:pt x="0" y="403"/>
                  </a:lnTo>
                  <a:lnTo>
                    <a:pt x="0" y="2822"/>
                  </a:lnTo>
                  <a:lnTo>
                    <a:pt x="6916" y="2822"/>
                  </a:lnTo>
                  <a:lnTo>
                    <a:pt x="6916" y="3225"/>
                  </a:lnTo>
                  <a:lnTo>
                    <a:pt x="8529" y="1613"/>
                  </a:lnTo>
                  <a:lnTo>
                    <a:pt x="6916" y="0"/>
                  </a:lnTo>
                  <a:close/>
                </a:path>
              </a:pathLst>
            </a:custGeom>
            <a:solidFill>
              <a:srgbClr val="FBEDCD">
                <a:alpha val="90195"/>
              </a:srgbClr>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39275" name="Freeform 11"/>
            <p:cNvSpPr>
              <a:spLocks/>
            </p:cNvSpPr>
            <p:nvPr/>
          </p:nvSpPr>
          <p:spPr bwMode="auto">
            <a:xfrm>
              <a:off x="7209" y="3281"/>
              <a:ext cx="8530" cy="3226"/>
            </a:xfrm>
            <a:custGeom>
              <a:avLst/>
              <a:gdLst/>
              <a:ahLst/>
              <a:cxnLst>
                <a:cxn ang="0">
                  <a:pos x="0" y="403"/>
                </a:cxn>
                <a:cxn ang="0">
                  <a:pos x="6916" y="403"/>
                </a:cxn>
                <a:cxn ang="0">
                  <a:pos x="6916" y="0"/>
                </a:cxn>
                <a:cxn ang="0">
                  <a:pos x="8529" y="1613"/>
                </a:cxn>
                <a:cxn ang="0">
                  <a:pos x="6916" y="3225"/>
                </a:cxn>
                <a:cxn ang="0">
                  <a:pos x="6916" y="2822"/>
                </a:cxn>
                <a:cxn ang="0">
                  <a:pos x="0" y="2822"/>
                </a:cxn>
                <a:cxn ang="0">
                  <a:pos x="0" y="403"/>
                </a:cxn>
              </a:cxnLst>
              <a:rect l="0" t="0" r="r" b="b"/>
              <a:pathLst>
                <a:path w="8530" h="3226">
                  <a:moveTo>
                    <a:pt x="0" y="403"/>
                  </a:moveTo>
                  <a:lnTo>
                    <a:pt x="6916" y="403"/>
                  </a:lnTo>
                  <a:lnTo>
                    <a:pt x="6916" y="0"/>
                  </a:lnTo>
                  <a:lnTo>
                    <a:pt x="8529" y="1613"/>
                  </a:lnTo>
                  <a:lnTo>
                    <a:pt x="6916" y="3225"/>
                  </a:lnTo>
                  <a:lnTo>
                    <a:pt x="6916" y="2822"/>
                  </a:lnTo>
                  <a:lnTo>
                    <a:pt x="0" y="2822"/>
                  </a:lnTo>
                  <a:lnTo>
                    <a:pt x="0" y="403"/>
                  </a:lnTo>
                  <a:close/>
                </a:path>
              </a:pathLst>
            </a:custGeom>
            <a:noFill/>
            <a:ln w="12192">
              <a:solidFill>
                <a:srgbClr val="FBEDCD"/>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39276" name="Freeform 12"/>
            <p:cNvSpPr>
              <a:spLocks/>
            </p:cNvSpPr>
            <p:nvPr/>
          </p:nvSpPr>
          <p:spPr bwMode="auto">
            <a:xfrm>
              <a:off x="1526" y="3281"/>
              <a:ext cx="5684" cy="3226"/>
            </a:xfrm>
            <a:custGeom>
              <a:avLst/>
              <a:gdLst/>
              <a:ahLst/>
              <a:cxnLst>
                <a:cxn ang="0">
                  <a:pos x="5146" y="0"/>
                </a:cxn>
                <a:cxn ang="0">
                  <a:pos x="538" y="0"/>
                </a:cxn>
                <a:cxn ang="0">
                  <a:pos x="465" y="5"/>
                </a:cxn>
                <a:cxn ang="0">
                  <a:pos x="395" y="19"/>
                </a:cxn>
                <a:cxn ang="0">
                  <a:pos x="329" y="42"/>
                </a:cxn>
                <a:cxn ang="0">
                  <a:pos x="267" y="73"/>
                </a:cxn>
                <a:cxn ang="0">
                  <a:pos x="209" y="112"/>
                </a:cxn>
                <a:cxn ang="0">
                  <a:pos x="158" y="157"/>
                </a:cxn>
                <a:cxn ang="0">
                  <a:pos x="112" y="209"/>
                </a:cxn>
                <a:cxn ang="0">
                  <a:pos x="74" y="266"/>
                </a:cxn>
                <a:cxn ang="0">
                  <a:pos x="43" y="328"/>
                </a:cxn>
                <a:cxn ang="0">
                  <a:pos x="20" y="394"/>
                </a:cxn>
                <a:cxn ang="0">
                  <a:pos x="5" y="464"/>
                </a:cxn>
                <a:cxn ang="0">
                  <a:pos x="0" y="537"/>
                </a:cxn>
                <a:cxn ang="0">
                  <a:pos x="0" y="2688"/>
                </a:cxn>
                <a:cxn ang="0">
                  <a:pos x="5" y="2761"/>
                </a:cxn>
                <a:cxn ang="0">
                  <a:pos x="20" y="2831"/>
                </a:cxn>
                <a:cxn ang="0">
                  <a:pos x="43" y="2897"/>
                </a:cxn>
                <a:cxn ang="0">
                  <a:pos x="74" y="2959"/>
                </a:cxn>
                <a:cxn ang="0">
                  <a:pos x="112" y="3016"/>
                </a:cxn>
                <a:cxn ang="0">
                  <a:pos x="158" y="3068"/>
                </a:cxn>
                <a:cxn ang="0">
                  <a:pos x="209" y="3113"/>
                </a:cxn>
                <a:cxn ang="0">
                  <a:pos x="267" y="3152"/>
                </a:cxn>
                <a:cxn ang="0">
                  <a:pos x="329" y="3183"/>
                </a:cxn>
                <a:cxn ang="0">
                  <a:pos x="395" y="3206"/>
                </a:cxn>
                <a:cxn ang="0">
                  <a:pos x="465" y="3220"/>
                </a:cxn>
                <a:cxn ang="0">
                  <a:pos x="538" y="3225"/>
                </a:cxn>
                <a:cxn ang="0">
                  <a:pos x="5146" y="3225"/>
                </a:cxn>
                <a:cxn ang="0">
                  <a:pos x="5219" y="3220"/>
                </a:cxn>
                <a:cxn ang="0">
                  <a:pos x="5289" y="3206"/>
                </a:cxn>
                <a:cxn ang="0">
                  <a:pos x="5355" y="3183"/>
                </a:cxn>
                <a:cxn ang="0">
                  <a:pos x="5417" y="3152"/>
                </a:cxn>
                <a:cxn ang="0">
                  <a:pos x="5475" y="3113"/>
                </a:cxn>
                <a:cxn ang="0">
                  <a:pos x="5526" y="3068"/>
                </a:cxn>
                <a:cxn ang="0">
                  <a:pos x="5572" y="3016"/>
                </a:cxn>
                <a:cxn ang="0">
                  <a:pos x="5610" y="2959"/>
                </a:cxn>
                <a:cxn ang="0">
                  <a:pos x="5641" y="2897"/>
                </a:cxn>
                <a:cxn ang="0">
                  <a:pos x="5664" y="2831"/>
                </a:cxn>
                <a:cxn ang="0">
                  <a:pos x="5679" y="2761"/>
                </a:cxn>
                <a:cxn ang="0">
                  <a:pos x="5684" y="2688"/>
                </a:cxn>
                <a:cxn ang="0">
                  <a:pos x="5684" y="537"/>
                </a:cxn>
                <a:cxn ang="0">
                  <a:pos x="5679" y="464"/>
                </a:cxn>
                <a:cxn ang="0">
                  <a:pos x="5664" y="394"/>
                </a:cxn>
                <a:cxn ang="0">
                  <a:pos x="5641" y="328"/>
                </a:cxn>
                <a:cxn ang="0">
                  <a:pos x="5610" y="266"/>
                </a:cxn>
                <a:cxn ang="0">
                  <a:pos x="5572" y="209"/>
                </a:cxn>
                <a:cxn ang="0">
                  <a:pos x="5526" y="157"/>
                </a:cxn>
                <a:cxn ang="0">
                  <a:pos x="5475" y="112"/>
                </a:cxn>
                <a:cxn ang="0">
                  <a:pos x="5417" y="73"/>
                </a:cxn>
                <a:cxn ang="0">
                  <a:pos x="5355" y="42"/>
                </a:cxn>
                <a:cxn ang="0">
                  <a:pos x="5289" y="19"/>
                </a:cxn>
                <a:cxn ang="0">
                  <a:pos x="5219" y="5"/>
                </a:cxn>
                <a:cxn ang="0">
                  <a:pos x="5146" y="0"/>
                </a:cxn>
              </a:cxnLst>
              <a:rect l="0" t="0" r="r" b="b"/>
              <a:pathLst>
                <a:path w="5684" h="3226">
                  <a:moveTo>
                    <a:pt x="5146" y="0"/>
                  </a:moveTo>
                  <a:lnTo>
                    <a:pt x="538" y="0"/>
                  </a:lnTo>
                  <a:lnTo>
                    <a:pt x="465" y="5"/>
                  </a:lnTo>
                  <a:lnTo>
                    <a:pt x="395" y="19"/>
                  </a:lnTo>
                  <a:lnTo>
                    <a:pt x="329" y="42"/>
                  </a:lnTo>
                  <a:lnTo>
                    <a:pt x="267" y="73"/>
                  </a:lnTo>
                  <a:lnTo>
                    <a:pt x="209" y="112"/>
                  </a:lnTo>
                  <a:lnTo>
                    <a:pt x="158" y="157"/>
                  </a:lnTo>
                  <a:lnTo>
                    <a:pt x="112" y="209"/>
                  </a:lnTo>
                  <a:lnTo>
                    <a:pt x="74" y="266"/>
                  </a:lnTo>
                  <a:lnTo>
                    <a:pt x="43" y="328"/>
                  </a:lnTo>
                  <a:lnTo>
                    <a:pt x="20" y="394"/>
                  </a:lnTo>
                  <a:lnTo>
                    <a:pt x="5" y="464"/>
                  </a:lnTo>
                  <a:lnTo>
                    <a:pt x="0" y="537"/>
                  </a:lnTo>
                  <a:lnTo>
                    <a:pt x="0" y="2688"/>
                  </a:lnTo>
                  <a:lnTo>
                    <a:pt x="5" y="2761"/>
                  </a:lnTo>
                  <a:lnTo>
                    <a:pt x="20" y="2831"/>
                  </a:lnTo>
                  <a:lnTo>
                    <a:pt x="43" y="2897"/>
                  </a:lnTo>
                  <a:lnTo>
                    <a:pt x="74" y="2959"/>
                  </a:lnTo>
                  <a:lnTo>
                    <a:pt x="112" y="3016"/>
                  </a:lnTo>
                  <a:lnTo>
                    <a:pt x="158" y="3068"/>
                  </a:lnTo>
                  <a:lnTo>
                    <a:pt x="209" y="3113"/>
                  </a:lnTo>
                  <a:lnTo>
                    <a:pt x="267" y="3152"/>
                  </a:lnTo>
                  <a:lnTo>
                    <a:pt x="329" y="3183"/>
                  </a:lnTo>
                  <a:lnTo>
                    <a:pt x="395" y="3206"/>
                  </a:lnTo>
                  <a:lnTo>
                    <a:pt x="465" y="3220"/>
                  </a:lnTo>
                  <a:lnTo>
                    <a:pt x="538" y="3225"/>
                  </a:lnTo>
                  <a:lnTo>
                    <a:pt x="5146" y="3225"/>
                  </a:lnTo>
                  <a:lnTo>
                    <a:pt x="5219" y="3220"/>
                  </a:lnTo>
                  <a:lnTo>
                    <a:pt x="5289" y="3206"/>
                  </a:lnTo>
                  <a:lnTo>
                    <a:pt x="5355" y="3183"/>
                  </a:lnTo>
                  <a:lnTo>
                    <a:pt x="5417" y="3152"/>
                  </a:lnTo>
                  <a:lnTo>
                    <a:pt x="5475" y="3113"/>
                  </a:lnTo>
                  <a:lnTo>
                    <a:pt x="5526" y="3068"/>
                  </a:lnTo>
                  <a:lnTo>
                    <a:pt x="5572" y="3016"/>
                  </a:lnTo>
                  <a:lnTo>
                    <a:pt x="5610" y="2959"/>
                  </a:lnTo>
                  <a:lnTo>
                    <a:pt x="5641" y="2897"/>
                  </a:lnTo>
                  <a:lnTo>
                    <a:pt x="5664" y="2831"/>
                  </a:lnTo>
                  <a:lnTo>
                    <a:pt x="5679" y="2761"/>
                  </a:lnTo>
                  <a:lnTo>
                    <a:pt x="5684" y="2688"/>
                  </a:lnTo>
                  <a:lnTo>
                    <a:pt x="5684" y="537"/>
                  </a:lnTo>
                  <a:lnTo>
                    <a:pt x="5679" y="464"/>
                  </a:lnTo>
                  <a:lnTo>
                    <a:pt x="5664" y="394"/>
                  </a:lnTo>
                  <a:lnTo>
                    <a:pt x="5641" y="328"/>
                  </a:lnTo>
                  <a:lnTo>
                    <a:pt x="5610" y="266"/>
                  </a:lnTo>
                  <a:lnTo>
                    <a:pt x="5572" y="209"/>
                  </a:lnTo>
                  <a:lnTo>
                    <a:pt x="5526" y="157"/>
                  </a:lnTo>
                  <a:lnTo>
                    <a:pt x="5475" y="112"/>
                  </a:lnTo>
                  <a:lnTo>
                    <a:pt x="5417" y="73"/>
                  </a:lnTo>
                  <a:lnTo>
                    <a:pt x="5355" y="42"/>
                  </a:lnTo>
                  <a:lnTo>
                    <a:pt x="5289" y="19"/>
                  </a:lnTo>
                  <a:lnTo>
                    <a:pt x="5219" y="5"/>
                  </a:lnTo>
                  <a:lnTo>
                    <a:pt x="5146" y="0"/>
                  </a:lnTo>
                  <a:close/>
                </a:path>
              </a:pathLst>
            </a:custGeom>
            <a:solidFill>
              <a:srgbClr val="F8D22E"/>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39277" name="Freeform 13"/>
            <p:cNvSpPr>
              <a:spLocks/>
            </p:cNvSpPr>
            <p:nvPr/>
          </p:nvSpPr>
          <p:spPr bwMode="auto">
            <a:xfrm>
              <a:off x="1526" y="3281"/>
              <a:ext cx="5684" cy="3226"/>
            </a:xfrm>
            <a:custGeom>
              <a:avLst/>
              <a:gdLst/>
              <a:ahLst/>
              <a:cxnLst>
                <a:cxn ang="0">
                  <a:pos x="0" y="537"/>
                </a:cxn>
                <a:cxn ang="0">
                  <a:pos x="5" y="464"/>
                </a:cxn>
                <a:cxn ang="0">
                  <a:pos x="20" y="394"/>
                </a:cxn>
                <a:cxn ang="0">
                  <a:pos x="43" y="328"/>
                </a:cxn>
                <a:cxn ang="0">
                  <a:pos x="74" y="266"/>
                </a:cxn>
                <a:cxn ang="0">
                  <a:pos x="112" y="209"/>
                </a:cxn>
                <a:cxn ang="0">
                  <a:pos x="158" y="157"/>
                </a:cxn>
                <a:cxn ang="0">
                  <a:pos x="209" y="112"/>
                </a:cxn>
                <a:cxn ang="0">
                  <a:pos x="267" y="73"/>
                </a:cxn>
                <a:cxn ang="0">
                  <a:pos x="329" y="42"/>
                </a:cxn>
                <a:cxn ang="0">
                  <a:pos x="395" y="19"/>
                </a:cxn>
                <a:cxn ang="0">
                  <a:pos x="465" y="5"/>
                </a:cxn>
                <a:cxn ang="0">
                  <a:pos x="538" y="0"/>
                </a:cxn>
                <a:cxn ang="0">
                  <a:pos x="5146" y="0"/>
                </a:cxn>
                <a:cxn ang="0">
                  <a:pos x="5219" y="5"/>
                </a:cxn>
                <a:cxn ang="0">
                  <a:pos x="5289" y="19"/>
                </a:cxn>
                <a:cxn ang="0">
                  <a:pos x="5355" y="42"/>
                </a:cxn>
                <a:cxn ang="0">
                  <a:pos x="5417" y="73"/>
                </a:cxn>
                <a:cxn ang="0">
                  <a:pos x="5475" y="112"/>
                </a:cxn>
                <a:cxn ang="0">
                  <a:pos x="5526" y="157"/>
                </a:cxn>
                <a:cxn ang="0">
                  <a:pos x="5572" y="209"/>
                </a:cxn>
                <a:cxn ang="0">
                  <a:pos x="5610" y="266"/>
                </a:cxn>
                <a:cxn ang="0">
                  <a:pos x="5641" y="328"/>
                </a:cxn>
                <a:cxn ang="0">
                  <a:pos x="5664" y="394"/>
                </a:cxn>
                <a:cxn ang="0">
                  <a:pos x="5679" y="464"/>
                </a:cxn>
                <a:cxn ang="0">
                  <a:pos x="5684" y="537"/>
                </a:cxn>
                <a:cxn ang="0">
                  <a:pos x="5684" y="2688"/>
                </a:cxn>
                <a:cxn ang="0">
                  <a:pos x="5679" y="2761"/>
                </a:cxn>
                <a:cxn ang="0">
                  <a:pos x="5664" y="2831"/>
                </a:cxn>
                <a:cxn ang="0">
                  <a:pos x="5641" y="2897"/>
                </a:cxn>
                <a:cxn ang="0">
                  <a:pos x="5610" y="2959"/>
                </a:cxn>
                <a:cxn ang="0">
                  <a:pos x="5572" y="3016"/>
                </a:cxn>
                <a:cxn ang="0">
                  <a:pos x="5526" y="3068"/>
                </a:cxn>
                <a:cxn ang="0">
                  <a:pos x="5475" y="3113"/>
                </a:cxn>
                <a:cxn ang="0">
                  <a:pos x="5417" y="3152"/>
                </a:cxn>
                <a:cxn ang="0">
                  <a:pos x="5355" y="3183"/>
                </a:cxn>
                <a:cxn ang="0">
                  <a:pos x="5289" y="3206"/>
                </a:cxn>
                <a:cxn ang="0">
                  <a:pos x="5219" y="3220"/>
                </a:cxn>
                <a:cxn ang="0">
                  <a:pos x="5146" y="3225"/>
                </a:cxn>
                <a:cxn ang="0">
                  <a:pos x="538" y="3225"/>
                </a:cxn>
                <a:cxn ang="0">
                  <a:pos x="465" y="3220"/>
                </a:cxn>
                <a:cxn ang="0">
                  <a:pos x="395" y="3206"/>
                </a:cxn>
                <a:cxn ang="0">
                  <a:pos x="329" y="3183"/>
                </a:cxn>
                <a:cxn ang="0">
                  <a:pos x="267" y="3152"/>
                </a:cxn>
                <a:cxn ang="0">
                  <a:pos x="209" y="3113"/>
                </a:cxn>
                <a:cxn ang="0">
                  <a:pos x="158" y="3068"/>
                </a:cxn>
                <a:cxn ang="0">
                  <a:pos x="112" y="3016"/>
                </a:cxn>
                <a:cxn ang="0">
                  <a:pos x="74" y="2959"/>
                </a:cxn>
                <a:cxn ang="0">
                  <a:pos x="43" y="2897"/>
                </a:cxn>
                <a:cxn ang="0">
                  <a:pos x="20" y="2831"/>
                </a:cxn>
                <a:cxn ang="0">
                  <a:pos x="5" y="2761"/>
                </a:cxn>
                <a:cxn ang="0">
                  <a:pos x="0" y="2688"/>
                </a:cxn>
                <a:cxn ang="0">
                  <a:pos x="0" y="537"/>
                </a:cxn>
              </a:cxnLst>
              <a:rect l="0" t="0" r="r" b="b"/>
              <a:pathLst>
                <a:path w="5684" h="3226">
                  <a:moveTo>
                    <a:pt x="0" y="537"/>
                  </a:moveTo>
                  <a:lnTo>
                    <a:pt x="5" y="464"/>
                  </a:lnTo>
                  <a:lnTo>
                    <a:pt x="20" y="394"/>
                  </a:lnTo>
                  <a:lnTo>
                    <a:pt x="43" y="328"/>
                  </a:lnTo>
                  <a:lnTo>
                    <a:pt x="74" y="266"/>
                  </a:lnTo>
                  <a:lnTo>
                    <a:pt x="112" y="209"/>
                  </a:lnTo>
                  <a:lnTo>
                    <a:pt x="158" y="157"/>
                  </a:lnTo>
                  <a:lnTo>
                    <a:pt x="209" y="112"/>
                  </a:lnTo>
                  <a:lnTo>
                    <a:pt x="267" y="73"/>
                  </a:lnTo>
                  <a:lnTo>
                    <a:pt x="329" y="42"/>
                  </a:lnTo>
                  <a:lnTo>
                    <a:pt x="395" y="19"/>
                  </a:lnTo>
                  <a:lnTo>
                    <a:pt x="465" y="5"/>
                  </a:lnTo>
                  <a:lnTo>
                    <a:pt x="538" y="0"/>
                  </a:lnTo>
                  <a:lnTo>
                    <a:pt x="5146" y="0"/>
                  </a:lnTo>
                  <a:lnTo>
                    <a:pt x="5219" y="5"/>
                  </a:lnTo>
                  <a:lnTo>
                    <a:pt x="5289" y="19"/>
                  </a:lnTo>
                  <a:lnTo>
                    <a:pt x="5355" y="42"/>
                  </a:lnTo>
                  <a:lnTo>
                    <a:pt x="5417" y="73"/>
                  </a:lnTo>
                  <a:lnTo>
                    <a:pt x="5475" y="112"/>
                  </a:lnTo>
                  <a:lnTo>
                    <a:pt x="5526" y="157"/>
                  </a:lnTo>
                  <a:lnTo>
                    <a:pt x="5572" y="209"/>
                  </a:lnTo>
                  <a:lnTo>
                    <a:pt x="5610" y="266"/>
                  </a:lnTo>
                  <a:lnTo>
                    <a:pt x="5641" y="328"/>
                  </a:lnTo>
                  <a:lnTo>
                    <a:pt x="5664" y="394"/>
                  </a:lnTo>
                  <a:lnTo>
                    <a:pt x="5679" y="464"/>
                  </a:lnTo>
                  <a:lnTo>
                    <a:pt x="5684" y="537"/>
                  </a:lnTo>
                  <a:lnTo>
                    <a:pt x="5684" y="2688"/>
                  </a:lnTo>
                  <a:lnTo>
                    <a:pt x="5679" y="2761"/>
                  </a:lnTo>
                  <a:lnTo>
                    <a:pt x="5664" y="2831"/>
                  </a:lnTo>
                  <a:lnTo>
                    <a:pt x="5641" y="2897"/>
                  </a:lnTo>
                  <a:lnTo>
                    <a:pt x="5610" y="2959"/>
                  </a:lnTo>
                  <a:lnTo>
                    <a:pt x="5572" y="3016"/>
                  </a:lnTo>
                  <a:lnTo>
                    <a:pt x="5526" y="3068"/>
                  </a:lnTo>
                  <a:lnTo>
                    <a:pt x="5475" y="3113"/>
                  </a:lnTo>
                  <a:lnTo>
                    <a:pt x="5417" y="3152"/>
                  </a:lnTo>
                  <a:lnTo>
                    <a:pt x="5355" y="3183"/>
                  </a:lnTo>
                  <a:lnTo>
                    <a:pt x="5289" y="3206"/>
                  </a:lnTo>
                  <a:lnTo>
                    <a:pt x="5219" y="3220"/>
                  </a:lnTo>
                  <a:lnTo>
                    <a:pt x="5146" y="3225"/>
                  </a:lnTo>
                  <a:lnTo>
                    <a:pt x="538" y="3225"/>
                  </a:lnTo>
                  <a:lnTo>
                    <a:pt x="465" y="3220"/>
                  </a:lnTo>
                  <a:lnTo>
                    <a:pt x="395" y="3206"/>
                  </a:lnTo>
                  <a:lnTo>
                    <a:pt x="329" y="3183"/>
                  </a:lnTo>
                  <a:lnTo>
                    <a:pt x="267" y="3152"/>
                  </a:lnTo>
                  <a:lnTo>
                    <a:pt x="209" y="3113"/>
                  </a:lnTo>
                  <a:lnTo>
                    <a:pt x="158" y="3068"/>
                  </a:lnTo>
                  <a:lnTo>
                    <a:pt x="112" y="3016"/>
                  </a:lnTo>
                  <a:lnTo>
                    <a:pt x="74" y="2959"/>
                  </a:lnTo>
                  <a:lnTo>
                    <a:pt x="43" y="2897"/>
                  </a:lnTo>
                  <a:lnTo>
                    <a:pt x="20" y="2831"/>
                  </a:lnTo>
                  <a:lnTo>
                    <a:pt x="5" y="2761"/>
                  </a:lnTo>
                  <a:lnTo>
                    <a:pt x="0" y="2688"/>
                  </a:lnTo>
                  <a:lnTo>
                    <a:pt x="0" y="537"/>
                  </a:lnTo>
                  <a:close/>
                </a:path>
              </a:pathLst>
            </a:custGeom>
            <a:noFill/>
            <a:ln w="12192">
              <a:solidFill>
                <a:srgbClr val="FFFFFF"/>
              </a:solidFill>
              <a:round/>
              <a:headEnd/>
              <a:tailEnd/>
            </a:ln>
          </p:spPr>
          <p:txBody>
            <a:bodyPr vert="horz" wrap="square" lIns="91440" tIns="45720" rIns="91440" bIns="45720" numCol="1" anchor="t" anchorCtr="0" compatLnSpc="1">
              <a:prstTxWarp prst="textNoShape">
                <a:avLst/>
              </a:prstTxWarp>
            </a:bodyPr>
            <a:lstStyle/>
            <a:p>
              <a:endParaRPr lang="fr-FR"/>
            </a:p>
          </p:txBody>
        </p:sp>
      </p:grpSp>
      <p:sp>
        <p:nvSpPr>
          <p:cNvPr id="139278" name="Rectangle 14"/>
          <p:cNvSpPr>
            <a:spLocks noChangeArrowheads="1"/>
          </p:cNvSpPr>
          <p:nvPr/>
        </p:nvSpPr>
        <p:spPr bwMode="auto">
          <a:xfrm>
            <a:off x="1881158" y="4286256"/>
            <a:ext cx="2071702"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606425" algn="l" defTabSz="914400" rtl="0" eaLnBrk="1" fontAlgn="base" latinLnBrk="0" hangingPunct="1">
              <a:lnSpc>
                <a:spcPct val="100000"/>
              </a:lnSpc>
              <a:spcBef>
                <a:spcPct val="0"/>
              </a:spcBef>
              <a:spcAft>
                <a:spcPct val="0"/>
              </a:spcAft>
              <a:buClrTx/>
              <a:buSzTx/>
              <a:buFontTx/>
              <a:buNone/>
              <a:tabLst/>
            </a:pPr>
            <a:r>
              <a:rPr kumimoji="0" lang="fr-FR" sz="2400" b="1" i="0" u="none" strike="noStrike" cap="none" normalizeH="0" baseline="0" dirty="0" smtClean="0">
                <a:ln>
                  <a:noFill/>
                </a:ln>
                <a:solidFill>
                  <a:srgbClr val="FFFFFF"/>
                </a:solidFill>
                <a:effectLst/>
                <a:latin typeface="Arial" pitchFamily="34" charset="0"/>
                <a:ea typeface="Verdana" pitchFamily="34" charset="0"/>
                <a:cs typeface="Verdana" pitchFamily="34" charset="0"/>
              </a:rPr>
              <a:t>Les Faiblesses</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39279" name="Rectangle 15"/>
          <p:cNvSpPr>
            <a:spLocks noChangeArrowheads="1"/>
          </p:cNvSpPr>
          <p:nvPr/>
        </p:nvSpPr>
        <p:spPr bwMode="auto">
          <a:xfrm>
            <a:off x="4524364" y="4071942"/>
            <a:ext cx="4714908" cy="170816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92075" marR="0" lvl="2" algn="ctr" defTabSz="914400" rtl="0" eaLnBrk="1" fontAlgn="base" latinLnBrk="0" hangingPunct="1">
              <a:lnSpc>
                <a:spcPct val="100000"/>
              </a:lnSpc>
              <a:spcBef>
                <a:spcPct val="0"/>
              </a:spcBef>
              <a:spcAft>
                <a:spcPct val="0"/>
              </a:spcAft>
              <a:buClrTx/>
              <a:buSzPct val="100000"/>
              <a:buFontTx/>
              <a:buChar char="•"/>
              <a:tabLst>
                <a:tab pos="582613" algn="l"/>
              </a:tabLst>
            </a:pPr>
            <a:r>
              <a:rPr kumimoji="0" lang="fr-FR" sz="21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Les facteurs internes négatifs qui peuvent se révéler néfastes pour l’organisation au regard de la concurrence et qui peuvent être améliorés</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 xmlns:p14="http://schemas.microsoft.com/office/powerpoint/2010/main" val="3768199782"/>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a:xfrm>
            <a:off x="8763000" y="6450458"/>
            <a:ext cx="2805620" cy="342900"/>
          </a:xfrm>
        </p:spPr>
        <p:txBody>
          <a:bodyPr/>
          <a:lstStyle/>
          <a:p>
            <a:fld id="{B6F15528-21DE-4FAA-801E-634DDDAF4B2B}" type="slidenum">
              <a:rPr lang="fr-FR" smtClean="0"/>
              <a:pPr/>
              <a:t>144</a:t>
            </a:fld>
            <a:endParaRPr lang="fr-FR" dirty="0"/>
          </a:p>
        </p:txBody>
      </p:sp>
      <p:sp>
        <p:nvSpPr>
          <p:cNvPr id="2" name="AutoShape 2" descr="Le Wagon logo"/>
          <p:cNvSpPr>
            <a:spLocks noChangeAspect="1" noChangeArrowheads="1"/>
          </p:cNvSpPr>
          <p:nvPr/>
        </p:nvSpPr>
        <p:spPr bwMode="auto">
          <a:xfrm>
            <a:off x="155575" y="-144463"/>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dirty="0"/>
          </a:p>
        </p:txBody>
      </p:sp>
      <p:sp>
        <p:nvSpPr>
          <p:cNvPr id="138241" name="Rectangle 1"/>
          <p:cNvSpPr>
            <a:spLocks noChangeArrowheads="1"/>
          </p:cNvSpPr>
          <p:nvPr/>
        </p:nvSpPr>
        <p:spPr bwMode="auto">
          <a:xfrm>
            <a:off x="595274" y="1071546"/>
            <a:ext cx="5672515" cy="43088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Low" defTabSz="914400" rtl="0" eaLnBrk="1" fontAlgn="base" latinLnBrk="0" hangingPunct="1">
              <a:lnSpc>
                <a:spcPct val="100000"/>
              </a:lnSpc>
              <a:spcBef>
                <a:spcPct val="0"/>
              </a:spcBef>
              <a:spcAft>
                <a:spcPct val="0"/>
              </a:spcAft>
              <a:buClrTx/>
              <a:buSzTx/>
              <a:tabLst/>
            </a:pPr>
            <a:r>
              <a:rPr kumimoji="0" lang="fr-FR" sz="2200" b="1" i="0" u="none" strike="noStrike" cap="none" normalizeH="0" baseline="0" dirty="0" smtClean="0">
                <a:ln>
                  <a:noFill/>
                </a:ln>
                <a:solidFill>
                  <a:srgbClr val="215868"/>
                </a:solidFill>
                <a:effectLst/>
                <a:latin typeface="Arial" pitchFamily="34" charset="0"/>
                <a:ea typeface="Verdana" pitchFamily="34" charset="0"/>
                <a:cs typeface="Verdana" pitchFamily="34" charset="0"/>
              </a:rPr>
              <a:t>b) Analyse SWOT / Le diagnostic externe</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grpSp>
        <p:nvGrpSpPr>
          <p:cNvPr id="3" name="Group 2"/>
          <p:cNvGrpSpPr>
            <a:grpSpLocks/>
          </p:cNvGrpSpPr>
          <p:nvPr/>
        </p:nvGrpSpPr>
        <p:grpSpPr bwMode="auto">
          <a:xfrm>
            <a:off x="595274" y="1571612"/>
            <a:ext cx="10215634" cy="2063750"/>
            <a:chOff x="1018" y="1905"/>
            <a:chExt cx="14453" cy="3250"/>
          </a:xfrm>
        </p:grpSpPr>
        <p:sp>
          <p:nvSpPr>
            <p:cNvPr id="138243" name="Freeform 3"/>
            <p:cNvSpPr>
              <a:spLocks/>
            </p:cNvSpPr>
            <p:nvPr/>
          </p:nvSpPr>
          <p:spPr bwMode="auto">
            <a:xfrm>
              <a:off x="6801" y="1914"/>
              <a:ext cx="8660" cy="3231"/>
            </a:xfrm>
            <a:custGeom>
              <a:avLst/>
              <a:gdLst/>
              <a:ahLst/>
              <a:cxnLst>
                <a:cxn ang="0">
                  <a:pos x="7044" y="0"/>
                </a:cxn>
                <a:cxn ang="0">
                  <a:pos x="7044" y="404"/>
                </a:cxn>
                <a:cxn ang="0">
                  <a:pos x="0" y="404"/>
                </a:cxn>
                <a:cxn ang="0">
                  <a:pos x="0" y="2827"/>
                </a:cxn>
                <a:cxn ang="0">
                  <a:pos x="7044" y="2827"/>
                </a:cxn>
                <a:cxn ang="0">
                  <a:pos x="7044" y="3231"/>
                </a:cxn>
                <a:cxn ang="0">
                  <a:pos x="8659" y="1616"/>
                </a:cxn>
                <a:cxn ang="0">
                  <a:pos x="7044" y="0"/>
                </a:cxn>
              </a:cxnLst>
              <a:rect l="0" t="0" r="r" b="b"/>
              <a:pathLst>
                <a:path w="8660" h="3231">
                  <a:moveTo>
                    <a:pt x="7044" y="0"/>
                  </a:moveTo>
                  <a:lnTo>
                    <a:pt x="7044" y="404"/>
                  </a:lnTo>
                  <a:lnTo>
                    <a:pt x="0" y="404"/>
                  </a:lnTo>
                  <a:lnTo>
                    <a:pt x="0" y="2827"/>
                  </a:lnTo>
                  <a:lnTo>
                    <a:pt x="7044" y="2827"/>
                  </a:lnTo>
                  <a:lnTo>
                    <a:pt x="7044" y="3231"/>
                  </a:lnTo>
                  <a:lnTo>
                    <a:pt x="8659" y="1616"/>
                  </a:lnTo>
                  <a:lnTo>
                    <a:pt x="7044" y="0"/>
                  </a:lnTo>
                  <a:close/>
                </a:path>
              </a:pathLst>
            </a:custGeom>
            <a:solidFill>
              <a:srgbClr val="F8CECD">
                <a:alpha val="90195"/>
              </a:srgbClr>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38244" name="Freeform 4"/>
            <p:cNvSpPr>
              <a:spLocks/>
            </p:cNvSpPr>
            <p:nvPr/>
          </p:nvSpPr>
          <p:spPr bwMode="auto">
            <a:xfrm>
              <a:off x="6801" y="1914"/>
              <a:ext cx="8660" cy="3231"/>
            </a:xfrm>
            <a:custGeom>
              <a:avLst/>
              <a:gdLst/>
              <a:ahLst/>
              <a:cxnLst>
                <a:cxn ang="0">
                  <a:pos x="0" y="404"/>
                </a:cxn>
                <a:cxn ang="0">
                  <a:pos x="7044" y="404"/>
                </a:cxn>
                <a:cxn ang="0">
                  <a:pos x="7044" y="0"/>
                </a:cxn>
                <a:cxn ang="0">
                  <a:pos x="8659" y="1616"/>
                </a:cxn>
                <a:cxn ang="0">
                  <a:pos x="7044" y="3231"/>
                </a:cxn>
                <a:cxn ang="0">
                  <a:pos x="7044" y="2827"/>
                </a:cxn>
                <a:cxn ang="0">
                  <a:pos x="0" y="2827"/>
                </a:cxn>
                <a:cxn ang="0">
                  <a:pos x="0" y="404"/>
                </a:cxn>
              </a:cxnLst>
              <a:rect l="0" t="0" r="r" b="b"/>
              <a:pathLst>
                <a:path w="8660" h="3231">
                  <a:moveTo>
                    <a:pt x="0" y="404"/>
                  </a:moveTo>
                  <a:lnTo>
                    <a:pt x="7044" y="404"/>
                  </a:lnTo>
                  <a:lnTo>
                    <a:pt x="7044" y="0"/>
                  </a:lnTo>
                  <a:lnTo>
                    <a:pt x="8659" y="1616"/>
                  </a:lnTo>
                  <a:lnTo>
                    <a:pt x="7044" y="3231"/>
                  </a:lnTo>
                  <a:lnTo>
                    <a:pt x="7044" y="2827"/>
                  </a:lnTo>
                  <a:lnTo>
                    <a:pt x="0" y="2827"/>
                  </a:lnTo>
                  <a:lnTo>
                    <a:pt x="0" y="404"/>
                  </a:lnTo>
                  <a:close/>
                </a:path>
              </a:pathLst>
            </a:custGeom>
            <a:noFill/>
            <a:ln w="12192">
              <a:solidFill>
                <a:srgbClr val="F8CECD"/>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38245" name="Freeform 5"/>
            <p:cNvSpPr>
              <a:spLocks/>
            </p:cNvSpPr>
            <p:nvPr/>
          </p:nvSpPr>
          <p:spPr bwMode="auto">
            <a:xfrm>
              <a:off x="1027" y="1914"/>
              <a:ext cx="5775" cy="3231"/>
            </a:xfrm>
            <a:custGeom>
              <a:avLst/>
              <a:gdLst/>
              <a:ahLst/>
              <a:cxnLst>
                <a:cxn ang="0">
                  <a:pos x="5236" y="0"/>
                </a:cxn>
                <a:cxn ang="0">
                  <a:pos x="539" y="0"/>
                </a:cxn>
                <a:cxn ang="0">
                  <a:pos x="466" y="5"/>
                </a:cxn>
                <a:cxn ang="0">
                  <a:pos x="395" y="20"/>
                </a:cxn>
                <a:cxn ang="0">
                  <a:pos x="329" y="43"/>
                </a:cxn>
                <a:cxn ang="0">
                  <a:pos x="267" y="74"/>
                </a:cxn>
                <a:cxn ang="0">
                  <a:pos x="210" y="113"/>
                </a:cxn>
                <a:cxn ang="0">
                  <a:pos x="158" y="158"/>
                </a:cxn>
                <a:cxn ang="0">
                  <a:pos x="112" y="210"/>
                </a:cxn>
                <a:cxn ang="0">
                  <a:pos x="74" y="267"/>
                </a:cxn>
                <a:cxn ang="0">
                  <a:pos x="43" y="329"/>
                </a:cxn>
                <a:cxn ang="0">
                  <a:pos x="19" y="396"/>
                </a:cxn>
                <a:cxn ang="0">
                  <a:pos x="5" y="466"/>
                </a:cxn>
                <a:cxn ang="0">
                  <a:pos x="0" y="539"/>
                </a:cxn>
                <a:cxn ang="0">
                  <a:pos x="0" y="2692"/>
                </a:cxn>
                <a:cxn ang="0">
                  <a:pos x="5" y="2766"/>
                </a:cxn>
                <a:cxn ang="0">
                  <a:pos x="19" y="2836"/>
                </a:cxn>
                <a:cxn ang="0">
                  <a:pos x="43" y="2902"/>
                </a:cxn>
                <a:cxn ang="0">
                  <a:pos x="74" y="2964"/>
                </a:cxn>
                <a:cxn ang="0">
                  <a:pos x="112" y="3022"/>
                </a:cxn>
                <a:cxn ang="0">
                  <a:pos x="158" y="3073"/>
                </a:cxn>
                <a:cxn ang="0">
                  <a:pos x="210" y="3119"/>
                </a:cxn>
                <a:cxn ang="0">
                  <a:pos x="267" y="3157"/>
                </a:cxn>
                <a:cxn ang="0">
                  <a:pos x="329" y="3189"/>
                </a:cxn>
                <a:cxn ang="0">
                  <a:pos x="395" y="3212"/>
                </a:cxn>
                <a:cxn ang="0">
                  <a:pos x="466" y="3226"/>
                </a:cxn>
                <a:cxn ang="0">
                  <a:pos x="539" y="3231"/>
                </a:cxn>
                <a:cxn ang="0">
                  <a:pos x="5236" y="3231"/>
                </a:cxn>
                <a:cxn ang="0">
                  <a:pos x="5309" y="3226"/>
                </a:cxn>
                <a:cxn ang="0">
                  <a:pos x="5379" y="3212"/>
                </a:cxn>
                <a:cxn ang="0">
                  <a:pos x="5446" y="3189"/>
                </a:cxn>
                <a:cxn ang="0">
                  <a:pos x="5508" y="3157"/>
                </a:cxn>
                <a:cxn ang="0">
                  <a:pos x="5565" y="3119"/>
                </a:cxn>
                <a:cxn ang="0">
                  <a:pos x="5617" y="3073"/>
                </a:cxn>
                <a:cxn ang="0">
                  <a:pos x="5662" y="3022"/>
                </a:cxn>
                <a:cxn ang="0">
                  <a:pos x="5701" y="2964"/>
                </a:cxn>
                <a:cxn ang="0">
                  <a:pos x="5732" y="2902"/>
                </a:cxn>
                <a:cxn ang="0">
                  <a:pos x="5755" y="2836"/>
                </a:cxn>
                <a:cxn ang="0">
                  <a:pos x="5770" y="2766"/>
                </a:cxn>
                <a:cxn ang="0">
                  <a:pos x="5775" y="2692"/>
                </a:cxn>
                <a:cxn ang="0">
                  <a:pos x="5775" y="539"/>
                </a:cxn>
                <a:cxn ang="0">
                  <a:pos x="5770" y="466"/>
                </a:cxn>
                <a:cxn ang="0">
                  <a:pos x="5755" y="396"/>
                </a:cxn>
                <a:cxn ang="0">
                  <a:pos x="5732" y="329"/>
                </a:cxn>
                <a:cxn ang="0">
                  <a:pos x="5701" y="267"/>
                </a:cxn>
                <a:cxn ang="0">
                  <a:pos x="5662" y="210"/>
                </a:cxn>
                <a:cxn ang="0">
                  <a:pos x="5617" y="158"/>
                </a:cxn>
                <a:cxn ang="0">
                  <a:pos x="5565" y="113"/>
                </a:cxn>
                <a:cxn ang="0">
                  <a:pos x="5508" y="74"/>
                </a:cxn>
                <a:cxn ang="0">
                  <a:pos x="5446" y="43"/>
                </a:cxn>
                <a:cxn ang="0">
                  <a:pos x="5379" y="20"/>
                </a:cxn>
                <a:cxn ang="0">
                  <a:pos x="5309" y="5"/>
                </a:cxn>
                <a:cxn ang="0">
                  <a:pos x="5236" y="0"/>
                </a:cxn>
              </a:cxnLst>
              <a:rect l="0" t="0" r="r" b="b"/>
              <a:pathLst>
                <a:path w="5775" h="3231">
                  <a:moveTo>
                    <a:pt x="5236" y="0"/>
                  </a:moveTo>
                  <a:lnTo>
                    <a:pt x="539" y="0"/>
                  </a:lnTo>
                  <a:lnTo>
                    <a:pt x="466" y="5"/>
                  </a:lnTo>
                  <a:lnTo>
                    <a:pt x="395" y="20"/>
                  </a:lnTo>
                  <a:lnTo>
                    <a:pt x="329" y="43"/>
                  </a:lnTo>
                  <a:lnTo>
                    <a:pt x="267" y="74"/>
                  </a:lnTo>
                  <a:lnTo>
                    <a:pt x="210" y="113"/>
                  </a:lnTo>
                  <a:lnTo>
                    <a:pt x="158" y="158"/>
                  </a:lnTo>
                  <a:lnTo>
                    <a:pt x="112" y="210"/>
                  </a:lnTo>
                  <a:lnTo>
                    <a:pt x="74" y="267"/>
                  </a:lnTo>
                  <a:lnTo>
                    <a:pt x="43" y="329"/>
                  </a:lnTo>
                  <a:lnTo>
                    <a:pt x="19" y="396"/>
                  </a:lnTo>
                  <a:lnTo>
                    <a:pt x="5" y="466"/>
                  </a:lnTo>
                  <a:lnTo>
                    <a:pt x="0" y="539"/>
                  </a:lnTo>
                  <a:lnTo>
                    <a:pt x="0" y="2692"/>
                  </a:lnTo>
                  <a:lnTo>
                    <a:pt x="5" y="2766"/>
                  </a:lnTo>
                  <a:lnTo>
                    <a:pt x="19" y="2836"/>
                  </a:lnTo>
                  <a:lnTo>
                    <a:pt x="43" y="2902"/>
                  </a:lnTo>
                  <a:lnTo>
                    <a:pt x="74" y="2964"/>
                  </a:lnTo>
                  <a:lnTo>
                    <a:pt x="112" y="3022"/>
                  </a:lnTo>
                  <a:lnTo>
                    <a:pt x="158" y="3073"/>
                  </a:lnTo>
                  <a:lnTo>
                    <a:pt x="210" y="3119"/>
                  </a:lnTo>
                  <a:lnTo>
                    <a:pt x="267" y="3157"/>
                  </a:lnTo>
                  <a:lnTo>
                    <a:pt x="329" y="3189"/>
                  </a:lnTo>
                  <a:lnTo>
                    <a:pt x="395" y="3212"/>
                  </a:lnTo>
                  <a:lnTo>
                    <a:pt x="466" y="3226"/>
                  </a:lnTo>
                  <a:lnTo>
                    <a:pt x="539" y="3231"/>
                  </a:lnTo>
                  <a:lnTo>
                    <a:pt x="5236" y="3231"/>
                  </a:lnTo>
                  <a:lnTo>
                    <a:pt x="5309" y="3226"/>
                  </a:lnTo>
                  <a:lnTo>
                    <a:pt x="5379" y="3212"/>
                  </a:lnTo>
                  <a:lnTo>
                    <a:pt x="5446" y="3189"/>
                  </a:lnTo>
                  <a:lnTo>
                    <a:pt x="5508" y="3157"/>
                  </a:lnTo>
                  <a:lnTo>
                    <a:pt x="5565" y="3119"/>
                  </a:lnTo>
                  <a:lnTo>
                    <a:pt x="5617" y="3073"/>
                  </a:lnTo>
                  <a:lnTo>
                    <a:pt x="5662" y="3022"/>
                  </a:lnTo>
                  <a:lnTo>
                    <a:pt x="5701" y="2964"/>
                  </a:lnTo>
                  <a:lnTo>
                    <a:pt x="5732" y="2902"/>
                  </a:lnTo>
                  <a:lnTo>
                    <a:pt x="5755" y="2836"/>
                  </a:lnTo>
                  <a:lnTo>
                    <a:pt x="5770" y="2766"/>
                  </a:lnTo>
                  <a:lnTo>
                    <a:pt x="5775" y="2692"/>
                  </a:lnTo>
                  <a:lnTo>
                    <a:pt x="5775" y="539"/>
                  </a:lnTo>
                  <a:lnTo>
                    <a:pt x="5770" y="466"/>
                  </a:lnTo>
                  <a:lnTo>
                    <a:pt x="5755" y="396"/>
                  </a:lnTo>
                  <a:lnTo>
                    <a:pt x="5732" y="329"/>
                  </a:lnTo>
                  <a:lnTo>
                    <a:pt x="5701" y="267"/>
                  </a:lnTo>
                  <a:lnTo>
                    <a:pt x="5662" y="210"/>
                  </a:lnTo>
                  <a:lnTo>
                    <a:pt x="5617" y="158"/>
                  </a:lnTo>
                  <a:lnTo>
                    <a:pt x="5565" y="113"/>
                  </a:lnTo>
                  <a:lnTo>
                    <a:pt x="5508" y="74"/>
                  </a:lnTo>
                  <a:lnTo>
                    <a:pt x="5446" y="43"/>
                  </a:lnTo>
                  <a:lnTo>
                    <a:pt x="5379" y="20"/>
                  </a:lnTo>
                  <a:lnTo>
                    <a:pt x="5309" y="5"/>
                  </a:lnTo>
                  <a:lnTo>
                    <a:pt x="5236" y="0"/>
                  </a:lnTo>
                  <a:close/>
                </a:path>
              </a:pathLst>
            </a:custGeom>
            <a:solidFill>
              <a:srgbClr val="EF3E2B"/>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38246" name="Freeform 6"/>
            <p:cNvSpPr>
              <a:spLocks/>
            </p:cNvSpPr>
            <p:nvPr/>
          </p:nvSpPr>
          <p:spPr bwMode="auto">
            <a:xfrm>
              <a:off x="1027" y="1914"/>
              <a:ext cx="5775" cy="3231"/>
            </a:xfrm>
            <a:custGeom>
              <a:avLst/>
              <a:gdLst/>
              <a:ahLst/>
              <a:cxnLst>
                <a:cxn ang="0">
                  <a:pos x="0" y="539"/>
                </a:cxn>
                <a:cxn ang="0">
                  <a:pos x="5" y="466"/>
                </a:cxn>
                <a:cxn ang="0">
                  <a:pos x="19" y="396"/>
                </a:cxn>
                <a:cxn ang="0">
                  <a:pos x="43" y="329"/>
                </a:cxn>
                <a:cxn ang="0">
                  <a:pos x="74" y="267"/>
                </a:cxn>
                <a:cxn ang="0">
                  <a:pos x="112" y="210"/>
                </a:cxn>
                <a:cxn ang="0">
                  <a:pos x="158" y="158"/>
                </a:cxn>
                <a:cxn ang="0">
                  <a:pos x="210" y="113"/>
                </a:cxn>
                <a:cxn ang="0">
                  <a:pos x="267" y="74"/>
                </a:cxn>
                <a:cxn ang="0">
                  <a:pos x="329" y="43"/>
                </a:cxn>
                <a:cxn ang="0">
                  <a:pos x="395" y="20"/>
                </a:cxn>
                <a:cxn ang="0">
                  <a:pos x="466" y="5"/>
                </a:cxn>
                <a:cxn ang="0">
                  <a:pos x="539" y="0"/>
                </a:cxn>
                <a:cxn ang="0">
                  <a:pos x="5236" y="0"/>
                </a:cxn>
                <a:cxn ang="0">
                  <a:pos x="5309" y="5"/>
                </a:cxn>
                <a:cxn ang="0">
                  <a:pos x="5379" y="20"/>
                </a:cxn>
                <a:cxn ang="0">
                  <a:pos x="5446" y="43"/>
                </a:cxn>
                <a:cxn ang="0">
                  <a:pos x="5508" y="74"/>
                </a:cxn>
                <a:cxn ang="0">
                  <a:pos x="5565" y="113"/>
                </a:cxn>
                <a:cxn ang="0">
                  <a:pos x="5617" y="158"/>
                </a:cxn>
                <a:cxn ang="0">
                  <a:pos x="5662" y="210"/>
                </a:cxn>
                <a:cxn ang="0">
                  <a:pos x="5701" y="267"/>
                </a:cxn>
                <a:cxn ang="0">
                  <a:pos x="5732" y="329"/>
                </a:cxn>
                <a:cxn ang="0">
                  <a:pos x="5755" y="396"/>
                </a:cxn>
                <a:cxn ang="0">
                  <a:pos x="5770" y="466"/>
                </a:cxn>
                <a:cxn ang="0">
                  <a:pos x="5775" y="539"/>
                </a:cxn>
                <a:cxn ang="0">
                  <a:pos x="5775" y="2692"/>
                </a:cxn>
                <a:cxn ang="0">
                  <a:pos x="5770" y="2766"/>
                </a:cxn>
                <a:cxn ang="0">
                  <a:pos x="5755" y="2836"/>
                </a:cxn>
                <a:cxn ang="0">
                  <a:pos x="5732" y="2902"/>
                </a:cxn>
                <a:cxn ang="0">
                  <a:pos x="5701" y="2964"/>
                </a:cxn>
                <a:cxn ang="0">
                  <a:pos x="5662" y="3022"/>
                </a:cxn>
                <a:cxn ang="0">
                  <a:pos x="5617" y="3073"/>
                </a:cxn>
                <a:cxn ang="0">
                  <a:pos x="5565" y="3119"/>
                </a:cxn>
                <a:cxn ang="0">
                  <a:pos x="5508" y="3157"/>
                </a:cxn>
                <a:cxn ang="0">
                  <a:pos x="5446" y="3189"/>
                </a:cxn>
                <a:cxn ang="0">
                  <a:pos x="5379" y="3212"/>
                </a:cxn>
                <a:cxn ang="0">
                  <a:pos x="5309" y="3226"/>
                </a:cxn>
                <a:cxn ang="0">
                  <a:pos x="5236" y="3231"/>
                </a:cxn>
                <a:cxn ang="0">
                  <a:pos x="539" y="3231"/>
                </a:cxn>
                <a:cxn ang="0">
                  <a:pos x="466" y="3226"/>
                </a:cxn>
                <a:cxn ang="0">
                  <a:pos x="395" y="3212"/>
                </a:cxn>
                <a:cxn ang="0">
                  <a:pos x="329" y="3189"/>
                </a:cxn>
                <a:cxn ang="0">
                  <a:pos x="267" y="3157"/>
                </a:cxn>
                <a:cxn ang="0">
                  <a:pos x="210" y="3119"/>
                </a:cxn>
                <a:cxn ang="0">
                  <a:pos x="158" y="3073"/>
                </a:cxn>
                <a:cxn ang="0">
                  <a:pos x="112" y="3022"/>
                </a:cxn>
                <a:cxn ang="0">
                  <a:pos x="74" y="2964"/>
                </a:cxn>
                <a:cxn ang="0">
                  <a:pos x="43" y="2902"/>
                </a:cxn>
                <a:cxn ang="0">
                  <a:pos x="19" y="2836"/>
                </a:cxn>
                <a:cxn ang="0">
                  <a:pos x="5" y="2766"/>
                </a:cxn>
                <a:cxn ang="0">
                  <a:pos x="0" y="2692"/>
                </a:cxn>
                <a:cxn ang="0">
                  <a:pos x="0" y="539"/>
                </a:cxn>
              </a:cxnLst>
              <a:rect l="0" t="0" r="r" b="b"/>
              <a:pathLst>
                <a:path w="5775" h="3231">
                  <a:moveTo>
                    <a:pt x="0" y="539"/>
                  </a:moveTo>
                  <a:lnTo>
                    <a:pt x="5" y="466"/>
                  </a:lnTo>
                  <a:lnTo>
                    <a:pt x="19" y="396"/>
                  </a:lnTo>
                  <a:lnTo>
                    <a:pt x="43" y="329"/>
                  </a:lnTo>
                  <a:lnTo>
                    <a:pt x="74" y="267"/>
                  </a:lnTo>
                  <a:lnTo>
                    <a:pt x="112" y="210"/>
                  </a:lnTo>
                  <a:lnTo>
                    <a:pt x="158" y="158"/>
                  </a:lnTo>
                  <a:lnTo>
                    <a:pt x="210" y="113"/>
                  </a:lnTo>
                  <a:lnTo>
                    <a:pt x="267" y="74"/>
                  </a:lnTo>
                  <a:lnTo>
                    <a:pt x="329" y="43"/>
                  </a:lnTo>
                  <a:lnTo>
                    <a:pt x="395" y="20"/>
                  </a:lnTo>
                  <a:lnTo>
                    <a:pt x="466" y="5"/>
                  </a:lnTo>
                  <a:lnTo>
                    <a:pt x="539" y="0"/>
                  </a:lnTo>
                  <a:lnTo>
                    <a:pt x="5236" y="0"/>
                  </a:lnTo>
                  <a:lnTo>
                    <a:pt x="5309" y="5"/>
                  </a:lnTo>
                  <a:lnTo>
                    <a:pt x="5379" y="20"/>
                  </a:lnTo>
                  <a:lnTo>
                    <a:pt x="5446" y="43"/>
                  </a:lnTo>
                  <a:lnTo>
                    <a:pt x="5508" y="74"/>
                  </a:lnTo>
                  <a:lnTo>
                    <a:pt x="5565" y="113"/>
                  </a:lnTo>
                  <a:lnTo>
                    <a:pt x="5617" y="158"/>
                  </a:lnTo>
                  <a:lnTo>
                    <a:pt x="5662" y="210"/>
                  </a:lnTo>
                  <a:lnTo>
                    <a:pt x="5701" y="267"/>
                  </a:lnTo>
                  <a:lnTo>
                    <a:pt x="5732" y="329"/>
                  </a:lnTo>
                  <a:lnTo>
                    <a:pt x="5755" y="396"/>
                  </a:lnTo>
                  <a:lnTo>
                    <a:pt x="5770" y="466"/>
                  </a:lnTo>
                  <a:lnTo>
                    <a:pt x="5775" y="539"/>
                  </a:lnTo>
                  <a:lnTo>
                    <a:pt x="5775" y="2692"/>
                  </a:lnTo>
                  <a:lnTo>
                    <a:pt x="5770" y="2766"/>
                  </a:lnTo>
                  <a:lnTo>
                    <a:pt x="5755" y="2836"/>
                  </a:lnTo>
                  <a:lnTo>
                    <a:pt x="5732" y="2902"/>
                  </a:lnTo>
                  <a:lnTo>
                    <a:pt x="5701" y="2964"/>
                  </a:lnTo>
                  <a:lnTo>
                    <a:pt x="5662" y="3022"/>
                  </a:lnTo>
                  <a:lnTo>
                    <a:pt x="5617" y="3073"/>
                  </a:lnTo>
                  <a:lnTo>
                    <a:pt x="5565" y="3119"/>
                  </a:lnTo>
                  <a:lnTo>
                    <a:pt x="5508" y="3157"/>
                  </a:lnTo>
                  <a:lnTo>
                    <a:pt x="5446" y="3189"/>
                  </a:lnTo>
                  <a:lnTo>
                    <a:pt x="5379" y="3212"/>
                  </a:lnTo>
                  <a:lnTo>
                    <a:pt x="5309" y="3226"/>
                  </a:lnTo>
                  <a:lnTo>
                    <a:pt x="5236" y="3231"/>
                  </a:lnTo>
                  <a:lnTo>
                    <a:pt x="539" y="3231"/>
                  </a:lnTo>
                  <a:lnTo>
                    <a:pt x="466" y="3226"/>
                  </a:lnTo>
                  <a:lnTo>
                    <a:pt x="395" y="3212"/>
                  </a:lnTo>
                  <a:lnTo>
                    <a:pt x="329" y="3189"/>
                  </a:lnTo>
                  <a:lnTo>
                    <a:pt x="267" y="3157"/>
                  </a:lnTo>
                  <a:lnTo>
                    <a:pt x="210" y="3119"/>
                  </a:lnTo>
                  <a:lnTo>
                    <a:pt x="158" y="3073"/>
                  </a:lnTo>
                  <a:lnTo>
                    <a:pt x="112" y="3022"/>
                  </a:lnTo>
                  <a:lnTo>
                    <a:pt x="74" y="2964"/>
                  </a:lnTo>
                  <a:lnTo>
                    <a:pt x="43" y="2902"/>
                  </a:lnTo>
                  <a:lnTo>
                    <a:pt x="19" y="2836"/>
                  </a:lnTo>
                  <a:lnTo>
                    <a:pt x="5" y="2766"/>
                  </a:lnTo>
                  <a:lnTo>
                    <a:pt x="0" y="2692"/>
                  </a:lnTo>
                  <a:lnTo>
                    <a:pt x="0" y="539"/>
                  </a:lnTo>
                  <a:close/>
                </a:path>
              </a:pathLst>
            </a:custGeom>
            <a:noFill/>
            <a:ln w="12192">
              <a:solidFill>
                <a:srgbClr val="FFFFFF"/>
              </a:solidFill>
              <a:round/>
              <a:headEnd/>
              <a:tailEnd/>
            </a:ln>
          </p:spPr>
          <p:txBody>
            <a:bodyPr vert="horz" wrap="square" lIns="91440" tIns="45720" rIns="91440" bIns="45720" numCol="1" anchor="t" anchorCtr="0" compatLnSpc="1">
              <a:prstTxWarp prst="textNoShape">
                <a:avLst/>
              </a:prstTxWarp>
            </a:bodyPr>
            <a:lstStyle/>
            <a:p>
              <a:endParaRPr lang="fr-FR"/>
            </a:p>
          </p:txBody>
        </p:sp>
      </p:grpSp>
      <p:grpSp>
        <p:nvGrpSpPr>
          <p:cNvPr id="4" name="Group 7"/>
          <p:cNvGrpSpPr>
            <a:grpSpLocks/>
          </p:cNvGrpSpPr>
          <p:nvPr/>
        </p:nvGrpSpPr>
        <p:grpSpPr bwMode="auto">
          <a:xfrm>
            <a:off x="646113" y="3811588"/>
            <a:ext cx="10307671" cy="2060575"/>
            <a:chOff x="1018" y="3429"/>
            <a:chExt cx="14453" cy="3245"/>
          </a:xfrm>
        </p:grpSpPr>
        <p:sp>
          <p:nvSpPr>
            <p:cNvPr id="138248" name="Freeform 8"/>
            <p:cNvSpPr>
              <a:spLocks/>
            </p:cNvSpPr>
            <p:nvPr/>
          </p:nvSpPr>
          <p:spPr bwMode="auto">
            <a:xfrm>
              <a:off x="6801" y="3439"/>
              <a:ext cx="8660" cy="3226"/>
            </a:xfrm>
            <a:custGeom>
              <a:avLst/>
              <a:gdLst/>
              <a:ahLst/>
              <a:cxnLst>
                <a:cxn ang="0">
                  <a:pos x="7046" y="0"/>
                </a:cxn>
                <a:cxn ang="0">
                  <a:pos x="7046" y="403"/>
                </a:cxn>
                <a:cxn ang="0">
                  <a:pos x="0" y="403"/>
                </a:cxn>
                <a:cxn ang="0">
                  <a:pos x="0" y="2822"/>
                </a:cxn>
                <a:cxn ang="0">
                  <a:pos x="7046" y="2822"/>
                </a:cxn>
                <a:cxn ang="0">
                  <a:pos x="7046" y="3226"/>
                </a:cxn>
                <a:cxn ang="0">
                  <a:pos x="8659" y="1613"/>
                </a:cxn>
                <a:cxn ang="0">
                  <a:pos x="7046" y="0"/>
                </a:cxn>
              </a:cxnLst>
              <a:rect l="0" t="0" r="r" b="b"/>
              <a:pathLst>
                <a:path w="8660" h="3226">
                  <a:moveTo>
                    <a:pt x="7046" y="0"/>
                  </a:moveTo>
                  <a:lnTo>
                    <a:pt x="7046" y="403"/>
                  </a:lnTo>
                  <a:lnTo>
                    <a:pt x="0" y="403"/>
                  </a:lnTo>
                  <a:lnTo>
                    <a:pt x="0" y="2822"/>
                  </a:lnTo>
                  <a:lnTo>
                    <a:pt x="7046" y="2822"/>
                  </a:lnTo>
                  <a:lnTo>
                    <a:pt x="7046" y="3226"/>
                  </a:lnTo>
                  <a:lnTo>
                    <a:pt x="8659" y="1613"/>
                  </a:lnTo>
                  <a:lnTo>
                    <a:pt x="7046" y="0"/>
                  </a:lnTo>
                  <a:close/>
                </a:path>
              </a:pathLst>
            </a:custGeom>
            <a:solidFill>
              <a:srgbClr val="CDDADF">
                <a:alpha val="90195"/>
              </a:srgbClr>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38249" name="Freeform 9"/>
            <p:cNvSpPr>
              <a:spLocks/>
            </p:cNvSpPr>
            <p:nvPr/>
          </p:nvSpPr>
          <p:spPr bwMode="auto">
            <a:xfrm>
              <a:off x="6801" y="3439"/>
              <a:ext cx="8660" cy="3226"/>
            </a:xfrm>
            <a:custGeom>
              <a:avLst/>
              <a:gdLst/>
              <a:ahLst/>
              <a:cxnLst>
                <a:cxn ang="0">
                  <a:pos x="0" y="403"/>
                </a:cxn>
                <a:cxn ang="0">
                  <a:pos x="7046" y="403"/>
                </a:cxn>
                <a:cxn ang="0">
                  <a:pos x="7046" y="0"/>
                </a:cxn>
                <a:cxn ang="0">
                  <a:pos x="8659" y="1613"/>
                </a:cxn>
                <a:cxn ang="0">
                  <a:pos x="7046" y="3226"/>
                </a:cxn>
                <a:cxn ang="0">
                  <a:pos x="7046" y="2822"/>
                </a:cxn>
                <a:cxn ang="0">
                  <a:pos x="0" y="2822"/>
                </a:cxn>
                <a:cxn ang="0">
                  <a:pos x="0" y="403"/>
                </a:cxn>
              </a:cxnLst>
              <a:rect l="0" t="0" r="r" b="b"/>
              <a:pathLst>
                <a:path w="8660" h="3226">
                  <a:moveTo>
                    <a:pt x="0" y="403"/>
                  </a:moveTo>
                  <a:lnTo>
                    <a:pt x="7046" y="403"/>
                  </a:lnTo>
                  <a:lnTo>
                    <a:pt x="7046" y="0"/>
                  </a:lnTo>
                  <a:lnTo>
                    <a:pt x="8659" y="1613"/>
                  </a:lnTo>
                  <a:lnTo>
                    <a:pt x="7046" y="3226"/>
                  </a:lnTo>
                  <a:lnTo>
                    <a:pt x="7046" y="2822"/>
                  </a:lnTo>
                  <a:lnTo>
                    <a:pt x="0" y="2822"/>
                  </a:lnTo>
                  <a:lnTo>
                    <a:pt x="0" y="403"/>
                  </a:lnTo>
                  <a:close/>
                </a:path>
              </a:pathLst>
            </a:custGeom>
            <a:noFill/>
            <a:ln w="12192">
              <a:solidFill>
                <a:srgbClr val="CDDADF"/>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38250" name="Freeform 10"/>
            <p:cNvSpPr>
              <a:spLocks/>
            </p:cNvSpPr>
            <p:nvPr/>
          </p:nvSpPr>
          <p:spPr bwMode="auto">
            <a:xfrm>
              <a:off x="1027" y="3439"/>
              <a:ext cx="5775" cy="3226"/>
            </a:xfrm>
            <a:custGeom>
              <a:avLst/>
              <a:gdLst/>
              <a:ahLst/>
              <a:cxnLst>
                <a:cxn ang="0">
                  <a:pos x="5237" y="0"/>
                </a:cxn>
                <a:cxn ang="0">
                  <a:pos x="538" y="0"/>
                </a:cxn>
                <a:cxn ang="0">
                  <a:pos x="465" y="5"/>
                </a:cxn>
                <a:cxn ang="0">
                  <a:pos x="395" y="19"/>
                </a:cxn>
                <a:cxn ang="0">
                  <a:pos x="329" y="42"/>
                </a:cxn>
                <a:cxn ang="0">
                  <a:pos x="266" y="73"/>
                </a:cxn>
                <a:cxn ang="0">
                  <a:pos x="209" y="112"/>
                </a:cxn>
                <a:cxn ang="0">
                  <a:pos x="158" y="157"/>
                </a:cxn>
                <a:cxn ang="0">
                  <a:pos x="112" y="209"/>
                </a:cxn>
                <a:cxn ang="0">
                  <a:pos x="74" y="266"/>
                </a:cxn>
                <a:cxn ang="0">
                  <a:pos x="42" y="328"/>
                </a:cxn>
                <a:cxn ang="0">
                  <a:pos x="19" y="395"/>
                </a:cxn>
                <a:cxn ang="0">
                  <a:pos x="5" y="465"/>
                </a:cxn>
                <a:cxn ang="0">
                  <a:pos x="0" y="538"/>
                </a:cxn>
                <a:cxn ang="0">
                  <a:pos x="0" y="2688"/>
                </a:cxn>
                <a:cxn ang="0">
                  <a:pos x="5" y="2761"/>
                </a:cxn>
                <a:cxn ang="0">
                  <a:pos x="19" y="2831"/>
                </a:cxn>
                <a:cxn ang="0">
                  <a:pos x="42" y="2897"/>
                </a:cxn>
                <a:cxn ang="0">
                  <a:pos x="74" y="2959"/>
                </a:cxn>
                <a:cxn ang="0">
                  <a:pos x="112" y="3017"/>
                </a:cxn>
                <a:cxn ang="0">
                  <a:pos x="158" y="3068"/>
                </a:cxn>
                <a:cxn ang="0">
                  <a:pos x="209" y="3114"/>
                </a:cxn>
                <a:cxn ang="0">
                  <a:pos x="266" y="3152"/>
                </a:cxn>
                <a:cxn ang="0">
                  <a:pos x="329" y="3183"/>
                </a:cxn>
                <a:cxn ang="0">
                  <a:pos x="395" y="3206"/>
                </a:cxn>
                <a:cxn ang="0">
                  <a:pos x="465" y="3221"/>
                </a:cxn>
                <a:cxn ang="0">
                  <a:pos x="538" y="3226"/>
                </a:cxn>
                <a:cxn ang="0">
                  <a:pos x="5237" y="3226"/>
                </a:cxn>
                <a:cxn ang="0">
                  <a:pos x="5310" y="3221"/>
                </a:cxn>
                <a:cxn ang="0">
                  <a:pos x="5380" y="3206"/>
                </a:cxn>
                <a:cxn ang="0">
                  <a:pos x="5446" y="3183"/>
                </a:cxn>
                <a:cxn ang="0">
                  <a:pos x="5508" y="3152"/>
                </a:cxn>
                <a:cxn ang="0">
                  <a:pos x="5566" y="3114"/>
                </a:cxn>
                <a:cxn ang="0">
                  <a:pos x="5617" y="3068"/>
                </a:cxn>
                <a:cxn ang="0">
                  <a:pos x="5663" y="3017"/>
                </a:cxn>
                <a:cxn ang="0">
                  <a:pos x="5701" y="2959"/>
                </a:cxn>
                <a:cxn ang="0">
                  <a:pos x="5732" y="2897"/>
                </a:cxn>
                <a:cxn ang="0">
                  <a:pos x="5755" y="2831"/>
                </a:cxn>
                <a:cxn ang="0">
                  <a:pos x="5770" y="2761"/>
                </a:cxn>
                <a:cxn ang="0">
                  <a:pos x="5775" y="2688"/>
                </a:cxn>
                <a:cxn ang="0">
                  <a:pos x="5775" y="538"/>
                </a:cxn>
                <a:cxn ang="0">
                  <a:pos x="5770" y="465"/>
                </a:cxn>
                <a:cxn ang="0">
                  <a:pos x="5755" y="395"/>
                </a:cxn>
                <a:cxn ang="0">
                  <a:pos x="5732" y="328"/>
                </a:cxn>
                <a:cxn ang="0">
                  <a:pos x="5701" y="266"/>
                </a:cxn>
                <a:cxn ang="0">
                  <a:pos x="5663" y="209"/>
                </a:cxn>
                <a:cxn ang="0">
                  <a:pos x="5617" y="157"/>
                </a:cxn>
                <a:cxn ang="0">
                  <a:pos x="5566" y="112"/>
                </a:cxn>
                <a:cxn ang="0">
                  <a:pos x="5508" y="73"/>
                </a:cxn>
                <a:cxn ang="0">
                  <a:pos x="5446" y="42"/>
                </a:cxn>
                <a:cxn ang="0">
                  <a:pos x="5380" y="19"/>
                </a:cxn>
                <a:cxn ang="0">
                  <a:pos x="5310" y="5"/>
                </a:cxn>
                <a:cxn ang="0">
                  <a:pos x="5237" y="0"/>
                </a:cxn>
              </a:cxnLst>
              <a:rect l="0" t="0" r="r" b="b"/>
              <a:pathLst>
                <a:path w="5775" h="3226">
                  <a:moveTo>
                    <a:pt x="5237" y="0"/>
                  </a:moveTo>
                  <a:lnTo>
                    <a:pt x="538" y="0"/>
                  </a:lnTo>
                  <a:lnTo>
                    <a:pt x="465" y="5"/>
                  </a:lnTo>
                  <a:lnTo>
                    <a:pt x="395" y="19"/>
                  </a:lnTo>
                  <a:lnTo>
                    <a:pt x="329" y="42"/>
                  </a:lnTo>
                  <a:lnTo>
                    <a:pt x="266" y="73"/>
                  </a:lnTo>
                  <a:lnTo>
                    <a:pt x="209" y="112"/>
                  </a:lnTo>
                  <a:lnTo>
                    <a:pt x="158" y="157"/>
                  </a:lnTo>
                  <a:lnTo>
                    <a:pt x="112" y="209"/>
                  </a:lnTo>
                  <a:lnTo>
                    <a:pt x="74" y="266"/>
                  </a:lnTo>
                  <a:lnTo>
                    <a:pt x="42" y="328"/>
                  </a:lnTo>
                  <a:lnTo>
                    <a:pt x="19" y="395"/>
                  </a:lnTo>
                  <a:lnTo>
                    <a:pt x="5" y="465"/>
                  </a:lnTo>
                  <a:lnTo>
                    <a:pt x="0" y="538"/>
                  </a:lnTo>
                  <a:lnTo>
                    <a:pt x="0" y="2688"/>
                  </a:lnTo>
                  <a:lnTo>
                    <a:pt x="5" y="2761"/>
                  </a:lnTo>
                  <a:lnTo>
                    <a:pt x="19" y="2831"/>
                  </a:lnTo>
                  <a:lnTo>
                    <a:pt x="42" y="2897"/>
                  </a:lnTo>
                  <a:lnTo>
                    <a:pt x="74" y="2959"/>
                  </a:lnTo>
                  <a:lnTo>
                    <a:pt x="112" y="3017"/>
                  </a:lnTo>
                  <a:lnTo>
                    <a:pt x="158" y="3068"/>
                  </a:lnTo>
                  <a:lnTo>
                    <a:pt x="209" y="3114"/>
                  </a:lnTo>
                  <a:lnTo>
                    <a:pt x="266" y="3152"/>
                  </a:lnTo>
                  <a:lnTo>
                    <a:pt x="329" y="3183"/>
                  </a:lnTo>
                  <a:lnTo>
                    <a:pt x="395" y="3206"/>
                  </a:lnTo>
                  <a:lnTo>
                    <a:pt x="465" y="3221"/>
                  </a:lnTo>
                  <a:lnTo>
                    <a:pt x="538" y="3226"/>
                  </a:lnTo>
                  <a:lnTo>
                    <a:pt x="5237" y="3226"/>
                  </a:lnTo>
                  <a:lnTo>
                    <a:pt x="5310" y="3221"/>
                  </a:lnTo>
                  <a:lnTo>
                    <a:pt x="5380" y="3206"/>
                  </a:lnTo>
                  <a:lnTo>
                    <a:pt x="5446" y="3183"/>
                  </a:lnTo>
                  <a:lnTo>
                    <a:pt x="5508" y="3152"/>
                  </a:lnTo>
                  <a:lnTo>
                    <a:pt x="5566" y="3114"/>
                  </a:lnTo>
                  <a:lnTo>
                    <a:pt x="5617" y="3068"/>
                  </a:lnTo>
                  <a:lnTo>
                    <a:pt x="5663" y="3017"/>
                  </a:lnTo>
                  <a:lnTo>
                    <a:pt x="5701" y="2959"/>
                  </a:lnTo>
                  <a:lnTo>
                    <a:pt x="5732" y="2897"/>
                  </a:lnTo>
                  <a:lnTo>
                    <a:pt x="5755" y="2831"/>
                  </a:lnTo>
                  <a:lnTo>
                    <a:pt x="5770" y="2761"/>
                  </a:lnTo>
                  <a:lnTo>
                    <a:pt x="5775" y="2688"/>
                  </a:lnTo>
                  <a:lnTo>
                    <a:pt x="5775" y="538"/>
                  </a:lnTo>
                  <a:lnTo>
                    <a:pt x="5770" y="465"/>
                  </a:lnTo>
                  <a:lnTo>
                    <a:pt x="5755" y="395"/>
                  </a:lnTo>
                  <a:lnTo>
                    <a:pt x="5732" y="328"/>
                  </a:lnTo>
                  <a:lnTo>
                    <a:pt x="5701" y="266"/>
                  </a:lnTo>
                  <a:lnTo>
                    <a:pt x="5663" y="209"/>
                  </a:lnTo>
                  <a:lnTo>
                    <a:pt x="5617" y="157"/>
                  </a:lnTo>
                  <a:lnTo>
                    <a:pt x="5566" y="112"/>
                  </a:lnTo>
                  <a:lnTo>
                    <a:pt x="5508" y="73"/>
                  </a:lnTo>
                  <a:lnTo>
                    <a:pt x="5446" y="42"/>
                  </a:lnTo>
                  <a:lnTo>
                    <a:pt x="5380" y="19"/>
                  </a:lnTo>
                  <a:lnTo>
                    <a:pt x="5310" y="5"/>
                  </a:lnTo>
                  <a:lnTo>
                    <a:pt x="5237" y="0"/>
                  </a:lnTo>
                  <a:close/>
                </a:path>
              </a:pathLst>
            </a:custGeom>
            <a:solidFill>
              <a:srgbClr val="34879F"/>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38251" name="Freeform 11"/>
            <p:cNvSpPr>
              <a:spLocks/>
            </p:cNvSpPr>
            <p:nvPr/>
          </p:nvSpPr>
          <p:spPr bwMode="auto">
            <a:xfrm>
              <a:off x="1027" y="3439"/>
              <a:ext cx="5775" cy="3226"/>
            </a:xfrm>
            <a:custGeom>
              <a:avLst/>
              <a:gdLst/>
              <a:ahLst/>
              <a:cxnLst>
                <a:cxn ang="0">
                  <a:pos x="0" y="538"/>
                </a:cxn>
                <a:cxn ang="0">
                  <a:pos x="5" y="465"/>
                </a:cxn>
                <a:cxn ang="0">
                  <a:pos x="19" y="395"/>
                </a:cxn>
                <a:cxn ang="0">
                  <a:pos x="42" y="328"/>
                </a:cxn>
                <a:cxn ang="0">
                  <a:pos x="74" y="266"/>
                </a:cxn>
                <a:cxn ang="0">
                  <a:pos x="112" y="209"/>
                </a:cxn>
                <a:cxn ang="0">
                  <a:pos x="158" y="157"/>
                </a:cxn>
                <a:cxn ang="0">
                  <a:pos x="209" y="112"/>
                </a:cxn>
                <a:cxn ang="0">
                  <a:pos x="266" y="73"/>
                </a:cxn>
                <a:cxn ang="0">
                  <a:pos x="329" y="42"/>
                </a:cxn>
                <a:cxn ang="0">
                  <a:pos x="395" y="19"/>
                </a:cxn>
                <a:cxn ang="0">
                  <a:pos x="465" y="5"/>
                </a:cxn>
                <a:cxn ang="0">
                  <a:pos x="538" y="0"/>
                </a:cxn>
                <a:cxn ang="0">
                  <a:pos x="5237" y="0"/>
                </a:cxn>
                <a:cxn ang="0">
                  <a:pos x="5310" y="5"/>
                </a:cxn>
                <a:cxn ang="0">
                  <a:pos x="5380" y="19"/>
                </a:cxn>
                <a:cxn ang="0">
                  <a:pos x="5446" y="42"/>
                </a:cxn>
                <a:cxn ang="0">
                  <a:pos x="5508" y="73"/>
                </a:cxn>
                <a:cxn ang="0">
                  <a:pos x="5566" y="112"/>
                </a:cxn>
                <a:cxn ang="0">
                  <a:pos x="5617" y="157"/>
                </a:cxn>
                <a:cxn ang="0">
                  <a:pos x="5663" y="209"/>
                </a:cxn>
                <a:cxn ang="0">
                  <a:pos x="5701" y="266"/>
                </a:cxn>
                <a:cxn ang="0">
                  <a:pos x="5732" y="328"/>
                </a:cxn>
                <a:cxn ang="0">
                  <a:pos x="5755" y="395"/>
                </a:cxn>
                <a:cxn ang="0">
                  <a:pos x="5770" y="465"/>
                </a:cxn>
                <a:cxn ang="0">
                  <a:pos x="5775" y="538"/>
                </a:cxn>
                <a:cxn ang="0">
                  <a:pos x="5775" y="2688"/>
                </a:cxn>
                <a:cxn ang="0">
                  <a:pos x="5770" y="2761"/>
                </a:cxn>
                <a:cxn ang="0">
                  <a:pos x="5755" y="2831"/>
                </a:cxn>
                <a:cxn ang="0">
                  <a:pos x="5732" y="2897"/>
                </a:cxn>
                <a:cxn ang="0">
                  <a:pos x="5701" y="2959"/>
                </a:cxn>
                <a:cxn ang="0">
                  <a:pos x="5663" y="3017"/>
                </a:cxn>
                <a:cxn ang="0">
                  <a:pos x="5617" y="3068"/>
                </a:cxn>
                <a:cxn ang="0">
                  <a:pos x="5566" y="3114"/>
                </a:cxn>
                <a:cxn ang="0">
                  <a:pos x="5508" y="3152"/>
                </a:cxn>
                <a:cxn ang="0">
                  <a:pos x="5446" y="3183"/>
                </a:cxn>
                <a:cxn ang="0">
                  <a:pos x="5380" y="3206"/>
                </a:cxn>
                <a:cxn ang="0">
                  <a:pos x="5310" y="3221"/>
                </a:cxn>
                <a:cxn ang="0">
                  <a:pos x="5237" y="3226"/>
                </a:cxn>
                <a:cxn ang="0">
                  <a:pos x="538" y="3226"/>
                </a:cxn>
                <a:cxn ang="0">
                  <a:pos x="465" y="3221"/>
                </a:cxn>
                <a:cxn ang="0">
                  <a:pos x="395" y="3206"/>
                </a:cxn>
                <a:cxn ang="0">
                  <a:pos x="329" y="3183"/>
                </a:cxn>
                <a:cxn ang="0">
                  <a:pos x="266" y="3152"/>
                </a:cxn>
                <a:cxn ang="0">
                  <a:pos x="209" y="3114"/>
                </a:cxn>
                <a:cxn ang="0">
                  <a:pos x="158" y="3068"/>
                </a:cxn>
                <a:cxn ang="0">
                  <a:pos x="112" y="3017"/>
                </a:cxn>
                <a:cxn ang="0">
                  <a:pos x="74" y="2959"/>
                </a:cxn>
                <a:cxn ang="0">
                  <a:pos x="42" y="2897"/>
                </a:cxn>
                <a:cxn ang="0">
                  <a:pos x="19" y="2831"/>
                </a:cxn>
                <a:cxn ang="0">
                  <a:pos x="5" y="2761"/>
                </a:cxn>
                <a:cxn ang="0">
                  <a:pos x="0" y="2688"/>
                </a:cxn>
                <a:cxn ang="0">
                  <a:pos x="0" y="538"/>
                </a:cxn>
              </a:cxnLst>
              <a:rect l="0" t="0" r="r" b="b"/>
              <a:pathLst>
                <a:path w="5775" h="3226">
                  <a:moveTo>
                    <a:pt x="0" y="538"/>
                  </a:moveTo>
                  <a:lnTo>
                    <a:pt x="5" y="465"/>
                  </a:lnTo>
                  <a:lnTo>
                    <a:pt x="19" y="395"/>
                  </a:lnTo>
                  <a:lnTo>
                    <a:pt x="42" y="328"/>
                  </a:lnTo>
                  <a:lnTo>
                    <a:pt x="74" y="266"/>
                  </a:lnTo>
                  <a:lnTo>
                    <a:pt x="112" y="209"/>
                  </a:lnTo>
                  <a:lnTo>
                    <a:pt x="158" y="157"/>
                  </a:lnTo>
                  <a:lnTo>
                    <a:pt x="209" y="112"/>
                  </a:lnTo>
                  <a:lnTo>
                    <a:pt x="266" y="73"/>
                  </a:lnTo>
                  <a:lnTo>
                    <a:pt x="329" y="42"/>
                  </a:lnTo>
                  <a:lnTo>
                    <a:pt x="395" y="19"/>
                  </a:lnTo>
                  <a:lnTo>
                    <a:pt x="465" y="5"/>
                  </a:lnTo>
                  <a:lnTo>
                    <a:pt x="538" y="0"/>
                  </a:lnTo>
                  <a:lnTo>
                    <a:pt x="5237" y="0"/>
                  </a:lnTo>
                  <a:lnTo>
                    <a:pt x="5310" y="5"/>
                  </a:lnTo>
                  <a:lnTo>
                    <a:pt x="5380" y="19"/>
                  </a:lnTo>
                  <a:lnTo>
                    <a:pt x="5446" y="42"/>
                  </a:lnTo>
                  <a:lnTo>
                    <a:pt x="5508" y="73"/>
                  </a:lnTo>
                  <a:lnTo>
                    <a:pt x="5566" y="112"/>
                  </a:lnTo>
                  <a:lnTo>
                    <a:pt x="5617" y="157"/>
                  </a:lnTo>
                  <a:lnTo>
                    <a:pt x="5663" y="209"/>
                  </a:lnTo>
                  <a:lnTo>
                    <a:pt x="5701" y="266"/>
                  </a:lnTo>
                  <a:lnTo>
                    <a:pt x="5732" y="328"/>
                  </a:lnTo>
                  <a:lnTo>
                    <a:pt x="5755" y="395"/>
                  </a:lnTo>
                  <a:lnTo>
                    <a:pt x="5770" y="465"/>
                  </a:lnTo>
                  <a:lnTo>
                    <a:pt x="5775" y="538"/>
                  </a:lnTo>
                  <a:lnTo>
                    <a:pt x="5775" y="2688"/>
                  </a:lnTo>
                  <a:lnTo>
                    <a:pt x="5770" y="2761"/>
                  </a:lnTo>
                  <a:lnTo>
                    <a:pt x="5755" y="2831"/>
                  </a:lnTo>
                  <a:lnTo>
                    <a:pt x="5732" y="2897"/>
                  </a:lnTo>
                  <a:lnTo>
                    <a:pt x="5701" y="2959"/>
                  </a:lnTo>
                  <a:lnTo>
                    <a:pt x="5663" y="3017"/>
                  </a:lnTo>
                  <a:lnTo>
                    <a:pt x="5617" y="3068"/>
                  </a:lnTo>
                  <a:lnTo>
                    <a:pt x="5566" y="3114"/>
                  </a:lnTo>
                  <a:lnTo>
                    <a:pt x="5508" y="3152"/>
                  </a:lnTo>
                  <a:lnTo>
                    <a:pt x="5446" y="3183"/>
                  </a:lnTo>
                  <a:lnTo>
                    <a:pt x="5380" y="3206"/>
                  </a:lnTo>
                  <a:lnTo>
                    <a:pt x="5310" y="3221"/>
                  </a:lnTo>
                  <a:lnTo>
                    <a:pt x="5237" y="3226"/>
                  </a:lnTo>
                  <a:lnTo>
                    <a:pt x="538" y="3226"/>
                  </a:lnTo>
                  <a:lnTo>
                    <a:pt x="465" y="3221"/>
                  </a:lnTo>
                  <a:lnTo>
                    <a:pt x="395" y="3206"/>
                  </a:lnTo>
                  <a:lnTo>
                    <a:pt x="329" y="3183"/>
                  </a:lnTo>
                  <a:lnTo>
                    <a:pt x="266" y="3152"/>
                  </a:lnTo>
                  <a:lnTo>
                    <a:pt x="209" y="3114"/>
                  </a:lnTo>
                  <a:lnTo>
                    <a:pt x="158" y="3068"/>
                  </a:lnTo>
                  <a:lnTo>
                    <a:pt x="112" y="3017"/>
                  </a:lnTo>
                  <a:lnTo>
                    <a:pt x="74" y="2959"/>
                  </a:lnTo>
                  <a:lnTo>
                    <a:pt x="42" y="2897"/>
                  </a:lnTo>
                  <a:lnTo>
                    <a:pt x="19" y="2831"/>
                  </a:lnTo>
                  <a:lnTo>
                    <a:pt x="5" y="2761"/>
                  </a:lnTo>
                  <a:lnTo>
                    <a:pt x="0" y="2688"/>
                  </a:lnTo>
                  <a:lnTo>
                    <a:pt x="0" y="538"/>
                  </a:lnTo>
                  <a:close/>
                </a:path>
              </a:pathLst>
            </a:custGeom>
            <a:noFill/>
            <a:ln w="12192">
              <a:solidFill>
                <a:srgbClr val="FFFFFF"/>
              </a:solidFill>
              <a:round/>
              <a:headEnd/>
              <a:tailEnd/>
            </a:ln>
          </p:spPr>
          <p:txBody>
            <a:bodyPr vert="horz" wrap="square" lIns="91440" tIns="45720" rIns="91440" bIns="45720" numCol="1" anchor="t" anchorCtr="0" compatLnSpc="1">
              <a:prstTxWarp prst="textNoShape">
                <a:avLst/>
              </a:prstTxWarp>
            </a:bodyPr>
            <a:lstStyle/>
            <a:p>
              <a:endParaRPr lang="fr-FR"/>
            </a:p>
          </p:txBody>
        </p:sp>
      </p:grpSp>
      <p:sp>
        <p:nvSpPr>
          <p:cNvPr id="29" name="Rectangle 7"/>
          <p:cNvSpPr>
            <a:spLocks noChangeArrowheads="1"/>
          </p:cNvSpPr>
          <p:nvPr/>
        </p:nvSpPr>
        <p:spPr bwMode="auto">
          <a:xfrm>
            <a:off x="1452530" y="2143116"/>
            <a:ext cx="2143140"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sz="2400" b="1" i="0" u="none" strike="noStrike" cap="none" normalizeH="0" baseline="0" dirty="0" smtClean="0">
                <a:ln>
                  <a:noFill/>
                </a:ln>
                <a:solidFill>
                  <a:srgbClr val="FFFFFF"/>
                </a:solidFill>
                <a:effectLst/>
                <a:latin typeface="Arial" pitchFamily="34" charset="0"/>
                <a:ea typeface="Verdana" pitchFamily="34" charset="0"/>
                <a:cs typeface="Verdana" pitchFamily="34" charset="0"/>
              </a:rPr>
              <a:t>Les Opportunités</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31" name="Rectangle 7"/>
          <p:cNvSpPr>
            <a:spLocks noChangeArrowheads="1"/>
          </p:cNvSpPr>
          <p:nvPr/>
        </p:nvSpPr>
        <p:spPr bwMode="auto">
          <a:xfrm>
            <a:off x="1666844" y="4357694"/>
            <a:ext cx="1857388"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sz="2400" b="1" i="0" u="none" strike="noStrike" cap="none" normalizeH="0" baseline="0" dirty="0" smtClean="0">
                <a:ln>
                  <a:noFill/>
                </a:ln>
                <a:solidFill>
                  <a:srgbClr val="FFFFFF"/>
                </a:solidFill>
                <a:effectLst/>
                <a:latin typeface="Arial" pitchFamily="34" charset="0"/>
                <a:ea typeface="Verdana" pitchFamily="34" charset="0"/>
                <a:cs typeface="Verdana" pitchFamily="34" charset="0"/>
              </a:rPr>
              <a:t>Les menaces</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38266" name="Rectangle 26"/>
          <p:cNvSpPr>
            <a:spLocks noChangeArrowheads="1"/>
          </p:cNvSpPr>
          <p:nvPr/>
        </p:nvSpPr>
        <p:spPr bwMode="auto">
          <a:xfrm>
            <a:off x="4310050" y="1857364"/>
            <a:ext cx="5286412" cy="14773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914400" marR="0" lvl="2" indent="0" algn="justLow" defTabSz="914400" rtl="0" eaLnBrk="1" fontAlgn="base" latinLnBrk="0" hangingPunct="1">
              <a:lnSpc>
                <a:spcPct val="100000"/>
              </a:lnSpc>
              <a:spcBef>
                <a:spcPct val="0"/>
              </a:spcBef>
              <a:spcAft>
                <a:spcPct val="0"/>
              </a:spcAft>
              <a:buClrTx/>
              <a:buSzPct val="100000"/>
              <a:buFontTx/>
              <a:buChar char="•"/>
              <a:tabLst>
                <a:tab pos="504825" algn="l"/>
              </a:tabLst>
            </a:pPr>
            <a:r>
              <a:rPr kumimoji="0" lang="fr-FR" sz="18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Les situations externes, propres à l’environnement dans lequel évolue l’entreprise et qui peuvent procurer un avantage concurrentiel à l’entreprise et sur lesquelles on peu prendre appui</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38267" name="Rectangle 27"/>
          <p:cNvSpPr>
            <a:spLocks noChangeArrowheads="1"/>
          </p:cNvSpPr>
          <p:nvPr/>
        </p:nvSpPr>
        <p:spPr bwMode="auto">
          <a:xfrm>
            <a:off x="3952860" y="4071942"/>
            <a:ext cx="5786478" cy="175432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1371600" marR="0" lvl="3" indent="0" algn="justLow" defTabSz="914400" rtl="0" eaLnBrk="1" fontAlgn="base" latinLnBrk="0" hangingPunct="1">
              <a:lnSpc>
                <a:spcPct val="100000"/>
              </a:lnSpc>
              <a:spcBef>
                <a:spcPct val="0"/>
              </a:spcBef>
              <a:spcAft>
                <a:spcPct val="0"/>
              </a:spcAft>
              <a:buClrTx/>
              <a:buSzTx/>
              <a:buFontTx/>
              <a:buChar char="•"/>
              <a:tabLst>
                <a:tab pos="565150" algn="l"/>
              </a:tabLst>
            </a:pPr>
            <a:r>
              <a:rPr kumimoji="0" lang="fr-FR" sz="18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Les situations externes défavorables qui peuvent influencer négativement les performances de l’entreprise qui ont pu être identifiées au cours notamment de l’analyse de la concurrence ou de marché.</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 xmlns:p14="http://schemas.microsoft.com/office/powerpoint/2010/main" val="3768199782"/>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128230" y="914402"/>
            <a:ext cx="8985254" cy="369332"/>
          </a:xfrm>
          <a:prstGeom prst="rect">
            <a:avLst/>
          </a:prstGeom>
        </p:spPr>
        <p:txBody>
          <a:bodyPr wrap="square">
            <a:spAutoFit/>
          </a:bodyPr>
          <a:lstStyle/>
          <a:p>
            <a:r>
              <a:rPr lang="fr-FR" b="1" dirty="0" smtClean="0"/>
              <a:t>EXEMPLE 1: Matrice SWOT pour une startup digitale</a:t>
            </a:r>
          </a:p>
        </p:txBody>
      </p:sp>
      <p:sp>
        <p:nvSpPr>
          <p:cNvPr id="4" name="Rectangle 3"/>
          <p:cNvSpPr/>
          <p:nvPr/>
        </p:nvSpPr>
        <p:spPr>
          <a:xfrm>
            <a:off x="991517" y="1338382"/>
            <a:ext cx="10587210" cy="498598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b="1" dirty="0" smtClean="0">
                <a:solidFill>
                  <a:schemeClr val="accent3">
                    <a:lumMod val="75000"/>
                  </a:schemeClr>
                </a:solidFill>
                <a:latin typeface="Arial" pitchFamily="34" charset="0"/>
                <a:ea typeface="Verdana" pitchFamily="34" charset="0"/>
                <a:cs typeface="Verdana" pitchFamily="34" charset="0"/>
              </a:rPr>
              <a:t>#### Forces (</a:t>
            </a:r>
            <a:r>
              <a:rPr lang="fr-FR" sz="2000" b="1" dirty="0" err="1" smtClean="0">
                <a:solidFill>
                  <a:schemeClr val="accent3">
                    <a:lumMod val="75000"/>
                  </a:schemeClr>
                </a:solidFill>
                <a:latin typeface="Arial" pitchFamily="34" charset="0"/>
                <a:ea typeface="Verdana" pitchFamily="34" charset="0"/>
                <a:cs typeface="Verdana" pitchFamily="34" charset="0"/>
              </a:rPr>
              <a:t>Strengths</a:t>
            </a:r>
            <a:r>
              <a:rPr lang="fr-FR" sz="2000" b="1" dirty="0" smtClean="0">
                <a:solidFill>
                  <a:schemeClr val="accent3">
                    <a:lumMod val="75000"/>
                  </a:schemeClr>
                </a:solidFill>
                <a:latin typeface="Arial" pitchFamily="34" charset="0"/>
                <a:ea typeface="Verdana" pitchFamily="34" charset="0"/>
                <a:cs typeface="Verdana" pitchFamily="34" charset="0"/>
              </a:rPr>
              <a:t>)</a:t>
            </a:r>
          </a:p>
          <a:p>
            <a:pPr algn="just"/>
            <a:endParaRPr lang="fr-FR" sz="800" dirty="0" smtClean="0">
              <a:solidFill>
                <a:schemeClr val="tx1"/>
              </a:solidFill>
              <a:latin typeface="Arial" pitchFamily="34" charset="0"/>
              <a:ea typeface="Verdana" pitchFamily="34" charset="0"/>
              <a:cs typeface="Verdana" pitchFamily="34" charset="0"/>
            </a:endParaRPr>
          </a:p>
          <a:p>
            <a:pPr algn="just"/>
            <a:r>
              <a:rPr lang="fr-FR" dirty="0" smtClean="0">
                <a:solidFill>
                  <a:schemeClr val="tx1"/>
                </a:solidFill>
                <a:latin typeface="Arial" pitchFamily="34" charset="0"/>
                <a:ea typeface="Verdana" pitchFamily="34" charset="0"/>
                <a:cs typeface="Verdana" pitchFamily="34" charset="0"/>
              </a:rPr>
              <a:t>1. **Innovation** : Produits ou services uniques qui répondent à un besoin non satisfait sur le marché.</a:t>
            </a:r>
          </a:p>
          <a:p>
            <a:pPr algn="just"/>
            <a:r>
              <a:rPr lang="fr-FR" dirty="0" smtClean="0">
                <a:solidFill>
                  <a:schemeClr val="tx1"/>
                </a:solidFill>
                <a:latin typeface="Arial" pitchFamily="34" charset="0"/>
                <a:ea typeface="Verdana" pitchFamily="34" charset="0"/>
                <a:cs typeface="Verdana" pitchFamily="34" charset="0"/>
              </a:rPr>
              <a:t>2. **Équipe dynamique** : Une équipe passionnée et compétente avec des compétences variées (développement, marketing, design).</a:t>
            </a:r>
          </a:p>
          <a:p>
            <a:pPr algn="just"/>
            <a:r>
              <a:rPr lang="fr-FR" dirty="0" smtClean="0">
                <a:solidFill>
                  <a:schemeClr val="tx1"/>
                </a:solidFill>
                <a:latin typeface="Arial" pitchFamily="34" charset="0"/>
                <a:ea typeface="Verdana" pitchFamily="34" charset="0"/>
                <a:cs typeface="Verdana" pitchFamily="34" charset="0"/>
              </a:rPr>
              <a:t>3. **Flexibilité** : Capacité à s'adapter rapidement aux changements du marché</a:t>
            </a:r>
          </a:p>
          <a:p>
            <a:pPr algn="just"/>
            <a:r>
              <a:rPr lang="fr-FR" dirty="0" smtClean="0">
                <a:solidFill>
                  <a:schemeClr val="tx1"/>
                </a:solidFill>
                <a:latin typeface="Arial" pitchFamily="34" charset="0"/>
                <a:ea typeface="Verdana" pitchFamily="34" charset="0"/>
                <a:cs typeface="Verdana" pitchFamily="34" charset="0"/>
              </a:rPr>
              <a:t>4. **Coûts d'exploitation réduits** : Moins de frais généraux par rapport aux entreprises traditionnelles grâce à une infrastructure numérique.</a:t>
            </a:r>
          </a:p>
          <a:p>
            <a:pPr algn="just"/>
            <a:r>
              <a:rPr lang="fr-FR" dirty="0" smtClean="0">
                <a:solidFill>
                  <a:schemeClr val="tx1"/>
                </a:solidFill>
                <a:latin typeface="Arial" pitchFamily="34" charset="0"/>
                <a:ea typeface="Verdana" pitchFamily="34" charset="0"/>
                <a:cs typeface="Verdana" pitchFamily="34" charset="0"/>
              </a:rPr>
              <a:t/>
            </a:r>
            <a:br>
              <a:rPr lang="fr-FR" dirty="0" smtClean="0">
                <a:solidFill>
                  <a:schemeClr val="tx1"/>
                </a:solidFill>
                <a:latin typeface="Arial" pitchFamily="34" charset="0"/>
                <a:ea typeface="Verdana" pitchFamily="34" charset="0"/>
                <a:cs typeface="Verdana" pitchFamily="34" charset="0"/>
              </a:rPr>
            </a:br>
            <a:r>
              <a:rPr lang="fr-FR" sz="2000" b="1" dirty="0" smtClean="0">
                <a:solidFill>
                  <a:srgbClr val="C00000"/>
                </a:solidFill>
                <a:latin typeface="Arial" pitchFamily="34" charset="0"/>
                <a:ea typeface="Verdana" pitchFamily="34" charset="0"/>
                <a:cs typeface="Verdana" pitchFamily="34" charset="0"/>
              </a:rPr>
              <a:t>#### Faiblesses (</a:t>
            </a:r>
            <a:r>
              <a:rPr lang="fr-FR" sz="2000" b="1" dirty="0" err="1" smtClean="0">
                <a:solidFill>
                  <a:srgbClr val="C00000"/>
                </a:solidFill>
                <a:latin typeface="Arial" pitchFamily="34" charset="0"/>
                <a:ea typeface="Verdana" pitchFamily="34" charset="0"/>
                <a:cs typeface="Verdana" pitchFamily="34" charset="0"/>
              </a:rPr>
              <a:t>Weaknesses</a:t>
            </a:r>
            <a:r>
              <a:rPr lang="fr-FR" sz="2000" b="1" dirty="0" smtClean="0">
                <a:solidFill>
                  <a:srgbClr val="C00000"/>
                </a:solidFill>
                <a:latin typeface="Arial" pitchFamily="34" charset="0"/>
                <a:ea typeface="Verdana" pitchFamily="34" charset="0"/>
                <a:cs typeface="Verdana" pitchFamily="34" charset="0"/>
              </a:rPr>
              <a:t>)</a:t>
            </a:r>
          </a:p>
          <a:p>
            <a:pPr algn="just"/>
            <a:r>
              <a:rPr lang="fr-FR" dirty="0" smtClean="0">
                <a:solidFill>
                  <a:schemeClr val="tx1"/>
                </a:solidFill>
                <a:latin typeface="Arial" pitchFamily="34" charset="0"/>
                <a:ea typeface="Verdana" pitchFamily="34" charset="0"/>
                <a:cs typeface="Verdana" pitchFamily="34" charset="0"/>
              </a:rPr>
              <a:t/>
            </a:r>
            <a:br>
              <a:rPr lang="fr-FR" dirty="0" smtClean="0">
                <a:solidFill>
                  <a:schemeClr val="tx1"/>
                </a:solidFill>
                <a:latin typeface="Arial" pitchFamily="34" charset="0"/>
                <a:ea typeface="Verdana" pitchFamily="34" charset="0"/>
                <a:cs typeface="Verdana" pitchFamily="34" charset="0"/>
              </a:rPr>
            </a:br>
            <a:r>
              <a:rPr lang="fr-FR" dirty="0" smtClean="0">
                <a:solidFill>
                  <a:schemeClr val="tx1"/>
                </a:solidFill>
                <a:latin typeface="Arial" pitchFamily="34" charset="0"/>
                <a:ea typeface="Verdana" pitchFamily="34" charset="0"/>
                <a:cs typeface="Verdana" pitchFamily="34" charset="0"/>
              </a:rPr>
              <a:t>1. **Manque de notoriété** : nouvelle entreprise, il peut être difficile de se faire connaître.</a:t>
            </a:r>
            <a:br>
              <a:rPr lang="fr-FR" dirty="0" smtClean="0">
                <a:solidFill>
                  <a:schemeClr val="tx1"/>
                </a:solidFill>
                <a:latin typeface="Arial" pitchFamily="34" charset="0"/>
                <a:ea typeface="Verdana" pitchFamily="34" charset="0"/>
                <a:cs typeface="Verdana" pitchFamily="34" charset="0"/>
              </a:rPr>
            </a:br>
            <a:r>
              <a:rPr lang="fr-FR" dirty="0" smtClean="0">
                <a:solidFill>
                  <a:schemeClr val="tx1"/>
                </a:solidFill>
                <a:latin typeface="Arial" pitchFamily="34" charset="0"/>
                <a:ea typeface="Verdana" pitchFamily="34" charset="0"/>
                <a:cs typeface="Verdana" pitchFamily="34" charset="0"/>
              </a:rPr>
              <a:t>2. **Ressources financières limitées** : Difficulté à obtenir des financements pour le développement et la croissance.</a:t>
            </a:r>
          </a:p>
          <a:p>
            <a:pPr algn="just"/>
            <a:r>
              <a:rPr lang="fr-FR" dirty="0" smtClean="0">
                <a:solidFill>
                  <a:schemeClr val="tx1"/>
                </a:solidFill>
                <a:latin typeface="Arial" pitchFamily="34" charset="0"/>
                <a:ea typeface="Verdana" pitchFamily="34" charset="0"/>
                <a:cs typeface="Verdana" pitchFamily="34" charset="0"/>
              </a:rPr>
              <a:t>3. **Expérience limitée** : L'équipe peut manquer d'expérience dans la gestion d'une entreprise ou dans le secteur spécifique.</a:t>
            </a:r>
          </a:p>
          <a:p>
            <a:pPr algn="just"/>
            <a:r>
              <a:rPr lang="fr-FR" dirty="0" smtClean="0">
                <a:solidFill>
                  <a:schemeClr val="tx1"/>
                </a:solidFill>
                <a:latin typeface="Arial" pitchFamily="34" charset="0"/>
                <a:ea typeface="Verdana" pitchFamily="34" charset="0"/>
                <a:cs typeface="Verdana" pitchFamily="34" charset="0"/>
              </a:rPr>
              <a:t>4. **Dépendance à la technologie** : Risques liés aux pannes techniques ou aux problèmes de </a:t>
            </a:r>
            <a:r>
              <a:rPr lang="fr-FR" dirty="0" err="1" smtClean="0">
                <a:solidFill>
                  <a:schemeClr val="tx1"/>
                </a:solidFill>
                <a:latin typeface="Arial" pitchFamily="34" charset="0"/>
                <a:ea typeface="Verdana" pitchFamily="34" charset="0"/>
                <a:cs typeface="Verdana" pitchFamily="34" charset="0"/>
              </a:rPr>
              <a:t>cybersécurité</a:t>
            </a:r>
            <a:r>
              <a:rPr lang="fr-FR" dirty="0" smtClean="0">
                <a:solidFill>
                  <a:schemeClr val="tx1"/>
                </a:solidFill>
                <a:latin typeface="Arial" pitchFamily="34" charset="0"/>
                <a:ea typeface="Verdana" pitchFamily="34" charset="0"/>
                <a:cs typeface="Verdana" pitchFamily="34" charset="0"/>
              </a:rPr>
              <a:t>.</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156771" y="907146"/>
            <a:ext cx="10366873" cy="569386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b="1" dirty="0" smtClean="0">
                <a:solidFill>
                  <a:schemeClr val="accent3">
                    <a:lumMod val="75000"/>
                  </a:schemeClr>
                </a:solidFill>
                <a:latin typeface="Arial" pitchFamily="34" charset="0"/>
                <a:ea typeface="Verdana" pitchFamily="34" charset="0"/>
                <a:cs typeface="Verdana" pitchFamily="34" charset="0"/>
              </a:rPr>
              <a:t> Opportunités (</a:t>
            </a:r>
            <a:r>
              <a:rPr lang="fr-FR" sz="2000" b="1" dirty="0" err="1" smtClean="0">
                <a:solidFill>
                  <a:schemeClr val="accent3">
                    <a:lumMod val="75000"/>
                  </a:schemeClr>
                </a:solidFill>
                <a:latin typeface="Arial" pitchFamily="34" charset="0"/>
                <a:ea typeface="Verdana" pitchFamily="34" charset="0"/>
                <a:cs typeface="Verdana" pitchFamily="34" charset="0"/>
              </a:rPr>
              <a:t>Opportunities</a:t>
            </a:r>
            <a:r>
              <a:rPr lang="fr-FR" sz="2000" b="1" dirty="0" smtClean="0">
                <a:solidFill>
                  <a:schemeClr val="accent3">
                    <a:lumMod val="75000"/>
                  </a:schemeClr>
                </a:solidFill>
                <a:latin typeface="Arial" pitchFamily="34" charset="0"/>
                <a:ea typeface="Verdana" pitchFamily="34" charset="0"/>
                <a:cs typeface="Verdana" pitchFamily="34" charset="0"/>
              </a:rPr>
              <a:t>)</a:t>
            </a:r>
          </a:p>
          <a:p>
            <a:pPr algn="just"/>
            <a:r>
              <a:rPr lang="fr-FR" sz="800" dirty="0" smtClean="0">
                <a:effectLst>
                  <a:outerShdw blurRad="38100" dist="38100" dir="2700000" algn="tl">
                    <a:srgbClr val="000000">
                      <a:alpha val="43137"/>
                    </a:srgbClr>
                  </a:outerShdw>
                </a:effectLst>
                <a:latin typeface="Arial" pitchFamily="34" charset="0"/>
                <a:ea typeface="Verdana" pitchFamily="34" charset="0"/>
                <a:cs typeface="Verdana" pitchFamily="34" charset="0"/>
              </a:rPr>
              <a:t/>
            </a:r>
            <a:br>
              <a:rPr lang="fr-FR" sz="800" dirty="0" smtClean="0">
                <a:effectLst>
                  <a:outerShdw blurRad="38100" dist="38100" dir="2700000" algn="tl">
                    <a:srgbClr val="000000">
                      <a:alpha val="43137"/>
                    </a:srgbClr>
                  </a:outerShdw>
                </a:effectLst>
                <a:latin typeface="Arial" pitchFamily="34" charset="0"/>
                <a:ea typeface="Verdana" pitchFamily="34" charset="0"/>
                <a:cs typeface="Verdana" pitchFamily="34" charset="0"/>
              </a:rPr>
            </a:br>
            <a:r>
              <a:rPr lang="fr-FR" dirty="0" smtClean="0">
                <a:latin typeface="Arial" pitchFamily="34" charset="0"/>
                <a:ea typeface="Verdana" pitchFamily="34" charset="0"/>
                <a:cs typeface="Verdana" pitchFamily="34" charset="0"/>
              </a:rPr>
              <a:t>1. **Croissance du marché digital** : Augmentation de la demande pour des solutions numériques, surtout après la pandémie.</a:t>
            </a:r>
          </a:p>
          <a:p>
            <a:pPr algn="just"/>
            <a:r>
              <a:rPr lang="fr-FR" dirty="0" smtClean="0">
                <a:latin typeface="Arial" pitchFamily="34" charset="0"/>
                <a:ea typeface="Verdana" pitchFamily="34" charset="0"/>
                <a:cs typeface="Verdana" pitchFamily="34" charset="0"/>
              </a:rPr>
              <a:t>2. **Partenariats stratégiques** : Possibilité de collaborer avec d'autres entreprises ou startups pour élargir l'offre.</a:t>
            </a:r>
          </a:p>
          <a:p>
            <a:pPr algn="just"/>
            <a:r>
              <a:rPr lang="fr-FR" dirty="0" smtClean="0">
                <a:latin typeface="Arial" pitchFamily="34" charset="0"/>
                <a:ea typeface="Verdana" pitchFamily="34" charset="0"/>
                <a:cs typeface="Verdana" pitchFamily="34" charset="0"/>
              </a:rPr>
              <a:t>3. **Financements disponibles** : Accès à des subventions, des investisseurs ou des incubateurs spécialisés dans les startups digitales.</a:t>
            </a:r>
          </a:p>
          <a:p>
            <a:pPr algn="just"/>
            <a:r>
              <a:rPr lang="fr-FR" dirty="0" smtClean="0">
                <a:latin typeface="Arial" pitchFamily="34" charset="0"/>
                <a:ea typeface="Verdana" pitchFamily="34" charset="0"/>
                <a:cs typeface="Verdana" pitchFamily="34" charset="0"/>
              </a:rPr>
              <a:t>4. **Tendances émergentes** : Exploitation de nouvelles technologies (IA, </a:t>
            </a:r>
            <a:r>
              <a:rPr lang="fr-FR" dirty="0" err="1" smtClean="0">
                <a:latin typeface="Arial" pitchFamily="34" charset="0"/>
                <a:ea typeface="Verdana" pitchFamily="34" charset="0"/>
                <a:cs typeface="Verdana" pitchFamily="34" charset="0"/>
              </a:rPr>
              <a:t>blockchain</a:t>
            </a:r>
            <a:r>
              <a:rPr lang="fr-FR" dirty="0" smtClean="0">
                <a:latin typeface="Arial" pitchFamily="34" charset="0"/>
                <a:ea typeface="Verdana" pitchFamily="34" charset="0"/>
                <a:cs typeface="Verdana" pitchFamily="34" charset="0"/>
              </a:rPr>
              <a:t>, etc.) pour se différencier.</a:t>
            </a:r>
          </a:p>
          <a:p>
            <a:pPr algn="just"/>
            <a:r>
              <a:rPr lang="fr-FR" dirty="0" smtClean="0">
                <a:latin typeface="Arial" pitchFamily="34" charset="0"/>
                <a:ea typeface="Verdana" pitchFamily="34" charset="0"/>
                <a:cs typeface="Verdana" pitchFamily="34" charset="0"/>
              </a:rPr>
              <a:t/>
            </a:r>
            <a:br>
              <a:rPr lang="fr-FR" dirty="0" smtClean="0">
                <a:latin typeface="Arial" pitchFamily="34" charset="0"/>
                <a:ea typeface="Verdana" pitchFamily="34" charset="0"/>
                <a:cs typeface="Verdana" pitchFamily="34" charset="0"/>
              </a:rPr>
            </a:br>
            <a:r>
              <a:rPr lang="fr-FR" sz="2000" b="1" dirty="0" smtClean="0">
                <a:solidFill>
                  <a:srgbClr val="C00000"/>
                </a:solidFill>
                <a:latin typeface="Arial" pitchFamily="34" charset="0"/>
                <a:ea typeface="Verdana" pitchFamily="34" charset="0"/>
                <a:cs typeface="Verdana" pitchFamily="34" charset="0"/>
              </a:rPr>
              <a:t> Menaces (</a:t>
            </a:r>
            <a:r>
              <a:rPr lang="fr-FR" sz="2000" b="1" dirty="0" err="1" smtClean="0">
                <a:solidFill>
                  <a:srgbClr val="C00000"/>
                </a:solidFill>
                <a:latin typeface="Arial" pitchFamily="34" charset="0"/>
                <a:ea typeface="Verdana" pitchFamily="34" charset="0"/>
                <a:cs typeface="Verdana" pitchFamily="34" charset="0"/>
              </a:rPr>
              <a:t>Threats</a:t>
            </a:r>
            <a:r>
              <a:rPr lang="fr-FR" sz="2000" b="1" dirty="0" smtClean="0">
                <a:solidFill>
                  <a:srgbClr val="C00000"/>
                </a:solidFill>
                <a:latin typeface="Arial" pitchFamily="34" charset="0"/>
                <a:ea typeface="Verdana" pitchFamily="34" charset="0"/>
                <a:cs typeface="Verdana" pitchFamily="34" charset="0"/>
              </a:rPr>
              <a:t>)</a:t>
            </a:r>
          </a:p>
          <a:p>
            <a:pPr algn="just"/>
            <a:r>
              <a:rPr lang="fr-FR" dirty="0" smtClean="0">
                <a:latin typeface="Arial" pitchFamily="34" charset="0"/>
                <a:ea typeface="Verdana" pitchFamily="34" charset="0"/>
                <a:cs typeface="Verdana" pitchFamily="34" charset="0"/>
              </a:rPr>
              <a:t/>
            </a:r>
            <a:br>
              <a:rPr lang="fr-FR" dirty="0" smtClean="0">
                <a:latin typeface="Arial" pitchFamily="34" charset="0"/>
                <a:ea typeface="Verdana" pitchFamily="34" charset="0"/>
                <a:cs typeface="Verdana" pitchFamily="34" charset="0"/>
              </a:rPr>
            </a:br>
            <a:r>
              <a:rPr lang="fr-FR" dirty="0" smtClean="0">
                <a:latin typeface="Arial" pitchFamily="34" charset="0"/>
                <a:ea typeface="Verdana" pitchFamily="34" charset="0"/>
                <a:cs typeface="Verdana" pitchFamily="34" charset="0"/>
              </a:rPr>
              <a:t>1. **Concurrence accrue** : De nombreuses startups et entreprises établies se battent pour la même clientèle.</a:t>
            </a:r>
          </a:p>
          <a:p>
            <a:pPr algn="just"/>
            <a:r>
              <a:rPr lang="fr-FR" dirty="0" smtClean="0">
                <a:latin typeface="Arial" pitchFamily="34" charset="0"/>
                <a:ea typeface="Verdana" pitchFamily="34" charset="0"/>
                <a:cs typeface="Verdana" pitchFamily="34" charset="0"/>
              </a:rPr>
              <a:t>2. **Évolution rapide de la technologie** : Nécessité de constamment innover .</a:t>
            </a:r>
          </a:p>
          <a:p>
            <a:pPr algn="just"/>
            <a:r>
              <a:rPr lang="fr-FR" dirty="0" smtClean="0">
                <a:latin typeface="Arial" pitchFamily="34" charset="0"/>
                <a:ea typeface="Verdana" pitchFamily="34" charset="0"/>
                <a:cs typeface="Verdana" pitchFamily="34" charset="0"/>
              </a:rPr>
              <a:t>3. **Réglementations changeantes** : Risques liés aux lois sur la protection des données et à d'autres réglementations numériques.</a:t>
            </a:r>
          </a:p>
          <a:p>
            <a:pPr algn="just"/>
            <a:r>
              <a:rPr lang="fr-FR" dirty="0" smtClean="0">
                <a:latin typeface="Arial" pitchFamily="34" charset="0"/>
                <a:ea typeface="Verdana" pitchFamily="34" charset="0"/>
                <a:cs typeface="Verdana" pitchFamily="34" charset="0"/>
              </a:rPr>
              <a:t>4. **Fluctuations économiques** : Impact potentiel des crises économiques sur les budgets des consommateurs et des entreprises</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189821" y="1478399"/>
            <a:ext cx="10058400" cy="341632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dirty="0" smtClean="0"/>
              <a:t/>
            </a:r>
            <a:br>
              <a:rPr lang="fr-FR" dirty="0" smtClean="0"/>
            </a:br>
            <a:r>
              <a:rPr lang="fr-FR" dirty="0" smtClean="0"/>
              <a:t>.</a:t>
            </a:r>
            <a:r>
              <a:rPr lang="fr-FR" sz="2000" dirty="0" smtClean="0">
                <a:latin typeface="Arial" pitchFamily="34" charset="0"/>
                <a:ea typeface="Verdana" pitchFamily="34" charset="0"/>
                <a:cs typeface="Verdana" pitchFamily="34" charset="0"/>
              </a:rPr>
              <a:t/>
            </a:r>
            <a:br>
              <a:rPr lang="fr-FR" sz="2000" dirty="0" smtClean="0">
                <a:latin typeface="Arial" pitchFamily="34" charset="0"/>
                <a:ea typeface="Verdana" pitchFamily="34" charset="0"/>
                <a:cs typeface="Verdana" pitchFamily="34" charset="0"/>
              </a:rPr>
            </a:br>
            <a:r>
              <a:rPr lang="fr-FR" sz="2000" dirty="0" smtClean="0">
                <a:latin typeface="Arial" pitchFamily="34" charset="0"/>
                <a:ea typeface="Verdana" pitchFamily="34" charset="0"/>
                <a:cs typeface="Verdana" pitchFamily="34" charset="0"/>
              </a:rPr>
              <a:t/>
            </a:r>
            <a:br>
              <a:rPr lang="fr-FR" sz="2000" dirty="0" smtClean="0">
                <a:latin typeface="Arial" pitchFamily="34" charset="0"/>
                <a:ea typeface="Verdana" pitchFamily="34" charset="0"/>
                <a:cs typeface="Verdana" pitchFamily="34" charset="0"/>
              </a:rPr>
            </a:br>
            <a:r>
              <a:rPr lang="fr-FR" sz="2000" dirty="0" smtClean="0">
                <a:latin typeface="Arial" pitchFamily="34" charset="0"/>
                <a:ea typeface="Verdana" pitchFamily="34" charset="0"/>
                <a:cs typeface="Verdana" pitchFamily="34" charset="0"/>
              </a:rPr>
              <a:t>### Conclusion</a:t>
            </a:r>
          </a:p>
          <a:p>
            <a:pPr algn="just"/>
            <a:r>
              <a:rPr lang="fr-FR" sz="2000" dirty="0" smtClean="0">
                <a:latin typeface="Arial" pitchFamily="34" charset="0"/>
                <a:ea typeface="Verdana" pitchFamily="34" charset="0"/>
                <a:cs typeface="Verdana" pitchFamily="34" charset="0"/>
              </a:rPr>
              <a:t/>
            </a:r>
            <a:br>
              <a:rPr lang="fr-FR" sz="2000" dirty="0" smtClean="0">
                <a:latin typeface="Arial" pitchFamily="34" charset="0"/>
                <a:ea typeface="Verdana" pitchFamily="34" charset="0"/>
                <a:cs typeface="Verdana" pitchFamily="34" charset="0"/>
              </a:rPr>
            </a:br>
            <a:r>
              <a:rPr lang="fr-FR" sz="2000" dirty="0" smtClean="0">
                <a:latin typeface="Arial" pitchFamily="34" charset="0"/>
                <a:ea typeface="Verdana" pitchFamily="34" charset="0"/>
                <a:cs typeface="Verdana" pitchFamily="34" charset="0"/>
              </a:rPr>
              <a:t>Cette matrice SWOT permet à la startup digitale de mieux comprendre son environnement interne et externe. En capitalisant sur ses forces et opportunités tout</a:t>
            </a:r>
            <a:br>
              <a:rPr lang="fr-FR" sz="2000" dirty="0" smtClean="0">
                <a:latin typeface="Arial" pitchFamily="34" charset="0"/>
                <a:ea typeface="Verdana" pitchFamily="34" charset="0"/>
                <a:cs typeface="Verdana" pitchFamily="34" charset="0"/>
              </a:rPr>
            </a:br>
            <a:r>
              <a:rPr lang="fr-FR" sz="2000" dirty="0" smtClean="0">
                <a:latin typeface="Arial" pitchFamily="34" charset="0"/>
                <a:ea typeface="Verdana" pitchFamily="34" charset="0"/>
                <a:cs typeface="Verdana" pitchFamily="34" charset="0"/>
              </a:rPr>
              <a:t>en adressant ses faiblesses et en se préparant aux menaces, elle pourra élaborer une stratégie solide pour sa croissance et son développement.</a:t>
            </a:r>
          </a:p>
          <a:p>
            <a:pPr algn="just"/>
            <a:endParaRPr lang="fr-FR" sz="2000" dirty="0" smtClean="0">
              <a:latin typeface="Arial" pitchFamily="34" charset="0"/>
              <a:ea typeface="Verdana" pitchFamily="34" charset="0"/>
              <a:cs typeface="Verdana" pitchFamily="34" charset="0"/>
            </a:endParaRPr>
          </a:p>
          <a:p>
            <a:pPr algn="just"/>
            <a:endParaRPr lang="fr-FR" sz="2000" dirty="0" smtClean="0">
              <a:latin typeface="Arial" pitchFamily="34" charset="0"/>
              <a:ea typeface="Verdana" pitchFamily="34" charset="0"/>
              <a:cs typeface="Verdana" pitchFamily="34" charset="0"/>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084162" y="892367"/>
            <a:ext cx="10296261" cy="369332"/>
          </a:xfrm>
          <a:prstGeom prst="rect">
            <a:avLst/>
          </a:prstGeom>
        </p:spPr>
        <p:txBody>
          <a:bodyPr wrap="square">
            <a:spAutoFit/>
          </a:bodyPr>
          <a:lstStyle/>
          <a:p>
            <a:r>
              <a:rPr lang="fr-FR" b="1" dirty="0" smtClean="0"/>
              <a:t>EXEMPLE 2 : </a:t>
            </a:r>
            <a:r>
              <a:rPr lang="fr-FR" dirty="0" smtClean="0">
                <a:solidFill>
                  <a:srgbClr val="000000"/>
                </a:solidFill>
                <a:latin typeface="Calibri" pitchFamily="34" charset="0"/>
                <a:ea typeface="Calibri" pitchFamily="34" charset="0"/>
                <a:cs typeface="Arial" pitchFamily="34" charset="0"/>
              </a:rPr>
              <a:t>Entreprise de livraison de repas bio à domicile.</a:t>
            </a:r>
            <a:endParaRPr lang="fr-FR" b="1" dirty="0" smtClean="0"/>
          </a:p>
        </p:txBody>
      </p:sp>
      <p:sp>
        <p:nvSpPr>
          <p:cNvPr id="4097" name="Rectangle 1"/>
          <p:cNvSpPr>
            <a:spLocks noChangeArrowheads="1"/>
          </p:cNvSpPr>
          <p:nvPr/>
        </p:nvSpPr>
        <p:spPr bwMode="auto">
          <a:xfrm>
            <a:off x="1112704" y="1408268"/>
            <a:ext cx="10256704" cy="5139869"/>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fr-FR" dirty="0" smtClean="0">
                <a:solidFill>
                  <a:schemeClr val="dk1"/>
                </a:solidFill>
                <a:latin typeface="Arial" pitchFamily="34" charset="0"/>
                <a:ea typeface="Verdana" pitchFamily="34" charset="0"/>
                <a:cs typeface="Verdana" pitchFamily="34" charset="0"/>
              </a:rPr>
              <a:t>Imaginons que vous souhaitez créer une Entreprise de livraison de repas bio à domicile. </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
            </a:r>
            <a:br>
              <a:rPr lang="fr-FR" dirty="0" smtClean="0">
                <a:solidFill>
                  <a:schemeClr val="dk1"/>
                </a:solidFill>
                <a:latin typeface="Arial" pitchFamily="34" charset="0"/>
                <a:ea typeface="Verdana" pitchFamily="34" charset="0"/>
                <a:cs typeface="Verdana" pitchFamily="34" charset="0"/>
              </a:rPr>
            </a:br>
            <a:r>
              <a:rPr lang="fr-FR" sz="2000" b="1" dirty="0" smtClean="0">
                <a:solidFill>
                  <a:schemeClr val="accent3">
                    <a:lumMod val="75000"/>
                  </a:schemeClr>
                </a:solidFill>
                <a:latin typeface="Arial" pitchFamily="34" charset="0"/>
                <a:ea typeface="Verdana" pitchFamily="34" charset="0"/>
                <a:cs typeface="Verdana" pitchFamily="34" charset="0"/>
              </a:rPr>
              <a:t> Forces :</a:t>
            </a:r>
          </a:p>
          <a:p>
            <a:pPr lvl="0" fontAlgn="base">
              <a:spcBef>
                <a:spcPct val="0"/>
              </a:spcBef>
              <a:spcAft>
                <a:spcPct val="0"/>
              </a:spcAft>
            </a:pPr>
            <a:r>
              <a:rPr lang="fr-FR" dirty="0" smtClean="0">
                <a:solidFill>
                  <a:schemeClr val="dk1"/>
                </a:solidFill>
                <a:latin typeface="Arial" pitchFamily="34" charset="0"/>
                <a:ea typeface="Verdana" pitchFamily="34" charset="0"/>
                <a:cs typeface="Verdana" pitchFamily="34" charset="0"/>
              </a:rPr>
              <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 Produits de haute qualité et bio.</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 Équipe passionnée et expérimentée dans la nutrition.</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 Service client réactif et personnalisé.</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
            </a:r>
            <a:br>
              <a:rPr lang="fr-FR" dirty="0" smtClean="0">
                <a:solidFill>
                  <a:schemeClr val="dk1"/>
                </a:solidFill>
                <a:latin typeface="Arial" pitchFamily="34" charset="0"/>
                <a:ea typeface="Verdana" pitchFamily="34" charset="0"/>
                <a:cs typeface="Verdana" pitchFamily="34" charset="0"/>
              </a:rPr>
            </a:br>
            <a:r>
              <a:rPr lang="fr-FR" sz="2000" b="1" dirty="0" smtClean="0">
                <a:solidFill>
                  <a:srgbClr val="C00000"/>
                </a:solidFill>
                <a:latin typeface="Arial" pitchFamily="34" charset="0"/>
                <a:ea typeface="Verdana" pitchFamily="34" charset="0"/>
                <a:cs typeface="Verdana" pitchFamily="34" charset="0"/>
              </a:rPr>
              <a:t> Faiblesses </a:t>
            </a:r>
            <a:r>
              <a:rPr lang="fr-FR" dirty="0" smtClean="0">
                <a:solidFill>
                  <a:schemeClr val="dk1"/>
                </a:solidFill>
                <a:latin typeface="Arial" pitchFamily="34" charset="0"/>
                <a:ea typeface="Verdana" pitchFamily="34" charset="0"/>
                <a:cs typeface="Verdana" pitchFamily="34" charset="0"/>
              </a:rPr>
              <a:t>:</a:t>
            </a:r>
          </a:p>
          <a:p>
            <a:pPr lvl="0" fontAlgn="base">
              <a:spcBef>
                <a:spcPct val="0"/>
              </a:spcBef>
              <a:spcAft>
                <a:spcPct val="0"/>
              </a:spcAft>
            </a:pPr>
            <a:r>
              <a:rPr lang="fr-FR" dirty="0" smtClean="0">
                <a:solidFill>
                  <a:schemeClr val="dk1"/>
                </a:solidFill>
                <a:latin typeface="Arial" pitchFamily="34" charset="0"/>
                <a:ea typeface="Verdana" pitchFamily="34" charset="0"/>
                <a:cs typeface="Verdana" pitchFamily="34" charset="0"/>
              </a:rPr>
              <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 Coûts de production plus élevés que les concurrents.</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 Manque de notoriété sur le marché au démarrage.</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 Dépendance à un nombre limité de fournisseurs.</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
            </a:r>
            <a:br>
              <a:rPr lang="fr-FR" dirty="0" smtClean="0">
                <a:solidFill>
                  <a:schemeClr val="dk1"/>
                </a:solidFill>
                <a:latin typeface="Arial" pitchFamily="34" charset="0"/>
                <a:ea typeface="Verdana" pitchFamily="34" charset="0"/>
                <a:cs typeface="Verdana" pitchFamily="34" charset="0"/>
              </a:rPr>
            </a:br>
            <a:r>
              <a:rPr lang="fr-FR" sz="2000" b="1" dirty="0" smtClean="0">
                <a:solidFill>
                  <a:schemeClr val="accent3">
                    <a:lumMod val="75000"/>
                  </a:schemeClr>
                </a:solidFill>
                <a:latin typeface="Arial" pitchFamily="34" charset="0"/>
                <a:ea typeface="Verdana" pitchFamily="34" charset="0"/>
                <a:cs typeface="Verdana" pitchFamily="34" charset="0"/>
              </a:rPr>
              <a:t> Opportunités :</a:t>
            </a:r>
            <a:r>
              <a:rPr lang="fr-FR" dirty="0" smtClean="0">
                <a:solidFill>
                  <a:schemeClr val="dk1"/>
                </a:solidFill>
                <a:latin typeface="Arial" pitchFamily="34" charset="0"/>
                <a:ea typeface="Verdana" pitchFamily="34" charset="0"/>
                <a:cs typeface="Verdana" pitchFamily="34" charset="0"/>
              </a:rPr>
              <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 Croissance de la demande pour des options alimentaires saines.</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 Partenariats potentiels avec des restaurants locaux.</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 Utilisation des réseaux sociaux pour le marketing à faible coût.</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156771" y="1305342"/>
            <a:ext cx="10179586" cy="427809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b="1" dirty="0" smtClean="0">
                <a:solidFill>
                  <a:srgbClr val="C00000"/>
                </a:solidFill>
                <a:latin typeface="Arial" pitchFamily="34" charset="0"/>
                <a:ea typeface="Verdana" pitchFamily="34" charset="0"/>
                <a:cs typeface="Verdana" pitchFamily="34" charset="0"/>
              </a:rPr>
              <a:t>Menaces :</a:t>
            </a:r>
          </a:p>
          <a:p>
            <a:pPr algn="just"/>
            <a:r>
              <a:rPr lang="fr-FR" dirty="0" smtClean="0">
                <a:solidFill>
                  <a:schemeClr val="dk1"/>
                </a:solidFill>
                <a:latin typeface="Arial" pitchFamily="34" charset="0"/>
                <a:ea typeface="Verdana" pitchFamily="34" charset="0"/>
                <a:cs typeface="Verdana" pitchFamily="34" charset="0"/>
              </a:rPr>
              <a:t/>
            </a:r>
            <a:br>
              <a:rPr lang="fr-FR" dirty="0" smtClean="0">
                <a:solidFill>
                  <a:schemeClr val="dk1"/>
                </a:solidFill>
                <a:latin typeface="Arial" pitchFamily="34" charset="0"/>
                <a:ea typeface="Verdana" pitchFamily="34" charset="0"/>
                <a:cs typeface="Verdana" pitchFamily="34" charset="0"/>
              </a:rPr>
            </a:br>
            <a:r>
              <a:rPr lang="fr-FR" dirty="0" smtClean="0">
                <a:solidFill>
                  <a:schemeClr val="dk1"/>
                </a:solidFill>
                <a:latin typeface="Arial" pitchFamily="34" charset="0"/>
                <a:ea typeface="Verdana" pitchFamily="34" charset="0"/>
                <a:cs typeface="Verdana" pitchFamily="34" charset="0"/>
              </a:rPr>
              <a:t>- Concurrence accrue dans le secteur de la livraison de repas.</a:t>
            </a:r>
          </a:p>
          <a:p>
            <a:pPr algn="just">
              <a:buFontTx/>
              <a:buChar char="-"/>
            </a:pPr>
            <a:r>
              <a:rPr lang="fr-FR" dirty="0" smtClean="0">
                <a:solidFill>
                  <a:schemeClr val="dk1"/>
                </a:solidFill>
                <a:latin typeface="Arial" pitchFamily="34" charset="0"/>
                <a:ea typeface="Verdana" pitchFamily="34" charset="0"/>
                <a:cs typeface="Verdana" pitchFamily="34" charset="0"/>
              </a:rPr>
              <a:t> Changements réglementaires concernant la sécurité alimentaire.</a:t>
            </a:r>
          </a:p>
          <a:p>
            <a:pPr algn="just">
              <a:buFontTx/>
              <a:buChar char="-"/>
            </a:pPr>
            <a:r>
              <a:rPr lang="fr-FR" smtClean="0">
                <a:latin typeface="Arial" pitchFamily="34" charset="0"/>
                <a:ea typeface="Verdana" pitchFamily="34" charset="0"/>
                <a:cs typeface="Verdana" pitchFamily="34" charset="0"/>
              </a:rPr>
              <a:t> </a:t>
            </a:r>
            <a:r>
              <a:rPr lang="fr-FR" smtClean="0">
                <a:solidFill>
                  <a:schemeClr val="dk1"/>
                </a:solidFill>
                <a:latin typeface="Arial" pitchFamily="34" charset="0"/>
                <a:ea typeface="Verdana" pitchFamily="34" charset="0"/>
                <a:cs typeface="Verdana" pitchFamily="34" charset="0"/>
              </a:rPr>
              <a:t>Fluctuations </a:t>
            </a:r>
            <a:r>
              <a:rPr lang="fr-FR" dirty="0" smtClean="0">
                <a:solidFill>
                  <a:schemeClr val="dk1"/>
                </a:solidFill>
                <a:latin typeface="Arial" pitchFamily="34" charset="0"/>
                <a:ea typeface="Verdana" pitchFamily="34" charset="0"/>
                <a:cs typeface="Verdana" pitchFamily="34" charset="0"/>
              </a:rPr>
              <a:t>des prix des ingrédients bio.</a:t>
            </a:r>
          </a:p>
          <a:p>
            <a:pPr algn="just"/>
            <a:r>
              <a:rPr lang="fr-FR" dirty="0" smtClean="0">
                <a:solidFill>
                  <a:schemeClr val="dk1"/>
                </a:solidFill>
                <a:latin typeface="Arial" pitchFamily="34" charset="0"/>
                <a:ea typeface="Verdana" pitchFamily="34" charset="0"/>
                <a:cs typeface="Verdana" pitchFamily="34" charset="0"/>
              </a:rPr>
              <a:t/>
            </a:r>
            <a:br>
              <a:rPr lang="fr-FR" dirty="0" smtClean="0">
                <a:solidFill>
                  <a:schemeClr val="dk1"/>
                </a:solidFill>
                <a:latin typeface="Arial" pitchFamily="34" charset="0"/>
                <a:ea typeface="Verdana" pitchFamily="34" charset="0"/>
                <a:cs typeface="Verdana" pitchFamily="34" charset="0"/>
              </a:rPr>
            </a:br>
            <a:r>
              <a:rPr lang="fr-FR" b="1" dirty="0" smtClean="0">
                <a:solidFill>
                  <a:schemeClr val="dk1"/>
                </a:solidFill>
                <a:latin typeface="Arial" pitchFamily="34" charset="0"/>
                <a:ea typeface="Verdana" pitchFamily="34" charset="0"/>
                <a:cs typeface="Verdana" pitchFamily="34" charset="0"/>
              </a:rPr>
              <a:t/>
            </a:r>
            <a:br>
              <a:rPr lang="fr-FR" b="1" dirty="0" smtClean="0">
                <a:solidFill>
                  <a:schemeClr val="dk1"/>
                </a:solidFill>
                <a:latin typeface="Arial" pitchFamily="34" charset="0"/>
                <a:ea typeface="Verdana" pitchFamily="34" charset="0"/>
                <a:cs typeface="Verdana" pitchFamily="34" charset="0"/>
              </a:rPr>
            </a:br>
            <a:r>
              <a:rPr lang="fr-FR" b="1" dirty="0" smtClean="0">
                <a:solidFill>
                  <a:schemeClr val="dk1"/>
                </a:solidFill>
                <a:latin typeface="Arial" pitchFamily="34" charset="0"/>
                <a:ea typeface="Verdana" pitchFamily="34" charset="0"/>
                <a:cs typeface="Verdana" pitchFamily="34" charset="0"/>
              </a:rPr>
              <a:t> Conclusion</a:t>
            </a:r>
          </a:p>
          <a:p>
            <a:pPr algn="just"/>
            <a:r>
              <a:rPr lang="fr-FR" b="1" dirty="0" smtClean="0">
                <a:solidFill>
                  <a:schemeClr val="dk1"/>
                </a:solidFill>
                <a:latin typeface="Arial" pitchFamily="34" charset="0"/>
                <a:ea typeface="Verdana" pitchFamily="34" charset="0"/>
                <a:cs typeface="Verdana" pitchFamily="34" charset="0"/>
              </a:rPr>
              <a:t/>
            </a:r>
            <a:br>
              <a:rPr lang="fr-FR" b="1" dirty="0" smtClean="0">
                <a:solidFill>
                  <a:schemeClr val="dk1"/>
                </a:solidFill>
                <a:latin typeface="Arial" pitchFamily="34" charset="0"/>
                <a:ea typeface="Verdana" pitchFamily="34" charset="0"/>
                <a:cs typeface="Verdana" pitchFamily="34" charset="0"/>
              </a:rPr>
            </a:br>
            <a:r>
              <a:rPr lang="fr-FR" b="1" dirty="0" smtClean="0">
                <a:solidFill>
                  <a:schemeClr val="dk1"/>
                </a:solidFill>
                <a:latin typeface="Arial" pitchFamily="34" charset="0"/>
                <a:ea typeface="Verdana" pitchFamily="34" charset="0"/>
                <a:cs typeface="Verdana" pitchFamily="34" charset="0"/>
              </a:rPr>
              <a:t>En utilisant la matrice SWOT à cette étape, vous pouvez identifier des stratégies pour capitaliser sur vos forces et opportunités tout en développant des plans</a:t>
            </a:r>
            <a:br>
              <a:rPr lang="fr-FR" b="1" dirty="0" smtClean="0">
                <a:solidFill>
                  <a:schemeClr val="dk1"/>
                </a:solidFill>
                <a:latin typeface="Arial" pitchFamily="34" charset="0"/>
                <a:ea typeface="Verdana" pitchFamily="34" charset="0"/>
                <a:cs typeface="Verdana" pitchFamily="34" charset="0"/>
              </a:rPr>
            </a:br>
            <a:r>
              <a:rPr lang="fr-FR" b="1" dirty="0" smtClean="0">
                <a:solidFill>
                  <a:schemeClr val="dk1"/>
                </a:solidFill>
                <a:latin typeface="Arial" pitchFamily="34" charset="0"/>
                <a:ea typeface="Verdana" pitchFamily="34" charset="0"/>
                <a:cs typeface="Verdana" pitchFamily="34" charset="0"/>
              </a:rPr>
              <a:t>pour atténuer vos faiblesses et menaces. Cela permet de mieux préparer le lancement de l'entreprise et d'augmenter les chances de succès à long terme.</a:t>
            </a:r>
          </a:p>
          <a:p>
            <a:pPr algn="just"/>
            <a:endParaRPr lang="fr-FR" dirty="0" smtClean="0">
              <a:solidFill>
                <a:schemeClr val="dk1"/>
              </a:solidFill>
              <a:latin typeface="Arial" pitchFamily="34" charset="0"/>
              <a:ea typeface="Verdana" pitchFamily="34" charset="0"/>
              <a:cs typeface="Verdana" pitchFamily="34" charset="0"/>
            </a:endParaRPr>
          </a:p>
          <a:p>
            <a:pPr algn="just"/>
            <a:endParaRPr lang="fr-FR"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ogner un rectangle avec un coin du même côté 2"/>
          <p:cNvSpPr/>
          <p:nvPr/>
        </p:nvSpPr>
        <p:spPr>
          <a:xfrm>
            <a:off x="1553377" y="1232968"/>
            <a:ext cx="5475383" cy="434935"/>
          </a:xfrm>
          <a:prstGeom prst="snip2SameRect">
            <a:avLst/>
          </a:prstGeom>
        </p:spPr>
        <p:style>
          <a:lnRef idx="2">
            <a:schemeClr val="dk1"/>
          </a:lnRef>
          <a:fillRef idx="1">
            <a:schemeClr val="lt1"/>
          </a:fillRef>
          <a:effectRef idx="0">
            <a:schemeClr val="dk1"/>
          </a:effectRef>
          <a:fontRef idx="minor">
            <a:schemeClr val="dk1"/>
          </a:fontRef>
        </p:style>
        <p:txBody>
          <a:bodyPr wrap="square">
            <a:spAutoFit/>
          </a:bodyPr>
          <a:lstStyle/>
          <a:p>
            <a:pPr lvl="0" algn="ctr"/>
            <a:r>
              <a:rPr lang="fr-FR" sz="2000" b="1" dirty="0" smtClean="0">
                <a:solidFill>
                  <a:srgbClr val="C00000"/>
                </a:solidFill>
              </a:rPr>
              <a:t>B-  LE BUSINESS MODEL</a:t>
            </a:r>
          </a:p>
        </p:txBody>
      </p:sp>
      <p:sp>
        <p:nvSpPr>
          <p:cNvPr id="6" name="Rectangle 5"/>
          <p:cNvSpPr/>
          <p:nvPr/>
        </p:nvSpPr>
        <p:spPr>
          <a:xfrm>
            <a:off x="848299" y="1885658"/>
            <a:ext cx="10697378" cy="449353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fr-FR" sz="2200" dirty="0" smtClean="0">
                <a:solidFill>
                  <a:srgbClr val="C00000"/>
                </a:solidFill>
                <a:latin typeface="Arial" pitchFamily="34" charset="0"/>
                <a:ea typeface="Verdana" pitchFamily="34" charset="0"/>
                <a:cs typeface="Verdana" pitchFamily="34" charset="0"/>
              </a:rPr>
              <a:t>Business model, de quoi s’agit-il ?</a:t>
            </a:r>
          </a:p>
          <a:p>
            <a:endParaRPr lang="fr-FR" sz="2200" dirty="0" smtClean="0">
              <a:solidFill>
                <a:schemeClr val="dk1"/>
              </a:solidFill>
              <a:latin typeface="Arial" pitchFamily="34" charset="0"/>
              <a:ea typeface="Verdana" pitchFamily="34" charset="0"/>
              <a:cs typeface="Verdana" pitchFamily="34" charset="0"/>
            </a:endParaRPr>
          </a:p>
          <a:p>
            <a:pPr algn="just"/>
            <a:r>
              <a:rPr lang="fr-FR" sz="2200" dirty="0" smtClean="0">
                <a:solidFill>
                  <a:schemeClr val="dk1"/>
                </a:solidFill>
                <a:latin typeface="Arial" pitchFamily="34" charset="0"/>
                <a:ea typeface="Verdana" pitchFamily="34" charset="0"/>
                <a:cs typeface="Verdana" pitchFamily="34" charset="0"/>
              </a:rPr>
              <a:t>Un business model, appelé également modèle économique ou modèle d’affaires, décrit précisément comment votre entreprise va gagner de l’argent.</a:t>
            </a:r>
          </a:p>
          <a:p>
            <a:pPr algn="just"/>
            <a:r>
              <a:rPr lang="fr-FR" sz="2200" dirty="0" smtClean="0">
                <a:solidFill>
                  <a:schemeClr val="dk1"/>
                </a:solidFill>
                <a:latin typeface="Arial" pitchFamily="34" charset="0"/>
                <a:ea typeface="Verdana" pitchFamily="34" charset="0"/>
                <a:cs typeface="Verdana" pitchFamily="34" charset="0"/>
              </a:rPr>
              <a:t>En pratique, cela consiste à définir ce que vous allez vendre, auprès de quels clients, dans quel but, pour répondre à quels besoins, de quelle manière et pour quel bénéfice. Décrire votre modèle économique revient donc à faire ressortir des éléments essentiels de votre étude commerciale et de votre étude financière pour convaincre vos futurs partenaires du réalisme de votre projet. Il peut prendre plusieurs formes et vous pouvez notamment le « dessiner » en utilisant par exemple le business model </a:t>
            </a:r>
            <a:r>
              <a:rPr lang="fr-FR" sz="2200" dirty="0" err="1" smtClean="0">
                <a:solidFill>
                  <a:schemeClr val="dk1"/>
                </a:solidFill>
                <a:latin typeface="Arial" pitchFamily="34" charset="0"/>
                <a:ea typeface="Verdana" pitchFamily="34" charset="0"/>
                <a:cs typeface="Verdana" pitchFamily="34" charset="0"/>
              </a:rPr>
              <a:t>Canvas</a:t>
            </a:r>
            <a:r>
              <a:rPr lang="fr-FR" sz="2200" dirty="0" smtClean="0">
                <a:solidFill>
                  <a:schemeClr val="dk1"/>
                </a:solidFill>
                <a:latin typeface="Arial" pitchFamily="34" charset="0"/>
                <a:ea typeface="Verdana" pitchFamily="34" charset="0"/>
                <a:cs typeface="Verdana" pitchFamily="34" charset="0"/>
              </a:rPr>
              <a:t>, aujourd’hui largement répandu. Pour un investisseur, votre business model sera naturellement une des pièces maîtresses de votre projet de création d’entreprise</a:t>
            </a:r>
            <a:r>
              <a:rPr lang="fr-FR" dirty="0" smtClean="0"/>
              <a:t>.</a:t>
            </a:r>
            <a:endParaRPr lang="fr-FR"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4"/>
          <p:cNvSpPr>
            <a:spLocks noChangeArrowheads="1"/>
          </p:cNvSpPr>
          <p:nvPr/>
        </p:nvSpPr>
        <p:spPr bwMode="auto">
          <a:xfrm>
            <a:off x="903383" y="1654754"/>
            <a:ext cx="10377889" cy="4062651"/>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lvl="1" algn="justLow" fontAlgn="base">
              <a:spcBef>
                <a:spcPct val="0"/>
              </a:spcBef>
              <a:spcAft>
                <a:spcPct val="0"/>
              </a:spcAft>
              <a:buClr>
                <a:srgbClr val="252525"/>
              </a:buClr>
              <a:tabLst>
                <a:tab pos="1023938" algn="l"/>
              </a:tabLst>
            </a:pPr>
            <a:endPar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endParaRPr>
          </a:p>
          <a:p>
            <a:pPr lvl="1" algn="justLow" fontAlgn="base">
              <a:spcBef>
                <a:spcPct val="0"/>
              </a:spcBef>
              <a:spcAft>
                <a:spcPct val="0"/>
              </a:spcAft>
              <a:buClr>
                <a:srgbClr val="252525"/>
              </a:buClr>
              <a:tabLst>
                <a:tab pos="1023938" algn="l"/>
              </a:tabLst>
            </a:pPr>
            <a:r>
              <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Le </a:t>
            </a:r>
            <a:r>
              <a:rPr lang="fr-FR" sz="2000" b="1" u="sng" dirty="0" smtClean="0">
                <a:solidFill>
                  <a:srgbClr val="00AFEF"/>
                </a:solidFill>
                <a:latin typeface="Tahoma" pitchFamily="34" charset="0"/>
                <a:ea typeface="Verdana" pitchFamily="34" charset="0"/>
                <a:cs typeface="Tahoma" pitchFamily="34" charset="0"/>
                <a:hlinkClick r:id="rId3"/>
              </a:rPr>
              <a:t>Business Model </a:t>
            </a:r>
            <a:r>
              <a:rPr lang="fr-FR" sz="2000" b="1" u="sng" dirty="0" err="1" smtClean="0">
                <a:solidFill>
                  <a:srgbClr val="00AFEF"/>
                </a:solidFill>
                <a:latin typeface="Tahoma" pitchFamily="34" charset="0"/>
                <a:ea typeface="Verdana" pitchFamily="34" charset="0"/>
                <a:cs typeface="Tahoma" pitchFamily="34" charset="0"/>
                <a:hlinkClick r:id="rId3"/>
              </a:rPr>
              <a:t>Canvas</a:t>
            </a:r>
            <a:r>
              <a:rPr lang="fr-FR" sz="2000" b="1" u="sng" dirty="0" smtClean="0">
                <a:solidFill>
                  <a:srgbClr val="00AFEF"/>
                </a:solidFill>
                <a:latin typeface="Tahoma" pitchFamily="34" charset="0"/>
                <a:ea typeface="Verdana" pitchFamily="34" charset="0"/>
                <a:cs typeface="Tahoma" pitchFamily="34" charset="0"/>
                <a:hlinkClick r:id="rId3"/>
              </a:rPr>
              <a:t> </a:t>
            </a:r>
            <a:r>
              <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est utilisable pour </a:t>
            </a:r>
            <a:r>
              <a:rPr kumimoji="0" lang="fr-FR" sz="2000" b="1" i="0" u="none" strike="noStrike" cap="none" normalizeH="0" baseline="0" dirty="0" smtClean="0">
                <a:ln>
                  <a:noFill/>
                </a:ln>
                <a:solidFill>
                  <a:schemeClr val="tx1"/>
                </a:solidFill>
                <a:effectLst/>
                <a:latin typeface="Tahoma" pitchFamily="34" charset="0"/>
                <a:ea typeface="Verdana" pitchFamily="34" charset="0"/>
                <a:cs typeface="Tahoma" pitchFamily="34" charset="0"/>
              </a:rPr>
              <a:t>tout type de projet</a:t>
            </a:r>
            <a:r>
              <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 Il s’inscrit dans n’importe quelle démarche (création ou reprise d’entreprise) et à </a:t>
            </a:r>
            <a:r>
              <a:rPr kumimoji="0" lang="fr-FR" sz="2000" b="1" i="0" u="none" strike="noStrike" cap="none" normalizeH="0" baseline="0" dirty="0" smtClean="0">
                <a:ln>
                  <a:noFill/>
                </a:ln>
                <a:solidFill>
                  <a:schemeClr val="tx1"/>
                </a:solidFill>
                <a:effectLst/>
                <a:latin typeface="Tahoma" pitchFamily="34" charset="0"/>
                <a:ea typeface="Verdana" pitchFamily="34" charset="0"/>
                <a:cs typeface="Tahoma" pitchFamily="34" charset="0"/>
              </a:rPr>
              <a:t>n’importe quel stade </a:t>
            </a:r>
            <a:r>
              <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(idée, démarrage, développement ou vente). Il permet de tester un projet, de l’optimiser et de le valider.</a:t>
            </a:r>
            <a:endParaRPr kumimoji="0" lang="fr-FR" sz="9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Low" defTabSz="914400" rtl="0" eaLnBrk="0" fontAlgn="base" latinLnBrk="0" hangingPunct="0">
              <a:lnSpc>
                <a:spcPct val="100000"/>
              </a:lnSpc>
              <a:spcBef>
                <a:spcPct val="0"/>
              </a:spcBef>
              <a:spcAft>
                <a:spcPct val="0"/>
              </a:spcAft>
              <a:buClr>
                <a:srgbClr val="252525"/>
              </a:buClr>
              <a:buSzTx/>
              <a:buFontTx/>
              <a:buChar char="◦"/>
              <a:tabLst>
                <a:tab pos="1023938" algn="l"/>
              </a:tabLst>
            </a:pPr>
            <a:r>
              <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Le BMC s’est fortement répandu dans le monde de l’entrepreneuriat. Contrairement à la plupart des autres outils, il est assez simple à comprendre et à construire.</a:t>
            </a:r>
            <a:endParaRPr kumimoji="0" lang="fr-FR" sz="900" b="0" i="0" u="none" strike="noStrike" cap="none" normalizeH="0" baseline="0" dirty="0" smtClean="0">
              <a:ln>
                <a:noFill/>
              </a:ln>
              <a:solidFill>
                <a:schemeClr val="tx1"/>
              </a:solidFill>
              <a:effectLst/>
              <a:latin typeface="Arial" pitchFamily="34" charset="0"/>
              <a:cs typeface="Arial" pitchFamily="34" charset="0"/>
            </a:endParaRPr>
          </a:p>
          <a:p>
            <a:pPr marL="457200" marR="0" lvl="1" indent="0" algn="justLow" defTabSz="914400" rtl="0" eaLnBrk="0" fontAlgn="base" latinLnBrk="0" hangingPunct="0">
              <a:lnSpc>
                <a:spcPct val="100000"/>
              </a:lnSpc>
              <a:spcBef>
                <a:spcPct val="0"/>
              </a:spcBef>
              <a:spcAft>
                <a:spcPct val="0"/>
              </a:spcAft>
              <a:buClr>
                <a:srgbClr val="252525"/>
              </a:buClr>
              <a:buSzTx/>
              <a:buFontTx/>
              <a:buChar char="◦"/>
              <a:tabLst>
                <a:tab pos="1023938" algn="l"/>
              </a:tabLst>
            </a:pPr>
            <a:r>
              <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Le Business Model </a:t>
            </a:r>
            <a:r>
              <a:rPr kumimoji="0" lang="fr-FR" sz="2000" b="0" i="0" u="none" strike="noStrike" cap="none" normalizeH="0" baseline="0" dirty="0" err="1" smtClean="0">
                <a:ln>
                  <a:noFill/>
                </a:ln>
                <a:solidFill>
                  <a:schemeClr val="tx1"/>
                </a:solidFill>
                <a:effectLst/>
                <a:latin typeface="Arial" pitchFamily="34" charset="0"/>
                <a:ea typeface="Verdana" pitchFamily="34" charset="0"/>
                <a:cs typeface="Verdana" pitchFamily="34" charset="0"/>
              </a:rPr>
              <a:t>Canvas</a:t>
            </a:r>
            <a:r>
              <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 </a:t>
            </a:r>
            <a:r>
              <a:rPr kumimoji="0" lang="fr-FR" sz="2000" b="1" i="0" u="none" strike="noStrike" cap="none" normalizeH="0" baseline="0" dirty="0" smtClean="0">
                <a:ln>
                  <a:noFill/>
                </a:ln>
                <a:solidFill>
                  <a:schemeClr val="tx1"/>
                </a:solidFill>
                <a:effectLst/>
                <a:latin typeface="Tahoma" pitchFamily="34" charset="0"/>
                <a:ea typeface="Verdana" pitchFamily="34" charset="0"/>
                <a:cs typeface="Tahoma" pitchFamily="34" charset="0"/>
              </a:rPr>
              <a:t>synthétise visuellement </a:t>
            </a:r>
            <a:r>
              <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une future entreprise. Composé de neuf blocs, cet outil apporte une vision d’ensemble qui permet de cerner rapidement et précisément un projet d’entreprise.</a:t>
            </a:r>
          </a:p>
          <a:p>
            <a:pPr marL="457200" marR="0" lvl="1" indent="0" algn="justLow" defTabSz="914400" rtl="0" eaLnBrk="0" fontAlgn="base" latinLnBrk="0" hangingPunct="0">
              <a:lnSpc>
                <a:spcPct val="100000"/>
              </a:lnSpc>
              <a:spcBef>
                <a:spcPct val="0"/>
              </a:spcBef>
              <a:spcAft>
                <a:spcPct val="0"/>
              </a:spcAft>
              <a:buClr>
                <a:srgbClr val="252525"/>
              </a:buClr>
              <a:buSzTx/>
              <a:buFontTx/>
              <a:buChar char="◦"/>
              <a:tabLst>
                <a:tab pos="1023938" algn="l"/>
              </a:tabLst>
            </a:pPr>
            <a:endParaRPr lang="fr-FR" sz="2000" dirty="0" smtClean="0">
              <a:solidFill>
                <a:schemeClr val="tx1"/>
              </a:solidFill>
              <a:latin typeface="Arial" pitchFamily="34" charset="0"/>
              <a:ea typeface="Verdana" pitchFamily="34" charset="0"/>
              <a:cs typeface="Verdana" pitchFamily="34" charset="0"/>
            </a:endParaRPr>
          </a:p>
          <a:p>
            <a:pPr marL="457200" marR="0" lvl="1" indent="0" algn="justLow" defTabSz="914400" rtl="0" eaLnBrk="0" fontAlgn="base" latinLnBrk="0" hangingPunct="0">
              <a:lnSpc>
                <a:spcPct val="100000"/>
              </a:lnSpc>
              <a:spcBef>
                <a:spcPct val="0"/>
              </a:spcBef>
              <a:spcAft>
                <a:spcPct val="0"/>
              </a:spcAft>
              <a:buClr>
                <a:srgbClr val="252525"/>
              </a:buClr>
              <a:buSzTx/>
              <a:buFontTx/>
              <a:buChar char="◦"/>
              <a:tabLst>
                <a:tab pos="1023938" algn="l"/>
              </a:tabLst>
            </a:pPr>
            <a:endParaRPr kumimoji="0" lang="fr-FR" sz="2000" b="0" i="0" u="none" strike="noStrike" cap="none" normalizeH="0" baseline="0" dirty="0" smtClean="0">
              <a:ln>
                <a:noFill/>
              </a:ln>
              <a:solidFill>
                <a:schemeClr val="tx1"/>
              </a:solidFill>
              <a:effectLst/>
              <a:latin typeface="Arial" pitchFamily="34" charset="0"/>
              <a:ea typeface="Verdana" pitchFamily="34" charset="0"/>
              <a:cs typeface="Verdana" pitchFamily="34" charset="0"/>
            </a:endParaRPr>
          </a:p>
          <a:p>
            <a:pPr marL="457200" marR="0" lvl="1" indent="0" algn="justLow" defTabSz="914400" rtl="0" eaLnBrk="0" fontAlgn="base" latinLnBrk="0" hangingPunct="0">
              <a:lnSpc>
                <a:spcPct val="100000"/>
              </a:lnSpc>
              <a:spcBef>
                <a:spcPct val="0"/>
              </a:spcBef>
              <a:spcAft>
                <a:spcPct val="0"/>
              </a:spcAft>
              <a:buClr>
                <a:srgbClr val="252525"/>
              </a:buClr>
              <a:buSzTx/>
              <a:buFontTx/>
              <a:buChar char="◦"/>
              <a:tabLst>
                <a:tab pos="1023938" algn="l"/>
              </a:tabLst>
            </a:pP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4" name="Rogner un rectangle avec un coin du même côté 3"/>
          <p:cNvSpPr/>
          <p:nvPr/>
        </p:nvSpPr>
        <p:spPr>
          <a:xfrm>
            <a:off x="1553377" y="1232968"/>
            <a:ext cx="5475383" cy="434935"/>
          </a:xfrm>
          <a:prstGeom prst="snip2SameRect">
            <a:avLst/>
          </a:prstGeom>
        </p:spPr>
        <p:style>
          <a:lnRef idx="2">
            <a:schemeClr val="dk1"/>
          </a:lnRef>
          <a:fillRef idx="1">
            <a:schemeClr val="lt1"/>
          </a:fillRef>
          <a:effectRef idx="0">
            <a:schemeClr val="dk1"/>
          </a:effectRef>
          <a:fontRef idx="minor">
            <a:schemeClr val="dk1"/>
          </a:fontRef>
        </p:style>
        <p:txBody>
          <a:bodyPr wrap="square">
            <a:spAutoFit/>
          </a:bodyPr>
          <a:lstStyle/>
          <a:p>
            <a:pPr lvl="0" algn="ctr"/>
            <a:r>
              <a:rPr lang="fr-FR" sz="2000" b="1" u="sng" dirty="0" smtClean="0">
                <a:solidFill>
                  <a:srgbClr val="00AFEF"/>
                </a:solidFill>
                <a:latin typeface="Tahoma" pitchFamily="34" charset="0"/>
                <a:ea typeface="Verdana" pitchFamily="34" charset="0"/>
                <a:cs typeface="Tahoma" pitchFamily="34" charset="0"/>
                <a:hlinkClick r:id="rId3"/>
              </a:rPr>
              <a:t>LE BUSINESS MODEL CANEVAS – BMC -</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1"/>
          <p:cNvSpPr>
            <a:spLocks noChangeArrowheads="1"/>
          </p:cNvSpPr>
          <p:nvPr/>
        </p:nvSpPr>
        <p:spPr bwMode="auto">
          <a:xfrm>
            <a:off x="1095340" y="1571612"/>
            <a:ext cx="10215634" cy="3831818"/>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901700" algn="l"/>
              </a:tabLst>
            </a:pPr>
            <a:endParaRPr kumimoji="0" lang="fr-FR" sz="1800" b="0" i="0" u="none" strike="noStrike" cap="none" normalizeH="0" baseline="0" dirty="0" smtClean="0">
              <a:ln>
                <a:noFill/>
              </a:ln>
              <a:solidFill>
                <a:srgbClr val="7030A0"/>
              </a:solidFill>
              <a:effectLst/>
              <a:latin typeface="Arial" pitchFamily="34" charset="0"/>
              <a:ea typeface="Verdana" pitchFamily="34" charset="0"/>
              <a:cs typeface="Verdana"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tab pos="901700" algn="l"/>
              </a:tabLst>
            </a:pPr>
            <a:r>
              <a:rPr kumimoji="0" lang="fr-FR" sz="1800" b="0" i="0" u="none" strike="noStrike" cap="none" normalizeH="0" baseline="0" dirty="0" smtClean="0">
                <a:ln>
                  <a:noFill/>
                </a:ln>
                <a:solidFill>
                  <a:srgbClr val="7030A0"/>
                </a:solidFill>
                <a:effectLst/>
                <a:latin typeface="Arial" pitchFamily="34" charset="0"/>
                <a:ea typeface="Verdana" pitchFamily="34" charset="0"/>
                <a:cs typeface="Verdana" pitchFamily="34" charset="0"/>
              </a:rPr>
              <a:t>Le </a:t>
            </a:r>
            <a:r>
              <a:rPr kumimoji="0" lang="fr-FR" sz="1800" b="1" i="0" u="none" strike="noStrike" cap="none" normalizeH="0" baseline="0" dirty="0" smtClean="0">
                <a:ln>
                  <a:noFill/>
                </a:ln>
                <a:solidFill>
                  <a:srgbClr val="7030A0"/>
                </a:solidFill>
                <a:effectLst/>
                <a:latin typeface="Tahoma" pitchFamily="34" charset="0"/>
                <a:ea typeface="Verdana" pitchFamily="34" charset="0"/>
                <a:cs typeface="Tahoma" pitchFamily="34" charset="0"/>
              </a:rPr>
              <a:t>business model </a:t>
            </a:r>
            <a:r>
              <a:rPr kumimoji="0" lang="fr-FR" sz="1800" b="1" i="0" u="none" strike="noStrike" cap="none" normalizeH="0" baseline="0" dirty="0" err="1" smtClean="0">
                <a:ln>
                  <a:noFill/>
                </a:ln>
                <a:solidFill>
                  <a:srgbClr val="7030A0"/>
                </a:solidFill>
                <a:effectLst/>
                <a:latin typeface="Tahoma" pitchFamily="34" charset="0"/>
                <a:ea typeface="Verdana" pitchFamily="34" charset="0"/>
                <a:cs typeface="Tahoma" pitchFamily="34" charset="0"/>
              </a:rPr>
              <a:t>canvas</a:t>
            </a:r>
            <a:r>
              <a:rPr kumimoji="0" lang="fr-FR" sz="1800" b="1" i="0" u="none" strike="noStrike" cap="none" normalizeH="0" baseline="0" dirty="0" smtClean="0">
                <a:ln>
                  <a:noFill/>
                </a:ln>
                <a:solidFill>
                  <a:srgbClr val="7030A0"/>
                </a:solidFill>
                <a:effectLst/>
                <a:latin typeface="Tahoma" pitchFamily="34" charset="0"/>
                <a:ea typeface="Verdana" pitchFamily="34" charset="0"/>
                <a:cs typeface="Tahoma" pitchFamily="34" charset="0"/>
              </a:rPr>
              <a:t> </a:t>
            </a:r>
            <a:r>
              <a:rPr kumimoji="0" lang="fr-FR" sz="1800" b="0" i="0" u="none" strike="noStrike" cap="none" normalizeH="0" baseline="0" dirty="0" smtClean="0">
                <a:ln>
                  <a:noFill/>
                </a:ln>
                <a:solidFill>
                  <a:srgbClr val="7030A0"/>
                </a:solidFill>
                <a:effectLst/>
                <a:latin typeface="Arial" pitchFamily="34" charset="0"/>
                <a:ea typeface="Verdana" pitchFamily="34" charset="0"/>
                <a:cs typeface="Verdana" pitchFamily="34" charset="0"/>
              </a:rPr>
              <a:t>est composé de </a:t>
            </a:r>
            <a:r>
              <a:rPr kumimoji="0" lang="fr-FR" sz="1800" b="1" i="0" u="none" strike="noStrike" cap="none" normalizeH="0" baseline="0" dirty="0" smtClean="0">
                <a:ln>
                  <a:noFill/>
                </a:ln>
                <a:solidFill>
                  <a:srgbClr val="7030A0"/>
                </a:solidFill>
                <a:effectLst/>
                <a:latin typeface="Tahoma" pitchFamily="34" charset="0"/>
                <a:ea typeface="Verdana" pitchFamily="34" charset="0"/>
                <a:cs typeface="Tahoma" pitchFamily="34" charset="0"/>
              </a:rPr>
              <a:t>9 éléments </a:t>
            </a:r>
            <a:r>
              <a:rPr kumimoji="0" lang="fr-FR" sz="1800" b="0" i="0" u="none" strike="noStrike" cap="none" normalizeH="0" baseline="0" dirty="0" smtClean="0">
                <a:ln>
                  <a:noFill/>
                </a:ln>
                <a:solidFill>
                  <a:srgbClr val="7030A0"/>
                </a:solidFill>
                <a:effectLst/>
                <a:latin typeface="Arial" pitchFamily="34" charset="0"/>
                <a:ea typeface="Verdana" pitchFamily="34" charset="0"/>
                <a:cs typeface="Verdana" pitchFamily="34" charset="0"/>
              </a:rPr>
              <a:t>:</a:t>
            </a:r>
          </a:p>
          <a:p>
            <a:pPr marL="0" marR="0" lvl="0" indent="0" algn="l" defTabSz="914400" rtl="0" eaLnBrk="1" fontAlgn="base" latinLnBrk="0" hangingPunct="1">
              <a:lnSpc>
                <a:spcPct val="100000"/>
              </a:lnSpc>
              <a:spcBef>
                <a:spcPct val="0"/>
              </a:spcBef>
              <a:spcAft>
                <a:spcPct val="0"/>
              </a:spcAft>
              <a:buClrTx/>
              <a:buSzTx/>
              <a:buFontTx/>
              <a:buNone/>
              <a:tabLst>
                <a:tab pos="901700" algn="l"/>
              </a:tabLst>
            </a:pPr>
            <a:endParaRPr kumimoji="0" lang="fr-FR" sz="9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901700" algn="l"/>
              </a:tabLst>
            </a:pPr>
            <a:r>
              <a:rPr kumimoji="0" lang="fr-FR" sz="18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Les segments clients</a:t>
            </a:r>
            <a:endParaRPr kumimoji="0" lang="fr-FR" sz="9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901700" algn="l"/>
              </a:tabLst>
            </a:pPr>
            <a:r>
              <a:rPr kumimoji="0" lang="fr-FR" sz="18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La proposition de valeur</a:t>
            </a:r>
            <a:endParaRPr kumimoji="0" lang="fr-FR" sz="9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901700" algn="l"/>
              </a:tabLst>
            </a:pPr>
            <a:r>
              <a:rPr kumimoji="0" lang="fr-FR" sz="18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Les canaux</a:t>
            </a:r>
            <a:endParaRPr kumimoji="0" lang="fr-FR" sz="9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901700" algn="l"/>
              </a:tabLst>
            </a:pPr>
            <a:r>
              <a:rPr kumimoji="0" lang="fr-FR" sz="18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La relation client</a:t>
            </a:r>
            <a:endParaRPr kumimoji="0" lang="fr-FR" sz="9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901700" algn="l"/>
              </a:tabLst>
            </a:pPr>
            <a:r>
              <a:rPr kumimoji="0" lang="fr-FR" sz="18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Les revenus</a:t>
            </a:r>
            <a:endParaRPr kumimoji="0" lang="fr-FR" sz="9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901700" algn="l"/>
              </a:tabLst>
            </a:pPr>
            <a:r>
              <a:rPr kumimoji="0" lang="fr-FR" sz="18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Les ressources clés</a:t>
            </a:r>
            <a:endParaRPr kumimoji="0" lang="fr-FR" sz="9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901700" algn="l"/>
              </a:tabLst>
            </a:pPr>
            <a:r>
              <a:rPr kumimoji="0" lang="fr-FR" sz="18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Les activités clés</a:t>
            </a:r>
            <a:endParaRPr kumimoji="0" lang="fr-FR" sz="9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901700" algn="l"/>
              </a:tabLst>
            </a:pPr>
            <a:r>
              <a:rPr kumimoji="0" lang="fr-FR" sz="18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Les partenaires clés</a:t>
            </a:r>
            <a:endParaRPr kumimoji="0" lang="fr-FR" sz="9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901700" algn="l"/>
              </a:tabLst>
            </a:pPr>
            <a:r>
              <a:rPr kumimoji="0" lang="fr-FR" sz="1800" b="0" i="0" u="none" strike="noStrike" cap="none" normalizeH="0" baseline="0" dirty="0" smtClean="0">
                <a:ln>
                  <a:noFill/>
                </a:ln>
                <a:solidFill>
                  <a:schemeClr val="tx1"/>
                </a:solidFill>
                <a:effectLst/>
                <a:latin typeface="Arial" pitchFamily="34" charset="0"/>
                <a:ea typeface="Verdana" pitchFamily="34" charset="0"/>
                <a:cs typeface="Verdana" pitchFamily="34" charset="0"/>
              </a:rPr>
              <a:t>La structure de coûts</a:t>
            </a:r>
          </a:p>
          <a:p>
            <a:pPr marL="0" marR="0" lvl="0" indent="0" algn="l" defTabSz="914400" rtl="0" eaLnBrk="0" fontAlgn="base" latinLnBrk="0" hangingPunct="0">
              <a:lnSpc>
                <a:spcPct val="100000"/>
              </a:lnSpc>
              <a:spcBef>
                <a:spcPct val="0"/>
              </a:spcBef>
              <a:spcAft>
                <a:spcPct val="0"/>
              </a:spcAft>
              <a:buClrTx/>
              <a:buSzTx/>
              <a:buFontTx/>
              <a:buChar char="•"/>
              <a:tabLst>
                <a:tab pos="901700" algn="l"/>
              </a:tabLst>
            </a:pPr>
            <a:endParaRPr lang="fr-FR" dirty="0" smtClean="0">
              <a:solidFill>
                <a:schemeClr val="tx1"/>
              </a:solidFill>
              <a:latin typeface="Arial" pitchFamily="34" charset="0"/>
              <a:ea typeface="Verdana" pitchFamily="34" charset="0"/>
              <a:cs typeface="Verdana"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tab pos="901700" algn="l"/>
              </a:tabLst>
            </a:pP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grpSp>
        <p:nvGrpSpPr>
          <p:cNvPr id="3" name="Group 1"/>
          <p:cNvGrpSpPr>
            <a:grpSpLocks/>
          </p:cNvGrpSpPr>
          <p:nvPr/>
        </p:nvGrpSpPr>
        <p:grpSpPr bwMode="auto">
          <a:xfrm>
            <a:off x="523836" y="1000108"/>
            <a:ext cx="11182350" cy="3571875"/>
            <a:chOff x="754" y="-6783"/>
            <a:chExt cx="17612" cy="5626"/>
          </a:xfrm>
        </p:grpSpPr>
        <p:pic>
          <p:nvPicPr>
            <p:cNvPr id="4" name="Picture 2"/>
            <p:cNvPicPr>
              <a:picLocks noChangeAspect="1" noChangeArrowheads="1"/>
            </p:cNvPicPr>
            <p:nvPr/>
          </p:nvPicPr>
          <p:blipFill>
            <a:blip r:embed="rId3"/>
            <a:srcRect/>
            <a:stretch>
              <a:fillRect/>
            </a:stretch>
          </p:blipFill>
          <p:spPr bwMode="auto">
            <a:xfrm>
              <a:off x="758" y="-6779"/>
              <a:ext cx="2180" cy="3120"/>
            </a:xfrm>
            <a:prstGeom prst="rect">
              <a:avLst/>
            </a:prstGeom>
            <a:noFill/>
          </p:spPr>
        </p:pic>
        <p:sp>
          <p:nvSpPr>
            <p:cNvPr id="5" name="Freeform 3"/>
            <p:cNvSpPr>
              <a:spLocks/>
            </p:cNvSpPr>
            <p:nvPr/>
          </p:nvSpPr>
          <p:spPr bwMode="auto">
            <a:xfrm>
              <a:off x="758" y="-6779"/>
              <a:ext cx="2180" cy="3120"/>
            </a:xfrm>
            <a:custGeom>
              <a:avLst/>
              <a:gdLst/>
              <a:ahLst/>
              <a:cxnLst>
                <a:cxn ang="0">
                  <a:pos x="2180" y="0"/>
                </a:cxn>
                <a:cxn ang="0">
                  <a:pos x="2180" y="2030"/>
                </a:cxn>
                <a:cxn ang="0">
                  <a:pos x="1090" y="3120"/>
                </a:cxn>
                <a:cxn ang="0">
                  <a:pos x="0" y="2030"/>
                </a:cxn>
                <a:cxn ang="0">
                  <a:pos x="0" y="0"/>
                </a:cxn>
                <a:cxn ang="0">
                  <a:pos x="1090" y="1089"/>
                </a:cxn>
                <a:cxn ang="0">
                  <a:pos x="2180" y="0"/>
                </a:cxn>
              </a:cxnLst>
              <a:rect l="0" t="0" r="r" b="b"/>
              <a:pathLst>
                <a:path w="2180" h="3120">
                  <a:moveTo>
                    <a:pt x="2180" y="0"/>
                  </a:moveTo>
                  <a:lnTo>
                    <a:pt x="2180" y="2030"/>
                  </a:lnTo>
                  <a:lnTo>
                    <a:pt x="1090" y="3120"/>
                  </a:lnTo>
                  <a:lnTo>
                    <a:pt x="0" y="2030"/>
                  </a:lnTo>
                  <a:lnTo>
                    <a:pt x="0" y="0"/>
                  </a:lnTo>
                  <a:lnTo>
                    <a:pt x="1090" y="1089"/>
                  </a:lnTo>
                  <a:lnTo>
                    <a:pt x="2180" y="0"/>
                  </a:lnTo>
                  <a:close/>
                </a:path>
              </a:pathLst>
            </a:custGeom>
            <a:noFill/>
            <a:ln w="6096">
              <a:solidFill>
                <a:srgbClr val="EF3E2B"/>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6" name="Freeform 4"/>
            <p:cNvSpPr>
              <a:spLocks/>
            </p:cNvSpPr>
            <p:nvPr/>
          </p:nvSpPr>
          <p:spPr bwMode="auto">
            <a:xfrm>
              <a:off x="2937" y="-6779"/>
              <a:ext cx="15423" cy="2026"/>
            </a:xfrm>
            <a:custGeom>
              <a:avLst/>
              <a:gdLst/>
              <a:ahLst/>
              <a:cxnLst>
                <a:cxn ang="0">
                  <a:pos x="15084" y="0"/>
                </a:cxn>
                <a:cxn ang="0">
                  <a:pos x="0" y="0"/>
                </a:cxn>
                <a:cxn ang="0">
                  <a:pos x="0" y="2025"/>
                </a:cxn>
                <a:cxn ang="0">
                  <a:pos x="15084" y="2025"/>
                </a:cxn>
                <a:cxn ang="0">
                  <a:pos x="15162" y="2016"/>
                </a:cxn>
                <a:cxn ang="0">
                  <a:pos x="15233" y="1991"/>
                </a:cxn>
                <a:cxn ang="0">
                  <a:pos x="15296" y="1951"/>
                </a:cxn>
                <a:cxn ang="0">
                  <a:pos x="15348" y="1899"/>
                </a:cxn>
                <a:cxn ang="0">
                  <a:pos x="15388" y="1836"/>
                </a:cxn>
                <a:cxn ang="0">
                  <a:pos x="15413" y="1765"/>
                </a:cxn>
                <a:cxn ang="0">
                  <a:pos x="15422" y="1688"/>
                </a:cxn>
                <a:cxn ang="0">
                  <a:pos x="15422" y="337"/>
                </a:cxn>
                <a:cxn ang="0">
                  <a:pos x="15413" y="260"/>
                </a:cxn>
                <a:cxn ang="0">
                  <a:pos x="15388" y="189"/>
                </a:cxn>
                <a:cxn ang="0">
                  <a:pos x="15348" y="126"/>
                </a:cxn>
                <a:cxn ang="0">
                  <a:pos x="15296" y="74"/>
                </a:cxn>
                <a:cxn ang="0">
                  <a:pos x="15233" y="34"/>
                </a:cxn>
                <a:cxn ang="0">
                  <a:pos x="15162" y="8"/>
                </a:cxn>
                <a:cxn ang="0">
                  <a:pos x="15084" y="0"/>
                </a:cxn>
              </a:cxnLst>
              <a:rect l="0" t="0" r="r" b="b"/>
              <a:pathLst>
                <a:path w="15423" h="2026">
                  <a:moveTo>
                    <a:pt x="15084" y="0"/>
                  </a:moveTo>
                  <a:lnTo>
                    <a:pt x="0" y="0"/>
                  </a:lnTo>
                  <a:lnTo>
                    <a:pt x="0" y="2025"/>
                  </a:lnTo>
                  <a:lnTo>
                    <a:pt x="15084" y="2025"/>
                  </a:lnTo>
                  <a:lnTo>
                    <a:pt x="15162" y="2016"/>
                  </a:lnTo>
                  <a:lnTo>
                    <a:pt x="15233" y="1991"/>
                  </a:lnTo>
                  <a:lnTo>
                    <a:pt x="15296" y="1951"/>
                  </a:lnTo>
                  <a:lnTo>
                    <a:pt x="15348" y="1899"/>
                  </a:lnTo>
                  <a:lnTo>
                    <a:pt x="15388" y="1836"/>
                  </a:lnTo>
                  <a:lnTo>
                    <a:pt x="15413" y="1765"/>
                  </a:lnTo>
                  <a:lnTo>
                    <a:pt x="15422" y="1688"/>
                  </a:lnTo>
                  <a:lnTo>
                    <a:pt x="15422" y="337"/>
                  </a:lnTo>
                  <a:lnTo>
                    <a:pt x="15413" y="260"/>
                  </a:lnTo>
                  <a:lnTo>
                    <a:pt x="15388" y="189"/>
                  </a:lnTo>
                  <a:lnTo>
                    <a:pt x="15348" y="126"/>
                  </a:lnTo>
                  <a:lnTo>
                    <a:pt x="15296" y="74"/>
                  </a:lnTo>
                  <a:lnTo>
                    <a:pt x="15233" y="34"/>
                  </a:lnTo>
                  <a:lnTo>
                    <a:pt x="15162" y="8"/>
                  </a:lnTo>
                  <a:lnTo>
                    <a:pt x="15084" y="0"/>
                  </a:lnTo>
                  <a:close/>
                </a:path>
              </a:pathLst>
            </a:custGeom>
            <a:solidFill>
              <a:srgbClr val="FFFFFF">
                <a:alpha val="90195"/>
              </a:srgbClr>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7" name="Freeform 5"/>
            <p:cNvSpPr>
              <a:spLocks/>
            </p:cNvSpPr>
            <p:nvPr/>
          </p:nvSpPr>
          <p:spPr bwMode="auto">
            <a:xfrm>
              <a:off x="2937" y="-6779"/>
              <a:ext cx="15423" cy="2026"/>
            </a:xfrm>
            <a:custGeom>
              <a:avLst/>
              <a:gdLst/>
              <a:ahLst/>
              <a:cxnLst>
                <a:cxn ang="0">
                  <a:pos x="15422" y="337"/>
                </a:cxn>
                <a:cxn ang="0">
                  <a:pos x="15422" y="1688"/>
                </a:cxn>
                <a:cxn ang="0">
                  <a:pos x="15413" y="1765"/>
                </a:cxn>
                <a:cxn ang="0">
                  <a:pos x="15388" y="1836"/>
                </a:cxn>
                <a:cxn ang="0">
                  <a:pos x="15348" y="1899"/>
                </a:cxn>
                <a:cxn ang="0">
                  <a:pos x="15296" y="1951"/>
                </a:cxn>
                <a:cxn ang="0">
                  <a:pos x="15233" y="1991"/>
                </a:cxn>
                <a:cxn ang="0">
                  <a:pos x="15162" y="2016"/>
                </a:cxn>
                <a:cxn ang="0">
                  <a:pos x="15084" y="2025"/>
                </a:cxn>
                <a:cxn ang="0">
                  <a:pos x="0" y="2025"/>
                </a:cxn>
                <a:cxn ang="0">
                  <a:pos x="0" y="0"/>
                </a:cxn>
                <a:cxn ang="0">
                  <a:pos x="15084" y="0"/>
                </a:cxn>
                <a:cxn ang="0">
                  <a:pos x="15162" y="8"/>
                </a:cxn>
                <a:cxn ang="0">
                  <a:pos x="15233" y="34"/>
                </a:cxn>
                <a:cxn ang="0">
                  <a:pos x="15296" y="74"/>
                </a:cxn>
                <a:cxn ang="0">
                  <a:pos x="15348" y="126"/>
                </a:cxn>
                <a:cxn ang="0">
                  <a:pos x="15388" y="189"/>
                </a:cxn>
                <a:cxn ang="0">
                  <a:pos x="15413" y="260"/>
                </a:cxn>
                <a:cxn ang="0">
                  <a:pos x="15422" y="337"/>
                </a:cxn>
              </a:cxnLst>
              <a:rect l="0" t="0" r="r" b="b"/>
              <a:pathLst>
                <a:path w="15423" h="2026">
                  <a:moveTo>
                    <a:pt x="15422" y="337"/>
                  </a:moveTo>
                  <a:lnTo>
                    <a:pt x="15422" y="1688"/>
                  </a:lnTo>
                  <a:lnTo>
                    <a:pt x="15413" y="1765"/>
                  </a:lnTo>
                  <a:lnTo>
                    <a:pt x="15388" y="1836"/>
                  </a:lnTo>
                  <a:lnTo>
                    <a:pt x="15348" y="1899"/>
                  </a:lnTo>
                  <a:lnTo>
                    <a:pt x="15296" y="1951"/>
                  </a:lnTo>
                  <a:lnTo>
                    <a:pt x="15233" y="1991"/>
                  </a:lnTo>
                  <a:lnTo>
                    <a:pt x="15162" y="2016"/>
                  </a:lnTo>
                  <a:lnTo>
                    <a:pt x="15084" y="2025"/>
                  </a:lnTo>
                  <a:lnTo>
                    <a:pt x="0" y="2025"/>
                  </a:lnTo>
                  <a:lnTo>
                    <a:pt x="0" y="0"/>
                  </a:lnTo>
                  <a:lnTo>
                    <a:pt x="15084" y="0"/>
                  </a:lnTo>
                  <a:lnTo>
                    <a:pt x="15162" y="8"/>
                  </a:lnTo>
                  <a:lnTo>
                    <a:pt x="15233" y="34"/>
                  </a:lnTo>
                  <a:lnTo>
                    <a:pt x="15296" y="74"/>
                  </a:lnTo>
                  <a:lnTo>
                    <a:pt x="15348" y="126"/>
                  </a:lnTo>
                  <a:lnTo>
                    <a:pt x="15388" y="189"/>
                  </a:lnTo>
                  <a:lnTo>
                    <a:pt x="15413" y="260"/>
                  </a:lnTo>
                  <a:lnTo>
                    <a:pt x="15422" y="337"/>
                  </a:lnTo>
                  <a:close/>
                </a:path>
              </a:pathLst>
            </a:custGeom>
            <a:noFill/>
            <a:ln w="6096">
              <a:solidFill>
                <a:srgbClr val="EF3E2B"/>
              </a:solidFill>
              <a:round/>
              <a:headEnd/>
              <a:tailEnd/>
            </a:ln>
          </p:spPr>
          <p:txBody>
            <a:bodyPr vert="horz" wrap="square" lIns="91440" tIns="45720" rIns="91440" bIns="45720" numCol="1" anchor="t" anchorCtr="0" compatLnSpc="1">
              <a:prstTxWarp prst="textNoShape">
                <a:avLst/>
              </a:prstTxWarp>
            </a:bodyPr>
            <a:lstStyle/>
            <a:p>
              <a:endParaRPr lang="fr-FR"/>
            </a:p>
          </p:txBody>
        </p:sp>
        <p:pic>
          <p:nvPicPr>
            <p:cNvPr id="8" name="Picture 6"/>
            <p:cNvPicPr>
              <a:picLocks noChangeAspect="1" noChangeArrowheads="1"/>
            </p:cNvPicPr>
            <p:nvPr/>
          </p:nvPicPr>
          <p:blipFill>
            <a:blip r:embed="rId4"/>
            <a:srcRect/>
            <a:stretch>
              <a:fillRect/>
            </a:stretch>
          </p:blipFill>
          <p:spPr bwMode="auto">
            <a:xfrm>
              <a:off x="763" y="-4278"/>
              <a:ext cx="2184" cy="3116"/>
            </a:xfrm>
            <a:prstGeom prst="rect">
              <a:avLst/>
            </a:prstGeom>
            <a:noFill/>
          </p:spPr>
        </p:pic>
        <p:sp>
          <p:nvSpPr>
            <p:cNvPr id="9" name="Freeform 7"/>
            <p:cNvSpPr>
              <a:spLocks/>
            </p:cNvSpPr>
            <p:nvPr/>
          </p:nvSpPr>
          <p:spPr bwMode="auto">
            <a:xfrm>
              <a:off x="763" y="-4278"/>
              <a:ext cx="2184" cy="3116"/>
            </a:xfrm>
            <a:custGeom>
              <a:avLst/>
              <a:gdLst/>
              <a:ahLst/>
              <a:cxnLst>
                <a:cxn ang="0">
                  <a:pos x="2184" y="0"/>
                </a:cxn>
                <a:cxn ang="0">
                  <a:pos x="2184" y="2024"/>
                </a:cxn>
                <a:cxn ang="0">
                  <a:pos x="1092" y="3116"/>
                </a:cxn>
                <a:cxn ang="0">
                  <a:pos x="0" y="2024"/>
                </a:cxn>
                <a:cxn ang="0">
                  <a:pos x="0" y="0"/>
                </a:cxn>
                <a:cxn ang="0">
                  <a:pos x="1092" y="1092"/>
                </a:cxn>
                <a:cxn ang="0">
                  <a:pos x="2184" y="0"/>
                </a:cxn>
              </a:cxnLst>
              <a:rect l="0" t="0" r="r" b="b"/>
              <a:pathLst>
                <a:path w="2184" h="3116">
                  <a:moveTo>
                    <a:pt x="2184" y="0"/>
                  </a:moveTo>
                  <a:lnTo>
                    <a:pt x="2184" y="2024"/>
                  </a:lnTo>
                  <a:lnTo>
                    <a:pt x="1092" y="3116"/>
                  </a:lnTo>
                  <a:lnTo>
                    <a:pt x="0" y="2024"/>
                  </a:lnTo>
                  <a:lnTo>
                    <a:pt x="0" y="0"/>
                  </a:lnTo>
                  <a:lnTo>
                    <a:pt x="1092" y="1092"/>
                  </a:lnTo>
                  <a:lnTo>
                    <a:pt x="2184" y="0"/>
                  </a:lnTo>
                  <a:close/>
                </a:path>
              </a:pathLst>
            </a:custGeom>
            <a:noFill/>
            <a:ln w="6096">
              <a:solidFill>
                <a:srgbClr val="5FD127"/>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0" name="Freeform 8"/>
            <p:cNvSpPr>
              <a:spLocks/>
            </p:cNvSpPr>
            <p:nvPr/>
          </p:nvSpPr>
          <p:spPr bwMode="auto">
            <a:xfrm>
              <a:off x="2937" y="-4374"/>
              <a:ext cx="15423" cy="2242"/>
            </a:xfrm>
            <a:custGeom>
              <a:avLst/>
              <a:gdLst/>
              <a:ahLst/>
              <a:cxnLst>
                <a:cxn ang="0">
                  <a:pos x="15048" y="0"/>
                </a:cxn>
                <a:cxn ang="0">
                  <a:pos x="0" y="0"/>
                </a:cxn>
                <a:cxn ang="0">
                  <a:pos x="0" y="2242"/>
                </a:cxn>
                <a:cxn ang="0">
                  <a:pos x="15048" y="2242"/>
                </a:cxn>
                <a:cxn ang="0">
                  <a:pos x="15124" y="2234"/>
                </a:cxn>
                <a:cxn ang="0">
                  <a:pos x="15194" y="2213"/>
                </a:cxn>
                <a:cxn ang="0">
                  <a:pos x="15257" y="2178"/>
                </a:cxn>
                <a:cxn ang="0">
                  <a:pos x="15313" y="2133"/>
                </a:cxn>
                <a:cxn ang="0">
                  <a:pos x="15358" y="2077"/>
                </a:cxn>
                <a:cxn ang="0">
                  <a:pos x="15393" y="2014"/>
                </a:cxn>
                <a:cxn ang="0">
                  <a:pos x="15414" y="1944"/>
                </a:cxn>
                <a:cxn ang="0">
                  <a:pos x="15422" y="1868"/>
                </a:cxn>
                <a:cxn ang="0">
                  <a:pos x="15422" y="374"/>
                </a:cxn>
                <a:cxn ang="0">
                  <a:pos x="15414" y="299"/>
                </a:cxn>
                <a:cxn ang="0">
                  <a:pos x="15393" y="228"/>
                </a:cxn>
                <a:cxn ang="0">
                  <a:pos x="15358" y="165"/>
                </a:cxn>
                <a:cxn ang="0">
                  <a:pos x="15313" y="110"/>
                </a:cxn>
                <a:cxn ang="0">
                  <a:pos x="15257" y="64"/>
                </a:cxn>
                <a:cxn ang="0">
                  <a:pos x="15194" y="30"/>
                </a:cxn>
                <a:cxn ang="0">
                  <a:pos x="15124" y="8"/>
                </a:cxn>
                <a:cxn ang="0">
                  <a:pos x="15048" y="0"/>
                </a:cxn>
              </a:cxnLst>
              <a:rect l="0" t="0" r="r" b="b"/>
              <a:pathLst>
                <a:path w="15423" h="2242">
                  <a:moveTo>
                    <a:pt x="15048" y="0"/>
                  </a:moveTo>
                  <a:lnTo>
                    <a:pt x="0" y="0"/>
                  </a:lnTo>
                  <a:lnTo>
                    <a:pt x="0" y="2242"/>
                  </a:lnTo>
                  <a:lnTo>
                    <a:pt x="15048" y="2242"/>
                  </a:lnTo>
                  <a:lnTo>
                    <a:pt x="15124" y="2234"/>
                  </a:lnTo>
                  <a:lnTo>
                    <a:pt x="15194" y="2213"/>
                  </a:lnTo>
                  <a:lnTo>
                    <a:pt x="15257" y="2178"/>
                  </a:lnTo>
                  <a:lnTo>
                    <a:pt x="15313" y="2133"/>
                  </a:lnTo>
                  <a:lnTo>
                    <a:pt x="15358" y="2077"/>
                  </a:lnTo>
                  <a:lnTo>
                    <a:pt x="15393" y="2014"/>
                  </a:lnTo>
                  <a:lnTo>
                    <a:pt x="15414" y="1944"/>
                  </a:lnTo>
                  <a:lnTo>
                    <a:pt x="15422" y="1868"/>
                  </a:lnTo>
                  <a:lnTo>
                    <a:pt x="15422" y="374"/>
                  </a:lnTo>
                  <a:lnTo>
                    <a:pt x="15414" y="299"/>
                  </a:lnTo>
                  <a:lnTo>
                    <a:pt x="15393" y="228"/>
                  </a:lnTo>
                  <a:lnTo>
                    <a:pt x="15358" y="165"/>
                  </a:lnTo>
                  <a:lnTo>
                    <a:pt x="15313" y="110"/>
                  </a:lnTo>
                  <a:lnTo>
                    <a:pt x="15257" y="64"/>
                  </a:lnTo>
                  <a:lnTo>
                    <a:pt x="15194" y="30"/>
                  </a:lnTo>
                  <a:lnTo>
                    <a:pt x="15124" y="8"/>
                  </a:lnTo>
                  <a:lnTo>
                    <a:pt x="15048" y="0"/>
                  </a:lnTo>
                  <a:close/>
                </a:path>
              </a:pathLst>
            </a:custGeom>
            <a:solidFill>
              <a:srgbClr val="FFFFFF">
                <a:alpha val="90195"/>
              </a:srgbClr>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1" name="Freeform 9"/>
            <p:cNvSpPr>
              <a:spLocks/>
            </p:cNvSpPr>
            <p:nvPr/>
          </p:nvSpPr>
          <p:spPr bwMode="auto">
            <a:xfrm>
              <a:off x="2937" y="-4374"/>
              <a:ext cx="15423" cy="2242"/>
            </a:xfrm>
            <a:custGeom>
              <a:avLst/>
              <a:gdLst/>
              <a:ahLst/>
              <a:cxnLst>
                <a:cxn ang="0">
                  <a:pos x="15422" y="374"/>
                </a:cxn>
                <a:cxn ang="0">
                  <a:pos x="15422" y="1868"/>
                </a:cxn>
                <a:cxn ang="0">
                  <a:pos x="15414" y="1944"/>
                </a:cxn>
                <a:cxn ang="0">
                  <a:pos x="15393" y="2014"/>
                </a:cxn>
                <a:cxn ang="0">
                  <a:pos x="15358" y="2077"/>
                </a:cxn>
                <a:cxn ang="0">
                  <a:pos x="15313" y="2133"/>
                </a:cxn>
                <a:cxn ang="0">
                  <a:pos x="15257" y="2178"/>
                </a:cxn>
                <a:cxn ang="0">
                  <a:pos x="15194" y="2213"/>
                </a:cxn>
                <a:cxn ang="0">
                  <a:pos x="15124" y="2234"/>
                </a:cxn>
                <a:cxn ang="0">
                  <a:pos x="15048" y="2242"/>
                </a:cxn>
                <a:cxn ang="0">
                  <a:pos x="0" y="2242"/>
                </a:cxn>
                <a:cxn ang="0">
                  <a:pos x="0" y="0"/>
                </a:cxn>
                <a:cxn ang="0">
                  <a:pos x="15048" y="0"/>
                </a:cxn>
                <a:cxn ang="0">
                  <a:pos x="15124" y="8"/>
                </a:cxn>
                <a:cxn ang="0">
                  <a:pos x="15194" y="30"/>
                </a:cxn>
                <a:cxn ang="0">
                  <a:pos x="15257" y="64"/>
                </a:cxn>
                <a:cxn ang="0">
                  <a:pos x="15313" y="110"/>
                </a:cxn>
                <a:cxn ang="0">
                  <a:pos x="15358" y="165"/>
                </a:cxn>
                <a:cxn ang="0">
                  <a:pos x="15393" y="228"/>
                </a:cxn>
                <a:cxn ang="0">
                  <a:pos x="15414" y="299"/>
                </a:cxn>
                <a:cxn ang="0">
                  <a:pos x="15422" y="374"/>
                </a:cxn>
              </a:cxnLst>
              <a:rect l="0" t="0" r="r" b="b"/>
              <a:pathLst>
                <a:path w="15423" h="2242">
                  <a:moveTo>
                    <a:pt x="15422" y="374"/>
                  </a:moveTo>
                  <a:lnTo>
                    <a:pt x="15422" y="1868"/>
                  </a:lnTo>
                  <a:lnTo>
                    <a:pt x="15414" y="1944"/>
                  </a:lnTo>
                  <a:lnTo>
                    <a:pt x="15393" y="2014"/>
                  </a:lnTo>
                  <a:lnTo>
                    <a:pt x="15358" y="2077"/>
                  </a:lnTo>
                  <a:lnTo>
                    <a:pt x="15313" y="2133"/>
                  </a:lnTo>
                  <a:lnTo>
                    <a:pt x="15257" y="2178"/>
                  </a:lnTo>
                  <a:lnTo>
                    <a:pt x="15194" y="2213"/>
                  </a:lnTo>
                  <a:lnTo>
                    <a:pt x="15124" y="2234"/>
                  </a:lnTo>
                  <a:lnTo>
                    <a:pt x="15048" y="2242"/>
                  </a:lnTo>
                  <a:lnTo>
                    <a:pt x="0" y="2242"/>
                  </a:lnTo>
                  <a:lnTo>
                    <a:pt x="0" y="0"/>
                  </a:lnTo>
                  <a:lnTo>
                    <a:pt x="15048" y="0"/>
                  </a:lnTo>
                  <a:lnTo>
                    <a:pt x="15124" y="8"/>
                  </a:lnTo>
                  <a:lnTo>
                    <a:pt x="15194" y="30"/>
                  </a:lnTo>
                  <a:lnTo>
                    <a:pt x="15257" y="64"/>
                  </a:lnTo>
                  <a:lnTo>
                    <a:pt x="15313" y="110"/>
                  </a:lnTo>
                  <a:lnTo>
                    <a:pt x="15358" y="165"/>
                  </a:lnTo>
                  <a:lnTo>
                    <a:pt x="15393" y="228"/>
                  </a:lnTo>
                  <a:lnTo>
                    <a:pt x="15414" y="299"/>
                  </a:lnTo>
                  <a:lnTo>
                    <a:pt x="15422" y="374"/>
                  </a:lnTo>
                  <a:close/>
                </a:path>
              </a:pathLst>
            </a:custGeom>
            <a:noFill/>
            <a:ln w="6096">
              <a:solidFill>
                <a:srgbClr val="5FD127"/>
              </a:solidFill>
              <a:round/>
              <a:headEnd/>
              <a:tailEnd/>
            </a:ln>
          </p:spPr>
          <p:txBody>
            <a:bodyPr vert="horz" wrap="square" lIns="91440" tIns="45720" rIns="91440" bIns="45720" numCol="1" anchor="t" anchorCtr="0" compatLnSpc="1">
              <a:prstTxWarp prst="textNoShape">
                <a:avLst/>
              </a:prstTxWarp>
            </a:bodyPr>
            <a:lstStyle/>
            <a:p>
              <a:endParaRPr lang="fr-FR"/>
            </a:p>
          </p:txBody>
        </p:sp>
      </p:grpSp>
      <p:grpSp>
        <p:nvGrpSpPr>
          <p:cNvPr id="12" name="Group 10"/>
          <p:cNvGrpSpPr>
            <a:grpSpLocks/>
          </p:cNvGrpSpPr>
          <p:nvPr/>
        </p:nvGrpSpPr>
        <p:grpSpPr bwMode="auto">
          <a:xfrm>
            <a:off x="479425" y="4302125"/>
            <a:ext cx="11182350" cy="1987550"/>
            <a:chOff x="754" y="-1033"/>
            <a:chExt cx="17612" cy="3130"/>
          </a:xfrm>
        </p:grpSpPr>
        <p:pic>
          <p:nvPicPr>
            <p:cNvPr id="13" name="Picture 11"/>
            <p:cNvPicPr>
              <a:picLocks noChangeAspect="1" noChangeArrowheads="1"/>
            </p:cNvPicPr>
            <p:nvPr/>
          </p:nvPicPr>
          <p:blipFill>
            <a:blip r:embed="rId5"/>
            <a:srcRect/>
            <a:stretch>
              <a:fillRect/>
            </a:stretch>
          </p:blipFill>
          <p:spPr bwMode="auto">
            <a:xfrm>
              <a:off x="758" y="-1029"/>
              <a:ext cx="2180" cy="3120"/>
            </a:xfrm>
            <a:prstGeom prst="rect">
              <a:avLst/>
            </a:prstGeom>
            <a:noFill/>
          </p:spPr>
        </p:pic>
        <p:sp>
          <p:nvSpPr>
            <p:cNvPr id="14" name="Freeform 12"/>
            <p:cNvSpPr>
              <a:spLocks/>
            </p:cNvSpPr>
            <p:nvPr/>
          </p:nvSpPr>
          <p:spPr bwMode="auto">
            <a:xfrm>
              <a:off x="758" y="-1029"/>
              <a:ext cx="2180" cy="3120"/>
            </a:xfrm>
            <a:custGeom>
              <a:avLst/>
              <a:gdLst/>
              <a:ahLst/>
              <a:cxnLst>
                <a:cxn ang="0">
                  <a:pos x="2180" y="0"/>
                </a:cxn>
                <a:cxn ang="0">
                  <a:pos x="2180" y="2030"/>
                </a:cxn>
                <a:cxn ang="0">
                  <a:pos x="1090" y="3120"/>
                </a:cxn>
                <a:cxn ang="0">
                  <a:pos x="0" y="2030"/>
                </a:cxn>
                <a:cxn ang="0">
                  <a:pos x="0" y="0"/>
                </a:cxn>
                <a:cxn ang="0">
                  <a:pos x="1090" y="1090"/>
                </a:cxn>
                <a:cxn ang="0">
                  <a:pos x="2180" y="0"/>
                </a:cxn>
              </a:cxnLst>
              <a:rect l="0" t="0" r="r" b="b"/>
              <a:pathLst>
                <a:path w="2180" h="3120">
                  <a:moveTo>
                    <a:pt x="2180" y="0"/>
                  </a:moveTo>
                  <a:lnTo>
                    <a:pt x="2180" y="2030"/>
                  </a:lnTo>
                  <a:lnTo>
                    <a:pt x="1090" y="3120"/>
                  </a:lnTo>
                  <a:lnTo>
                    <a:pt x="0" y="2030"/>
                  </a:lnTo>
                  <a:lnTo>
                    <a:pt x="0" y="0"/>
                  </a:lnTo>
                  <a:lnTo>
                    <a:pt x="1090" y="1090"/>
                  </a:lnTo>
                  <a:lnTo>
                    <a:pt x="2180" y="0"/>
                  </a:lnTo>
                  <a:close/>
                </a:path>
              </a:pathLst>
            </a:custGeom>
            <a:noFill/>
            <a:ln w="6096">
              <a:solidFill>
                <a:srgbClr val="34879F"/>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5" name="Freeform 13"/>
            <p:cNvSpPr>
              <a:spLocks/>
            </p:cNvSpPr>
            <p:nvPr/>
          </p:nvSpPr>
          <p:spPr bwMode="auto">
            <a:xfrm>
              <a:off x="2937" y="-1029"/>
              <a:ext cx="15423" cy="2031"/>
            </a:xfrm>
            <a:custGeom>
              <a:avLst/>
              <a:gdLst/>
              <a:ahLst/>
              <a:cxnLst>
                <a:cxn ang="0">
                  <a:pos x="15084" y="0"/>
                </a:cxn>
                <a:cxn ang="0">
                  <a:pos x="0" y="0"/>
                </a:cxn>
                <a:cxn ang="0">
                  <a:pos x="0" y="2030"/>
                </a:cxn>
                <a:cxn ang="0">
                  <a:pos x="15084" y="2030"/>
                </a:cxn>
                <a:cxn ang="0">
                  <a:pos x="15161" y="2021"/>
                </a:cxn>
                <a:cxn ang="0">
                  <a:pos x="15232" y="1996"/>
                </a:cxn>
                <a:cxn ang="0">
                  <a:pos x="15295" y="1956"/>
                </a:cxn>
                <a:cxn ang="0">
                  <a:pos x="15348" y="1904"/>
                </a:cxn>
                <a:cxn ang="0">
                  <a:pos x="15388" y="1841"/>
                </a:cxn>
                <a:cxn ang="0">
                  <a:pos x="15413" y="1770"/>
                </a:cxn>
                <a:cxn ang="0">
                  <a:pos x="15422" y="1692"/>
                </a:cxn>
                <a:cxn ang="0">
                  <a:pos x="15422" y="338"/>
                </a:cxn>
                <a:cxn ang="0">
                  <a:pos x="15413" y="261"/>
                </a:cxn>
                <a:cxn ang="0">
                  <a:pos x="15388" y="190"/>
                </a:cxn>
                <a:cxn ang="0">
                  <a:pos x="15348" y="127"/>
                </a:cxn>
                <a:cxn ang="0">
                  <a:pos x="15295" y="74"/>
                </a:cxn>
                <a:cxn ang="0">
                  <a:pos x="15232" y="34"/>
                </a:cxn>
                <a:cxn ang="0">
                  <a:pos x="15161" y="9"/>
                </a:cxn>
                <a:cxn ang="0">
                  <a:pos x="15084" y="0"/>
                </a:cxn>
              </a:cxnLst>
              <a:rect l="0" t="0" r="r" b="b"/>
              <a:pathLst>
                <a:path w="15423" h="2031">
                  <a:moveTo>
                    <a:pt x="15084" y="0"/>
                  </a:moveTo>
                  <a:lnTo>
                    <a:pt x="0" y="0"/>
                  </a:lnTo>
                  <a:lnTo>
                    <a:pt x="0" y="2030"/>
                  </a:lnTo>
                  <a:lnTo>
                    <a:pt x="15084" y="2030"/>
                  </a:lnTo>
                  <a:lnTo>
                    <a:pt x="15161" y="2021"/>
                  </a:lnTo>
                  <a:lnTo>
                    <a:pt x="15232" y="1996"/>
                  </a:lnTo>
                  <a:lnTo>
                    <a:pt x="15295" y="1956"/>
                  </a:lnTo>
                  <a:lnTo>
                    <a:pt x="15348" y="1904"/>
                  </a:lnTo>
                  <a:lnTo>
                    <a:pt x="15388" y="1841"/>
                  </a:lnTo>
                  <a:lnTo>
                    <a:pt x="15413" y="1770"/>
                  </a:lnTo>
                  <a:lnTo>
                    <a:pt x="15422" y="1692"/>
                  </a:lnTo>
                  <a:lnTo>
                    <a:pt x="15422" y="338"/>
                  </a:lnTo>
                  <a:lnTo>
                    <a:pt x="15413" y="261"/>
                  </a:lnTo>
                  <a:lnTo>
                    <a:pt x="15388" y="190"/>
                  </a:lnTo>
                  <a:lnTo>
                    <a:pt x="15348" y="127"/>
                  </a:lnTo>
                  <a:lnTo>
                    <a:pt x="15295" y="74"/>
                  </a:lnTo>
                  <a:lnTo>
                    <a:pt x="15232" y="34"/>
                  </a:lnTo>
                  <a:lnTo>
                    <a:pt x="15161" y="9"/>
                  </a:lnTo>
                  <a:lnTo>
                    <a:pt x="15084" y="0"/>
                  </a:lnTo>
                  <a:close/>
                </a:path>
              </a:pathLst>
            </a:custGeom>
            <a:solidFill>
              <a:srgbClr val="FFFFFF">
                <a:alpha val="90195"/>
              </a:srgbClr>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6" name="Freeform 14"/>
            <p:cNvSpPr>
              <a:spLocks/>
            </p:cNvSpPr>
            <p:nvPr/>
          </p:nvSpPr>
          <p:spPr bwMode="auto">
            <a:xfrm>
              <a:off x="2937" y="-1029"/>
              <a:ext cx="15423" cy="2031"/>
            </a:xfrm>
            <a:custGeom>
              <a:avLst/>
              <a:gdLst/>
              <a:ahLst/>
              <a:cxnLst>
                <a:cxn ang="0">
                  <a:pos x="15422" y="338"/>
                </a:cxn>
                <a:cxn ang="0">
                  <a:pos x="15422" y="1692"/>
                </a:cxn>
                <a:cxn ang="0">
                  <a:pos x="15413" y="1770"/>
                </a:cxn>
                <a:cxn ang="0">
                  <a:pos x="15388" y="1841"/>
                </a:cxn>
                <a:cxn ang="0">
                  <a:pos x="15348" y="1904"/>
                </a:cxn>
                <a:cxn ang="0">
                  <a:pos x="15295" y="1956"/>
                </a:cxn>
                <a:cxn ang="0">
                  <a:pos x="15232" y="1996"/>
                </a:cxn>
                <a:cxn ang="0">
                  <a:pos x="15161" y="2021"/>
                </a:cxn>
                <a:cxn ang="0">
                  <a:pos x="15084" y="2030"/>
                </a:cxn>
                <a:cxn ang="0">
                  <a:pos x="0" y="2030"/>
                </a:cxn>
                <a:cxn ang="0">
                  <a:pos x="0" y="0"/>
                </a:cxn>
                <a:cxn ang="0">
                  <a:pos x="15084" y="0"/>
                </a:cxn>
                <a:cxn ang="0">
                  <a:pos x="15161" y="9"/>
                </a:cxn>
                <a:cxn ang="0">
                  <a:pos x="15232" y="34"/>
                </a:cxn>
                <a:cxn ang="0">
                  <a:pos x="15295" y="74"/>
                </a:cxn>
                <a:cxn ang="0">
                  <a:pos x="15348" y="127"/>
                </a:cxn>
                <a:cxn ang="0">
                  <a:pos x="15388" y="190"/>
                </a:cxn>
                <a:cxn ang="0">
                  <a:pos x="15413" y="261"/>
                </a:cxn>
                <a:cxn ang="0">
                  <a:pos x="15422" y="338"/>
                </a:cxn>
              </a:cxnLst>
              <a:rect l="0" t="0" r="r" b="b"/>
              <a:pathLst>
                <a:path w="15423" h="2031">
                  <a:moveTo>
                    <a:pt x="15422" y="338"/>
                  </a:moveTo>
                  <a:lnTo>
                    <a:pt x="15422" y="1692"/>
                  </a:lnTo>
                  <a:lnTo>
                    <a:pt x="15413" y="1770"/>
                  </a:lnTo>
                  <a:lnTo>
                    <a:pt x="15388" y="1841"/>
                  </a:lnTo>
                  <a:lnTo>
                    <a:pt x="15348" y="1904"/>
                  </a:lnTo>
                  <a:lnTo>
                    <a:pt x="15295" y="1956"/>
                  </a:lnTo>
                  <a:lnTo>
                    <a:pt x="15232" y="1996"/>
                  </a:lnTo>
                  <a:lnTo>
                    <a:pt x="15161" y="2021"/>
                  </a:lnTo>
                  <a:lnTo>
                    <a:pt x="15084" y="2030"/>
                  </a:lnTo>
                  <a:lnTo>
                    <a:pt x="0" y="2030"/>
                  </a:lnTo>
                  <a:lnTo>
                    <a:pt x="0" y="0"/>
                  </a:lnTo>
                  <a:lnTo>
                    <a:pt x="15084" y="0"/>
                  </a:lnTo>
                  <a:lnTo>
                    <a:pt x="15161" y="9"/>
                  </a:lnTo>
                  <a:lnTo>
                    <a:pt x="15232" y="34"/>
                  </a:lnTo>
                  <a:lnTo>
                    <a:pt x="15295" y="74"/>
                  </a:lnTo>
                  <a:lnTo>
                    <a:pt x="15348" y="127"/>
                  </a:lnTo>
                  <a:lnTo>
                    <a:pt x="15388" y="190"/>
                  </a:lnTo>
                  <a:lnTo>
                    <a:pt x="15413" y="261"/>
                  </a:lnTo>
                  <a:lnTo>
                    <a:pt x="15422" y="338"/>
                  </a:lnTo>
                  <a:close/>
                </a:path>
              </a:pathLst>
            </a:custGeom>
            <a:noFill/>
            <a:ln w="6096">
              <a:solidFill>
                <a:srgbClr val="34879F"/>
              </a:solidFill>
              <a:round/>
              <a:headEnd/>
              <a:tailEnd/>
            </a:ln>
          </p:spPr>
          <p:txBody>
            <a:bodyPr vert="horz" wrap="square" lIns="91440" tIns="45720" rIns="91440" bIns="45720" numCol="1" anchor="t" anchorCtr="0" compatLnSpc="1">
              <a:prstTxWarp prst="textNoShape">
                <a:avLst/>
              </a:prstTxWarp>
            </a:bodyPr>
            <a:lstStyle/>
            <a:p>
              <a:endParaRPr lang="fr-FR"/>
            </a:p>
          </p:txBody>
        </p:sp>
      </p:grpSp>
      <p:sp>
        <p:nvSpPr>
          <p:cNvPr id="17" name="Rectangle 15"/>
          <p:cNvSpPr>
            <a:spLocks noChangeArrowheads="1"/>
          </p:cNvSpPr>
          <p:nvPr/>
        </p:nvSpPr>
        <p:spPr bwMode="auto">
          <a:xfrm>
            <a:off x="523836" y="1643050"/>
            <a:ext cx="1428760"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chemeClr val="tx1"/>
                </a:solidFill>
                <a:effectLst/>
                <a:latin typeface="Tahoma" pitchFamily="34" charset="0"/>
                <a:ea typeface="Verdana" pitchFamily="34" charset="0"/>
                <a:cs typeface="Tahoma" pitchFamily="34" charset="0"/>
              </a:rPr>
              <a:t>Les segments</a:t>
            </a:r>
            <a:endParaRPr kumimoji="0" lang="fr-FR" sz="9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fr-FR" sz="1600" b="1" i="0" u="none" strike="noStrike" cap="none" normalizeH="0" baseline="0" dirty="0" smtClean="0">
                <a:ln>
                  <a:noFill/>
                </a:ln>
                <a:solidFill>
                  <a:schemeClr val="tx1"/>
                </a:solidFill>
                <a:effectLst/>
                <a:latin typeface="Tahoma" pitchFamily="34" charset="0"/>
                <a:ea typeface="Verdana" pitchFamily="34" charset="0"/>
                <a:cs typeface="Tahoma" pitchFamily="34" charset="0"/>
              </a:rPr>
              <a:t>clients</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8" name="Rectangle 16"/>
          <p:cNvSpPr>
            <a:spLocks noChangeArrowheads="1"/>
          </p:cNvSpPr>
          <p:nvPr/>
        </p:nvSpPr>
        <p:spPr bwMode="auto">
          <a:xfrm>
            <a:off x="595274" y="3143248"/>
            <a:ext cx="1500198"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lang="fr-FR" sz="1600" b="1" dirty="0" smtClean="0">
                <a:latin typeface="Tahoma" pitchFamily="34" charset="0"/>
                <a:ea typeface="Verdana" pitchFamily="34" charset="0"/>
                <a:cs typeface="Tahoma" pitchFamily="34" charset="0"/>
              </a:rPr>
              <a:t>La proposition de valeur</a:t>
            </a:r>
          </a:p>
        </p:txBody>
      </p:sp>
      <p:sp>
        <p:nvSpPr>
          <p:cNvPr id="19" name="Rectangle 17"/>
          <p:cNvSpPr>
            <a:spLocks noChangeArrowheads="1"/>
          </p:cNvSpPr>
          <p:nvPr/>
        </p:nvSpPr>
        <p:spPr bwMode="auto">
          <a:xfrm>
            <a:off x="452398" y="5143512"/>
            <a:ext cx="1428760" cy="33855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chemeClr val="tx1"/>
                </a:solidFill>
                <a:effectLst/>
                <a:latin typeface="Tahoma" pitchFamily="34" charset="0"/>
                <a:ea typeface="Verdana" pitchFamily="34" charset="0"/>
                <a:cs typeface="Tahoma" pitchFamily="34" charset="0"/>
              </a:rPr>
              <a:t>Les Canaux</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0" name="Rectangle 19"/>
          <p:cNvSpPr/>
          <p:nvPr/>
        </p:nvSpPr>
        <p:spPr>
          <a:xfrm>
            <a:off x="2309786" y="1071546"/>
            <a:ext cx="9286940" cy="830997"/>
          </a:xfrm>
          <a:prstGeom prst="rect">
            <a:avLst/>
          </a:prstGeom>
        </p:spPr>
        <p:txBody>
          <a:bodyPr wrap="square">
            <a:spAutoFit/>
          </a:bodyPr>
          <a:lstStyle/>
          <a:p>
            <a:pPr algn="just"/>
            <a:r>
              <a:rPr lang="fr-FR" sz="1600" dirty="0" smtClean="0">
                <a:latin typeface="Tahoma" pitchFamily="34" charset="0"/>
                <a:ea typeface="Verdana" pitchFamily="34" charset="0"/>
                <a:cs typeface="Tahoma" pitchFamily="34" charset="0"/>
              </a:rPr>
              <a:t>Cette rubrique a pour objectif de définir vos segments clients. C'est la raison d’être de votre projet et le cœur de toutes vos attentions. Différenciez vos clients de vos utilisateurs : les clients (ceux qui payent) ne sont pas toujours les utilisateurs de vos produits ou de vos services.</a:t>
            </a:r>
          </a:p>
        </p:txBody>
      </p:sp>
      <p:sp>
        <p:nvSpPr>
          <p:cNvPr id="21" name="Rectangle 18"/>
          <p:cNvSpPr>
            <a:spLocks noChangeArrowheads="1"/>
          </p:cNvSpPr>
          <p:nvPr/>
        </p:nvSpPr>
        <p:spPr bwMode="auto">
          <a:xfrm>
            <a:off x="1809720" y="2571744"/>
            <a:ext cx="9787006" cy="107721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marR="0" lvl="1" indent="0" algn="justLow" defTabSz="914400" rtl="0" eaLnBrk="1" fontAlgn="base" latinLnBrk="0" hangingPunct="1">
              <a:lnSpc>
                <a:spcPct val="100000"/>
              </a:lnSpc>
              <a:spcBef>
                <a:spcPct val="0"/>
              </a:spcBef>
              <a:spcAft>
                <a:spcPct val="0"/>
              </a:spcAft>
              <a:buClrTx/>
              <a:buSzTx/>
              <a:tabLst>
                <a:tab pos="354013" algn="l"/>
              </a:tabLst>
            </a:pPr>
            <a:r>
              <a:rPr kumimoji="0" lang="fr-FR" sz="1600" i="0" u="none" strike="noStrike" cap="none" normalizeH="0" baseline="0" dirty="0" smtClean="0">
                <a:ln>
                  <a:noFill/>
                </a:ln>
                <a:solidFill>
                  <a:schemeClr val="tx1"/>
                </a:solidFill>
                <a:effectLst/>
                <a:latin typeface="Tahoma" pitchFamily="34" charset="0"/>
                <a:ea typeface="Verdana" pitchFamily="34" charset="0"/>
                <a:cs typeface="Tahoma" pitchFamily="34" charset="0"/>
              </a:rPr>
              <a:t>La proposition de valeur apporte une solution à un problème ou satisfait un besoin. L’offre est indissociable du client que vous ciblez. Avez-vous imaginé toutes les possibilités pour vous démarquer de vos concurrents, en innovant soit par l’offre proposée, soit par l’usage qui en est fait, les moyens mis en œuvre ou la</a:t>
            </a:r>
            <a:r>
              <a:rPr kumimoji="0" lang="fr-FR" sz="1600" i="0" u="none" strike="noStrike" cap="none" normalizeH="0" baseline="0" dirty="0" smtClean="0">
                <a:ln>
                  <a:noFill/>
                </a:ln>
                <a:solidFill>
                  <a:srgbClr val="00AFEF"/>
                </a:solidFill>
                <a:effectLst/>
                <a:latin typeface="Tahoma" pitchFamily="34" charset="0"/>
                <a:ea typeface="Verdana" pitchFamily="34" charset="0"/>
                <a:cs typeface="Tahoma" pitchFamily="34" charset="0"/>
              </a:rPr>
              <a:t> </a:t>
            </a:r>
            <a:r>
              <a:rPr kumimoji="0" lang="fr-FR" sz="1600" i="0" u="sng" strike="noStrike" cap="none" normalizeH="0" baseline="0" dirty="0" smtClean="0">
                <a:ln>
                  <a:noFill/>
                </a:ln>
                <a:solidFill>
                  <a:srgbClr val="00AFEF"/>
                </a:solidFill>
                <a:effectLst/>
                <a:latin typeface="Tahoma" pitchFamily="34" charset="0"/>
                <a:ea typeface="Verdana" pitchFamily="34" charset="0"/>
                <a:cs typeface="Tahoma" pitchFamily="34" charset="0"/>
                <a:hlinkClick r:id="rId6"/>
              </a:rPr>
              <a:t>stratégie commerciale</a:t>
            </a:r>
            <a:r>
              <a:rPr kumimoji="0" lang="fr-FR" sz="1600" i="0" u="none" strike="noStrike" cap="none" normalizeH="0" baseline="0" dirty="0" smtClean="0">
                <a:ln>
                  <a:noFill/>
                </a:ln>
                <a:solidFill>
                  <a:srgbClr val="00AFEF"/>
                </a:solidFill>
                <a:effectLst/>
                <a:latin typeface="Tahoma" pitchFamily="34" charset="0"/>
                <a:ea typeface="Verdana" pitchFamily="34" charset="0"/>
                <a:cs typeface="Tahoma" pitchFamily="34" charset="0"/>
                <a:hlinkClick r:id="rId6"/>
              </a:rPr>
              <a:t> </a:t>
            </a:r>
            <a:r>
              <a:rPr kumimoji="0" lang="fr-FR" sz="1600" i="0" u="none" strike="noStrike" cap="none" normalizeH="0" baseline="0" dirty="0" smtClean="0">
                <a:ln>
                  <a:noFill/>
                </a:ln>
                <a:solidFill>
                  <a:schemeClr val="tx1"/>
                </a:solidFill>
                <a:effectLst/>
                <a:latin typeface="Tahoma" pitchFamily="34" charset="0"/>
                <a:ea typeface="Verdana" pitchFamily="34" charset="0"/>
                <a:cs typeface="Tahoma" pitchFamily="34" charset="0"/>
              </a:rPr>
              <a:t>?</a:t>
            </a:r>
            <a:endParaRPr kumimoji="0" lang="fr-FR" sz="1800" i="0" u="none" strike="noStrike" cap="none" normalizeH="0" baseline="0" dirty="0" smtClean="0">
              <a:ln>
                <a:noFill/>
              </a:ln>
              <a:solidFill>
                <a:schemeClr val="tx1"/>
              </a:solidFill>
              <a:effectLst/>
              <a:latin typeface="Arial" pitchFamily="34" charset="0"/>
              <a:cs typeface="Arial" pitchFamily="34" charset="0"/>
            </a:endParaRPr>
          </a:p>
        </p:txBody>
      </p:sp>
      <p:sp>
        <p:nvSpPr>
          <p:cNvPr id="22" name="Rectangle 33"/>
          <p:cNvSpPr>
            <a:spLocks noChangeArrowheads="1"/>
          </p:cNvSpPr>
          <p:nvPr/>
        </p:nvSpPr>
        <p:spPr bwMode="auto">
          <a:xfrm>
            <a:off x="2320803" y="4578032"/>
            <a:ext cx="9358378"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pPr>
            <a:r>
              <a:rPr lang="fr-FR" sz="1600" dirty="0" smtClean="0">
                <a:latin typeface="Tahoma" pitchFamily="34" charset="0"/>
                <a:ea typeface="Verdana" pitchFamily="34" charset="0"/>
                <a:cs typeface="Tahoma" pitchFamily="34" charset="0"/>
              </a:rPr>
              <a:t>Il s’agit de tous les </a:t>
            </a:r>
            <a:r>
              <a:rPr lang="fr-FR" sz="1600" dirty="0" smtClean="0">
                <a:latin typeface="Tahoma" pitchFamily="34" charset="0"/>
                <a:ea typeface="Verdana" pitchFamily="34" charset="0"/>
                <a:cs typeface="Tahoma" pitchFamily="34" charset="0"/>
                <a:hlinkClick r:id="rId7"/>
              </a:rPr>
              <a:t>moyens de communication </a:t>
            </a:r>
            <a:r>
              <a:rPr lang="fr-FR" sz="1600" dirty="0" smtClean="0">
                <a:latin typeface="Tahoma" pitchFamily="34" charset="0"/>
                <a:ea typeface="Verdana" pitchFamily="34" charset="0"/>
                <a:cs typeface="Tahoma" pitchFamily="34" charset="0"/>
              </a:rPr>
              <a:t>et de </a:t>
            </a:r>
            <a:r>
              <a:rPr lang="fr-FR" sz="1600" dirty="0" smtClean="0">
                <a:latin typeface="Tahoma" pitchFamily="34" charset="0"/>
                <a:ea typeface="Verdana" pitchFamily="34" charset="0"/>
                <a:cs typeface="Tahoma" pitchFamily="34" charset="0"/>
                <a:hlinkClick r:id="rId8"/>
              </a:rPr>
              <a:t>distribution </a:t>
            </a:r>
            <a:r>
              <a:rPr lang="fr-FR" sz="1600" dirty="0" smtClean="0">
                <a:latin typeface="Tahoma" pitchFamily="34" charset="0"/>
                <a:ea typeface="Verdana" pitchFamily="34" charset="0"/>
                <a:cs typeface="Tahoma" pitchFamily="34" charset="0"/>
              </a:rPr>
              <a:t>que vous mettez en place pour toucher vos clients. C’est la manière dont votre client va être en contact avec votre offre, et une occasion de vous démarquer </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grpSp>
        <p:nvGrpSpPr>
          <p:cNvPr id="3" name="Group 34"/>
          <p:cNvGrpSpPr>
            <a:grpSpLocks/>
          </p:cNvGrpSpPr>
          <p:nvPr/>
        </p:nvGrpSpPr>
        <p:grpSpPr bwMode="auto">
          <a:xfrm>
            <a:off x="874712" y="1360488"/>
            <a:ext cx="3292461" cy="4497404"/>
            <a:chOff x="0" y="0"/>
            <a:chExt cx="4848" cy="6858"/>
          </a:xfrm>
        </p:grpSpPr>
        <p:sp>
          <p:nvSpPr>
            <p:cNvPr id="4" name="Text Box 35"/>
            <p:cNvSpPr txBox="1">
              <a:spLocks noChangeArrowheads="1"/>
            </p:cNvSpPr>
            <p:nvPr/>
          </p:nvSpPr>
          <p:spPr bwMode="auto">
            <a:xfrm>
              <a:off x="0" y="936"/>
              <a:ext cx="4848" cy="5922"/>
            </a:xfrm>
            <a:prstGeom prst="rect">
              <a:avLst/>
            </a:prstGeom>
            <a:solidFill>
              <a:srgbClr val="F8CECD">
                <a:alpha val="90195"/>
              </a:srgbClr>
            </a:solidFill>
            <a:ln w="9525">
              <a:noFill/>
              <a:miter lim="800000"/>
              <a:headEnd/>
              <a:tailEnd/>
            </a:ln>
          </p:spPr>
          <p:txBody>
            <a:bodyPr vert="horz" wrap="square" lIns="0" tIns="0" rIns="0" bIns="0" numCol="1" anchor="t" anchorCtr="0" compatLnSpc="1">
              <a:prstTxWarp prst="textNoShape">
                <a:avLst/>
              </a:prstTxWarp>
            </a:bodyPr>
            <a:lstStyle/>
            <a:p>
              <a:pPr marR="0" lvl="1" indent="-365125" algn="l" defTabSz="914400" rtl="0" eaLnBrk="1" fontAlgn="base" latinLnBrk="0" hangingPunct="1">
                <a:lnSpc>
                  <a:spcPct val="148000"/>
                </a:lnSpc>
                <a:spcBef>
                  <a:spcPts val="425"/>
                </a:spcBef>
                <a:spcAft>
                  <a:spcPct val="0"/>
                </a:spcAft>
                <a:buClrTx/>
                <a:buSzTx/>
                <a:tabLst/>
              </a:pPr>
              <a:r>
                <a:rPr kumimoji="0" lang="fr-FR" sz="1600" b="0" i="0" u="none" strike="noStrike" cap="none" normalizeH="0" baseline="0" dirty="0" smtClean="0">
                  <a:ln>
                    <a:noFill/>
                  </a:ln>
                  <a:solidFill>
                    <a:schemeClr val="tx1"/>
                  </a:solidFill>
                  <a:effectLst/>
                  <a:latin typeface="Arial" pitchFamily="34" charset="0"/>
                  <a:ea typeface="Arial" pitchFamily="34" charset="0"/>
                  <a:cs typeface="Arial" pitchFamily="34" charset="0"/>
                </a:rPr>
                <a:t>-</a:t>
              </a:r>
              <a:r>
                <a:rPr kumimoji="0" lang="fr-FR" sz="1600" b="0" i="0" u="none" strike="noStrike" cap="none" normalizeH="0" baseline="0" dirty="0" smtClean="0">
                  <a:ln>
                    <a:noFill/>
                  </a:ln>
                  <a:solidFill>
                    <a:schemeClr val="tx1"/>
                  </a:solidFill>
                  <a:effectLst/>
                  <a:latin typeface="Calibri" pitchFamily="34" charset="0"/>
                  <a:ea typeface="Arial" pitchFamily="34" charset="0"/>
                  <a:cs typeface="Arial" pitchFamily="34" charset="0"/>
                </a:rPr>
                <a:t> les personnes âgées</a:t>
              </a:r>
              <a:endParaRPr kumimoji="0" lang="fr-FR" sz="16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L="457200" marR="0" lvl="2" indent="-365125" algn="l" defTabSz="914400" rtl="0" eaLnBrk="1" fontAlgn="base" latinLnBrk="0" hangingPunct="1">
                <a:lnSpc>
                  <a:spcPct val="141000"/>
                </a:lnSpc>
                <a:spcBef>
                  <a:spcPct val="0"/>
                </a:spcBef>
                <a:spcAft>
                  <a:spcPct val="0"/>
                </a:spcAft>
                <a:buClrTx/>
                <a:buSzTx/>
                <a:buFont typeface="Verdana" pitchFamily="34" charset="0"/>
                <a:buChar char="-"/>
                <a:tabLst/>
              </a:pPr>
              <a:r>
                <a:rPr kumimoji="0" lang="fr-FR" sz="1600" b="0" i="0" u="none" strike="noStrike" cap="none" normalizeH="0" baseline="0" dirty="0" smtClean="0">
                  <a:ln>
                    <a:noFill/>
                  </a:ln>
                  <a:solidFill>
                    <a:schemeClr val="tx1"/>
                  </a:solidFill>
                  <a:effectLst/>
                  <a:latin typeface="Calibri" pitchFamily="34" charset="0"/>
                  <a:ea typeface="Arial" pitchFamily="34" charset="0"/>
                  <a:cs typeface="Arial" pitchFamily="34" charset="0"/>
                </a:rPr>
                <a:t>les étudiants</a:t>
              </a:r>
              <a:endParaRPr kumimoji="0" lang="fr-FR" sz="16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R="936625" lvl="1" indent="-365125" algn="l" defTabSz="914400" rtl="0" eaLnBrk="1" fontAlgn="base" latinLnBrk="0" hangingPunct="1">
                <a:lnSpc>
                  <a:spcPct val="100000"/>
                </a:lnSpc>
                <a:spcBef>
                  <a:spcPts val="50"/>
                </a:spcBef>
                <a:spcAft>
                  <a:spcPct val="0"/>
                </a:spcAft>
                <a:buClrTx/>
                <a:buSzTx/>
                <a:buFont typeface="Verdana" pitchFamily="34" charset="0"/>
                <a:buChar char="-"/>
                <a:tabLst/>
              </a:pPr>
              <a:r>
                <a:rPr kumimoji="0" lang="fr-FR" sz="1600" b="0" i="0" u="none" strike="noStrike" cap="none" normalizeH="0" baseline="0" dirty="0" smtClean="0">
                  <a:ln>
                    <a:noFill/>
                  </a:ln>
                  <a:solidFill>
                    <a:schemeClr val="tx1"/>
                  </a:solidFill>
                  <a:effectLst/>
                  <a:latin typeface="Calibri" pitchFamily="34" charset="0"/>
                  <a:ea typeface="Arial" pitchFamily="34" charset="0"/>
                  <a:cs typeface="Arial" pitchFamily="34" charset="0"/>
                </a:rPr>
                <a:t>les entreprises de moins de 50 employés</a:t>
              </a:r>
              <a:endParaRPr kumimoji="0" lang="fr-FR" sz="16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R="722313" lvl="1" indent="-365125" algn="l" defTabSz="914400" rtl="0" eaLnBrk="1" fontAlgn="base" latinLnBrk="0" hangingPunct="1">
                <a:lnSpc>
                  <a:spcPct val="100000"/>
                </a:lnSpc>
                <a:spcBef>
                  <a:spcPct val="0"/>
                </a:spcBef>
                <a:spcAft>
                  <a:spcPct val="0"/>
                </a:spcAft>
                <a:buClrTx/>
                <a:buSzTx/>
                <a:buFont typeface="Verdana" pitchFamily="34" charset="0"/>
                <a:buChar char="-"/>
                <a:tabLst/>
              </a:pPr>
              <a:r>
                <a:rPr kumimoji="0" lang="fr-FR" sz="1600" b="0" i="0" u="none" strike="noStrike" cap="none" normalizeH="0" baseline="0" dirty="0" smtClean="0">
                  <a:ln>
                    <a:noFill/>
                  </a:ln>
                  <a:solidFill>
                    <a:schemeClr val="tx1"/>
                  </a:solidFill>
                  <a:effectLst/>
                  <a:latin typeface="Calibri" pitchFamily="34" charset="0"/>
                  <a:ea typeface="Arial" pitchFamily="34" charset="0"/>
                  <a:cs typeface="Arial" pitchFamily="34" charset="0"/>
                </a:rPr>
                <a:t>les startups sur le secteur des </a:t>
              </a:r>
              <a:r>
                <a:rPr kumimoji="0" lang="fr-FR" sz="1600" b="0" i="0" u="none" strike="noStrike" cap="none" normalizeH="0" baseline="0" dirty="0" err="1" smtClean="0">
                  <a:ln>
                    <a:noFill/>
                  </a:ln>
                  <a:solidFill>
                    <a:schemeClr val="tx1"/>
                  </a:solidFill>
                  <a:effectLst/>
                  <a:latin typeface="Calibri" pitchFamily="34" charset="0"/>
                  <a:ea typeface="Arial" pitchFamily="34" charset="0"/>
                  <a:cs typeface="Arial" pitchFamily="34" charset="0"/>
                </a:rPr>
                <a:t>cryptomonnaies</a:t>
              </a:r>
              <a:endParaRPr kumimoji="0" lang="fr-FR" sz="16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L="457200" marR="0" lvl="2" indent="-365125" algn="l" defTabSz="914400" rtl="0" eaLnBrk="1" fontAlgn="base" latinLnBrk="0" hangingPunct="1">
                <a:lnSpc>
                  <a:spcPct val="136000"/>
                </a:lnSpc>
                <a:spcBef>
                  <a:spcPct val="0"/>
                </a:spcBef>
                <a:spcAft>
                  <a:spcPct val="0"/>
                </a:spcAft>
                <a:buClrTx/>
                <a:buSzTx/>
                <a:buFont typeface="Verdana" pitchFamily="34" charset="0"/>
                <a:buChar char="-"/>
                <a:tabLst/>
              </a:pPr>
              <a:r>
                <a:rPr kumimoji="0" lang="fr-FR" sz="1600" b="0" i="0" u="none" strike="noStrike" cap="none" normalizeH="0" baseline="0" dirty="0" smtClean="0">
                  <a:ln>
                    <a:noFill/>
                  </a:ln>
                  <a:solidFill>
                    <a:schemeClr val="tx1"/>
                  </a:solidFill>
                  <a:effectLst/>
                  <a:latin typeface="Calibri" pitchFamily="34" charset="0"/>
                  <a:ea typeface="Arial" pitchFamily="34" charset="0"/>
                  <a:cs typeface="Arial" pitchFamily="34" charset="0"/>
                </a:rPr>
                <a:t>les collectivités territoriales</a:t>
              </a:r>
            </a:p>
            <a:p>
              <a:pPr marL="457200" marR="0" lvl="2" indent="-365125" algn="l" defTabSz="914400" rtl="0" eaLnBrk="1" fontAlgn="base" latinLnBrk="0" hangingPunct="1">
                <a:lnSpc>
                  <a:spcPct val="141000"/>
                </a:lnSpc>
                <a:spcBef>
                  <a:spcPct val="0"/>
                </a:spcBef>
                <a:spcAft>
                  <a:spcPct val="0"/>
                </a:spcAft>
                <a:buClrTx/>
                <a:buSzTx/>
                <a:buFont typeface="Verdana" pitchFamily="34" charset="0"/>
                <a:buChar char="-"/>
                <a:tabLst/>
              </a:pPr>
              <a:r>
                <a:rPr kumimoji="0" lang="fr-FR" sz="1600" b="0" i="0" u="none" strike="noStrike" cap="none" normalizeH="0" baseline="0" dirty="0" smtClean="0">
                  <a:ln>
                    <a:noFill/>
                  </a:ln>
                  <a:solidFill>
                    <a:schemeClr val="tx1"/>
                  </a:solidFill>
                  <a:effectLst/>
                  <a:latin typeface="Calibri" pitchFamily="34" charset="0"/>
                  <a:ea typeface="Arial" pitchFamily="34" charset="0"/>
                  <a:cs typeface="Arial" pitchFamily="34" charset="0"/>
                </a:rPr>
                <a:t>les restaurants</a:t>
              </a:r>
              <a:endParaRPr kumimoji="0" lang="fr-FR" sz="16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L="457200" marR="0" lvl="0" indent="-365125" algn="l" defTabSz="914400" rtl="0" eaLnBrk="1" fontAlgn="base" latinLnBrk="0" hangingPunct="1">
                <a:lnSpc>
                  <a:spcPct val="100000"/>
                </a:lnSpc>
                <a:spcBef>
                  <a:spcPct val="0"/>
                </a:spcBef>
                <a:spcAft>
                  <a:spcPct val="0"/>
                </a:spcAft>
                <a:buClrTx/>
                <a:buSzTx/>
                <a:buFont typeface="Verdana" pitchFamily="34" charset="0"/>
                <a:buChar char="-"/>
                <a:tabLst/>
              </a:pPr>
              <a:r>
                <a:rPr kumimoji="0" lang="fr-FR" sz="1600" b="0" i="0" u="none" strike="noStrike" cap="none" normalizeH="0" baseline="0" dirty="0" smtClean="0">
                  <a:ln>
                    <a:noFill/>
                  </a:ln>
                  <a:solidFill>
                    <a:schemeClr val="tx1"/>
                  </a:solidFill>
                  <a:effectLst/>
                  <a:latin typeface="Calibri" pitchFamily="34" charset="0"/>
                  <a:ea typeface="Arial" pitchFamily="34" charset="0"/>
                  <a:cs typeface="Arial" pitchFamily="34" charset="0"/>
                </a:rPr>
                <a:t>les mères de familles nombreuses</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5" name="Text Box 36"/>
            <p:cNvSpPr txBox="1">
              <a:spLocks noChangeArrowheads="1"/>
            </p:cNvSpPr>
            <p:nvPr/>
          </p:nvSpPr>
          <p:spPr bwMode="auto">
            <a:xfrm>
              <a:off x="0" y="0"/>
              <a:ext cx="4848" cy="936"/>
            </a:xfrm>
            <a:prstGeom prst="rect">
              <a:avLst/>
            </a:prstGeom>
            <a:solidFill>
              <a:srgbClr val="EF3E2B"/>
            </a:solidFill>
            <a:ln w="9525">
              <a:noFill/>
              <a:miter lim="800000"/>
              <a:headEnd/>
              <a:tailEnd/>
            </a:ln>
          </p:spPr>
          <p:txBody>
            <a:bodyPr vert="horz" wrap="square" lIns="0" tIns="0" rIns="0" bIns="0" numCol="1" anchor="t" anchorCtr="0" compatLnSpc="1">
              <a:prstTxWarp prst="textNoShape">
                <a:avLst/>
              </a:prstTxWarp>
            </a:bodyPr>
            <a:lstStyle/>
            <a:p>
              <a:pPr marL="457200" marR="0" lvl="1" indent="0" algn="l" defTabSz="914400" rtl="0" eaLnBrk="1" fontAlgn="base" latinLnBrk="0" hangingPunct="1">
                <a:lnSpc>
                  <a:spcPct val="100000"/>
                </a:lnSpc>
                <a:spcBef>
                  <a:spcPts val="538"/>
                </a:spcBef>
                <a:spcAft>
                  <a:spcPts val="1000"/>
                </a:spcAft>
                <a:buClrTx/>
                <a:buSzTx/>
                <a:buFontTx/>
                <a:buNone/>
                <a:tabLst/>
              </a:pPr>
              <a:r>
                <a:rPr kumimoji="0" lang="fr-FR" sz="1600" b="0" i="0" u="none" strike="noStrike" cap="none" normalizeH="0" baseline="0" smtClean="0">
                  <a:ln>
                    <a:noFill/>
                  </a:ln>
                  <a:solidFill>
                    <a:srgbClr val="FFFFFF"/>
                  </a:solidFill>
                  <a:effectLst/>
                  <a:latin typeface="Calibri" pitchFamily="34" charset="0"/>
                  <a:ea typeface="Arial" pitchFamily="34" charset="0"/>
                  <a:cs typeface="Arial" pitchFamily="34" charset="0"/>
                </a:rPr>
                <a:t>Exemples de segments de marché</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grpSp>
      <p:grpSp>
        <p:nvGrpSpPr>
          <p:cNvPr id="6" name="Group 37"/>
          <p:cNvGrpSpPr>
            <a:grpSpLocks/>
          </p:cNvGrpSpPr>
          <p:nvPr/>
        </p:nvGrpSpPr>
        <p:grpSpPr bwMode="auto">
          <a:xfrm>
            <a:off x="4367213" y="1360488"/>
            <a:ext cx="3078162" cy="4354528"/>
            <a:chOff x="0" y="0"/>
            <a:chExt cx="4848" cy="5895"/>
          </a:xfrm>
        </p:grpSpPr>
        <p:sp>
          <p:nvSpPr>
            <p:cNvPr id="7" name="Text Box 38"/>
            <p:cNvSpPr txBox="1">
              <a:spLocks noChangeArrowheads="1"/>
            </p:cNvSpPr>
            <p:nvPr/>
          </p:nvSpPr>
          <p:spPr bwMode="auto">
            <a:xfrm>
              <a:off x="0" y="936"/>
              <a:ext cx="4848" cy="4959"/>
            </a:xfrm>
            <a:prstGeom prst="rect">
              <a:avLst/>
            </a:prstGeom>
            <a:solidFill>
              <a:srgbClr val="CDDADF">
                <a:alpha val="90195"/>
              </a:srgbClr>
            </a:solidFill>
            <a:ln w="9525">
              <a:noFill/>
              <a:miter lim="800000"/>
              <a:headEnd/>
              <a:tailEnd/>
            </a:ln>
          </p:spPr>
          <p:txBody>
            <a:bodyPr vert="horz" wrap="square" lIns="0" tIns="0" rIns="0" bIns="0" numCol="1" anchor="t" anchorCtr="0" compatLnSpc="1">
              <a:prstTxWarp prst="textNoShape">
                <a:avLst/>
              </a:prstTxWarp>
            </a:bodyPr>
            <a:lstStyle/>
            <a:p>
              <a:pPr marL="358775" marR="660400" lvl="1" indent="-185738" algn="just" defTabSz="914400" rtl="0" eaLnBrk="1" fontAlgn="base" latinLnBrk="0" hangingPunct="1">
                <a:lnSpc>
                  <a:spcPct val="100000"/>
                </a:lnSpc>
                <a:spcBef>
                  <a:spcPts val="575"/>
                </a:spcBef>
                <a:spcAft>
                  <a:spcPct val="0"/>
                </a:spcAft>
                <a:buClrTx/>
                <a:buSzTx/>
                <a:tabLst/>
              </a:pPr>
              <a:r>
                <a:rPr kumimoji="0" lang="fr-FR" sz="1600" b="0" i="0" u="none" strike="noStrike" cap="none" normalizeH="0" baseline="0" dirty="0" smtClean="0">
                  <a:ln>
                    <a:noFill/>
                  </a:ln>
                  <a:solidFill>
                    <a:schemeClr val="tx1"/>
                  </a:solidFill>
                  <a:effectLst/>
                  <a:latin typeface="Calibri" pitchFamily="34" charset="0"/>
                  <a:ea typeface="Arial" pitchFamily="34" charset="0"/>
                  <a:cs typeface="Arial" pitchFamily="34" charset="0"/>
                </a:rPr>
                <a:t>- "une application mobile gratuite pour vous aider à maigrir"</a:t>
              </a:r>
            </a:p>
            <a:p>
              <a:pPr marL="358775" marR="482600" lvl="1" indent="-185738" algn="just" defTabSz="914400" rtl="0" eaLnBrk="1" fontAlgn="base" latinLnBrk="0" hangingPunct="1">
                <a:lnSpc>
                  <a:spcPct val="100000"/>
                </a:lnSpc>
                <a:spcBef>
                  <a:spcPct val="0"/>
                </a:spcBef>
                <a:spcAft>
                  <a:spcPct val="0"/>
                </a:spcAft>
                <a:buClrTx/>
                <a:buSzTx/>
                <a:buFont typeface="Verdana" pitchFamily="34" charset="0"/>
                <a:buChar char="-"/>
                <a:tabLst/>
              </a:pPr>
              <a:r>
                <a:rPr kumimoji="0" lang="fr-FR" sz="1600" b="0" i="0" u="none" strike="noStrike" cap="none" normalizeH="0" baseline="0" dirty="0" smtClean="0">
                  <a:ln>
                    <a:noFill/>
                  </a:ln>
                  <a:solidFill>
                    <a:schemeClr val="tx1"/>
                  </a:solidFill>
                  <a:effectLst/>
                  <a:latin typeface="Calibri" pitchFamily="34" charset="0"/>
                  <a:ea typeface="Arial" pitchFamily="34" charset="0"/>
                  <a:cs typeface="Arial" pitchFamily="34" charset="0"/>
                </a:rPr>
                <a:t>"une agence de location de voitures qui vous permet de payer en 5 fois"</a:t>
              </a:r>
              <a:endParaRPr kumimoji="0" lang="fr-FR" sz="16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L="358775" marR="434975" lvl="1" indent="-185738" algn="just" defTabSz="914400" rtl="0" eaLnBrk="1" fontAlgn="base" latinLnBrk="0" hangingPunct="1">
                <a:lnSpc>
                  <a:spcPct val="100000"/>
                </a:lnSpc>
                <a:spcBef>
                  <a:spcPct val="0"/>
                </a:spcBef>
                <a:spcAft>
                  <a:spcPct val="0"/>
                </a:spcAft>
                <a:buClrTx/>
                <a:buSzTx/>
                <a:buFont typeface="Verdana" pitchFamily="34" charset="0"/>
                <a:buChar char="-"/>
                <a:tabLst/>
              </a:pPr>
              <a:r>
                <a:rPr kumimoji="0" lang="fr-FR" sz="1600" b="0" i="0" u="none" strike="noStrike" cap="none" normalizeH="0" baseline="0" dirty="0" smtClean="0">
                  <a:ln>
                    <a:noFill/>
                  </a:ln>
                  <a:solidFill>
                    <a:schemeClr val="tx1"/>
                  </a:solidFill>
                  <a:effectLst/>
                  <a:latin typeface="Calibri" pitchFamily="34" charset="0"/>
                  <a:ea typeface="Arial" pitchFamily="34" charset="0"/>
                  <a:cs typeface="Arial" pitchFamily="34" charset="0"/>
                </a:rPr>
                <a:t>"un décorateur d'intérieur qui vous accompagne de A à Z"</a:t>
              </a:r>
            </a:p>
            <a:p>
              <a:pPr marL="358775" marR="439738" lvl="1" indent="-185738" algn="just" defTabSz="914400" rtl="0" eaLnBrk="1" fontAlgn="base" latinLnBrk="0" hangingPunct="1">
                <a:lnSpc>
                  <a:spcPct val="100000"/>
                </a:lnSpc>
                <a:spcBef>
                  <a:spcPct val="0"/>
                </a:spcBef>
                <a:spcAft>
                  <a:spcPct val="0"/>
                </a:spcAft>
                <a:buClrTx/>
                <a:buSzTx/>
                <a:buFont typeface="Verdana" pitchFamily="34" charset="0"/>
                <a:buChar char="-"/>
                <a:tabLst/>
              </a:pPr>
              <a:r>
                <a:rPr kumimoji="0" lang="fr-FR" sz="1600" b="0" i="0" u="none" strike="noStrike" cap="none" normalizeH="0" baseline="0" dirty="0" smtClean="0">
                  <a:ln>
                    <a:noFill/>
                  </a:ln>
                  <a:solidFill>
                    <a:schemeClr val="tx1"/>
                  </a:solidFill>
                  <a:effectLst/>
                  <a:latin typeface="Calibri" pitchFamily="34" charset="0"/>
                  <a:ea typeface="Arial" pitchFamily="34" charset="0"/>
                  <a:cs typeface="Arial" pitchFamily="34" charset="0"/>
                </a:rPr>
                <a:t>"une </a:t>
              </a:r>
              <a:r>
                <a:rPr kumimoji="0" lang="fr-FR" sz="1600" b="0" i="0" u="none" strike="noStrike" cap="none" normalizeH="0" baseline="0" dirty="0" err="1" smtClean="0">
                  <a:ln>
                    <a:noFill/>
                  </a:ln>
                  <a:solidFill>
                    <a:schemeClr val="tx1"/>
                  </a:solidFill>
                  <a:effectLst/>
                  <a:latin typeface="Calibri" pitchFamily="34" charset="0"/>
                  <a:ea typeface="Arial" pitchFamily="34" charset="0"/>
                  <a:cs typeface="Arial" pitchFamily="34" charset="0"/>
                </a:rPr>
                <a:t>marketplace</a:t>
              </a:r>
              <a:r>
                <a:rPr kumimoji="0" lang="fr-FR" sz="1600" b="0" i="0" u="none" strike="noStrike" cap="none" normalizeH="0" baseline="0" dirty="0" smtClean="0">
                  <a:ln>
                    <a:noFill/>
                  </a:ln>
                  <a:solidFill>
                    <a:schemeClr val="tx1"/>
                  </a:solidFill>
                  <a:effectLst/>
                  <a:latin typeface="Calibri" pitchFamily="34" charset="0"/>
                  <a:ea typeface="Arial" pitchFamily="34" charset="0"/>
                  <a:cs typeface="Arial" pitchFamily="34" charset="0"/>
                </a:rPr>
                <a:t> qui vous aide à trouver un déménageur près de chez vous"</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8" name="Text Box 39"/>
            <p:cNvSpPr txBox="1">
              <a:spLocks noChangeArrowheads="1"/>
            </p:cNvSpPr>
            <p:nvPr/>
          </p:nvSpPr>
          <p:spPr bwMode="auto">
            <a:xfrm>
              <a:off x="0" y="0"/>
              <a:ext cx="4848" cy="936"/>
            </a:xfrm>
            <a:prstGeom prst="rect">
              <a:avLst/>
            </a:prstGeom>
            <a:solidFill>
              <a:srgbClr val="34879F"/>
            </a:solidFill>
            <a:ln w="9525">
              <a:noFill/>
              <a:miter lim="800000"/>
              <a:headEnd/>
              <a:tailEnd/>
            </a:ln>
          </p:spPr>
          <p:txBody>
            <a:bodyPr vert="horz" wrap="square" lIns="0" tIns="0" rIns="0" bIns="0" numCol="1" anchor="t" anchorCtr="0" compatLnSpc="1">
              <a:prstTxWarp prst="textNoShape">
                <a:avLst/>
              </a:prstTxWarp>
            </a:bodyPr>
            <a:lstStyle/>
            <a:p>
              <a:pPr marL="457200" marR="0" lvl="1" indent="0" algn="l" defTabSz="914400" rtl="0" eaLnBrk="1" fontAlgn="base" latinLnBrk="0" hangingPunct="1">
                <a:lnSpc>
                  <a:spcPct val="100000"/>
                </a:lnSpc>
                <a:spcBef>
                  <a:spcPts val="525"/>
                </a:spcBef>
                <a:spcAft>
                  <a:spcPts val="1000"/>
                </a:spcAft>
                <a:buClrTx/>
                <a:buSzTx/>
                <a:buFontTx/>
                <a:buNone/>
                <a:tabLst/>
              </a:pPr>
              <a:r>
                <a:rPr kumimoji="0" lang="fr-FR" sz="1600" b="1" i="0" u="none" strike="noStrike" cap="none" normalizeH="0" baseline="0" dirty="0" smtClean="0">
                  <a:ln>
                    <a:noFill/>
                  </a:ln>
                  <a:solidFill>
                    <a:srgbClr val="FFFFFF"/>
                  </a:solidFill>
                  <a:effectLst/>
                  <a:latin typeface="Tahoma" pitchFamily="34" charset="0"/>
                  <a:ea typeface="Arial" pitchFamily="34" charset="0"/>
                  <a:cs typeface="Arial" pitchFamily="34" charset="0"/>
                </a:rPr>
                <a:t>Exemples de proposition de valeur</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grpSp>
      <p:grpSp>
        <p:nvGrpSpPr>
          <p:cNvPr id="9" name="Group 40"/>
          <p:cNvGrpSpPr>
            <a:grpSpLocks/>
          </p:cNvGrpSpPr>
          <p:nvPr/>
        </p:nvGrpSpPr>
        <p:grpSpPr bwMode="auto">
          <a:xfrm>
            <a:off x="7886508" y="1757095"/>
            <a:ext cx="3803689" cy="3743325"/>
            <a:chOff x="0" y="0"/>
            <a:chExt cx="4844" cy="5895"/>
          </a:xfrm>
        </p:grpSpPr>
        <p:sp>
          <p:nvSpPr>
            <p:cNvPr id="10" name="Text Box 41"/>
            <p:cNvSpPr txBox="1">
              <a:spLocks noChangeArrowheads="1"/>
            </p:cNvSpPr>
            <p:nvPr/>
          </p:nvSpPr>
          <p:spPr bwMode="auto">
            <a:xfrm>
              <a:off x="0" y="936"/>
              <a:ext cx="4844" cy="4959"/>
            </a:xfrm>
            <a:prstGeom prst="rect">
              <a:avLst/>
            </a:prstGeom>
            <a:solidFill>
              <a:srgbClr val="FBEDCD">
                <a:alpha val="90195"/>
              </a:srgbClr>
            </a:solidFill>
            <a:ln w="9525">
              <a:noFill/>
              <a:miter lim="800000"/>
              <a:headEnd/>
              <a:tailEnd/>
            </a:ln>
          </p:spPr>
          <p:txBody>
            <a:bodyPr vert="horz" wrap="square" lIns="0" tIns="0" rIns="0" bIns="0" numCol="1" anchor="t" anchorCtr="0" compatLnSpc="1">
              <a:prstTxWarp prst="textNoShape">
                <a:avLst/>
              </a:prstTxWarp>
            </a:bodyPr>
            <a:lstStyle/>
            <a:p>
              <a:pPr marR="0" lvl="1" indent="-284163" algn="l" defTabSz="914400" rtl="0" eaLnBrk="1" fontAlgn="base" latinLnBrk="0" hangingPunct="1">
                <a:lnSpc>
                  <a:spcPct val="148000"/>
                </a:lnSpc>
                <a:spcBef>
                  <a:spcPts val="425"/>
                </a:spcBef>
                <a:spcAft>
                  <a:spcPct val="0"/>
                </a:spcAft>
                <a:buClrTx/>
                <a:buSzTx/>
                <a:tabLst/>
              </a:pPr>
              <a:r>
                <a:rPr kumimoji="0" lang="fr-FR" sz="1600" b="0" i="0" u="none" strike="noStrike" cap="none" normalizeH="0" baseline="0" dirty="0" smtClean="0">
                  <a:ln>
                    <a:noFill/>
                  </a:ln>
                  <a:solidFill>
                    <a:schemeClr val="tx1"/>
                  </a:solidFill>
                  <a:effectLst/>
                  <a:latin typeface="Arial" pitchFamily="34" charset="0"/>
                  <a:ea typeface="Arial" pitchFamily="34" charset="0"/>
                  <a:cs typeface="Arial" pitchFamily="34" charset="0"/>
                </a:rPr>
                <a:t>-</a:t>
              </a:r>
              <a:r>
                <a:rPr kumimoji="0" lang="fr-FR" sz="1600" b="0" i="0" u="none" strike="noStrike" cap="none" normalizeH="0" baseline="0" dirty="0" smtClean="0">
                  <a:ln>
                    <a:noFill/>
                  </a:ln>
                  <a:solidFill>
                    <a:schemeClr val="tx1"/>
                  </a:solidFill>
                  <a:effectLst/>
                  <a:latin typeface="Calibri" pitchFamily="34" charset="0"/>
                  <a:ea typeface="Arial" pitchFamily="34" charset="0"/>
                  <a:cs typeface="Arial" pitchFamily="34" charset="0"/>
                </a:rPr>
                <a:t> en ligne</a:t>
              </a:r>
              <a:endParaRPr kumimoji="0" lang="fr-FR" sz="16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L="457200" marR="0" lvl="2" indent="-284163" algn="l" defTabSz="914400" rtl="0" eaLnBrk="1" fontAlgn="base" latinLnBrk="0" hangingPunct="1">
                <a:lnSpc>
                  <a:spcPct val="141000"/>
                </a:lnSpc>
                <a:spcBef>
                  <a:spcPct val="0"/>
                </a:spcBef>
                <a:spcAft>
                  <a:spcPct val="0"/>
                </a:spcAft>
                <a:buClrTx/>
                <a:buSzTx/>
                <a:buFont typeface="Verdana" pitchFamily="34" charset="0"/>
                <a:buChar char="-"/>
                <a:tabLst/>
              </a:pPr>
              <a:r>
                <a:rPr kumimoji="0" lang="fr-FR" sz="1600" b="0" i="0" u="none" strike="noStrike" cap="none" normalizeH="0" baseline="0" dirty="0" smtClean="0">
                  <a:ln>
                    <a:noFill/>
                  </a:ln>
                  <a:solidFill>
                    <a:schemeClr val="tx1"/>
                  </a:solidFill>
                  <a:effectLst/>
                  <a:latin typeface="Calibri" pitchFamily="34" charset="0"/>
                  <a:ea typeface="Arial" pitchFamily="34" charset="0"/>
                  <a:cs typeface="Arial" pitchFamily="34" charset="0"/>
                </a:rPr>
                <a:t>en agence</a:t>
              </a:r>
              <a:endParaRPr kumimoji="0" lang="fr-FR" sz="16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L="457200" marR="0" lvl="2" indent="-284163" algn="l" defTabSz="914400" rtl="0" eaLnBrk="1" fontAlgn="base" latinLnBrk="0" hangingPunct="1">
                <a:lnSpc>
                  <a:spcPct val="142000"/>
                </a:lnSpc>
                <a:spcBef>
                  <a:spcPct val="0"/>
                </a:spcBef>
                <a:spcAft>
                  <a:spcPct val="0"/>
                </a:spcAft>
                <a:buClrTx/>
                <a:buSzTx/>
                <a:buFont typeface="Verdana" pitchFamily="34" charset="0"/>
                <a:buChar char="-"/>
                <a:tabLst/>
              </a:pPr>
              <a:r>
                <a:rPr kumimoji="0" lang="fr-FR" sz="1600" b="0" i="0" u="none" strike="noStrike" cap="none" normalizeH="0" baseline="0" dirty="0" smtClean="0">
                  <a:ln>
                    <a:noFill/>
                  </a:ln>
                  <a:solidFill>
                    <a:schemeClr val="tx1"/>
                  </a:solidFill>
                  <a:effectLst/>
                  <a:latin typeface="Calibri" pitchFamily="34" charset="0"/>
                  <a:ea typeface="Arial" pitchFamily="34" charset="0"/>
                  <a:cs typeface="Arial" pitchFamily="34" charset="0"/>
                </a:rPr>
                <a:t>sur place</a:t>
              </a:r>
              <a:endParaRPr kumimoji="0" lang="fr-FR" sz="16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L="457200" marR="0" lvl="2" indent="-284163" algn="l" defTabSz="914400" rtl="0" eaLnBrk="1" fontAlgn="base" latinLnBrk="0" hangingPunct="1">
                <a:lnSpc>
                  <a:spcPct val="141000"/>
                </a:lnSpc>
                <a:spcBef>
                  <a:spcPct val="0"/>
                </a:spcBef>
                <a:spcAft>
                  <a:spcPct val="0"/>
                </a:spcAft>
                <a:buClrTx/>
                <a:buSzTx/>
                <a:buFont typeface="Verdana" pitchFamily="34" charset="0"/>
                <a:buChar char="-"/>
                <a:tabLst/>
              </a:pPr>
              <a:r>
                <a:rPr kumimoji="0" lang="fr-FR" sz="1600" b="0" i="0" u="none" strike="noStrike" cap="none" normalizeH="0" baseline="0" dirty="0" smtClean="0">
                  <a:ln>
                    <a:noFill/>
                  </a:ln>
                  <a:solidFill>
                    <a:schemeClr val="tx1"/>
                  </a:solidFill>
                  <a:effectLst/>
                  <a:latin typeface="Calibri" pitchFamily="34" charset="0"/>
                  <a:ea typeface="Arial" pitchFamily="34" charset="0"/>
                  <a:cs typeface="Arial" pitchFamily="34" charset="0"/>
                </a:rPr>
                <a:t>click-and-</a:t>
              </a:r>
              <a:r>
                <a:rPr kumimoji="0" lang="fr-FR" sz="1600" b="0" i="0" u="none" strike="noStrike" cap="none" normalizeH="0" baseline="0" dirty="0" err="1" smtClean="0">
                  <a:ln>
                    <a:noFill/>
                  </a:ln>
                  <a:solidFill>
                    <a:schemeClr val="tx1"/>
                  </a:solidFill>
                  <a:effectLst/>
                  <a:latin typeface="Calibri" pitchFamily="34" charset="0"/>
                  <a:ea typeface="Arial" pitchFamily="34" charset="0"/>
                  <a:cs typeface="Arial" pitchFamily="34" charset="0"/>
                </a:rPr>
                <a:t>collect</a:t>
              </a:r>
              <a:endParaRPr kumimoji="0" lang="fr-FR" sz="1600" b="0" i="0" u="none" strike="noStrike" cap="none" normalizeH="0" baseline="0" dirty="0" smtClean="0">
                <a:ln>
                  <a:noFill/>
                </a:ln>
                <a:solidFill>
                  <a:schemeClr val="tx1"/>
                </a:solidFill>
                <a:effectLst/>
                <a:latin typeface="Calibri" pitchFamily="34" charset="0"/>
                <a:ea typeface="Arial" pitchFamily="34" charset="0"/>
                <a:cs typeface="Arial" pitchFamily="34" charset="0"/>
              </a:endParaRPr>
            </a:p>
            <a:p>
              <a:pPr marL="457200" marR="0" lvl="0" indent="-284163" algn="l" defTabSz="914400" rtl="0" eaLnBrk="1" fontAlgn="base" latinLnBrk="0" hangingPunct="1">
                <a:lnSpc>
                  <a:spcPct val="100000"/>
                </a:lnSpc>
                <a:spcBef>
                  <a:spcPct val="0"/>
                </a:spcBef>
                <a:spcAft>
                  <a:spcPct val="0"/>
                </a:spcAft>
                <a:buClrTx/>
                <a:buSzTx/>
                <a:buFont typeface="Verdana" pitchFamily="34" charset="0"/>
                <a:buChar char="-"/>
                <a:tabLst/>
              </a:pPr>
              <a:r>
                <a:rPr kumimoji="0" lang="fr-FR" sz="1600" b="0" i="0" u="none" strike="noStrike" cap="none" normalizeH="0" baseline="0" dirty="0" smtClean="0">
                  <a:ln>
                    <a:noFill/>
                  </a:ln>
                  <a:solidFill>
                    <a:schemeClr val="tx1"/>
                  </a:solidFill>
                  <a:effectLst/>
                  <a:latin typeface="Calibri" pitchFamily="34" charset="0"/>
                  <a:ea typeface="Arial" pitchFamily="34" charset="0"/>
                  <a:cs typeface="Arial" pitchFamily="34" charset="0"/>
                </a:rPr>
                <a:t>canal e-commerce</a:t>
              </a:r>
            </a:p>
            <a:p>
              <a:pPr marL="457200" marR="0" lvl="0" indent="-284163" algn="l" defTabSz="914400" rtl="0" eaLnBrk="1" fontAlgn="base" latinLnBrk="0" hangingPunct="1">
                <a:lnSpc>
                  <a:spcPct val="100000"/>
                </a:lnSpc>
                <a:spcBef>
                  <a:spcPct val="0"/>
                </a:spcBef>
                <a:spcAft>
                  <a:spcPct val="0"/>
                </a:spcAft>
                <a:buClrTx/>
                <a:buSzTx/>
                <a:buFont typeface="Verdana" pitchFamily="34" charset="0"/>
                <a:buChar char="-"/>
                <a:tabLst/>
              </a:pPr>
              <a:r>
                <a:rPr lang="fr-FR" sz="1600" dirty="0" smtClean="0">
                  <a:latin typeface="Calibri" pitchFamily="34" charset="0"/>
                  <a:ea typeface="Arial" pitchFamily="34" charset="0"/>
                  <a:cs typeface="Arial" pitchFamily="34" charset="0"/>
                </a:rPr>
                <a:t>par l'intermédiaire de</a:t>
              </a:r>
            </a:p>
            <a:p>
              <a:pPr marR="0" lvl="1" indent="-284163" algn="l" defTabSz="914400" rtl="0" eaLnBrk="1" fontAlgn="base" latinLnBrk="0" hangingPunct="1">
                <a:lnSpc>
                  <a:spcPct val="141000"/>
                </a:lnSpc>
                <a:spcBef>
                  <a:spcPct val="0"/>
                </a:spcBef>
                <a:spcAft>
                  <a:spcPts val="1000"/>
                </a:spcAft>
                <a:buClrTx/>
                <a:buSzTx/>
                <a:buFontTx/>
                <a:buNone/>
                <a:tabLst/>
              </a:pPr>
              <a:r>
                <a:rPr kumimoji="0" lang="fr-FR" sz="1600" b="0" i="0" u="none" strike="noStrike" cap="none" normalizeH="0" baseline="0" dirty="0" smtClean="0">
                  <a:ln>
                    <a:noFill/>
                  </a:ln>
                  <a:solidFill>
                    <a:schemeClr val="tx1"/>
                  </a:solidFill>
                  <a:effectLst/>
                  <a:latin typeface="Calibri" pitchFamily="34" charset="0"/>
                  <a:ea typeface="Arial" pitchFamily="34" charset="0"/>
                  <a:cs typeface="Arial" pitchFamily="34" charset="0"/>
                </a:rPr>
                <a:t>boutiques partenaires</a:t>
              </a:r>
              <a:endParaRPr kumimoji="0" lang="fr-FR" sz="16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L="457200" marR="0" lvl="2" indent="-284163" algn="l" defTabSz="914400" rtl="0" eaLnBrk="1" fontAlgn="base" latinLnBrk="0" hangingPunct="1">
                <a:lnSpc>
                  <a:spcPct val="142000"/>
                </a:lnSpc>
                <a:spcBef>
                  <a:spcPct val="0"/>
                </a:spcBef>
                <a:spcAft>
                  <a:spcPct val="0"/>
                </a:spcAft>
                <a:buClrTx/>
                <a:buSzTx/>
                <a:buFont typeface="Verdana" pitchFamily="34" charset="0"/>
                <a:buChar char="-"/>
                <a:tabLst/>
              </a:pPr>
              <a:r>
                <a:rPr kumimoji="0" lang="fr-FR" sz="1600" b="0" i="0" u="none" strike="noStrike" cap="none" normalizeH="0" baseline="0" dirty="0" err="1" smtClean="0">
                  <a:ln>
                    <a:noFill/>
                  </a:ln>
                  <a:solidFill>
                    <a:schemeClr val="tx1"/>
                  </a:solidFill>
                  <a:effectLst/>
                  <a:latin typeface="Calibri" pitchFamily="34" charset="0"/>
                  <a:ea typeface="Arial" pitchFamily="34" charset="0"/>
                  <a:cs typeface="Arial" pitchFamily="34" charset="0"/>
                </a:rPr>
                <a:t>marketplace</a:t>
              </a:r>
              <a:endParaRPr kumimoji="0" lang="fr-FR" sz="1600" b="0" i="0" u="none" strike="noStrike" cap="none" normalizeH="0" baseline="0" dirty="0" smtClean="0">
                <a:ln>
                  <a:noFill/>
                </a:ln>
                <a:solidFill>
                  <a:schemeClr val="tx1"/>
                </a:solidFill>
                <a:effectLst/>
                <a:latin typeface="Calibri" pitchFamily="34" charset="0"/>
                <a:ea typeface="Arial" pitchFamily="34" charset="0"/>
                <a:cs typeface="Arial" pitchFamily="34" charset="0"/>
              </a:endParaRPr>
            </a:p>
            <a:p>
              <a:pPr marL="457200" marR="0" lvl="2" indent="-284163" algn="l" defTabSz="914400" rtl="0" eaLnBrk="1" fontAlgn="base" latinLnBrk="0" hangingPunct="1">
                <a:lnSpc>
                  <a:spcPct val="148000"/>
                </a:lnSpc>
                <a:spcBef>
                  <a:spcPct val="0"/>
                </a:spcBef>
                <a:spcAft>
                  <a:spcPct val="0"/>
                </a:spcAft>
                <a:buClrTx/>
                <a:buSzTx/>
                <a:buFont typeface="Verdana" pitchFamily="34" charset="0"/>
                <a:buChar char="-"/>
                <a:tabLst/>
              </a:pPr>
              <a:r>
                <a:rPr kumimoji="0" lang="fr-FR" sz="1600" b="0" i="0" u="none" strike="noStrike" cap="none" normalizeH="0" baseline="0" dirty="0" smtClean="0">
                  <a:ln>
                    <a:noFill/>
                  </a:ln>
                  <a:solidFill>
                    <a:schemeClr val="tx1"/>
                  </a:solidFill>
                  <a:effectLst/>
                  <a:latin typeface="Calibri" pitchFamily="34" charset="0"/>
                  <a:ea typeface="Arial" pitchFamily="34" charset="0"/>
                  <a:cs typeface="Arial" pitchFamily="34" charset="0"/>
                </a:rPr>
                <a:t>apporteurs d'affaire</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1" name="Text Box 42"/>
            <p:cNvSpPr txBox="1">
              <a:spLocks noChangeArrowheads="1"/>
            </p:cNvSpPr>
            <p:nvPr/>
          </p:nvSpPr>
          <p:spPr bwMode="auto">
            <a:xfrm>
              <a:off x="0" y="0"/>
              <a:ext cx="4844" cy="936"/>
            </a:xfrm>
            <a:prstGeom prst="rect">
              <a:avLst/>
            </a:prstGeom>
            <a:solidFill>
              <a:srgbClr val="F8D22E"/>
            </a:solidFill>
            <a:ln w="9525">
              <a:noFill/>
              <a:miter lim="800000"/>
              <a:headEnd/>
              <a:tailEnd/>
            </a:ln>
          </p:spPr>
          <p:txBody>
            <a:bodyPr vert="horz" wrap="square" lIns="0" tIns="0" rIns="0" bIns="0" numCol="1" anchor="t" anchorCtr="0" compatLnSpc="1">
              <a:prstTxWarp prst="textNoShape">
                <a:avLst/>
              </a:prstTxWarp>
            </a:bodyPr>
            <a:lstStyle/>
            <a:p>
              <a:pPr marL="457200" marR="0" lvl="1" indent="0" algn="l" defTabSz="914400" rtl="0" eaLnBrk="1" fontAlgn="base" latinLnBrk="0" hangingPunct="1">
                <a:lnSpc>
                  <a:spcPct val="100000"/>
                </a:lnSpc>
                <a:spcBef>
                  <a:spcPts val="525"/>
                </a:spcBef>
                <a:spcAft>
                  <a:spcPts val="1000"/>
                </a:spcAft>
                <a:buClrTx/>
                <a:buSzTx/>
                <a:buFontTx/>
                <a:buNone/>
                <a:tabLst/>
              </a:pPr>
              <a:r>
                <a:rPr kumimoji="0" lang="fr-FR" sz="1600" b="1" i="0" u="none" strike="noStrike" cap="none" normalizeH="0" baseline="0" smtClean="0">
                  <a:ln>
                    <a:noFill/>
                  </a:ln>
                  <a:solidFill>
                    <a:srgbClr val="FFFFFF"/>
                  </a:solidFill>
                  <a:effectLst/>
                  <a:latin typeface="Tahoma" pitchFamily="34" charset="0"/>
                  <a:ea typeface="Arial" pitchFamily="34" charset="0"/>
                  <a:cs typeface="Arial" pitchFamily="34" charset="0"/>
                </a:rPr>
                <a:t>Exemples de Canaux de distribution</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gr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grpSp>
        <p:nvGrpSpPr>
          <p:cNvPr id="3" name="Group 1"/>
          <p:cNvGrpSpPr>
            <a:grpSpLocks/>
          </p:cNvGrpSpPr>
          <p:nvPr/>
        </p:nvGrpSpPr>
        <p:grpSpPr bwMode="auto">
          <a:xfrm>
            <a:off x="426947" y="725373"/>
            <a:ext cx="11765053" cy="5486400"/>
            <a:chOff x="1008" y="1195"/>
            <a:chExt cx="17319" cy="8640"/>
          </a:xfrm>
        </p:grpSpPr>
        <p:sp>
          <p:nvSpPr>
            <p:cNvPr id="4" name="Freeform 2"/>
            <p:cNvSpPr>
              <a:spLocks/>
            </p:cNvSpPr>
            <p:nvPr/>
          </p:nvSpPr>
          <p:spPr bwMode="auto">
            <a:xfrm>
              <a:off x="1008" y="1752"/>
              <a:ext cx="1872" cy="2674"/>
            </a:xfrm>
            <a:custGeom>
              <a:avLst/>
              <a:gdLst/>
              <a:ahLst/>
              <a:cxnLst>
                <a:cxn ang="0">
                  <a:pos x="1872" y="0"/>
                </a:cxn>
                <a:cxn ang="0">
                  <a:pos x="936" y="936"/>
                </a:cxn>
                <a:cxn ang="0">
                  <a:pos x="0" y="0"/>
                </a:cxn>
                <a:cxn ang="0">
                  <a:pos x="0" y="1738"/>
                </a:cxn>
                <a:cxn ang="0">
                  <a:pos x="936" y="2674"/>
                </a:cxn>
                <a:cxn ang="0">
                  <a:pos x="1872" y="1738"/>
                </a:cxn>
                <a:cxn ang="0">
                  <a:pos x="1872" y="0"/>
                </a:cxn>
              </a:cxnLst>
              <a:rect l="0" t="0" r="r" b="b"/>
              <a:pathLst>
                <a:path w="1872" h="2674">
                  <a:moveTo>
                    <a:pt x="1872" y="0"/>
                  </a:moveTo>
                  <a:lnTo>
                    <a:pt x="936" y="936"/>
                  </a:lnTo>
                  <a:lnTo>
                    <a:pt x="0" y="0"/>
                  </a:lnTo>
                  <a:lnTo>
                    <a:pt x="0" y="1738"/>
                  </a:lnTo>
                  <a:lnTo>
                    <a:pt x="936" y="2674"/>
                  </a:lnTo>
                  <a:lnTo>
                    <a:pt x="1872" y="1738"/>
                  </a:lnTo>
                  <a:lnTo>
                    <a:pt x="1872" y="0"/>
                  </a:lnTo>
                  <a:close/>
                </a:path>
              </a:pathLst>
            </a:custGeom>
            <a:solidFill>
              <a:srgbClr val="EF3E2B"/>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5" name="Freeform 3"/>
            <p:cNvSpPr>
              <a:spLocks/>
            </p:cNvSpPr>
            <p:nvPr/>
          </p:nvSpPr>
          <p:spPr bwMode="auto">
            <a:xfrm>
              <a:off x="1008" y="1752"/>
              <a:ext cx="1872" cy="2674"/>
            </a:xfrm>
            <a:custGeom>
              <a:avLst/>
              <a:gdLst/>
              <a:ahLst/>
              <a:cxnLst>
                <a:cxn ang="0">
                  <a:pos x="1872" y="0"/>
                </a:cxn>
                <a:cxn ang="0">
                  <a:pos x="1872" y="1738"/>
                </a:cxn>
                <a:cxn ang="0">
                  <a:pos x="936" y="2674"/>
                </a:cxn>
                <a:cxn ang="0">
                  <a:pos x="0" y="1738"/>
                </a:cxn>
                <a:cxn ang="0">
                  <a:pos x="0" y="0"/>
                </a:cxn>
                <a:cxn ang="0">
                  <a:pos x="936" y="936"/>
                </a:cxn>
                <a:cxn ang="0">
                  <a:pos x="1872" y="0"/>
                </a:cxn>
              </a:cxnLst>
              <a:rect l="0" t="0" r="r" b="b"/>
              <a:pathLst>
                <a:path w="1872" h="2674">
                  <a:moveTo>
                    <a:pt x="1872" y="0"/>
                  </a:moveTo>
                  <a:lnTo>
                    <a:pt x="1872" y="1738"/>
                  </a:lnTo>
                  <a:lnTo>
                    <a:pt x="936" y="2674"/>
                  </a:lnTo>
                  <a:lnTo>
                    <a:pt x="0" y="1738"/>
                  </a:lnTo>
                  <a:lnTo>
                    <a:pt x="0" y="0"/>
                  </a:lnTo>
                  <a:lnTo>
                    <a:pt x="936" y="936"/>
                  </a:lnTo>
                  <a:lnTo>
                    <a:pt x="1872" y="0"/>
                  </a:lnTo>
                  <a:close/>
                </a:path>
              </a:pathLst>
            </a:custGeom>
            <a:noFill/>
            <a:ln w="12192">
              <a:solidFill>
                <a:srgbClr val="EF3E2B"/>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6" name="Freeform 4"/>
            <p:cNvSpPr>
              <a:spLocks/>
            </p:cNvSpPr>
            <p:nvPr/>
          </p:nvSpPr>
          <p:spPr bwMode="auto">
            <a:xfrm>
              <a:off x="3754" y="1238"/>
              <a:ext cx="14536" cy="2852"/>
            </a:xfrm>
            <a:custGeom>
              <a:avLst/>
              <a:gdLst/>
              <a:ahLst/>
              <a:cxnLst>
                <a:cxn ang="0">
                  <a:pos x="14971" y="0"/>
                </a:cxn>
                <a:cxn ang="0">
                  <a:pos x="0" y="0"/>
                </a:cxn>
                <a:cxn ang="0">
                  <a:pos x="0" y="2851"/>
                </a:cxn>
                <a:cxn ang="0">
                  <a:pos x="14971" y="2851"/>
                </a:cxn>
                <a:cxn ang="0">
                  <a:pos x="15048" y="2845"/>
                </a:cxn>
                <a:cxn ang="0">
                  <a:pos x="15121" y="2827"/>
                </a:cxn>
                <a:cxn ang="0">
                  <a:pos x="15190" y="2798"/>
                </a:cxn>
                <a:cxn ang="0">
                  <a:pos x="15252" y="2760"/>
                </a:cxn>
                <a:cxn ang="0">
                  <a:pos x="15307" y="2712"/>
                </a:cxn>
                <a:cxn ang="0">
                  <a:pos x="15355" y="2657"/>
                </a:cxn>
                <a:cxn ang="0">
                  <a:pos x="15393" y="2595"/>
                </a:cxn>
                <a:cxn ang="0">
                  <a:pos x="15422" y="2526"/>
                </a:cxn>
                <a:cxn ang="0">
                  <a:pos x="15440" y="2453"/>
                </a:cxn>
                <a:cxn ang="0">
                  <a:pos x="15446" y="2376"/>
                </a:cxn>
                <a:cxn ang="0">
                  <a:pos x="15446" y="475"/>
                </a:cxn>
                <a:cxn ang="0">
                  <a:pos x="15440" y="398"/>
                </a:cxn>
                <a:cxn ang="0">
                  <a:pos x="15422" y="325"/>
                </a:cxn>
                <a:cxn ang="0">
                  <a:pos x="15393" y="257"/>
                </a:cxn>
                <a:cxn ang="0">
                  <a:pos x="15355" y="195"/>
                </a:cxn>
                <a:cxn ang="0">
                  <a:pos x="15307" y="139"/>
                </a:cxn>
                <a:cxn ang="0">
                  <a:pos x="15252" y="92"/>
                </a:cxn>
                <a:cxn ang="0">
                  <a:pos x="15190" y="53"/>
                </a:cxn>
                <a:cxn ang="0">
                  <a:pos x="15121" y="24"/>
                </a:cxn>
                <a:cxn ang="0">
                  <a:pos x="15048" y="6"/>
                </a:cxn>
                <a:cxn ang="0">
                  <a:pos x="14971" y="0"/>
                </a:cxn>
              </a:cxnLst>
              <a:rect l="0" t="0" r="r" b="b"/>
              <a:pathLst>
                <a:path w="15447" h="2852">
                  <a:moveTo>
                    <a:pt x="14971" y="0"/>
                  </a:moveTo>
                  <a:lnTo>
                    <a:pt x="0" y="0"/>
                  </a:lnTo>
                  <a:lnTo>
                    <a:pt x="0" y="2851"/>
                  </a:lnTo>
                  <a:lnTo>
                    <a:pt x="14971" y="2851"/>
                  </a:lnTo>
                  <a:lnTo>
                    <a:pt x="15048" y="2845"/>
                  </a:lnTo>
                  <a:lnTo>
                    <a:pt x="15121" y="2827"/>
                  </a:lnTo>
                  <a:lnTo>
                    <a:pt x="15190" y="2798"/>
                  </a:lnTo>
                  <a:lnTo>
                    <a:pt x="15252" y="2760"/>
                  </a:lnTo>
                  <a:lnTo>
                    <a:pt x="15307" y="2712"/>
                  </a:lnTo>
                  <a:lnTo>
                    <a:pt x="15355" y="2657"/>
                  </a:lnTo>
                  <a:lnTo>
                    <a:pt x="15393" y="2595"/>
                  </a:lnTo>
                  <a:lnTo>
                    <a:pt x="15422" y="2526"/>
                  </a:lnTo>
                  <a:lnTo>
                    <a:pt x="15440" y="2453"/>
                  </a:lnTo>
                  <a:lnTo>
                    <a:pt x="15446" y="2376"/>
                  </a:lnTo>
                  <a:lnTo>
                    <a:pt x="15446" y="475"/>
                  </a:lnTo>
                  <a:lnTo>
                    <a:pt x="15440" y="398"/>
                  </a:lnTo>
                  <a:lnTo>
                    <a:pt x="15422" y="325"/>
                  </a:lnTo>
                  <a:lnTo>
                    <a:pt x="15393" y="257"/>
                  </a:lnTo>
                  <a:lnTo>
                    <a:pt x="15355" y="195"/>
                  </a:lnTo>
                  <a:lnTo>
                    <a:pt x="15307" y="139"/>
                  </a:lnTo>
                  <a:lnTo>
                    <a:pt x="15252" y="92"/>
                  </a:lnTo>
                  <a:lnTo>
                    <a:pt x="15190" y="53"/>
                  </a:lnTo>
                  <a:lnTo>
                    <a:pt x="15121" y="24"/>
                  </a:lnTo>
                  <a:lnTo>
                    <a:pt x="15048" y="6"/>
                  </a:lnTo>
                  <a:lnTo>
                    <a:pt x="14971" y="0"/>
                  </a:lnTo>
                  <a:close/>
                </a:path>
              </a:pathLst>
            </a:custGeom>
            <a:solidFill>
              <a:srgbClr val="FFFFFF">
                <a:alpha val="90195"/>
              </a:srgbClr>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7" name="Freeform 5"/>
            <p:cNvSpPr>
              <a:spLocks/>
            </p:cNvSpPr>
            <p:nvPr/>
          </p:nvSpPr>
          <p:spPr bwMode="auto">
            <a:xfrm>
              <a:off x="2880" y="1195"/>
              <a:ext cx="15447" cy="2852"/>
            </a:xfrm>
            <a:custGeom>
              <a:avLst/>
              <a:gdLst/>
              <a:ahLst/>
              <a:cxnLst>
                <a:cxn ang="0">
                  <a:pos x="15446" y="475"/>
                </a:cxn>
                <a:cxn ang="0">
                  <a:pos x="15446" y="2376"/>
                </a:cxn>
                <a:cxn ang="0">
                  <a:pos x="15440" y="2453"/>
                </a:cxn>
                <a:cxn ang="0">
                  <a:pos x="15422" y="2526"/>
                </a:cxn>
                <a:cxn ang="0">
                  <a:pos x="15393" y="2595"/>
                </a:cxn>
                <a:cxn ang="0">
                  <a:pos x="15355" y="2657"/>
                </a:cxn>
                <a:cxn ang="0">
                  <a:pos x="15307" y="2712"/>
                </a:cxn>
                <a:cxn ang="0">
                  <a:pos x="15252" y="2760"/>
                </a:cxn>
                <a:cxn ang="0">
                  <a:pos x="15190" y="2798"/>
                </a:cxn>
                <a:cxn ang="0">
                  <a:pos x="15121" y="2827"/>
                </a:cxn>
                <a:cxn ang="0">
                  <a:pos x="15048" y="2845"/>
                </a:cxn>
                <a:cxn ang="0">
                  <a:pos x="14971" y="2851"/>
                </a:cxn>
                <a:cxn ang="0">
                  <a:pos x="0" y="2851"/>
                </a:cxn>
                <a:cxn ang="0">
                  <a:pos x="0" y="0"/>
                </a:cxn>
                <a:cxn ang="0">
                  <a:pos x="14971" y="0"/>
                </a:cxn>
                <a:cxn ang="0">
                  <a:pos x="15048" y="6"/>
                </a:cxn>
                <a:cxn ang="0">
                  <a:pos x="15121" y="24"/>
                </a:cxn>
                <a:cxn ang="0">
                  <a:pos x="15190" y="53"/>
                </a:cxn>
                <a:cxn ang="0">
                  <a:pos x="15252" y="92"/>
                </a:cxn>
                <a:cxn ang="0">
                  <a:pos x="15307" y="139"/>
                </a:cxn>
                <a:cxn ang="0">
                  <a:pos x="15355" y="195"/>
                </a:cxn>
                <a:cxn ang="0">
                  <a:pos x="15393" y="257"/>
                </a:cxn>
                <a:cxn ang="0">
                  <a:pos x="15422" y="325"/>
                </a:cxn>
                <a:cxn ang="0">
                  <a:pos x="15440" y="398"/>
                </a:cxn>
                <a:cxn ang="0">
                  <a:pos x="15446" y="475"/>
                </a:cxn>
              </a:cxnLst>
              <a:rect l="0" t="0" r="r" b="b"/>
              <a:pathLst>
                <a:path w="15447" h="2852">
                  <a:moveTo>
                    <a:pt x="15446" y="475"/>
                  </a:moveTo>
                  <a:lnTo>
                    <a:pt x="15446" y="2376"/>
                  </a:lnTo>
                  <a:lnTo>
                    <a:pt x="15440" y="2453"/>
                  </a:lnTo>
                  <a:lnTo>
                    <a:pt x="15422" y="2526"/>
                  </a:lnTo>
                  <a:lnTo>
                    <a:pt x="15393" y="2595"/>
                  </a:lnTo>
                  <a:lnTo>
                    <a:pt x="15355" y="2657"/>
                  </a:lnTo>
                  <a:lnTo>
                    <a:pt x="15307" y="2712"/>
                  </a:lnTo>
                  <a:lnTo>
                    <a:pt x="15252" y="2760"/>
                  </a:lnTo>
                  <a:lnTo>
                    <a:pt x="15190" y="2798"/>
                  </a:lnTo>
                  <a:lnTo>
                    <a:pt x="15121" y="2827"/>
                  </a:lnTo>
                  <a:lnTo>
                    <a:pt x="15048" y="2845"/>
                  </a:lnTo>
                  <a:lnTo>
                    <a:pt x="14971" y="2851"/>
                  </a:lnTo>
                  <a:lnTo>
                    <a:pt x="0" y="2851"/>
                  </a:lnTo>
                  <a:lnTo>
                    <a:pt x="0" y="0"/>
                  </a:lnTo>
                  <a:lnTo>
                    <a:pt x="14971" y="0"/>
                  </a:lnTo>
                  <a:lnTo>
                    <a:pt x="15048" y="6"/>
                  </a:lnTo>
                  <a:lnTo>
                    <a:pt x="15121" y="24"/>
                  </a:lnTo>
                  <a:lnTo>
                    <a:pt x="15190" y="53"/>
                  </a:lnTo>
                  <a:lnTo>
                    <a:pt x="15252" y="92"/>
                  </a:lnTo>
                  <a:lnTo>
                    <a:pt x="15307" y="139"/>
                  </a:lnTo>
                  <a:lnTo>
                    <a:pt x="15355" y="195"/>
                  </a:lnTo>
                  <a:lnTo>
                    <a:pt x="15393" y="257"/>
                  </a:lnTo>
                  <a:lnTo>
                    <a:pt x="15422" y="325"/>
                  </a:lnTo>
                  <a:lnTo>
                    <a:pt x="15440" y="398"/>
                  </a:lnTo>
                  <a:lnTo>
                    <a:pt x="15446" y="475"/>
                  </a:lnTo>
                  <a:close/>
                </a:path>
              </a:pathLst>
            </a:custGeom>
            <a:noFill/>
            <a:ln w="12192">
              <a:solidFill>
                <a:srgbClr val="EF3E2B"/>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8" name="Freeform 6"/>
            <p:cNvSpPr>
              <a:spLocks/>
            </p:cNvSpPr>
            <p:nvPr/>
          </p:nvSpPr>
          <p:spPr bwMode="auto">
            <a:xfrm>
              <a:off x="1008" y="4372"/>
              <a:ext cx="1872" cy="2674"/>
            </a:xfrm>
            <a:custGeom>
              <a:avLst/>
              <a:gdLst/>
              <a:ahLst/>
              <a:cxnLst>
                <a:cxn ang="0">
                  <a:pos x="1872" y="0"/>
                </a:cxn>
                <a:cxn ang="0">
                  <a:pos x="936" y="936"/>
                </a:cxn>
                <a:cxn ang="0">
                  <a:pos x="0" y="0"/>
                </a:cxn>
                <a:cxn ang="0">
                  <a:pos x="0" y="1737"/>
                </a:cxn>
                <a:cxn ang="0">
                  <a:pos x="936" y="2673"/>
                </a:cxn>
                <a:cxn ang="0">
                  <a:pos x="1872" y="1737"/>
                </a:cxn>
                <a:cxn ang="0">
                  <a:pos x="1872" y="0"/>
                </a:cxn>
              </a:cxnLst>
              <a:rect l="0" t="0" r="r" b="b"/>
              <a:pathLst>
                <a:path w="1872" h="2674">
                  <a:moveTo>
                    <a:pt x="1872" y="0"/>
                  </a:moveTo>
                  <a:lnTo>
                    <a:pt x="936" y="936"/>
                  </a:lnTo>
                  <a:lnTo>
                    <a:pt x="0" y="0"/>
                  </a:lnTo>
                  <a:lnTo>
                    <a:pt x="0" y="1737"/>
                  </a:lnTo>
                  <a:lnTo>
                    <a:pt x="936" y="2673"/>
                  </a:lnTo>
                  <a:lnTo>
                    <a:pt x="1872" y="1737"/>
                  </a:lnTo>
                  <a:lnTo>
                    <a:pt x="1872" y="0"/>
                  </a:lnTo>
                  <a:close/>
                </a:path>
              </a:pathLst>
            </a:custGeom>
            <a:solidFill>
              <a:srgbClr val="34879F"/>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9" name="Freeform 7"/>
            <p:cNvSpPr>
              <a:spLocks/>
            </p:cNvSpPr>
            <p:nvPr/>
          </p:nvSpPr>
          <p:spPr bwMode="auto">
            <a:xfrm>
              <a:off x="1008" y="4372"/>
              <a:ext cx="1872" cy="2674"/>
            </a:xfrm>
            <a:custGeom>
              <a:avLst/>
              <a:gdLst/>
              <a:ahLst/>
              <a:cxnLst>
                <a:cxn ang="0">
                  <a:pos x="1872" y="0"/>
                </a:cxn>
                <a:cxn ang="0">
                  <a:pos x="1872" y="1737"/>
                </a:cxn>
                <a:cxn ang="0">
                  <a:pos x="936" y="2673"/>
                </a:cxn>
                <a:cxn ang="0">
                  <a:pos x="0" y="1737"/>
                </a:cxn>
                <a:cxn ang="0">
                  <a:pos x="0" y="0"/>
                </a:cxn>
                <a:cxn ang="0">
                  <a:pos x="936" y="936"/>
                </a:cxn>
                <a:cxn ang="0">
                  <a:pos x="1872" y="0"/>
                </a:cxn>
              </a:cxnLst>
              <a:rect l="0" t="0" r="r" b="b"/>
              <a:pathLst>
                <a:path w="1872" h="2674">
                  <a:moveTo>
                    <a:pt x="1872" y="0"/>
                  </a:moveTo>
                  <a:lnTo>
                    <a:pt x="1872" y="1737"/>
                  </a:lnTo>
                  <a:lnTo>
                    <a:pt x="936" y="2673"/>
                  </a:lnTo>
                  <a:lnTo>
                    <a:pt x="0" y="1737"/>
                  </a:lnTo>
                  <a:lnTo>
                    <a:pt x="0" y="0"/>
                  </a:lnTo>
                  <a:lnTo>
                    <a:pt x="936" y="936"/>
                  </a:lnTo>
                  <a:lnTo>
                    <a:pt x="1872" y="0"/>
                  </a:lnTo>
                  <a:close/>
                </a:path>
              </a:pathLst>
            </a:custGeom>
            <a:noFill/>
            <a:ln w="12192">
              <a:solidFill>
                <a:srgbClr val="34879F"/>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0" name="Freeform 8"/>
            <p:cNvSpPr>
              <a:spLocks/>
            </p:cNvSpPr>
            <p:nvPr/>
          </p:nvSpPr>
          <p:spPr bwMode="auto">
            <a:xfrm>
              <a:off x="2880" y="4166"/>
              <a:ext cx="15447" cy="2156"/>
            </a:xfrm>
            <a:custGeom>
              <a:avLst/>
              <a:gdLst/>
              <a:ahLst/>
              <a:cxnLst>
                <a:cxn ang="0">
                  <a:pos x="15087" y="0"/>
                </a:cxn>
                <a:cxn ang="0">
                  <a:pos x="0" y="0"/>
                </a:cxn>
                <a:cxn ang="0">
                  <a:pos x="0" y="2156"/>
                </a:cxn>
                <a:cxn ang="0">
                  <a:pos x="15087" y="2156"/>
                </a:cxn>
                <a:cxn ang="0">
                  <a:pos x="15160" y="2148"/>
                </a:cxn>
                <a:cxn ang="0">
                  <a:pos x="15227" y="2127"/>
                </a:cxn>
                <a:cxn ang="0">
                  <a:pos x="15288" y="2094"/>
                </a:cxn>
                <a:cxn ang="0">
                  <a:pos x="15341" y="2050"/>
                </a:cxn>
                <a:cxn ang="0">
                  <a:pos x="15385" y="1997"/>
                </a:cxn>
                <a:cxn ang="0">
                  <a:pos x="15418" y="1936"/>
                </a:cxn>
                <a:cxn ang="0">
                  <a:pos x="15439" y="1869"/>
                </a:cxn>
                <a:cxn ang="0">
                  <a:pos x="15446" y="1796"/>
                </a:cxn>
                <a:cxn ang="0">
                  <a:pos x="15446" y="360"/>
                </a:cxn>
                <a:cxn ang="0">
                  <a:pos x="15439" y="287"/>
                </a:cxn>
                <a:cxn ang="0">
                  <a:pos x="15418" y="220"/>
                </a:cxn>
                <a:cxn ang="0">
                  <a:pos x="15385" y="159"/>
                </a:cxn>
                <a:cxn ang="0">
                  <a:pos x="15341" y="106"/>
                </a:cxn>
                <a:cxn ang="0">
                  <a:pos x="15288" y="62"/>
                </a:cxn>
                <a:cxn ang="0">
                  <a:pos x="15227" y="29"/>
                </a:cxn>
                <a:cxn ang="0">
                  <a:pos x="15160" y="8"/>
                </a:cxn>
                <a:cxn ang="0">
                  <a:pos x="15087" y="0"/>
                </a:cxn>
              </a:cxnLst>
              <a:rect l="0" t="0" r="r" b="b"/>
              <a:pathLst>
                <a:path w="15447" h="2156">
                  <a:moveTo>
                    <a:pt x="15087" y="0"/>
                  </a:moveTo>
                  <a:lnTo>
                    <a:pt x="0" y="0"/>
                  </a:lnTo>
                  <a:lnTo>
                    <a:pt x="0" y="2156"/>
                  </a:lnTo>
                  <a:lnTo>
                    <a:pt x="15087" y="2156"/>
                  </a:lnTo>
                  <a:lnTo>
                    <a:pt x="15160" y="2148"/>
                  </a:lnTo>
                  <a:lnTo>
                    <a:pt x="15227" y="2127"/>
                  </a:lnTo>
                  <a:lnTo>
                    <a:pt x="15288" y="2094"/>
                  </a:lnTo>
                  <a:lnTo>
                    <a:pt x="15341" y="2050"/>
                  </a:lnTo>
                  <a:lnTo>
                    <a:pt x="15385" y="1997"/>
                  </a:lnTo>
                  <a:lnTo>
                    <a:pt x="15418" y="1936"/>
                  </a:lnTo>
                  <a:lnTo>
                    <a:pt x="15439" y="1869"/>
                  </a:lnTo>
                  <a:lnTo>
                    <a:pt x="15446" y="1796"/>
                  </a:lnTo>
                  <a:lnTo>
                    <a:pt x="15446" y="360"/>
                  </a:lnTo>
                  <a:lnTo>
                    <a:pt x="15439" y="287"/>
                  </a:lnTo>
                  <a:lnTo>
                    <a:pt x="15418" y="220"/>
                  </a:lnTo>
                  <a:lnTo>
                    <a:pt x="15385" y="159"/>
                  </a:lnTo>
                  <a:lnTo>
                    <a:pt x="15341" y="106"/>
                  </a:lnTo>
                  <a:lnTo>
                    <a:pt x="15288" y="62"/>
                  </a:lnTo>
                  <a:lnTo>
                    <a:pt x="15227" y="29"/>
                  </a:lnTo>
                  <a:lnTo>
                    <a:pt x="15160" y="8"/>
                  </a:lnTo>
                  <a:lnTo>
                    <a:pt x="15087" y="0"/>
                  </a:lnTo>
                  <a:close/>
                </a:path>
              </a:pathLst>
            </a:custGeom>
            <a:solidFill>
              <a:srgbClr val="FFFFFF">
                <a:alpha val="90195"/>
              </a:srgbClr>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1" name="Freeform 9"/>
            <p:cNvSpPr>
              <a:spLocks/>
            </p:cNvSpPr>
            <p:nvPr/>
          </p:nvSpPr>
          <p:spPr bwMode="auto">
            <a:xfrm>
              <a:off x="2880" y="4166"/>
              <a:ext cx="15447" cy="2156"/>
            </a:xfrm>
            <a:custGeom>
              <a:avLst/>
              <a:gdLst/>
              <a:ahLst/>
              <a:cxnLst>
                <a:cxn ang="0">
                  <a:pos x="15446" y="360"/>
                </a:cxn>
                <a:cxn ang="0">
                  <a:pos x="15446" y="1796"/>
                </a:cxn>
                <a:cxn ang="0">
                  <a:pos x="15439" y="1869"/>
                </a:cxn>
                <a:cxn ang="0">
                  <a:pos x="15418" y="1936"/>
                </a:cxn>
                <a:cxn ang="0">
                  <a:pos x="15385" y="1997"/>
                </a:cxn>
                <a:cxn ang="0">
                  <a:pos x="15341" y="2050"/>
                </a:cxn>
                <a:cxn ang="0">
                  <a:pos x="15288" y="2094"/>
                </a:cxn>
                <a:cxn ang="0">
                  <a:pos x="15227" y="2127"/>
                </a:cxn>
                <a:cxn ang="0">
                  <a:pos x="15160" y="2148"/>
                </a:cxn>
                <a:cxn ang="0">
                  <a:pos x="15087" y="2156"/>
                </a:cxn>
                <a:cxn ang="0">
                  <a:pos x="0" y="2156"/>
                </a:cxn>
                <a:cxn ang="0">
                  <a:pos x="0" y="0"/>
                </a:cxn>
                <a:cxn ang="0">
                  <a:pos x="15087" y="0"/>
                </a:cxn>
                <a:cxn ang="0">
                  <a:pos x="15160" y="8"/>
                </a:cxn>
                <a:cxn ang="0">
                  <a:pos x="15227" y="29"/>
                </a:cxn>
                <a:cxn ang="0">
                  <a:pos x="15288" y="62"/>
                </a:cxn>
                <a:cxn ang="0">
                  <a:pos x="15341" y="106"/>
                </a:cxn>
                <a:cxn ang="0">
                  <a:pos x="15385" y="159"/>
                </a:cxn>
                <a:cxn ang="0">
                  <a:pos x="15418" y="220"/>
                </a:cxn>
                <a:cxn ang="0">
                  <a:pos x="15439" y="287"/>
                </a:cxn>
                <a:cxn ang="0">
                  <a:pos x="15446" y="360"/>
                </a:cxn>
              </a:cxnLst>
              <a:rect l="0" t="0" r="r" b="b"/>
              <a:pathLst>
                <a:path w="15447" h="2156">
                  <a:moveTo>
                    <a:pt x="15446" y="360"/>
                  </a:moveTo>
                  <a:lnTo>
                    <a:pt x="15446" y="1796"/>
                  </a:lnTo>
                  <a:lnTo>
                    <a:pt x="15439" y="1869"/>
                  </a:lnTo>
                  <a:lnTo>
                    <a:pt x="15418" y="1936"/>
                  </a:lnTo>
                  <a:lnTo>
                    <a:pt x="15385" y="1997"/>
                  </a:lnTo>
                  <a:lnTo>
                    <a:pt x="15341" y="2050"/>
                  </a:lnTo>
                  <a:lnTo>
                    <a:pt x="15288" y="2094"/>
                  </a:lnTo>
                  <a:lnTo>
                    <a:pt x="15227" y="2127"/>
                  </a:lnTo>
                  <a:lnTo>
                    <a:pt x="15160" y="2148"/>
                  </a:lnTo>
                  <a:lnTo>
                    <a:pt x="15087" y="2156"/>
                  </a:lnTo>
                  <a:lnTo>
                    <a:pt x="0" y="2156"/>
                  </a:lnTo>
                  <a:lnTo>
                    <a:pt x="0" y="0"/>
                  </a:lnTo>
                  <a:lnTo>
                    <a:pt x="15087" y="0"/>
                  </a:lnTo>
                  <a:lnTo>
                    <a:pt x="15160" y="8"/>
                  </a:lnTo>
                  <a:lnTo>
                    <a:pt x="15227" y="29"/>
                  </a:lnTo>
                  <a:lnTo>
                    <a:pt x="15288" y="62"/>
                  </a:lnTo>
                  <a:lnTo>
                    <a:pt x="15341" y="106"/>
                  </a:lnTo>
                  <a:lnTo>
                    <a:pt x="15385" y="159"/>
                  </a:lnTo>
                  <a:lnTo>
                    <a:pt x="15418" y="220"/>
                  </a:lnTo>
                  <a:lnTo>
                    <a:pt x="15439" y="287"/>
                  </a:lnTo>
                  <a:lnTo>
                    <a:pt x="15446" y="360"/>
                  </a:lnTo>
                  <a:close/>
                </a:path>
              </a:pathLst>
            </a:custGeom>
            <a:noFill/>
            <a:ln w="12192">
              <a:solidFill>
                <a:srgbClr val="34879F"/>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2" name="Freeform 10"/>
            <p:cNvSpPr>
              <a:spLocks/>
            </p:cNvSpPr>
            <p:nvPr/>
          </p:nvSpPr>
          <p:spPr bwMode="auto">
            <a:xfrm>
              <a:off x="1045" y="6708"/>
              <a:ext cx="1872" cy="2674"/>
            </a:xfrm>
            <a:custGeom>
              <a:avLst/>
              <a:gdLst/>
              <a:ahLst/>
              <a:cxnLst>
                <a:cxn ang="0">
                  <a:pos x="1872" y="0"/>
                </a:cxn>
                <a:cxn ang="0">
                  <a:pos x="936" y="936"/>
                </a:cxn>
                <a:cxn ang="0">
                  <a:pos x="0" y="0"/>
                </a:cxn>
                <a:cxn ang="0">
                  <a:pos x="0" y="1737"/>
                </a:cxn>
                <a:cxn ang="0">
                  <a:pos x="936" y="2673"/>
                </a:cxn>
                <a:cxn ang="0">
                  <a:pos x="1872" y="1737"/>
                </a:cxn>
                <a:cxn ang="0">
                  <a:pos x="1872" y="0"/>
                </a:cxn>
              </a:cxnLst>
              <a:rect l="0" t="0" r="r" b="b"/>
              <a:pathLst>
                <a:path w="1872" h="2674">
                  <a:moveTo>
                    <a:pt x="1872" y="0"/>
                  </a:moveTo>
                  <a:lnTo>
                    <a:pt x="936" y="936"/>
                  </a:lnTo>
                  <a:lnTo>
                    <a:pt x="0" y="0"/>
                  </a:lnTo>
                  <a:lnTo>
                    <a:pt x="0" y="1737"/>
                  </a:lnTo>
                  <a:lnTo>
                    <a:pt x="936" y="2673"/>
                  </a:lnTo>
                  <a:lnTo>
                    <a:pt x="1872" y="1737"/>
                  </a:lnTo>
                  <a:lnTo>
                    <a:pt x="1872" y="0"/>
                  </a:lnTo>
                  <a:close/>
                </a:path>
              </a:pathLst>
            </a:custGeom>
            <a:solidFill>
              <a:srgbClr val="F8D22E"/>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3" name="Freeform 11"/>
            <p:cNvSpPr>
              <a:spLocks/>
            </p:cNvSpPr>
            <p:nvPr/>
          </p:nvSpPr>
          <p:spPr bwMode="auto">
            <a:xfrm>
              <a:off x="1008" y="7161"/>
              <a:ext cx="1872" cy="2674"/>
            </a:xfrm>
            <a:custGeom>
              <a:avLst/>
              <a:gdLst/>
              <a:ahLst/>
              <a:cxnLst>
                <a:cxn ang="0">
                  <a:pos x="1872" y="0"/>
                </a:cxn>
                <a:cxn ang="0">
                  <a:pos x="1872" y="1737"/>
                </a:cxn>
                <a:cxn ang="0">
                  <a:pos x="936" y="2673"/>
                </a:cxn>
                <a:cxn ang="0">
                  <a:pos x="0" y="1737"/>
                </a:cxn>
                <a:cxn ang="0">
                  <a:pos x="0" y="0"/>
                </a:cxn>
                <a:cxn ang="0">
                  <a:pos x="936" y="936"/>
                </a:cxn>
                <a:cxn ang="0">
                  <a:pos x="1872" y="0"/>
                </a:cxn>
              </a:cxnLst>
              <a:rect l="0" t="0" r="r" b="b"/>
              <a:pathLst>
                <a:path w="1872" h="2674">
                  <a:moveTo>
                    <a:pt x="1872" y="0"/>
                  </a:moveTo>
                  <a:lnTo>
                    <a:pt x="1872" y="1737"/>
                  </a:lnTo>
                  <a:lnTo>
                    <a:pt x="936" y="2673"/>
                  </a:lnTo>
                  <a:lnTo>
                    <a:pt x="0" y="1737"/>
                  </a:lnTo>
                  <a:lnTo>
                    <a:pt x="0" y="0"/>
                  </a:lnTo>
                  <a:lnTo>
                    <a:pt x="936" y="936"/>
                  </a:lnTo>
                  <a:lnTo>
                    <a:pt x="1872" y="0"/>
                  </a:lnTo>
                  <a:close/>
                </a:path>
              </a:pathLst>
            </a:custGeom>
            <a:noFill/>
            <a:ln w="12192">
              <a:solidFill>
                <a:srgbClr val="F8D22E"/>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4" name="Freeform 12"/>
            <p:cNvSpPr>
              <a:spLocks/>
            </p:cNvSpPr>
            <p:nvPr/>
          </p:nvSpPr>
          <p:spPr bwMode="auto">
            <a:xfrm>
              <a:off x="2880" y="6595"/>
              <a:ext cx="15447" cy="2487"/>
            </a:xfrm>
            <a:custGeom>
              <a:avLst/>
              <a:gdLst/>
              <a:ahLst/>
              <a:cxnLst>
                <a:cxn ang="0">
                  <a:pos x="15032" y="0"/>
                </a:cxn>
                <a:cxn ang="0">
                  <a:pos x="0" y="0"/>
                </a:cxn>
                <a:cxn ang="0">
                  <a:pos x="0" y="2487"/>
                </a:cxn>
                <a:cxn ang="0">
                  <a:pos x="15032" y="2487"/>
                </a:cxn>
                <a:cxn ang="0">
                  <a:pos x="15106" y="2480"/>
                </a:cxn>
                <a:cxn ang="0">
                  <a:pos x="15177" y="2461"/>
                </a:cxn>
                <a:cxn ang="0">
                  <a:pos x="15241" y="2430"/>
                </a:cxn>
                <a:cxn ang="0">
                  <a:pos x="15299" y="2389"/>
                </a:cxn>
                <a:cxn ang="0">
                  <a:pos x="15349" y="2339"/>
                </a:cxn>
                <a:cxn ang="0">
                  <a:pos x="15390" y="2281"/>
                </a:cxn>
                <a:cxn ang="0">
                  <a:pos x="15420" y="2217"/>
                </a:cxn>
                <a:cxn ang="0">
                  <a:pos x="15440" y="2147"/>
                </a:cxn>
                <a:cxn ang="0">
                  <a:pos x="15446" y="2072"/>
                </a:cxn>
                <a:cxn ang="0">
                  <a:pos x="15446" y="415"/>
                </a:cxn>
                <a:cxn ang="0">
                  <a:pos x="15440" y="340"/>
                </a:cxn>
                <a:cxn ang="0">
                  <a:pos x="15420" y="270"/>
                </a:cxn>
                <a:cxn ang="0">
                  <a:pos x="15390" y="205"/>
                </a:cxn>
                <a:cxn ang="0">
                  <a:pos x="15349" y="148"/>
                </a:cxn>
                <a:cxn ang="0">
                  <a:pos x="15299" y="98"/>
                </a:cxn>
                <a:cxn ang="0">
                  <a:pos x="15241" y="57"/>
                </a:cxn>
                <a:cxn ang="0">
                  <a:pos x="15177" y="26"/>
                </a:cxn>
                <a:cxn ang="0">
                  <a:pos x="15106" y="7"/>
                </a:cxn>
                <a:cxn ang="0">
                  <a:pos x="15032" y="0"/>
                </a:cxn>
              </a:cxnLst>
              <a:rect l="0" t="0" r="r" b="b"/>
              <a:pathLst>
                <a:path w="15447" h="2487">
                  <a:moveTo>
                    <a:pt x="15032" y="0"/>
                  </a:moveTo>
                  <a:lnTo>
                    <a:pt x="0" y="0"/>
                  </a:lnTo>
                  <a:lnTo>
                    <a:pt x="0" y="2487"/>
                  </a:lnTo>
                  <a:lnTo>
                    <a:pt x="15032" y="2487"/>
                  </a:lnTo>
                  <a:lnTo>
                    <a:pt x="15106" y="2480"/>
                  </a:lnTo>
                  <a:lnTo>
                    <a:pt x="15177" y="2461"/>
                  </a:lnTo>
                  <a:lnTo>
                    <a:pt x="15241" y="2430"/>
                  </a:lnTo>
                  <a:lnTo>
                    <a:pt x="15299" y="2389"/>
                  </a:lnTo>
                  <a:lnTo>
                    <a:pt x="15349" y="2339"/>
                  </a:lnTo>
                  <a:lnTo>
                    <a:pt x="15390" y="2281"/>
                  </a:lnTo>
                  <a:lnTo>
                    <a:pt x="15420" y="2217"/>
                  </a:lnTo>
                  <a:lnTo>
                    <a:pt x="15440" y="2147"/>
                  </a:lnTo>
                  <a:lnTo>
                    <a:pt x="15446" y="2072"/>
                  </a:lnTo>
                  <a:lnTo>
                    <a:pt x="15446" y="415"/>
                  </a:lnTo>
                  <a:lnTo>
                    <a:pt x="15440" y="340"/>
                  </a:lnTo>
                  <a:lnTo>
                    <a:pt x="15420" y="270"/>
                  </a:lnTo>
                  <a:lnTo>
                    <a:pt x="15390" y="205"/>
                  </a:lnTo>
                  <a:lnTo>
                    <a:pt x="15349" y="148"/>
                  </a:lnTo>
                  <a:lnTo>
                    <a:pt x="15299" y="98"/>
                  </a:lnTo>
                  <a:lnTo>
                    <a:pt x="15241" y="57"/>
                  </a:lnTo>
                  <a:lnTo>
                    <a:pt x="15177" y="26"/>
                  </a:lnTo>
                  <a:lnTo>
                    <a:pt x="15106" y="7"/>
                  </a:lnTo>
                  <a:lnTo>
                    <a:pt x="15032" y="0"/>
                  </a:lnTo>
                  <a:close/>
                </a:path>
              </a:pathLst>
            </a:custGeom>
            <a:solidFill>
              <a:srgbClr val="FFFFFF">
                <a:alpha val="90195"/>
              </a:srgbClr>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5" name="Freeform 13"/>
            <p:cNvSpPr>
              <a:spLocks/>
            </p:cNvSpPr>
            <p:nvPr/>
          </p:nvSpPr>
          <p:spPr bwMode="auto">
            <a:xfrm>
              <a:off x="2880" y="6787"/>
              <a:ext cx="15447" cy="2487"/>
            </a:xfrm>
            <a:custGeom>
              <a:avLst/>
              <a:gdLst/>
              <a:ahLst/>
              <a:cxnLst>
                <a:cxn ang="0">
                  <a:pos x="15446" y="415"/>
                </a:cxn>
                <a:cxn ang="0">
                  <a:pos x="15446" y="2072"/>
                </a:cxn>
                <a:cxn ang="0">
                  <a:pos x="15440" y="2147"/>
                </a:cxn>
                <a:cxn ang="0">
                  <a:pos x="15420" y="2217"/>
                </a:cxn>
                <a:cxn ang="0">
                  <a:pos x="15390" y="2281"/>
                </a:cxn>
                <a:cxn ang="0">
                  <a:pos x="15349" y="2339"/>
                </a:cxn>
                <a:cxn ang="0">
                  <a:pos x="15299" y="2389"/>
                </a:cxn>
                <a:cxn ang="0">
                  <a:pos x="15241" y="2430"/>
                </a:cxn>
                <a:cxn ang="0">
                  <a:pos x="15177" y="2461"/>
                </a:cxn>
                <a:cxn ang="0">
                  <a:pos x="15106" y="2480"/>
                </a:cxn>
                <a:cxn ang="0">
                  <a:pos x="15032" y="2487"/>
                </a:cxn>
                <a:cxn ang="0">
                  <a:pos x="0" y="2487"/>
                </a:cxn>
                <a:cxn ang="0">
                  <a:pos x="0" y="0"/>
                </a:cxn>
                <a:cxn ang="0">
                  <a:pos x="15032" y="0"/>
                </a:cxn>
                <a:cxn ang="0">
                  <a:pos x="15106" y="7"/>
                </a:cxn>
                <a:cxn ang="0">
                  <a:pos x="15177" y="26"/>
                </a:cxn>
                <a:cxn ang="0">
                  <a:pos x="15241" y="57"/>
                </a:cxn>
                <a:cxn ang="0">
                  <a:pos x="15299" y="98"/>
                </a:cxn>
                <a:cxn ang="0">
                  <a:pos x="15349" y="148"/>
                </a:cxn>
                <a:cxn ang="0">
                  <a:pos x="15390" y="205"/>
                </a:cxn>
                <a:cxn ang="0">
                  <a:pos x="15420" y="270"/>
                </a:cxn>
                <a:cxn ang="0">
                  <a:pos x="15440" y="340"/>
                </a:cxn>
                <a:cxn ang="0">
                  <a:pos x="15446" y="415"/>
                </a:cxn>
              </a:cxnLst>
              <a:rect l="0" t="0" r="r" b="b"/>
              <a:pathLst>
                <a:path w="15447" h="2487">
                  <a:moveTo>
                    <a:pt x="15446" y="415"/>
                  </a:moveTo>
                  <a:lnTo>
                    <a:pt x="15446" y="2072"/>
                  </a:lnTo>
                  <a:lnTo>
                    <a:pt x="15440" y="2147"/>
                  </a:lnTo>
                  <a:lnTo>
                    <a:pt x="15420" y="2217"/>
                  </a:lnTo>
                  <a:lnTo>
                    <a:pt x="15390" y="2281"/>
                  </a:lnTo>
                  <a:lnTo>
                    <a:pt x="15349" y="2339"/>
                  </a:lnTo>
                  <a:lnTo>
                    <a:pt x="15299" y="2389"/>
                  </a:lnTo>
                  <a:lnTo>
                    <a:pt x="15241" y="2430"/>
                  </a:lnTo>
                  <a:lnTo>
                    <a:pt x="15177" y="2461"/>
                  </a:lnTo>
                  <a:lnTo>
                    <a:pt x="15106" y="2480"/>
                  </a:lnTo>
                  <a:lnTo>
                    <a:pt x="15032" y="2487"/>
                  </a:lnTo>
                  <a:lnTo>
                    <a:pt x="0" y="2487"/>
                  </a:lnTo>
                  <a:lnTo>
                    <a:pt x="0" y="0"/>
                  </a:lnTo>
                  <a:lnTo>
                    <a:pt x="15032" y="0"/>
                  </a:lnTo>
                  <a:lnTo>
                    <a:pt x="15106" y="7"/>
                  </a:lnTo>
                  <a:lnTo>
                    <a:pt x="15177" y="26"/>
                  </a:lnTo>
                  <a:lnTo>
                    <a:pt x="15241" y="57"/>
                  </a:lnTo>
                  <a:lnTo>
                    <a:pt x="15299" y="98"/>
                  </a:lnTo>
                  <a:lnTo>
                    <a:pt x="15349" y="148"/>
                  </a:lnTo>
                  <a:lnTo>
                    <a:pt x="15390" y="205"/>
                  </a:lnTo>
                  <a:lnTo>
                    <a:pt x="15420" y="270"/>
                  </a:lnTo>
                  <a:lnTo>
                    <a:pt x="15440" y="340"/>
                  </a:lnTo>
                  <a:lnTo>
                    <a:pt x="15446" y="415"/>
                  </a:lnTo>
                  <a:close/>
                </a:path>
              </a:pathLst>
            </a:custGeom>
            <a:noFill/>
            <a:ln w="12192">
              <a:solidFill>
                <a:srgbClr val="F8D22E"/>
              </a:solidFill>
              <a:round/>
              <a:headEnd/>
              <a:tailEnd/>
            </a:ln>
          </p:spPr>
          <p:txBody>
            <a:bodyPr vert="horz" wrap="square" lIns="91440" tIns="45720" rIns="91440" bIns="45720" numCol="1" anchor="t" anchorCtr="0" compatLnSpc="1">
              <a:prstTxWarp prst="textNoShape">
                <a:avLst/>
              </a:prstTxWarp>
            </a:bodyPr>
            <a:lstStyle/>
            <a:p>
              <a:endParaRPr lang="fr-FR"/>
            </a:p>
          </p:txBody>
        </p:sp>
      </p:grpSp>
      <p:sp>
        <p:nvSpPr>
          <p:cNvPr id="16" name="Rectangle 15"/>
          <p:cNvSpPr/>
          <p:nvPr/>
        </p:nvSpPr>
        <p:spPr>
          <a:xfrm>
            <a:off x="2381224" y="1000108"/>
            <a:ext cx="9215502" cy="1323439"/>
          </a:xfrm>
          <a:prstGeom prst="rect">
            <a:avLst/>
          </a:prstGeom>
        </p:spPr>
        <p:txBody>
          <a:bodyPr wrap="square">
            <a:spAutoFit/>
          </a:bodyPr>
          <a:lstStyle/>
          <a:p>
            <a:pPr algn="just"/>
            <a:r>
              <a:rPr lang="fr-FR" sz="1600" dirty="0" smtClean="0">
                <a:latin typeface="Tahoma" pitchFamily="34" charset="0"/>
                <a:ea typeface="Verdana" pitchFamily="34" charset="0"/>
                <a:cs typeface="Tahoma" pitchFamily="34" charset="0"/>
              </a:rPr>
              <a:t>Cette rubrique décrit les types de relations qu’une entreprise établit avec vos segments clients. C’est au-delà du produit ou du service vendu, par exemple : assurer la fidélité de vos clients, en acquérir de nouveaux, faciliter l’acte d’achat, voire augmenter la fréquence d’achat. Le type de relations clients requis par le modèle économique d’une entreprise influence profondément</a:t>
            </a:r>
            <a:r>
              <a:rPr lang="fr-FR" sz="1600" dirty="0" smtClean="0">
                <a:latin typeface="Tahoma" pitchFamily="34" charset="0"/>
                <a:ea typeface="Verdana" pitchFamily="34" charset="0"/>
                <a:cs typeface="Tahoma" pitchFamily="34" charset="0"/>
                <a:hlinkClick r:id="rId3"/>
              </a:rPr>
              <a:t> l’expérience globale du client</a:t>
            </a:r>
            <a:r>
              <a:rPr lang="fr-FR" sz="1600" dirty="0" smtClean="0">
                <a:latin typeface="Tahoma" pitchFamily="34" charset="0"/>
                <a:ea typeface="Verdana" pitchFamily="34" charset="0"/>
                <a:cs typeface="Tahoma" pitchFamily="34" charset="0"/>
              </a:rPr>
              <a:t>.</a:t>
            </a:r>
          </a:p>
        </p:txBody>
      </p:sp>
      <p:sp>
        <p:nvSpPr>
          <p:cNvPr id="17" name="Rectangle 16"/>
          <p:cNvSpPr/>
          <p:nvPr/>
        </p:nvSpPr>
        <p:spPr>
          <a:xfrm>
            <a:off x="375280" y="1587966"/>
            <a:ext cx="1500198" cy="584775"/>
          </a:xfrm>
          <a:prstGeom prst="rect">
            <a:avLst/>
          </a:prstGeom>
        </p:spPr>
        <p:txBody>
          <a:bodyPr wrap="square">
            <a:spAutoFit/>
          </a:bodyPr>
          <a:lstStyle/>
          <a:p>
            <a:pPr algn="ctr"/>
            <a:r>
              <a:rPr lang="fr-FR" sz="1600" b="1" dirty="0" smtClean="0">
                <a:latin typeface="Tahoma" pitchFamily="34" charset="0"/>
                <a:ea typeface="Verdana" pitchFamily="34" charset="0"/>
                <a:cs typeface="Tahoma" pitchFamily="34" charset="0"/>
              </a:rPr>
              <a:t>La relation client </a:t>
            </a:r>
            <a:endParaRPr lang="fr-FR" sz="1600" dirty="0"/>
          </a:p>
        </p:txBody>
      </p:sp>
      <p:sp>
        <p:nvSpPr>
          <p:cNvPr id="19" name="Rectangle 2"/>
          <p:cNvSpPr>
            <a:spLocks noChangeArrowheads="1"/>
          </p:cNvSpPr>
          <p:nvPr/>
        </p:nvSpPr>
        <p:spPr bwMode="auto">
          <a:xfrm>
            <a:off x="2381224" y="2714620"/>
            <a:ext cx="9144064" cy="132343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lvl="3" algn="just" fontAlgn="base">
              <a:spcBef>
                <a:spcPct val="0"/>
              </a:spcBef>
              <a:spcAft>
                <a:spcPct val="0"/>
              </a:spcAft>
              <a:tabLst>
                <a:tab pos="468313" algn="l"/>
              </a:tabLst>
            </a:pPr>
            <a:r>
              <a:rPr kumimoji="0" lang="fr-FR" sz="1600" i="0" u="none" strike="noStrike" cap="none" normalizeH="0" baseline="0" dirty="0" smtClean="0">
                <a:ln>
                  <a:noFill/>
                </a:ln>
                <a:solidFill>
                  <a:schemeClr val="tx1"/>
                </a:solidFill>
                <a:effectLst/>
                <a:latin typeface="Tahoma" pitchFamily="34" charset="0"/>
                <a:ea typeface="Verdana" pitchFamily="34" charset="0"/>
                <a:cs typeface="Tahoma" pitchFamily="34" charset="0"/>
              </a:rPr>
              <a:t>Il s’ag</a:t>
            </a:r>
            <a:r>
              <a:rPr lang="fr-FR" sz="1600" b="1" dirty="0" smtClean="0">
                <a:latin typeface="Tahoma" pitchFamily="34" charset="0"/>
                <a:ea typeface="Verdana" pitchFamily="34" charset="0"/>
                <a:cs typeface="Tahoma" pitchFamily="34" charset="0"/>
              </a:rPr>
              <a:t> </a:t>
            </a:r>
            <a:r>
              <a:rPr kumimoji="0" lang="fr-FR" sz="1600" i="0" u="none" strike="noStrike" cap="none" normalizeH="0" baseline="0" dirty="0" err="1" smtClean="0">
                <a:ln>
                  <a:noFill/>
                </a:ln>
                <a:solidFill>
                  <a:schemeClr val="tx1"/>
                </a:solidFill>
                <a:effectLst/>
                <a:latin typeface="Tahoma" pitchFamily="34" charset="0"/>
                <a:ea typeface="Verdana" pitchFamily="34" charset="0"/>
                <a:cs typeface="Tahoma" pitchFamily="34" charset="0"/>
              </a:rPr>
              <a:t>it</a:t>
            </a:r>
            <a:r>
              <a:rPr kumimoji="0" lang="fr-FR" sz="1600" i="0" u="none" strike="noStrike" cap="none" normalizeH="0" baseline="0" dirty="0" smtClean="0">
                <a:ln>
                  <a:noFill/>
                </a:ln>
                <a:solidFill>
                  <a:schemeClr val="tx1"/>
                </a:solidFill>
                <a:effectLst/>
                <a:latin typeface="Tahoma" pitchFamily="34" charset="0"/>
                <a:ea typeface="Verdana" pitchFamily="34" charset="0"/>
                <a:cs typeface="Tahoma" pitchFamily="34" charset="0"/>
              </a:rPr>
              <a:t> de toutes les rentrées d’argent générées par votre activité. Elles peuvent être ponctuelles ou récurrentes, fixes (prix d'un catalogue, d’un forfait, d’un abonnement, d’une location, de la publicité) ou va</a:t>
            </a:r>
            <a:r>
              <a:rPr lang="fr-FR" sz="1600" b="1" dirty="0" smtClean="0">
                <a:latin typeface="Tahoma" pitchFamily="34" charset="0"/>
                <a:ea typeface="Verdana" pitchFamily="34" charset="0"/>
                <a:cs typeface="Tahoma" pitchFamily="34" charset="0"/>
              </a:rPr>
              <a:t> </a:t>
            </a:r>
            <a:r>
              <a:rPr kumimoji="0" lang="fr-FR" sz="1600" i="0" u="none" strike="noStrike" cap="none" normalizeH="0" baseline="0" dirty="0" err="1" smtClean="0">
                <a:ln>
                  <a:noFill/>
                </a:ln>
                <a:solidFill>
                  <a:schemeClr val="tx1"/>
                </a:solidFill>
                <a:effectLst/>
                <a:latin typeface="Tahoma" pitchFamily="34" charset="0"/>
                <a:ea typeface="Verdana" pitchFamily="34" charset="0"/>
                <a:cs typeface="Tahoma" pitchFamily="34" charset="0"/>
              </a:rPr>
              <a:t>riables</a:t>
            </a:r>
            <a:r>
              <a:rPr kumimoji="0" lang="fr-FR" sz="1600" i="0" u="none" strike="noStrike" cap="none" normalizeH="0" baseline="0" dirty="0" smtClean="0">
                <a:ln>
                  <a:noFill/>
                </a:ln>
                <a:solidFill>
                  <a:schemeClr val="tx1"/>
                </a:solidFill>
                <a:effectLst/>
                <a:latin typeface="Tahoma" pitchFamily="34" charset="0"/>
                <a:ea typeface="Verdana" pitchFamily="34" charset="0"/>
                <a:cs typeface="Tahoma" pitchFamily="34" charset="0"/>
              </a:rPr>
              <a:t> (en fonction des conditions : temps réel, enchères, sur- mesure, etc.). Comment et quand vont payer vos clients ? Avant ou après que vous ne dépensiez ? Quel est le</a:t>
            </a:r>
            <a:r>
              <a:rPr kumimoji="0" lang="fr-FR" sz="1600" i="0" u="none" strike="noStrike" cap="none" normalizeH="0" baseline="0" dirty="0" smtClean="0">
                <a:ln>
                  <a:noFill/>
                </a:ln>
                <a:solidFill>
                  <a:srgbClr val="00AFEF"/>
                </a:solidFill>
                <a:effectLst/>
                <a:latin typeface="Tahoma" pitchFamily="34" charset="0"/>
                <a:ea typeface="Verdana" pitchFamily="34" charset="0"/>
                <a:cs typeface="Tahoma" pitchFamily="34" charset="0"/>
              </a:rPr>
              <a:t> </a:t>
            </a:r>
            <a:r>
              <a:rPr kumimoji="0" lang="fr-FR" sz="1600" i="0" u="sng" strike="noStrike" cap="none" normalizeH="0" baseline="0" dirty="0" smtClean="0">
                <a:ln>
                  <a:noFill/>
                </a:ln>
                <a:solidFill>
                  <a:srgbClr val="00AFEF"/>
                </a:solidFill>
                <a:effectLst/>
                <a:latin typeface="Tahoma" pitchFamily="34" charset="0"/>
                <a:ea typeface="Verdana" pitchFamily="34" charset="0"/>
                <a:cs typeface="Tahoma" pitchFamily="34" charset="0"/>
                <a:hlinkClick r:id="rId4"/>
              </a:rPr>
              <a:t>prix</a:t>
            </a:r>
            <a:r>
              <a:rPr kumimoji="0" lang="fr-FR" sz="1600" i="0" u="none" strike="noStrike" cap="none" normalizeH="0" baseline="0" dirty="0" smtClean="0">
                <a:ln>
                  <a:noFill/>
                </a:ln>
                <a:solidFill>
                  <a:srgbClr val="00AFEF"/>
                </a:solidFill>
                <a:effectLst/>
                <a:latin typeface="Tahoma" pitchFamily="34" charset="0"/>
                <a:ea typeface="Verdana" pitchFamily="34" charset="0"/>
                <a:cs typeface="Tahoma" pitchFamily="34" charset="0"/>
                <a:hlinkClick r:id="rId4"/>
              </a:rPr>
              <a:t> </a:t>
            </a:r>
            <a:r>
              <a:rPr kumimoji="0" lang="fr-FR" sz="1600" i="0" u="none" strike="noStrike" cap="none" normalizeH="0" baseline="0" dirty="0" smtClean="0">
                <a:ln>
                  <a:noFill/>
                </a:ln>
                <a:solidFill>
                  <a:schemeClr val="tx1"/>
                </a:solidFill>
                <a:effectLst/>
                <a:latin typeface="Tahoma" pitchFamily="34" charset="0"/>
                <a:ea typeface="Verdana" pitchFamily="34" charset="0"/>
                <a:cs typeface="Tahoma" pitchFamily="34" charset="0"/>
              </a:rPr>
              <a:t>pratiqué selon vos différents segments de clientèle ?</a:t>
            </a:r>
            <a:endParaRPr kumimoji="0" lang="fr-FR" sz="1800" i="0" u="none" strike="noStrike" cap="none" normalizeH="0" baseline="0" dirty="0" smtClean="0">
              <a:ln>
                <a:noFill/>
              </a:ln>
              <a:solidFill>
                <a:schemeClr val="tx1"/>
              </a:solidFill>
              <a:effectLst/>
              <a:latin typeface="Arial" pitchFamily="34" charset="0"/>
              <a:cs typeface="Arial" pitchFamily="34" charset="0"/>
            </a:endParaRPr>
          </a:p>
        </p:txBody>
      </p:sp>
      <p:sp>
        <p:nvSpPr>
          <p:cNvPr id="20" name="Rectangle 3"/>
          <p:cNvSpPr>
            <a:spLocks noChangeArrowheads="1"/>
          </p:cNvSpPr>
          <p:nvPr/>
        </p:nvSpPr>
        <p:spPr bwMode="auto">
          <a:xfrm>
            <a:off x="2381224" y="4357694"/>
            <a:ext cx="9144064" cy="132343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1" algn="just" defTabSz="914400" rtl="0" eaLnBrk="1" fontAlgn="base" latinLnBrk="0" hangingPunct="1">
              <a:lnSpc>
                <a:spcPct val="100000"/>
              </a:lnSpc>
              <a:spcBef>
                <a:spcPct val="0"/>
              </a:spcBef>
              <a:spcAft>
                <a:spcPct val="0"/>
              </a:spcAft>
              <a:buClrTx/>
              <a:buSzTx/>
              <a:tabLst>
                <a:tab pos="333375" algn="l"/>
              </a:tabLst>
            </a:pPr>
            <a:r>
              <a:rPr kumimoji="0" lang="fr-FR" sz="1600" i="0" u="none" strike="noStrike" cap="none" normalizeH="0" baseline="0" dirty="0" smtClean="0">
                <a:ln>
                  <a:noFill/>
                </a:ln>
                <a:solidFill>
                  <a:schemeClr val="tx1"/>
                </a:solidFill>
                <a:effectLst/>
                <a:latin typeface="Tahoma" pitchFamily="34" charset="0"/>
                <a:ea typeface="Verdana" pitchFamily="34" charset="0"/>
                <a:cs typeface="Tahoma" pitchFamily="34" charset="0"/>
              </a:rPr>
              <a:t>Il s’agit de tous les moyens matériels (site de fabrication, le mobilier, le matériel, les véhicules, les locaux, etc.), immatériels (brevet, droit d’auteur, compétence, expertise, base de données, etc.), humains, et financiers que l’entreprise doit réunir pour produire une offre répondant aux attentes de vos clients. Les ressources clés peuvent appartenir à l'entreprise, être louées ou obtenues auprès de partenaires clés.</a:t>
            </a:r>
            <a:endParaRPr kumimoji="0" lang="fr-FR" sz="1800" i="0" u="none" strike="noStrike" cap="none" normalizeH="0" baseline="0" dirty="0" smtClean="0">
              <a:ln>
                <a:noFill/>
              </a:ln>
              <a:solidFill>
                <a:schemeClr val="tx1"/>
              </a:solidFill>
              <a:effectLst/>
              <a:latin typeface="Arial" pitchFamily="34" charset="0"/>
              <a:cs typeface="Arial" pitchFamily="34" charset="0"/>
            </a:endParaRPr>
          </a:p>
        </p:txBody>
      </p:sp>
      <p:sp>
        <p:nvSpPr>
          <p:cNvPr id="21" name="Rectangle 20"/>
          <p:cNvSpPr/>
          <p:nvPr/>
        </p:nvSpPr>
        <p:spPr>
          <a:xfrm>
            <a:off x="452398" y="3357562"/>
            <a:ext cx="1200132" cy="584775"/>
          </a:xfrm>
          <a:prstGeom prst="rect">
            <a:avLst/>
          </a:prstGeom>
        </p:spPr>
        <p:txBody>
          <a:bodyPr wrap="square">
            <a:spAutoFit/>
          </a:bodyPr>
          <a:lstStyle/>
          <a:p>
            <a:pPr algn="ctr"/>
            <a:r>
              <a:rPr lang="fr-FR" sz="1600" b="1" dirty="0" smtClean="0">
                <a:latin typeface="Tahoma" pitchFamily="34" charset="0"/>
                <a:ea typeface="Verdana" pitchFamily="34" charset="0"/>
                <a:cs typeface="Tahoma" pitchFamily="34" charset="0"/>
              </a:rPr>
              <a:t>Les revenus </a:t>
            </a:r>
            <a:endParaRPr lang="fr-FR" sz="1600" dirty="0"/>
          </a:p>
        </p:txBody>
      </p:sp>
      <p:sp>
        <p:nvSpPr>
          <p:cNvPr id="22" name="Rectangle 21"/>
          <p:cNvSpPr/>
          <p:nvPr/>
        </p:nvSpPr>
        <p:spPr>
          <a:xfrm>
            <a:off x="380960" y="4786322"/>
            <a:ext cx="1353256" cy="830997"/>
          </a:xfrm>
          <a:prstGeom prst="rect">
            <a:avLst/>
          </a:prstGeom>
        </p:spPr>
        <p:txBody>
          <a:bodyPr wrap="none">
            <a:spAutoFit/>
          </a:bodyPr>
          <a:lstStyle/>
          <a:p>
            <a:pPr algn="ctr"/>
            <a:r>
              <a:rPr lang="fr-FR" sz="1600" b="1" dirty="0" smtClean="0">
                <a:latin typeface="Tahoma" pitchFamily="34" charset="0"/>
                <a:ea typeface="Verdana" pitchFamily="34" charset="0"/>
                <a:cs typeface="Tahoma" pitchFamily="34" charset="0"/>
              </a:rPr>
              <a:t>Les </a:t>
            </a:r>
          </a:p>
          <a:p>
            <a:pPr algn="ctr"/>
            <a:r>
              <a:rPr lang="fr-FR" sz="1600" b="1" dirty="0" smtClean="0">
                <a:latin typeface="Tahoma" pitchFamily="34" charset="0"/>
                <a:ea typeface="Verdana" pitchFamily="34" charset="0"/>
                <a:cs typeface="Tahoma" pitchFamily="34" charset="0"/>
              </a:rPr>
              <a:t>ressources </a:t>
            </a:r>
          </a:p>
          <a:p>
            <a:pPr algn="ctr"/>
            <a:r>
              <a:rPr lang="fr-FR" sz="1600" b="1" dirty="0" smtClean="0">
                <a:latin typeface="Tahoma" pitchFamily="34" charset="0"/>
                <a:ea typeface="Verdana" pitchFamily="34" charset="0"/>
                <a:cs typeface="Tahoma" pitchFamily="34" charset="0"/>
              </a:rPr>
              <a:t>clés </a:t>
            </a:r>
            <a:endParaRPr lang="fr-FR" sz="16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grpSp>
        <p:nvGrpSpPr>
          <p:cNvPr id="3" name="Group 5"/>
          <p:cNvGrpSpPr>
            <a:grpSpLocks/>
          </p:cNvGrpSpPr>
          <p:nvPr/>
        </p:nvGrpSpPr>
        <p:grpSpPr bwMode="auto">
          <a:xfrm>
            <a:off x="669251" y="1502531"/>
            <a:ext cx="3355047" cy="4094038"/>
            <a:chOff x="4" y="4"/>
            <a:chExt cx="5848" cy="6277"/>
          </a:xfrm>
        </p:grpSpPr>
        <p:pic>
          <p:nvPicPr>
            <p:cNvPr id="4" name="Picture 6"/>
            <p:cNvPicPr>
              <a:picLocks noChangeAspect="1" noChangeArrowheads="1"/>
            </p:cNvPicPr>
            <p:nvPr/>
          </p:nvPicPr>
          <p:blipFill>
            <a:blip r:embed="rId3"/>
            <a:srcRect/>
            <a:stretch>
              <a:fillRect/>
            </a:stretch>
          </p:blipFill>
          <p:spPr bwMode="auto">
            <a:xfrm>
              <a:off x="4" y="4"/>
              <a:ext cx="5848" cy="2026"/>
            </a:xfrm>
            <a:prstGeom prst="rect">
              <a:avLst/>
            </a:prstGeom>
            <a:noFill/>
          </p:spPr>
        </p:pic>
        <p:sp>
          <p:nvSpPr>
            <p:cNvPr id="5" name="Rectangle 7"/>
            <p:cNvSpPr>
              <a:spLocks noChangeArrowheads="1"/>
            </p:cNvSpPr>
            <p:nvPr/>
          </p:nvSpPr>
          <p:spPr bwMode="auto">
            <a:xfrm>
              <a:off x="4" y="4"/>
              <a:ext cx="5064" cy="2026"/>
            </a:xfrm>
            <a:prstGeom prst="rect">
              <a:avLst/>
            </a:prstGeom>
            <a:noFill/>
            <a:ln w="6096">
              <a:solidFill>
                <a:srgbClr val="EF3E2B"/>
              </a:solidFill>
              <a:miter lim="800000"/>
              <a:headEnd/>
              <a:tailEnd/>
            </a:ln>
          </p:spPr>
          <p:txBody>
            <a:bodyPr vert="horz" wrap="square" lIns="91440" tIns="45720" rIns="91440" bIns="45720" numCol="1" anchor="t" anchorCtr="0" compatLnSpc="1">
              <a:prstTxWarp prst="textNoShape">
                <a:avLst/>
              </a:prstTxWarp>
            </a:bodyPr>
            <a:lstStyle/>
            <a:p>
              <a:endParaRPr lang="fr-FR"/>
            </a:p>
          </p:txBody>
        </p:sp>
        <p:sp>
          <p:nvSpPr>
            <p:cNvPr id="6" name="Text Box 8"/>
            <p:cNvSpPr txBox="1">
              <a:spLocks noChangeArrowheads="1"/>
            </p:cNvSpPr>
            <p:nvPr/>
          </p:nvSpPr>
          <p:spPr bwMode="auto">
            <a:xfrm>
              <a:off x="113" y="2061"/>
              <a:ext cx="5735" cy="4220"/>
            </a:xfrm>
            <a:prstGeom prst="rect">
              <a:avLst/>
            </a:prstGeom>
            <a:solidFill>
              <a:srgbClr val="F8CECD">
                <a:alpha val="90195"/>
              </a:srgbClr>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endParaRPr kumimoji="0" lang="fr-FR" sz="1500" b="1" i="0" u="none" strike="noStrike" cap="none" normalizeH="0" baseline="0" dirty="0" smtClean="0">
                <a:ln>
                  <a:noFill/>
                </a:ln>
                <a:solidFill>
                  <a:schemeClr val="tx1"/>
                </a:solidFill>
                <a:effectLst/>
                <a:latin typeface="Tahoma" pitchFamily="34" charset="0"/>
                <a:ea typeface="Arial" pitchFamily="34" charset="0"/>
                <a:cs typeface="Arial" pitchFamily="34" charset="0"/>
              </a:endParaRPr>
            </a:p>
            <a:p>
              <a:pPr marR="0" lvl="1" indent="-284163" algn="l" defTabSz="914400" rtl="0" eaLnBrk="1" fontAlgn="base" latinLnBrk="0" hangingPunct="1">
                <a:lnSpc>
                  <a:spcPct val="129000"/>
                </a:lnSpc>
                <a:spcBef>
                  <a:spcPct val="0"/>
                </a:spcBef>
                <a:spcAft>
                  <a:spcPct val="0"/>
                </a:spcAft>
                <a:buClrTx/>
                <a:buSzTx/>
                <a:tabLst/>
              </a:pPr>
              <a:r>
                <a:rPr kumimoji="0" lang="fr-FR" sz="1200" b="1" i="0" u="none" strike="noStrike" cap="none" normalizeH="0" baseline="0" dirty="0" smtClean="0">
                  <a:ln>
                    <a:noFill/>
                  </a:ln>
                  <a:solidFill>
                    <a:schemeClr val="tx1"/>
                  </a:solidFill>
                  <a:effectLst/>
                  <a:latin typeface="Tahoma" pitchFamily="34" charset="0"/>
                  <a:ea typeface="Arial" pitchFamily="34" charset="0"/>
                  <a:cs typeface="Arial" pitchFamily="34" charset="0"/>
                </a:rPr>
                <a:t>- </a:t>
              </a:r>
              <a:r>
                <a:rPr kumimoji="0" lang="fr-FR" sz="1400" b="1" i="0" u="none" strike="noStrike" cap="none" normalizeH="0" baseline="0" dirty="0" smtClean="0">
                  <a:ln>
                    <a:noFill/>
                  </a:ln>
                  <a:solidFill>
                    <a:schemeClr val="tx1"/>
                  </a:solidFill>
                  <a:effectLst/>
                  <a:latin typeface="Tahoma" pitchFamily="34" charset="0"/>
                  <a:ea typeface="Arial" pitchFamily="34" charset="0"/>
                  <a:cs typeface="Arial" pitchFamily="34" charset="0"/>
                </a:rPr>
                <a:t>les réseaux sociaux</a:t>
              </a:r>
            </a:p>
            <a:p>
              <a:pPr marL="457200" marR="0" lvl="2" indent="-284163" algn="l" defTabSz="914400" rtl="0" eaLnBrk="1" fontAlgn="base" latinLnBrk="0" hangingPunct="1">
                <a:lnSpc>
                  <a:spcPct val="124000"/>
                </a:lnSpc>
                <a:spcBef>
                  <a:spcPct val="0"/>
                </a:spcBef>
                <a:spcAft>
                  <a:spcPct val="0"/>
                </a:spcAft>
                <a:buClrTx/>
                <a:buSzTx/>
                <a:buFont typeface="Tahoma" pitchFamily="34" charset="0"/>
                <a:buChar char="-"/>
                <a:tabLst/>
              </a:pPr>
              <a:r>
                <a:rPr kumimoji="0" lang="fr-FR" sz="1400" b="1" i="0" u="none" strike="noStrike" cap="none" normalizeH="0" baseline="0" dirty="0" smtClean="0">
                  <a:ln>
                    <a:noFill/>
                  </a:ln>
                  <a:solidFill>
                    <a:schemeClr val="tx1"/>
                  </a:solidFill>
                  <a:effectLst/>
                  <a:latin typeface="Tahoma" pitchFamily="34" charset="0"/>
                  <a:ea typeface="Arial" pitchFamily="34" charset="0"/>
                  <a:cs typeface="Arial" pitchFamily="34" charset="0"/>
                </a:rPr>
                <a:t>le face-à-face</a:t>
              </a:r>
            </a:p>
            <a:p>
              <a:pPr marL="457200" marR="0" lvl="0" indent="-284163" algn="l" defTabSz="914400" rtl="0" eaLnBrk="1" fontAlgn="base" latinLnBrk="0" hangingPunct="1">
                <a:lnSpc>
                  <a:spcPct val="100000"/>
                </a:lnSpc>
                <a:spcBef>
                  <a:spcPct val="0"/>
                </a:spcBef>
                <a:spcAft>
                  <a:spcPct val="0"/>
                </a:spcAft>
                <a:buClrTx/>
                <a:buSzTx/>
                <a:buFont typeface="Tahoma" pitchFamily="34" charset="0"/>
                <a:buChar char="-"/>
                <a:tabLst/>
              </a:pPr>
              <a:r>
                <a:rPr kumimoji="0" lang="fr-FR" sz="1400" b="1" i="0" u="none" strike="noStrike" cap="none" normalizeH="0" baseline="0" dirty="0" smtClean="0">
                  <a:ln>
                    <a:noFill/>
                  </a:ln>
                  <a:solidFill>
                    <a:schemeClr val="tx1"/>
                  </a:solidFill>
                  <a:effectLst/>
                  <a:latin typeface="Tahoma" pitchFamily="34" charset="0"/>
                  <a:ea typeface="Arial" pitchFamily="34" charset="0"/>
                  <a:cs typeface="Arial" pitchFamily="34" charset="0"/>
                </a:rPr>
                <a:t>les e-mails</a:t>
              </a:r>
            </a:p>
            <a:p>
              <a:pPr marL="457200" marR="0" lvl="2" indent="-284163" algn="l" defTabSz="914400" rtl="0" eaLnBrk="1" fontAlgn="base" latinLnBrk="0" hangingPunct="1">
                <a:lnSpc>
                  <a:spcPct val="122000"/>
                </a:lnSpc>
                <a:spcBef>
                  <a:spcPct val="0"/>
                </a:spcBef>
                <a:spcAft>
                  <a:spcPct val="0"/>
                </a:spcAft>
                <a:buClrTx/>
                <a:buSzTx/>
                <a:buFont typeface="Tahoma" pitchFamily="34" charset="0"/>
                <a:buChar char="-"/>
                <a:tabLst/>
              </a:pPr>
              <a:r>
                <a:rPr kumimoji="0" lang="fr-FR" sz="1400" b="1" i="0" u="none" strike="noStrike" cap="none" normalizeH="0" baseline="0" dirty="0" smtClean="0">
                  <a:ln>
                    <a:noFill/>
                  </a:ln>
                  <a:solidFill>
                    <a:schemeClr val="tx1"/>
                  </a:solidFill>
                  <a:effectLst/>
                  <a:latin typeface="Tahoma" pitchFamily="34" charset="0"/>
                  <a:ea typeface="Arial" pitchFamily="34" charset="0"/>
                  <a:cs typeface="Arial" pitchFamily="34" charset="0"/>
                </a:rPr>
                <a:t>le téléphone</a:t>
              </a:r>
            </a:p>
            <a:p>
              <a:pPr marL="457200" marR="0" lvl="2" indent="-284163" algn="l" defTabSz="914400" rtl="0" eaLnBrk="1" fontAlgn="base" latinLnBrk="0" hangingPunct="1">
                <a:lnSpc>
                  <a:spcPct val="124000"/>
                </a:lnSpc>
                <a:spcBef>
                  <a:spcPct val="0"/>
                </a:spcBef>
                <a:spcAft>
                  <a:spcPct val="0"/>
                </a:spcAft>
                <a:buClrTx/>
                <a:buSzTx/>
                <a:buFont typeface="Tahoma" pitchFamily="34" charset="0"/>
                <a:buChar char="-"/>
                <a:tabLst/>
              </a:pPr>
              <a:r>
                <a:rPr kumimoji="0" lang="fr-FR" sz="1400" b="1" i="0" u="none" strike="noStrike" cap="none" normalizeH="0" baseline="0" dirty="0" smtClean="0">
                  <a:ln>
                    <a:noFill/>
                  </a:ln>
                  <a:solidFill>
                    <a:schemeClr val="tx1"/>
                  </a:solidFill>
                  <a:effectLst/>
                  <a:latin typeface="Tahoma" pitchFamily="34" charset="0"/>
                  <a:ea typeface="Arial" pitchFamily="34" charset="0"/>
                  <a:cs typeface="Arial" pitchFamily="34" charset="0"/>
                </a:rPr>
                <a:t>une plateforme e-commerce</a:t>
              </a:r>
            </a:p>
            <a:p>
              <a:pPr marL="457200" marR="0" lvl="0" indent="-284163" algn="l" defTabSz="914400" rtl="0" eaLnBrk="1" fontAlgn="base" latinLnBrk="0" hangingPunct="1">
                <a:lnSpc>
                  <a:spcPct val="100000"/>
                </a:lnSpc>
                <a:spcBef>
                  <a:spcPct val="0"/>
                </a:spcBef>
                <a:spcAft>
                  <a:spcPct val="0"/>
                </a:spcAft>
                <a:buClrTx/>
                <a:buSzTx/>
                <a:buFont typeface="Tahoma" pitchFamily="34" charset="0"/>
                <a:buChar char="-"/>
                <a:tabLst/>
              </a:pPr>
              <a:r>
                <a:rPr kumimoji="0" lang="fr-FR" sz="1400" b="1" i="0" u="none" strike="noStrike" cap="none" normalizeH="0" baseline="0" dirty="0" smtClean="0">
                  <a:ln>
                    <a:noFill/>
                  </a:ln>
                  <a:solidFill>
                    <a:schemeClr val="tx1"/>
                  </a:solidFill>
                  <a:effectLst/>
                  <a:latin typeface="Tahoma" pitchFamily="34" charset="0"/>
                  <a:ea typeface="Arial" pitchFamily="34" charset="0"/>
                  <a:cs typeface="Arial" pitchFamily="34" charset="0"/>
                </a:rPr>
                <a:t>des événements</a:t>
              </a:r>
            </a:p>
            <a:p>
              <a:pPr marL="457200" marR="0" lvl="0" indent="-284163" algn="l" defTabSz="914400" rtl="0" eaLnBrk="1" fontAlgn="base" latinLnBrk="0" hangingPunct="1">
                <a:lnSpc>
                  <a:spcPct val="100000"/>
                </a:lnSpc>
                <a:spcBef>
                  <a:spcPct val="0"/>
                </a:spcBef>
                <a:spcAft>
                  <a:spcPct val="0"/>
                </a:spcAft>
                <a:buClrTx/>
                <a:buSzTx/>
                <a:buFont typeface="Tahoma" pitchFamily="34" charset="0"/>
                <a:buChar char="-"/>
                <a:tabLst/>
              </a:pPr>
              <a:r>
                <a:rPr kumimoji="0" lang="fr-FR" sz="1400" b="1" i="0" u="none" strike="noStrike" cap="none" normalizeH="0" baseline="0" dirty="0" smtClean="0">
                  <a:ln>
                    <a:noFill/>
                  </a:ln>
                  <a:solidFill>
                    <a:schemeClr val="tx1"/>
                  </a:solidFill>
                  <a:effectLst/>
                  <a:latin typeface="Tahoma" pitchFamily="34" charset="0"/>
                  <a:ea typeface="Arial" pitchFamily="34" charset="0"/>
                  <a:cs typeface="Arial" pitchFamily="34" charset="0"/>
                </a:rPr>
                <a:t>un blog</a:t>
              </a:r>
            </a:p>
            <a:p>
              <a:pPr marL="457200" marR="0" lvl="2" indent="-284163" algn="l" defTabSz="914400" rtl="0" eaLnBrk="1" fontAlgn="base" latinLnBrk="0" hangingPunct="1">
                <a:lnSpc>
                  <a:spcPct val="130000"/>
                </a:lnSpc>
                <a:spcBef>
                  <a:spcPct val="0"/>
                </a:spcBef>
                <a:spcAft>
                  <a:spcPct val="0"/>
                </a:spcAft>
                <a:buClrTx/>
                <a:buSzTx/>
                <a:buFont typeface="Tahoma" pitchFamily="34" charset="0"/>
                <a:buChar char="-"/>
                <a:tabLst/>
              </a:pPr>
              <a:r>
                <a:rPr kumimoji="0" lang="fr-FR" sz="1400" b="1" i="0" u="none" strike="noStrike" cap="none" normalizeH="0" baseline="0" dirty="0" smtClean="0">
                  <a:ln>
                    <a:noFill/>
                  </a:ln>
                  <a:solidFill>
                    <a:schemeClr val="tx1"/>
                  </a:solidFill>
                  <a:effectLst/>
                  <a:latin typeface="Tahoma" pitchFamily="34" charset="0"/>
                  <a:ea typeface="Arial" pitchFamily="34" charset="0"/>
                  <a:cs typeface="Arial" pitchFamily="34" charset="0"/>
                </a:rPr>
                <a:t>des visioconférences</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7" name="Text Box 9"/>
            <p:cNvSpPr txBox="1">
              <a:spLocks noChangeArrowheads="1"/>
            </p:cNvSpPr>
            <p:nvPr/>
          </p:nvSpPr>
          <p:spPr bwMode="auto">
            <a:xfrm>
              <a:off x="4" y="4"/>
              <a:ext cx="5614" cy="2026"/>
            </a:xfrm>
            <a:prstGeom prst="rect">
              <a:avLst/>
            </a:prstGeom>
            <a:noFill/>
            <a:ln w="6096">
              <a:solidFill>
                <a:srgbClr val="EF3E2B"/>
              </a:solidFill>
              <a:miter lim="800000"/>
              <a:headEnd/>
              <a:tailEnd/>
            </a:ln>
          </p:spPr>
          <p:txBody>
            <a:bodyPr vert="horz" wrap="square" lIns="0" tIns="0" rIns="0" bIns="0" numCol="1" anchor="t" anchorCtr="0" compatLnSpc="1">
              <a:prstTxWarp prst="textNoShape">
                <a:avLst/>
              </a:prstTxWarp>
            </a:bodyPr>
            <a:lstStyle/>
            <a:p>
              <a:pPr marL="457200" marR="1765300" lvl="1" indent="0" algn="ctr" defTabSz="914400" rtl="0" eaLnBrk="1" fontAlgn="base" latinLnBrk="0" hangingPunct="1">
                <a:lnSpc>
                  <a:spcPct val="100000"/>
                </a:lnSpc>
                <a:spcBef>
                  <a:spcPts val="1425"/>
                </a:spcBef>
                <a:spcAft>
                  <a:spcPts val="1000"/>
                </a:spcAft>
                <a:buClrTx/>
                <a:buSzTx/>
                <a:buFontTx/>
                <a:buNone/>
                <a:tabLst/>
              </a:pPr>
              <a:r>
                <a:rPr kumimoji="0" lang="fr-FR" sz="1400" b="1" i="0" u="none" strike="noStrike" cap="none" normalizeH="0" baseline="0" dirty="0" smtClean="0">
                  <a:ln>
                    <a:noFill/>
                  </a:ln>
                  <a:solidFill>
                    <a:schemeClr val="tx1"/>
                  </a:solidFill>
                  <a:effectLst/>
                  <a:latin typeface="Tahoma" pitchFamily="34" charset="0"/>
                  <a:ea typeface="Arial" pitchFamily="34" charset="0"/>
                  <a:cs typeface="Arial" pitchFamily="34" charset="0"/>
                </a:rPr>
                <a:t>DES EXEMPLES DE RELATIONCLIENTS</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grpSp>
      <p:grpSp>
        <p:nvGrpSpPr>
          <p:cNvPr id="8" name="Group 10"/>
          <p:cNvGrpSpPr>
            <a:grpSpLocks/>
          </p:cNvGrpSpPr>
          <p:nvPr/>
        </p:nvGrpSpPr>
        <p:grpSpPr bwMode="auto">
          <a:xfrm>
            <a:off x="4310050" y="1500174"/>
            <a:ext cx="2928958" cy="4041310"/>
            <a:chOff x="4" y="4"/>
            <a:chExt cx="5064" cy="5514"/>
          </a:xfrm>
        </p:grpSpPr>
        <p:pic>
          <p:nvPicPr>
            <p:cNvPr id="9" name="Picture 11"/>
            <p:cNvPicPr>
              <a:picLocks noChangeAspect="1" noChangeArrowheads="1"/>
            </p:cNvPicPr>
            <p:nvPr/>
          </p:nvPicPr>
          <p:blipFill>
            <a:blip r:embed="rId4"/>
            <a:srcRect/>
            <a:stretch>
              <a:fillRect/>
            </a:stretch>
          </p:blipFill>
          <p:spPr bwMode="auto">
            <a:xfrm>
              <a:off x="4" y="4"/>
              <a:ext cx="5064" cy="2026"/>
            </a:xfrm>
            <a:prstGeom prst="rect">
              <a:avLst/>
            </a:prstGeom>
            <a:noFill/>
          </p:spPr>
        </p:pic>
        <p:sp>
          <p:nvSpPr>
            <p:cNvPr id="10" name="Rectangle 12"/>
            <p:cNvSpPr>
              <a:spLocks noChangeArrowheads="1"/>
            </p:cNvSpPr>
            <p:nvPr/>
          </p:nvSpPr>
          <p:spPr bwMode="auto">
            <a:xfrm>
              <a:off x="4" y="4"/>
              <a:ext cx="5064" cy="2026"/>
            </a:xfrm>
            <a:prstGeom prst="rect">
              <a:avLst/>
            </a:prstGeom>
            <a:noFill/>
            <a:ln w="6096">
              <a:solidFill>
                <a:srgbClr val="34879F"/>
              </a:solidFill>
              <a:miter lim="800000"/>
              <a:headEnd/>
              <a:tailEnd/>
            </a:ln>
          </p:spPr>
          <p:txBody>
            <a:bodyPr vert="horz" wrap="square" lIns="91440" tIns="45720" rIns="91440" bIns="45720" numCol="1" anchor="t" anchorCtr="0" compatLnSpc="1">
              <a:prstTxWarp prst="textNoShape">
                <a:avLst/>
              </a:prstTxWarp>
            </a:bodyPr>
            <a:lstStyle/>
            <a:p>
              <a:endParaRPr lang="fr-FR"/>
            </a:p>
          </p:txBody>
        </p:sp>
        <p:sp>
          <p:nvSpPr>
            <p:cNvPr id="11" name="Text Box 13"/>
            <p:cNvSpPr txBox="1">
              <a:spLocks noChangeArrowheads="1"/>
            </p:cNvSpPr>
            <p:nvPr/>
          </p:nvSpPr>
          <p:spPr bwMode="auto">
            <a:xfrm>
              <a:off x="4" y="2035"/>
              <a:ext cx="5064" cy="3483"/>
            </a:xfrm>
            <a:prstGeom prst="rect">
              <a:avLst/>
            </a:prstGeom>
            <a:solidFill>
              <a:srgbClr val="CDDADF">
                <a:alpha val="90195"/>
              </a:srgbClr>
            </a:solidFill>
            <a:ln w="9525">
              <a:noFill/>
              <a:miter lim="800000"/>
              <a:headEnd/>
              <a:tailEnd/>
            </a:ln>
          </p:spPr>
          <p:txBody>
            <a:bodyPr vert="horz" wrap="square" lIns="0" tIns="0" rIns="0" bIns="0" numCol="1" anchor="t" anchorCtr="0" compatLnSpc="1">
              <a:prstTxWarp prst="textNoShape">
                <a:avLst/>
              </a:prstTxWarp>
            </a:bodyPr>
            <a:lstStyle/>
            <a:p>
              <a:pPr marR="0" lvl="1" indent="-365125" algn="l" defTabSz="914400" rtl="0" eaLnBrk="1" fontAlgn="base" latinLnBrk="0" hangingPunct="1">
                <a:lnSpc>
                  <a:spcPct val="111000"/>
                </a:lnSpc>
                <a:spcBef>
                  <a:spcPts val="338"/>
                </a:spcBef>
                <a:spcAft>
                  <a:spcPct val="0"/>
                </a:spcAft>
                <a:buClrTx/>
                <a:buSzTx/>
                <a:buFont typeface="Verdana" pitchFamily="34" charset="0"/>
                <a:buChar char="•"/>
                <a:tabLst/>
              </a:pPr>
              <a:r>
                <a:rPr lang="fr-FR" sz="1400" b="1" dirty="0" smtClean="0">
                  <a:latin typeface="Tahoma" pitchFamily="34" charset="0"/>
                  <a:ea typeface="Arial" pitchFamily="34" charset="0"/>
                  <a:cs typeface="Arial" pitchFamily="34" charset="0"/>
                </a:rPr>
                <a:t>- commissions</a:t>
              </a:r>
            </a:p>
            <a:p>
              <a:pPr marL="457200" marR="0" lvl="2" indent="-365125" algn="l" defTabSz="914400" rtl="0" eaLnBrk="1" fontAlgn="base" latinLnBrk="0" hangingPunct="1">
                <a:lnSpc>
                  <a:spcPct val="106000"/>
                </a:lnSpc>
                <a:spcBef>
                  <a:spcPct val="0"/>
                </a:spcBef>
                <a:spcAft>
                  <a:spcPct val="0"/>
                </a:spcAft>
                <a:buClrTx/>
                <a:buSzTx/>
                <a:buFont typeface="Verdana" pitchFamily="34" charset="0"/>
                <a:buChar char="-"/>
                <a:tabLst/>
              </a:pPr>
              <a:r>
                <a:rPr lang="fr-FR" sz="1400" b="1" dirty="0" smtClean="0">
                  <a:latin typeface="Tahoma" pitchFamily="34" charset="0"/>
                  <a:ea typeface="Arial" pitchFamily="34" charset="0"/>
                  <a:cs typeface="Arial" pitchFamily="34" charset="0"/>
                </a:rPr>
                <a:t>abonnements</a:t>
              </a:r>
            </a:p>
            <a:p>
              <a:pPr marL="457200" marR="0" lvl="0" indent="-365125" algn="l" defTabSz="914400" rtl="0" eaLnBrk="1" fontAlgn="base" latinLnBrk="0" hangingPunct="1">
                <a:lnSpc>
                  <a:spcPct val="100000"/>
                </a:lnSpc>
                <a:spcBef>
                  <a:spcPct val="0"/>
                </a:spcBef>
                <a:spcAft>
                  <a:spcPct val="0"/>
                </a:spcAft>
                <a:buClrTx/>
                <a:buSzTx/>
                <a:buFont typeface="Verdana" pitchFamily="34" charset="0"/>
                <a:buChar char="-"/>
                <a:tabLst/>
              </a:pPr>
              <a:r>
                <a:rPr lang="fr-FR" sz="1400" b="1" dirty="0" smtClean="0">
                  <a:latin typeface="Tahoma" pitchFamily="34" charset="0"/>
                  <a:ea typeface="Arial" pitchFamily="34" charset="0"/>
                  <a:cs typeface="Arial" pitchFamily="34" charset="0"/>
                </a:rPr>
                <a:t>publicités</a:t>
              </a:r>
            </a:p>
            <a:p>
              <a:pPr marL="457200" marR="0" lvl="2" indent="-365125" algn="l" defTabSz="914400" rtl="0" eaLnBrk="1" fontAlgn="base" latinLnBrk="0" hangingPunct="1">
                <a:lnSpc>
                  <a:spcPct val="105000"/>
                </a:lnSpc>
                <a:spcBef>
                  <a:spcPct val="0"/>
                </a:spcBef>
                <a:spcAft>
                  <a:spcPct val="0"/>
                </a:spcAft>
                <a:buClrTx/>
                <a:buSzTx/>
                <a:buFont typeface="Verdana" pitchFamily="34" charset="0"/>
                <a:buChar char="-"/>
                <a:tabLst/>
              </a:pPr>
              <a:r>
                <a:rPr lang="fr-FR" sz="1400" b="1" dirty="0" smtClean="0">
                  <a:latin typeface="Tahoma" pitchFamily="34" charset="0"/>
                  <a:ea typeface="Arial" pitchFamily="34" charset="0"/>
                  <a:cs typeface="Arial" pitchFamily="34" charset="0"/>
                </a:rPr>
                <a:t>tarification sur devis</a:t>
              </a:r>
            </a:p>
            <a:p>
              <a:pPr marL="457200" marR="0" lvl="0" indent="-365125" algn="l" defTabSz="914400" rtl="0" eaLnBrk="1" fontAlgn="base" latinLnBrk="0" hangingPunct="1">
                <a:lnSpc>
                  <a:spcPct val="100000"/>
                </a:lnSpc>
                <a:spcBef>
                  <a:spcPct val="0"/>
                </a:spcBef>
                <a:spcAft>
                  <a:spcPct val="0"/>
                </a:spcAft>
                <a:buClrTx/>
                <a:buSzTx/>
                <a:buFont typeface="Verdana" pitchFamily="34" charset="0"/>
                <a:buChar char="-"/>
                <a:tabLst/>
              </a:pPr>
              <a:r>
                <a:rPr lang="fr-FR" sz="1400" b="1" dirty="0" smtClean="0">
                  <a:latin typeface="Tahoma" pitchFamily="34" charset="0"/>
                  <a:ea typeface="Arial" pitchFamily="34" charset="0"/>
                  <a:cs typeface="Arial" pitchFamily="34" charset="0"/>
                </a:rPr>
                <a:t>vente de produits</a:t>
              </a:r>
            </a:p>
            <a:p>
              <a:pPr marL="457200" marR="0" lvl="2" indent="-365125" algn="l" defTabSz="914400" rtl="0" eaLnBrk="1" fontAlgn="base" latinLnBrk="0" hangingPunct="1">
                <a:lnSpc>
                  <a:spcPct val="111000"/>
                </a:lnSpc>
                <a:spcBef>
                  <a:spcPct val="0"/>
                </a:spcBef>
                <a:spcAft>
                  <a:spcPct val="0"/>
                </a:spcAft>
                <a:buClrTx/>
                <a:buSzTx/>
                <a:buFont typeface="Verdana" pitchFamily="34" charset="0"/>
                <a:buChar char="-"/>
                <a:tabLst/>
              </a:pPr>
              <a:r>
                <a:rPr lang="fr-FR" sz="1400" b="1" dirty="0" smtClean="0">
                  <a:latin typeface="Tahoma" pitchFamily="34" charset="0"/>
                  <a:ea typeface="Arial" pitchFamily="34" charset="0"/>
                  <a:cs typeface="Arial" pitchFamily="34" charset="0"/>
                </a:rPr>
                <a:t>formules et menus</a:t>
              </a:r>
            </a:p>
          </p:txBody>
        </p:sp>
        <p:sp>
          <p:nvSpPr>
            <p:cNvPr id="12" name="Text Box 14"/>
            <p:cNvSpPr txBox="1">
              <a:spLocks noChangeArrowheads="1"/>
            </p:cNvSpPr>
            <p:nvPr/>
          </p:nvSpPr>
          <p:spPr bwMode="auto">
            <a:xfrm>
              <a:off x="4" y="4"/>
              <a:ext cx="5064" cy="2026"/>
            </a:xfrm>
            <a:prstGeom prst="rect">
              <a:avLst/>
            </a:prstGeom>
            <a:noFill/>
            <a:ln w="6096">
              <a:solidFill>
                <a:srgbClr val="34879F"/>
              </a:solidFill>
              <a:miter lim="800000"/>
              <a:headEnd/>
              <a:tailEnd/>
            </a:ln>
          </p:spPr>
          <p:txBody>
            <a:bodyPr vert="horz" wrap="square" lIns="0" tIns="0" rIns="0" bIns="0" numCol="1" anchor="t" anchorCtr="0" compatLnSpc="1">
              <a:prstTxWarp prst="textNoShape">
                <a:avLst/>
              </a:prstTxWarp>
            </a:bodyPr>
            <a:lstStyle/>
            <a:p>
              <a:pPr marL="457200" marR="803275" lvl="1" indent="0" algn="l" defTabSz="914400" rtl="0" eaLnBrk="1" fontAlgn="base" latinLnBrk="0" hangingPunct="1">
                <a:lnSpc>
                  <a:spcPct val="100000"/>
                </a:lnSpc>
                <a:spcBef>
                  <a:spcPts val="1425"/>
                </a:spcBef>
                <a:spcAft>
                  <a:spcPts val="1000"/>
                </a:spcAft>
                <a:buClrTx/>
                <a:buSzTx/>
                <a:buFontTx/>
                <a:buNone/>
                <a:tabLst/>
              </a:pPr>
              <a:r>
                <a:rPr kumimoji="0" lang="fr-FR" sz="1400" b="1" i="0" u="none" strike="noStrike" cap="none" normalizeH="0" baseline="0" dirty="0" smtClean="0">
                  <a:ln>
                    <a:noFill/>
                  </a:ln>
                  <a:solidFill>
                    <a:schemeClr val="tx1"/>
                  </a:solidFill>
                  <a:effectLst/>
                  <a:latin typeface="Tahoma" pitchFamily="34" charset="0"/>
                  <a:ea typeface="Arial" pitchFamily="34" charset="0"/>
                  <a:cs typeface="Arial" pitchFamily="34" charset="0"/>
                </a:rPr>
                <a:t>DES EXEMPLES DE SOURCES DE REVENUS</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grpSp>
      <p:grpSp>
        <p:nvGrpSpPr>
          <p:cNvPr id="13" name="Group 15"/>
          <p:cNvGrpSpPr>
            <a:grpSpLocks/>
          </p:cNvGrpSpPr>
          <p:nvPr/>
        </p:nvGrpSpPr>
        <p:grpSpPr bwMode="auto">
          <a:xfrm>
            <a:off x="7810512" y="1571612"/>
            <a:ext cx="3978315" cy="3971925"/>
            <a:chOff x="0" y="0"/>
            <a:chExt cx="5074" cy="6255"/>
          </a:xfrm>
        </p:grpSpPr>
        <p:pic>
          <p:nvPicPr>
            <p:cNvPr id="14" name="Picture 16"/>
            <p:cNvPicPr>
              <a:picLocks noChangeAspect="1" noChangeArrowheads="1"/>
            </p:cNvPicPr>
            <p:nvPr/>
          </p:nvPicPr>
          <p:blipFill>
            <a:blip r:embed="rId5"/>
            <a:srcRect/>
            <a:stretch>
              <a:fillRect/>
            </a:stretch>
          </p:blipFill>
          <p:spPr bwMode="auto">
            <a:xfrm>
              <a:off x="4" y="4"/>
              <a:ext cx="5064" cy="2026"/>
            </a:xfrm>
            <a:prstGeom prst="rect">
              <a:avLst/>
            </a:prstGeom>
            <a:noFill/>
          </p:spPr>
        </p:pic>
        <p:sp>
          <p:nvSpPr>
            <p:cNvPr id="15" name="Rectangle 17"/>
            <p:cNvSpPr>
              <a:spLocks noChangeArrowheads="1"/>
            </p:cNvSpPr>
            <p:nvPr/>
          </p:nvSpPr>
          <p:spPr bwMode="auto">
            <a:xfrm>
              <a:off x="4" y="4"/>
              <a:ext cx="5064" cy="2026"/>
            </a:xfrm>
            <a:prstGeom prst="rect">
              <a:avLst/>
            </a:prstGeom>
            <a:noFill/>
            <a:ln w="6096">
              <a:solidFill>
                <a:srgbClr val="F8D22E"/>
              </a:solidFill>
              <a:miter lim="800000"/>
              <a:headEnd/>
              <a:tailEnd/>
            </a:ln>
          </p:spPr>
          <p:txBody>
            <a:bodyPr vert="horz" wrap="square" lIns="91440" tIns="45720" rIns="91440" bIns="45720" numCol="1" anchor="t" anchorCtr="0" compatLnSpc="1">
              <a:prstTxWarp prst="textNoShape">
                <a:avLst/>
              </a:prstTxWarp>
            </a:bodyPr>
            <a:lstStyle/>
            <a:p>
              <a:endParaRPr lang="fr-FR"/>
            </a:p>
          </p:txBody>
        </p:sp>
        <p:sp>
          <p:nvSpPr>
            <p:cNvPr id="16" name="Text Box 18"/>
            <p:cNvSpPr txBox="1">
              <a:spLocks noChangeArrowheads="1"/>
            </p:cNvSpPr>
            <p:nvPr/>
          </p:nvSpPr>
          <p:spPr bwMode="auto">
            <a:xfrm>
              <a:off x="4" y="2035"/>
              <a:ext cx="5064" cy="4220"/>
            </a:xfrm>
            <a:prstGeom prst="rect">
              <a:avLst/>
            </a:prstGeom>
            <a:solidFill>
              <a:srgbClr val="FBEDCD">
                <a:alpha val="90195"/>
              </a:srgbClr>
            </a:solidFill>
            <a:ln w="9525">
              <a:noFill/>
              <a:miter lim="800000"/>
              <a:headEnd/>
              <a:tailEnd/>
            </a:ln>
          </p:spPr>
          <p:txBody>
            <a:bodyPr vert="horz" wrap="square" lIns="0" tIns="0" rIns="0" bIns="0" numCol="1" anchor="t" anchorCtr="0" compatLnSpc="1">
              <a:prstTxWarp prst="textNoShape">
                <a:avLst/>
              </a:prstTxWarp>
            </a:bodyPr>
            <a:lstStyle/>
            <a:p>
              <a:pPr marR="0" lvl="1" indent="-365125" algn="l" defTabSz="914400" rtl="0" eaLnBrk="1" fontAlgn="base" latinLnBrk="0" hangingPunct="1">
                <a:lnSpc>
                  <a:spcPct val="111000"/>
                </a:lnSpc>
                <a:spcBef>
                  <a:spcPts val="338"/>
                </a:spcBef>
                <a:spcAft>
                  <a:spcPct val="0"/>
                </a:spcAft>
                <a:buClrTx/>
                <a:buSzTx/>
                <a:buFont typeface="Verdana" pitchFamily="34" charset="0"/>
                <a:buChar char="•"/>
                <a:tabLst/>
              </a:pPr>
              <a:r>
                <a:rPr kumimoji="0" lang="fr-FR" sz="1200" b="1" i="0" u="none" strike="noStrike" cap="none" normalizeH="0" baseline="0" dirty="0" smtClean="0">
                  <a:ln>
                    <a:noFill/>
                  </a:ln>
                  <a:solidFill>
                    <a:schemeClr val="tx1"/>
                  </a:solidFill>
                  <a:effectLst/>
                  <a:latin typeface="Tahoma" pitchFamily="34" charset="0"/>
                  <a:ea typeface="Arial" pitchFamily="34" charset="0"/>
                  <a:cs typeface="Arial" pitchFamily="34" charset="0"/>
                </a:rPr>
                <a:t>- un véhicule (ressource physique)</a:t>
              </a:r>
            </a:p>
            <a:p>
              <a:pPr marL="457200" marR="0" lvl="2" indent="-365125" algn="l" defTabSz="914400" rtl="0" eaLnBrk="1" fontAlgn="base" latinLnBrk="0" hangingPunct="1">
                <a:lnSpc>
                  <a:spcPct val="106000"/>
                </a:lnSpc>
                <a:spcBef>
                  <a:spcPct val="0"/>
                </a:spcBef>
                <a:spcAft>
                  <a:spcPct val="0"/>
                </a:spcAft>
                <a:buClrTx/>
                <a:buSzTx/>
                <a:buFont typeface="Tahoma" pitchFamily="34" charset="0"/>
                <a:buChar char="-"/>
                <a:tabLst/>
              </a:pPr>
              <a:r>
                <a:rPr kumimoji="0" lang="fr-FR" sz="1200" b="1" i="0" u="none" strike="noStrike" cap="none" normalizeH="0" baseline="0" dirty="0" smtClean="0">
                  <a:ln>
                    <a:noFill/>
                  </a:ln>
                  <a:solidFill>
                    <a:schemeClr val="tx1"/>
                  </a:solidFill>
                  <a:effectLst/>
                  <a:latin typeface="Tahoma" pitchFamily="34" charset="0"/>
                  <a:ea typeface="Arial" pitchFamily="34" charset="0"/>
                  <a:cs typeface="Arial" pitchFamily="34" charset="0"/>
                </a:rPr>
                <a:t>de l'outillage (ressource physique)</a:t>
              </a:r>
            </a:p>
            <a:p>
              <a:pPr marL="457200" marR="0" lvl="2" indent="-365125" algn="l" defTabSz="914400" rtl="0" eaLnBrk="1" fontAlgn="base" latinLnBrk="0" hangingPunct="1">
                <a:lnSpc>
                  <a:spcPct val="106000"/>
                </a:lnSpc>
                <a:spcBef>
                  <a:spcPct val="0"/>
                </a:spcBef>
                <a:spcAft>
                  <a:spcPct val="0"/>
                </a:spcAft>
                <a:buClrTx/>
                <a:buSzTx/>
                <a:buFont typeface="Tahoma" pitchFamily="34" charset="0"/>
                <a:buChar char="-"/>
                <a:tabLst/>
              </a:pPr>
              <a:r>
                <a:rPr kumimoji="0" lang="fr-FR" sz="1200" b="1" i="0" u="none" strike="noStrike" cap="none" normalizeH="0" baseline="0" dirty="0" smtClean="0">
                  <a:ln>
                    <a:noFill/>
                  </a:ln>
                  <a:solidFill>
                    <a:schemeClr val="tx1"/>
                  </a:solidFill>
                  <a:effectLst/>
                  <a:latin typeface="Tahoma" pitchFamily="34" charset="0"/>
                  <a:ea typeface="Arial" pitchFamily="34" charset="0"/>
                  <a:cs typeface="Arial" pitchFamily="34" charset="0"/>
                </a:rPr>
                <a:t>un ordinateur (ressource physique)</a:t>
              </a:r>
            </a:p>
            <a:p>
              <a:pPr marL="457200" marR="0" lvl="2" indent="-365125" algn="l" defTabSz="914400" rtl="0" eaLnBrk="1" fontAlgn="base" latinLnBrk="0" hangingPunct="1">
                <a:lnSpc>
                  <a:spcPct val="105000"/>
                </a:lnSpc>
                <a:spcBef>
                  <a:spcPct val="0"/>
                </a:spcBef>
                <a:spcAft>
                  <a:spcPct val="0"/>
                </a:spcAft>
                <a:buClrTx/>
                <a:buSzTx/>
                <a:buFont typeface="Tahoma" pitchFamily="34" charset="0"/>
                <a:buChar char="-"/>
                <a:tabLst/>
              </a:pPr>
              <a:r>
                <a:rPr kumimoji="0" lang="fr-FR" sz="1200" b="1" i="0" u="none" strike="noStrike" cap="none" normalizeH="0" baseline="0" dirty="0" smtClean="0">
                  <a:ln>
                    <a:noFill/>
                  </a:ln>
                  <a:solidFill>
                    <a:schemeClr val="tx1"/>
                  </a:solidFill>
                  <a:effectLst/>
                  <a:latin typeface="Tahoma" pitchFamily="34" charset="0"/>
                  <a:ea typeface="Arial" pitchFamily="34" charset="0"/>
                  <a:cs typeface="Arial" pitchFamily="34" charset="0"/>
                </a:rPr>
                <a:t>un brevet (ressource intellectuelle)</a:t>
              </a:r>
            </a:p>
            <a:p>
              <a:pPr marL="457200" marR="0" lvl="0" indent="-365125" algn="l" defTabSz="914400" rtl="0" eaLnBrk="1" fontAlgn="base" latinLnBrk="0" hangingPunct="1">
                <a:lnSpc>
                  <a:spcPct val="100000"/>
                </a:lnSpc>
                <a:spcBef>
                  <a:spcPct val="0"/>
                </a:spcBef>
                <a:spcAft>
                  <a:spcPct val="0"/>
                </a:spcAft>
                <a:buClrTx/>
                <a:buSzTx/>
                <a:buFont typeface="Tahoma" pitchFamily="34" charset="0"/>
                <a:buChar char="-"/>
                <a:tabLst/>
              </a:pPr>
              <a:r>
                <a:rPr kumimoji="0" lang="fr-FR" sz="1200" b="1" i="0" u="none" strike="noStrike" cap="none" normalizeH="0" baseline="0" dirty="0" smtClean="0">
                  <a:ln>
                    <a:noFill/>
                  </a:ln>
                  <a:solidFill>
                    <a:schemeClr val="tx1"/>
                  </a:solidFill>
                  <a:effectLst/>
                  <a:latin typeface="Tahoma" pitchFamily="34" charset="0"/>
                  <a:ea typeface="Arial" pitchFamily="34" charset="0"/>
                  <a:cs typeface="Arial" pitchFamily="34" charset="0"/>
                </a:rPr>
                <a:t>des employés (ressource humaine)</a:t>
              </a:r>
            </a:p>
            <a:p>
              <a:pPr marL="457200" marR="0" lvl="0" indent="-365125" algn="l" defTabSz="914400" rtl="0" eaLnBrk="1" fontAlgn="base" latinLnBrk="0" hangingPunct="1">
                <a:lnSpc>
                  <a:spcPct val="100000"/>
                </a:lnSpc>
                <a:spcBef>
                  <a:spcPct val="0"/>
                </a:spcBef>
                <a:spcAft>
                  <a:spcPct val="0"/>
                </a:spcAft>
                <a:buClrTx/>
                <a:buSzTx/>
                <a:buFont typeface="Tahoma" pitchFamily="34" charset="0"/>
                <a:buChar char="-"/>
                <a:tabLst/>
              </a:pPr>
              <a:r>
                <a:rPr kumimoji="0" lang="fr-FR" sz="1200" b="1" i="0" u="none" strike="noStrike" cap="none" normalizeH="0" baseline="0" dirty="0" smtClean="0">
                  <a:ln>
                    <a:noFill/>
                  </a:ln>
                  <a:solidFill>
                    <a:schemeClr val="tx1"/>
                  </a:solidFill>
                  <a:effectLst/>
                  <a:latin typeface="Tahoma" pitchFamily="34" charset="0"/>
                  <a:ea typeface="Arial" pitchFamily="34" charset="0"/>
                  <a:cs typeface="Arial" pitchFamily="34" charset="0"/>
                </a:rPr>
                <a:t>une technologie (ressource</a:t>
              </a:r>
            </a:p>
            <a:p>
              <a:pPr marR="0" lvl="1" indent="-365125" algn="l" defTabSz="914400" rtl="0" eaLnBrk="1" fontAlgn="base" latinLnBrk="0" hangingPunct="1">
                <a:lnSpc>
                  <a:spcPct val="105000"/>
                </a:lnSpc>
                <a:spcBef>
                  <a:spcPct val="0"/>
                </a:spcBef>
                <a:spcAft>
                  <a:spcPts val="1000"/>
                </a:spcAft>
                <a:buClrTx/>
                <a:buSzTx/>
                <a:buFontTx/>
                <a:buNone/>
                <a:tabLst/>
              </a:pPr>
              <a:r>
                <a:rPr kumimoji="0" lang="fr-FR" sz="1200" b="1" i="0" u="none" strike="noStrike" cap="none" normalizeH="0" baseline="0" dirty="0" smtClean="0">
                  <a:ln>
                    <a:noFill/>
                  </a:ln>
                  <a:solidFill>
                    <a:schemeClr val="tx1"/>
                  </a:solidFill>
                  <a:effectLst/>
                  <a:latin typeface="Tahoma" pitchFamily="34" charset="0"/>
                  <a:ea typeface="Arial" pitchFamily="34" charset="0"/>
                  <a:cs typeface="Arial" pitchFamily="34" charset="0"/>
                </a:rPr>
                <a:t>intellectuelle)</a:t>
              </a:r>
            </a:p>
            <a:p>
              <a:pPr marR="884238" lvl="1" indent="-365125" algn="l" defTabSz="914400" rtl="0" eaLnBrk="1" fontAlgn="base" latinLnBrk="0" hangingPunct="1">
                <a:lnSpc>
                  <a:spcPct val="100000"/>
                </a:lnSpc>
                <a:spcBef>
                  <a:spcPts val="13"/>
                </a:spcBef>
                <a:spcAft>
                  <a:spcPct val="0"/>
                </a:spcAft>
                <a:buClrTx/>
                <a:buSzTx/>
                <a:buFont typeface="Tahoma" pitchFamily="34" charset="0"/>
                <a:buChar char="-"/>
                <a:tabLst/>
              </a:pPr>
              <a:r>
                <a:rPr kumimoji="0" lang="fr-FR" sz="1200" b="1" i="0" u="none" strike="noStrike" cap="none" normalizeH="0" baseline="0" dirty="0" smtClean="0">
                  <a:ln>
                    <a:noFill/>
                  </a:ln>
                  <a:solidFill>
                    <a:schemeClr val="tx1"/>
                  </a:solidFill>
                  <a:effectLst/>
                  <a:latin typeface="Tahoma" pitchFamily="34" charset="0"/>
                  <a:ea typeface="Arial" pitchFamily="34" charset="0"/>
                  <a:cs typeface="Arial" pitchFamily="34" charset="0"/>
                </a:rPr>
                <a:t>une plateforme virtuelle (ressource intellectuelle)</a:t>
              </a:r>
            </a:p>
            <a:p>
              <a:pPr marR="1814513" lvl="1" indent="-365125" algn="l" defTabSz="914400" rtl="0" eaLnBrk="1" fontAlgn="base" latinLnBrk="0" hangingPunct="1">
                <a:lnSpc>
                  <a:spcPct val="100000"/>
                </a:lnSpc>
                <a:spcBef>
                  <a:spcPct val="0"/>
                </a:spcBef>
                <a:spcAft>
                  <a:spcPct val="0"/>
                </a:spcAft>
                <a:buClrTx/>
                <a:buSzTx/>
                <a:buFont typeface="Tahoma" pitchFamily="34" charset="0"/>
                <a:buChar char="-"/>
                <a:tabLst/>
              </a:pPr>
              <a:r>
                <a:rPr kumimoji="0" lang="fr-FR" sz="1200" b="1" i="0" u="none" strike="noStrike" cap="none" normalizeH="0" baseline="0" dirty="0" smtClean="0">
                  <a:ln>
                    <a:noFill/>
                  </a:ln>
                  <a:solidFill>
                    <a:schemeClr val="tx1"/>
                  </a:solidFill>
                  <a:effectLst/>
                  <a:latin typeface="Tahoma" pitchFamily="34" charset="0"/>
                  <a:ea typeface="Arial" pitchFamily="34" charset="0"/>
                  <a:cs typeface="Arial" pitchFamily="34" charset="0"/>
                </a:rPr>
                <a:t>des actions et des dividendes (ressource financière)</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7" name="Text Box 19"/>
            <p:cNvSpPr txBox="1">
              <a:spLocks noChangeArrowheads="1"/>
            </p:cNvSpPr>
            <p:nvPr/>
          </p:nvSpPr>
          <p:spPr bwMode="auto">
            <a:xfrm>
              <a:off x="4" y="4"/>
              <a:ext cx="5064" cy="2026"/>
            </a:xfrm>
            <a:prstGeom prst="rect">
              <a:avLst/>
            </a:prstGeom>
            <a:noFill/>
            <a:ln w="6096">
              <a:solidFill>
                <a:srgbClr val="F8D22E"/>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endParaRPr kumimoji="0" lang="fr-FR" sz="1700" b="1" i="0" u="none" strike="noStrike" cap="none" normalizeH="0" baseline="0" smtClean="0">
                <a:ln>
                  <a:noFill/>
                </a:ln>
                <a:solidFill>
                  <a:schemeClr val="tx1"/>
                </a:solidFill>
                <a:effectLst/>
                <a:latin typeface="Tahoma" pitchFamily="34" charset="0"/>
                <a:ea typeface="Arial" pitchFamily="34" charset="0"/>
                <a:cs typeface="Arial" pitchFamily="34" charset="0"/>
              </a:endParaRPr>
            </a:p>
            <a:p>
              <a:pPr marL="457200" marR="728663" lvl="1" indent="0" algn="l" defTabSz="914400" rtl="0" eaLnBrk="1" fontAlgn="base" latinLnBrk="0" hangingPunct="1">
                <a:lnSpc>
                  <a:spcPct val="100000"/>
                </a:lnSpc>
                <a:spcBef>
                  <a:spcPts val="1425"/>
                </a:spcBef>
                <a:spcAft>
                  <a:spcPts val="1000"/>
                </a:spcAft>
                <a:buClrTx/>
                <a:buSzTx/>
                <a:buFontTx/>
                <a:buNone/>
                <a:tabLst/>
              </a:pPr>
              <a:r>
                <a:rPr kumimoji="0" lang="fr-FR" sz="1400" b="1" i="0" u="none" strike="noStrike" cap="none" normalizeH="0" baseline="0" smtClean="0">
                  <a:ln>
                    <a:noFill/>
                  </a:ln>
                  <a:solidFill>
                    <a:schemeClr val="tx1"/>
                  </a:solidFill>
                  <a:effectLst/>
                  <a:latin typeface="Tahoma" pitchFamily="34" charset="0"/>
                  <a:ea typeface="Arial" pitchFamily="34" charset="0"/>
                  <a:cs typeface="Arial" pitchFamily="34" charset="0"/>
                </a:rPr>
                <a:t>DES EXEMPLES DE RESSOUIRCES CLES</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gr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grpSp>
        <p:nvGrpSpPr>
          <p:cNvPr id="3" name="Group 1"/>
          <p:cNvGrpSpPr>
            <a:grpSpLocks/>
          </p:cNvGrpSpPr>
          <p:nvPr/>
        </p:nvGrpSpPr>
        <p:grpSpPr bwMode="auto">
          <a:xfrm>
            <a:off x="557213" y="792163"/>
            <a:ext cx="11055350" cy="5588000"/>
            <a:chOff x="878" y="1248"/>
            <a:chExt cx="17410" cy="8799"/>
          </a:xfrm>
        </p:grpSpPr>
        <p:pic>
          <p:nvPicPr>
            <p:cNvPr id="4" name="Picture 2"/>
            <p:cNvPicPr>
              <a:picLocks noChangeAspect="1" noChangeArrowheads="1"/>
            </p:cNvPicPr>
            <p:nvPr/>
          </p:nvPicPr>
          <p:blipFill>
            <a:blip r:embed="rId3"/>
            <a:srcRect/>
            <a:stretch>
              <a:fillRect/>
            </a:stretch>
          </p:blipFill>
          <p:spPr bwMode="auto">
            <a:xfrm>
              <a:off x="883" y="1449"/>
              <a:ext cx="1940" cy="2775"/>
            </a:xfrm>
            <a:prstGeom prst="rect">
              <a:avLst/>
            </a:prstGeom>
            <a:noFill/>
          </p:spPr>
        </p:pic>
        <p:sp>
          <p:nvSpPr>
            <p:cNvPr id="5" name="Freeform 3"/>
            <p:cNvSpPr>
              <a:spLocks/>
            </p:cNvSpPr>
            <p:nvPr/>
          </p:nvSpPr>
          <p:spPr bwMode="auto">
            <a:xfrm>
              <a:off x="883" y="1449"/>
              <a:ext cx="1940" cy="2775"/>
            </a:xfrm>
            <a:custGeom>
              <a:avLst/>
              <a:gdLst/>
              <a:ahLst/>
              <a:cxnLst>
                <a:cxn ang="0">
                  <a:pos x="1939" y="0"/>
                </a:cxn>
                <a:cxn ang="0">
                  <a:pos x="1939" y="1804"/>
                </a:cxn>
                <a:cxn ang="0">
                  <a:pos x="970" y="2774"/>
                </a:cxn>
                <a:cxn ang="0">
                  <a:pos x="0" y="1804"/>
                </a:cxn>
                <a:cxn ang="0">
                  <a:pos x="0" y="0"/>
                </a:cxn>
                <a:cxn ang="0">
                  <a:pos x="970" y="969"/>
                </a:cxn>
                <a:cxn ang="0">
                  <a:pos x="1939" y="0"/>
                </a:cxn>
              </a:cxnLst>
              <a:rect l="0" t="0" r="r" b="b"/>
              <a:pathLst>
                <a:path w="1940" h="2775">
                  <a:moveTo>
                    <a:pt x="1939" y="0"/>
                  </a:moveTo>
                  <a:lnTo>
                    <a:pt x="1939" y="1804"/>
                  </a:lnTo>
                  <a:lnTo>
                    <a:pt x="970" y="2774"/>
                  </a:lnTo>
                  <a:lnTo>
                    <a:pt x="0" y="1804"/>
                  </a:lnTo>
                  <a:lnTo>
                    <a:pt x="0" y="0"/>
                  </a:lnTo>
                  <a:lnTo>
                    <a:pt x="970" y="969"/>
                  </a:lnTo>
                  <a:lnTo>
                    <a:pt x="1939" y="0"/>
                  </a:lnTo>
                  <a:close/>
                </a:path>
              </a:pathLst>
            </a:custGeom>
            <a:noFill/>
            <a:ln w="6096">
              <a:solidFill>
                <a:srgbClr val="EF3E2B"/>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6" name="Freeform 4"/>
            <p:cNvSpPr>
              <a:spLocks/>
            </p:cNvSpPr>
            <p:nvPr/>
          </p:nvSpPr>
          <p:spPr bwMode="auto">
            <a:xfrm>
              <a:off x="2822" y="1252"/>
              <a:ext cx="15461" cy="2194"/>
            </a:xfrm>
            <a:custGeom>
              <a:avLst/>
              <a:gdLst/>
              <a:ahLst/>
              <a:cxnLst>
                <a:cxn ang="0">
                  <a:pos x="15096" y="0"/>
                </a:cxn>
                <a:cxn ang="0">
                  <a:pos x="0" y="0"/>
                </a:cxn>
                <a:cxn ang="0">
                  <a:pos x="0" y="2193"/>
                </a:cxn>
                <a:cxn ang="0">
                  <a:pos x="15096" y="2193"/>
                </a:cxn>
                <a:cxn ang="0">
                  <a:pos x="15169" y="2186"/>
                </a:cxn>
                <a:cxn ang="0">
                  <a:pos x="15238" y="2165"/>
                </a:cxn>
                <a:cxn ang="0">
                  <a:pos x="15300" y="2131"/>
                </a:cxn>
                <a:cxn ang="0">
                  <a:pos x="15354" y="2086"/>
                </a:cxn>
                <a:cxn ang="0">
                  <a:pos x="15399" y="2032"/>
                </a:cxn>
                <a:cxn ang="0">
                  <a:pos x="15432" y="1970"/>
                </a:cxn>
                <a:cxn ang="0">
                  <a:pos x="15454" y="1902"/>
                </a:cxn>
                <a:cxn ang="0">
                  <a:pos x="15461" y="1828"/>
                </a:cxn>
                <a:cxn ang="0">
                  <a:pos x="15461" y="365"/>
                </a:cxn>
                <a:cxn ang="0">
                  <a:pos x="15454" y="292"/>
                </a:cxn>
                <a:cxn ang="0">
                  <a:pos x="15432" y="223"/>
                </a:cxn>
                <a:cxn ang="0">
                  <a:pos x="15399" y="161"/>
                </a:cxn>
                <a:cxn ang="0">
                  <a:pos x="15354" y="107"/>
                </a:cxn>
                <a:cxn ang="0">
                  <a:pos x="15300" y="62"/>
                </a:cxn>
                <a:cxn ang="0">
                  <a:pos x="15238" y="29"/>
                </a:cxn>
                <a:cxn ang="0">
                  <a:pos x="15169" y="7"/>
                </a:cxn>
                <a:cxn ang="0">
                  <a:pos x="15096" y="0"/>
                </a:cxn>
              </a:cxnLst>
              <a:rect l="0" t="0" r="r" b="b"/>
              <a:pathLst>
                <a:path w="15461" h="2194">
                  <a:moveTo>
                    <a:pt x="15096" y="0"/>
                  </a:moveTo>
                  <a:lnTo>
                    <a:pt x="0" y="0"/>
                  </a:lnTo>
                  <a:lnTo>
                    <a:pt x="0" y="2193"/>
                  </a:lnTo>
                  <a:lnTo>
                    <a:pt x="15096" y="2193"/>
                  </a:lnTo>
                  <a:lnTo>
                    <a:pt x="15169" y="2186"/>
                  </a:lnTo>
                  <a:lnTo>
                    <a:pt x="15238" y="2165"/>
                  </a:lnTo>
                  <a:lnTo>
                    <a:pt x="15300" y="2131"/>
                  </a:lnTo>
                  <a:lnTo>
                    <a:pt x="15354" y="2086"/>
                  </a:lnTo>
                  <a:lnTo>
                    <a:pt x="15399" y="2032"/>
                  </a:lnTo>
                  <a:lnTo>
                    <a:pt x="15432" y="1970"/>
                  </a:lnTo>
                  <a:lnTo>
                    <a:pt x="15454" y="1902"/>
                  </a:lnTo>
                  <a:lnTo>
                    <a:pt x="15461" y="1828"/>
                  </a:lnTo>
                  <a:lnTo>
                    <a:pt x="15461" y="365"/>
                  </a:lnTo>
                  <a:lnTo>
                    <a:pt x="15454" y="292"/>
                  </a:lnTo>
                  <a:lnTo>
                    <a:pt x="15432" y="223"/>
                  </a:lnTo>
                  <a:lnTo>
                    <a:pt x="15399" y="161"/>
                  </a:lnTo>
                  <a:lnTo>
                    <a:pt x="15354" y="107"/>
                  </a:lnTo>
                  <a:lnTo>
                    <a:pt x="15300" y="62"/>
                  </a:lnTo>
                  <a:lnTo>
                    <a:pt x="15238" y="29"/>
                  </a:lnTo>
                  <a:lnTo>
                    <a:pt x="15169" y="7"/>
                  </a:lnTo>
                  <a:lnTo>
                    <a:pt x="15096" y="0"/>
                  </a:lnTo>
                  <a:close/>
                </a:path>
              </a:pathLst>
            </a:custGeom>
            <a:solidFill>
              <a:srgbClr val="FFFFFF">
                <a:alpha val="90195"/>
              </a:srgbClr>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7" name="Freeform 5"/>
            <p:cNvSpPr>
              <a:spLocks/>
            </p:cNvSpPr>
            <p:nvPr/>
          </p:nvSpPr>
          <p:spPr bwMode="auto">
            <a:xfrm>
              <a:off x="2822" y="1252"/>
              <a:ext cx="15461" cy="2194"/>
            </a:xfrm>
            <a:custGeom>
              <a:avLst/>
              <a:gdLst/>
              <a:ahLst/>
              <a:cxnLst>
                <a:cxn ang="0">
                  <a:pos x="15461" y="365"/>
                </a:cxn>
                <a:cxn ang="0">
                  <a:pos x="15461" y="1828"/>
                </a:cxn>
                <a:cxn ang="0">
                  <a:pos x="15454" y="1902"/>
                </a:cxn>
                <a:cxn ang="0">
                  <a:pos x="15432" y="1970"/>
                </a:cxn>
                <a:cxn ang="0">
                  <a:pos x="15399" y="2032"/>
                </a:cxn>
                <a:cxn ang="0">
                  <a:pos x="15354" y="2086"/>
                </a:cxn>
                <a:cxn ang="0">
                  <a:pos x="15300" y="2131"/>
                </a:cxn>
                <a:cxn ang="0">
                  <a:pos x="15238" y="2165"/>
                </a:cxn>
                <a:cxn ang="0">
                  <a:pos x="15169" y="2186"/>
                </a:cxn>
                <a:cxn ang="0">
                  <a:pos x="15096" y="2193"/>
                </a:cxn>
                <a:cxn ang="0">
                  <a:pos x="0" y="2193"/>
                </a:cxn>
                <a:cxn ang="0">
                  <a:pos x="0" y="0"/>
                </a:cxn>
                <a:cxn ang="0">
                  <a:pos x="15096" y="0"/>
                </a:cxn>
                <a:cxn ang="0">
                  <a:pos x="15169" y="7"/>
                </a:cxn>
                <a:cxn ang="0">
                  <a:pos x="15238" y="29"/>
                </a:cxn>
                <a:cxn ang="0">
                  <a:pos x="15300" y="62"/>
                </a:cxn>
                <a:cxn ang="0">
                  <a:pos x="15354" y="107"/>
                </a:cxn>
                <a:cxn ang="0">
                  <a:pos x="15399" y="161"/>
                </a:cxn>
                <a:cxn ang="0">
                  <a:pos x="15432" y="223"/>
                </a:cxn>
                <a:cxn ang="0">
                  <a:pos x="15454" y="292"/>
                </a:cxn>
                <a:cxn ang="0">
                  <a:pos x="15461" y="365"/>
                </a:cxn>
              </a:cxnLst>
              <a:rect l="0" t="0" r="r" b="b"/>
              <a:pathLst>
                <a:path w="15461" h="2194">
                  <a:moveTo>
                    <a:pt x="15461" y="365"/>
                  </a:moveTo>
                  <a:lnTo>
                    <a:pt x="15461" y="1828"/>
                  </a:lnTo>
                  <a:lnTo>
                    <a:pt x="15454" y="1902"/>
                  </a:lnTo>
                  <a:lnTo>
                    <a:pt x="15432" y="1970"/>
                  </a:lnTo>
                  <a:lnTo>
                    <a:pt x="15399" y="2032"/>
                  </a:lnTo>
                  <a:lnTo>
                    <a:pt x="15354" y="2086"/>
                  </a:lnTo>
                  <a:lnTo>
                    <a:pt x="15300" y="2131"/>
                  </a:lnTo>
                  <a:lnTo>
                    <a:pt x="15238" y="2165"/>
                  </a:lnTo>
                  <a:lnTo>
                    <a:pt x="15169" y="2186"/>
                  </a:lnTo>
                  <a:lnTo>
                    <a:pt x="15096" y="2193"/>
                  </a:lnTo>
                  <a:lnTo>
                    <a:pt x="0" y="2193"/>
                  </a:lnTo>
                  <a:lnTo>
                    <a:pt x="0" y="0"/>
                  </a:lnTo>
                  <a:lnTo>
                    <a:pt x="15096" y="0"/>
                  </a:lnTo>
                  <a:lnTo>
                    <a:pt x="15169" y="7"/>
                  </a:lnTo>
                  <a:lnTo>
                    <a:pt x="15238" y="29"/>
                  </a:lnTo>
                  <a:lnTo>
                    <a:pt x="15300" y="62"/>
                  </a:lnTo>
                  <a:lnTo>
                    <a:pt x="15354" y="107"/>
                  </a:lnTo>
                  <a:lnTo>
                    <a:pt x="15399" y="161"/>
                  </a:lnTo>
                  <a:lnTo>
                    <a:pt x="15432" y="223"/>
                  </a:lnTo>
                  <a:lnTo>
                    <a:pt x="15454" y="292"/>
                  </a:lnTo>
                  <a:lnTo>
                    <a:pt x="15461" y="365"/>
                  </a:lnTo>
                  <a:close/>
                </a:path>
              </a:pathLst>
            </a:custGeom>
            <a:noFill/>
            <a:ln w="6096">
              <a:solidFill>
                <a:srgbClr val="EF3E2B"/>
              </a:solidFill>
              <a:round/>
              <a:headEnd/>
              <a:tailEnd/>
            </a:ln>
          </p:spPr>
          <p:txBody>
            <a:bodyPr vert="horz" wrap="square" lIns="91440" tIns="45720" rIns="91440" bIns="45720" numCol="1" anchor="t" anchorCtr="0" compatLnSpc="1">
              <a:prstTxWarp prst="textNoShape">
                <a:avLst/>
              </a:prstTxWarp>
            </a:bodyPr>
            <a:lstStyle/>
            <a:p>
              <a:endParaRPr lang="fr-FR"/>
            </a:p>
          </p:txBody>
        </p:sp>
        <p:pic>
          <p:nvPicPr>
            <p:cNvPr id="8" name="Picture 6"/>
            <p:cNvPicPr>
              <a:picLocks noChangeAspect="1" noChangeArrowheads="1"/>
            </p:cNvPicPr>
            <p:nvPr/>
          </p:nvPicPr>
          <p:blipFill>
            <a:blip r:embed="rId4"/>
            <a:srcRect/>
            <a:stretch>
              <a:fillRect/>
            </a:stretch>
          </p:blipFill>
          <p:spPr bwMode="auto">
            <a:xfrm>
              <a:off x="883" y="4372"/>
              <a:ext cx="1940" cy="2775"/>
            </a:xfrm>
            <a:prstGeom prst="rect">
              <a:avLst/>
            </a:prstGeom>
            <a:noFill/>
          </p:spPr>
        </p:pic>
        <p:sp>
          <p:nvSpPr>
            <p:cNvPr id="9" name="Freeform 7"/>
            <p:cNvSpPr>
              <a:spLocks/>
            </p:cNvSpPr>
            <p:nvPr/>
          </p:nvSpPr>
          <p:spPr bwMode="auto">
            <a:xfrm>
              <a:off x="883" y="4372"/>
              <a:ext cx="1940" cy="2775"/>
            </a:xfrm>
            <a:custGeom>
              <a:avLst/>
              <a:gdLst/>
              <a:ahLst/>
              <a:cxnLst>
                <a:cxn ang="0">
                  <a:pos x="1939" y="0"/>
                </a:cxn>
                <a:cxn ang="0">
                  <a:pos x="1939" y="1805"/>
                </a:cxn>
                <a:cxn ang="0">
                  <a:pos x="970" y="2774"/>
                </a:cxn>
                <a:cxn ang="0">
                  <a:pos x="0" y="1805"/>
                </a:cxn>
                <a:cxn ang="0">
                  <a:pos x="0" y="0"/>
                </a:cxn>
                <a:cxn ang="0">
                  <a:pos x="970" y="969"/>
                </a:cxn>
                <a:cxn ang="0">
                  <a:pos x="1939" y="0"/>
                </a:cxn>
              </a:cxnLst>
              <a:rect l="0" t="0" r="r" b="b"/>
              <a:pathLst>
                <a:path w="1940" h="2775">
                  <a:moveTo>
                    <a:pt x="1939" y="0"/>
                  </a:moveTo>
                  <a:lnTo>
                    <a:pt x="1939" y="1805"/>
                  </a:lnTo>
                  <a:lnTo>
                    <a:pt x="970" y="2774"/>
                  </a:lnTo>
                  <a:lnTo>
                    <a:pt x="0" y="1805"/>
                  </a:lnTo>
                  <a:lnTo>
                    <a:pt x="0" y="0"/>
                  </a:lnTo>
                  <a:lnTo>
                    <a:pt x="970" y="969"/>
                  </a:lnTo>
                  <a:lnTo>
                    <a:pt x="1939" y="0"/>
                  </a:lnTo>
                  <a:close/>
                </a:path>
              </a:pathLst>
            </a:custGeom>
            <a:noFill/>
            <a:ln w="6096">
              <a:solidFill>
                <a:srgbClr val="5FD127"/>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0" name="Freeform 8"/>
            <p:cNvSpPr>
              <a:spLocks/>
            </p:cNvSpPr>
            <p:nvPr/>
          </p:nvSpPr>
          <p:spPr bwMode="auto">
            <a:xfrm>
              <a:off x="2822" y="3955"/>
              <a:ext cx="15461" cy="2640"/>
            </a:xfrm>
            <a:custGeom>
              <a:avLst/>
              <a:gdLst/>
              <a:ahLst/>
              <a:cxnLst>
                <a:cxn ang="0">
                  <a:pos x="15021" y="0"/>
                </a:cxn>
                <a:cxn ang="0">
                  <a:pos x="0" y="0"/>
                </a:cxn>
                <a:cxn ang="0">
                  <a:pos x="0" y="2640"/>
                </a:cxn>
                <a:cxn ang="0">
                  <a:pos x="15021" y="2640"/>
                </a:cxn>
                <a:cxn ang="0">
                  <a:pos x="15093" y="2634"/>
                </a:cxn>
                <a:cxn ang="0">
                  <a:pos x="15160" y="2618"/>
                </a:cxn>
                <a:cxn ang="0">
                  <a:pos x="15223" y="2591"/>
                </a:cxn>
                <a:cxn ang="0">
                  <a:pos x="15281" y="2555"/>
                </a:cxn>
                <a:cxn ang="0">
                  <a:pos x="15332" y="2511"/>
                </a:cxn>
                <a:cxn ang="0">
                  <a:pos x="15376" y="2460"/>
                </a:cxn>
                <a:cxn ang="0">
                  <a:pos x="15412" y="2402"/>
                </a:cxn>
                <a:cxn ang="0">
                  <a:pos x="15439" y="2339"/>
                </a:cxn>
                <a:cxn ang="0">
                  <a:pos x="15455" y="2272"/>
                </a:cxn>
                <a:cxn ang="0">
                  <a:pos x="15461" y="2200"/>
                </a:cxn>
                <a:cxn ang="0">
                  <a:pos x="15461" y="440"/>
                </a:cxn>
                <a:cxn ang="0">
                  <a:pos x="15455" y="369"/>
                </a:cxn>
                <a:cxn ang="0">
                  <a:pos x="15439" y="301"/>
                </a:cxn>
                <a:cxn ang="0">
                  <a:pos x="15412" y="238"/>
                </a:cxn>
                <a:cxn ang="0">
                  <a:pos x="15376" y="180"/>
                </a:cxn>
                <a:cxn ang="0">
                  <a:pos x="15332" y="129"/>
                </a:cxn>
                <a:cxn ang="0">
                  <a:pos x="15281" y="85"/>
                </a:cxn>
                <a:cxn ang="0">
                  <a:pos x="15223" y="49"/>
                </a:cxn>
                <a:cxn ang="0">
                  <a:pos x="15160" y="23"/>
                </a:cxn>
                <a:cxn ang="0">
                  <a:pos x="15093" y="6"/>
                </a:cxn>
                <a:cxn ang="0">
                  <a:pos x="15021" y="0"/>
                </a:cxn>
              </a:cxnLst>
              <a:rect l="0" t="0" r="r" b="b"/>
              <a:pathLst>
                <a:path w="15461" h="2640">
                  <a:moveTo>
                    <a:pt x="15021" y="0"/>
                  </a:moveTo>
                  <a:lnTo>
                    <a:pt x="0" y="0"/>
                  </a:lnTo>
                  <a:lnTo>
                    <a:pt x="0" y="2640"/>
                  </a:lnTo>
                  <a:lnTo>
                    <a:pt x="15021" y="2640"/>
                  </a:lnTo>
                  <a:lnTo>
                    <a:pt x="15093" y="2634"/>
                  </a:lnTo>
                  <a:lnTo>
                    <a:pt x="15160" y="2618"/>
                  </a:lnTo>
                  <a:lnTo>
                    <a:pt x="15223" y="2591"/>
                  </a:lnTo>
                  <a:lnTo>
                    <a:pt x="15281" y="2555"/>
                  </a:lnTo>
                  <a:lnTo>
                    <a:pt x="15332" y="2511"/>
                  </a:lnTo>
                  <a:lnTo>
                    <a:pt x="15376" y="2460"/>
                  </a:lnTo>
                  <a:lnTo>
                    <a:pt x="15412" y="2402"/>
                  </a:lnTo>
                  <a:lnTo>
                    <a:pt x="15439" y="2339"/>
                  </a:lnTo>
                  <a:lnTo>
                    <a:pt x="15455" y="2272"/>
                  </a:lnTo>
                  <a:lnTo>
                    <a:pt x="15461" y="2200"/>
                  </a:lnTo>
                  <a:lnTo>
                    <a:pt x="15461" y="440"/>
                  </a:lnTo>
                  <a:lnTo>
                    <a:pt x="15455" y="369"/>
                  </a:lnTo>
                  <a:lnTo>
                    <a:pt x="15439" y="301"/>
                  </a:lnTo>
                  <a:lnTo>
                    <a:pt x="15412" y="238"/>
                  </a:lnTo>
                  <a:lnTo>
                    <a:pt x="15376" y="180"/>
                  </a:lnTo>
                  <a:lnTo>
                    <a:pt x="15332" y="129"/>
                  </a:lnTo>
                  <a:lnTo>
                    <a:pt x="15281" y="85"/>
                  </a:lnTo>
                  <a:lnTo>
                    <a:pt x="15223" y="49"/>
                  </a:lnTo>
                  <a:lnTo>
                    <a:pt x="15160" y="23"/>
                  </a:lnTo>
                  <a:lnTo>
                    <a:pt x="15093" y="6"/>
                  </a:lnTo>
                  <a:lnTo>
                    <a:pt x="15021" y="0"/>
                  </a:lnTo>
                  <a:close/>
                </a:path>
              </a:pathLst>
            </a:custGeom>
            <a:solidFill>
              <a:srgbClr val="FFFFFF">
                <a:alpha val="90195"/>
              </a:srgbClr>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1" name="Freeform 9"/>
            <p:cNvSpPr>
              <a:spLocks/>
            </p:cNvSpPr>
            <p:nvPr/>
          </p:nvSpPr>
          <p:spPr bwMode="auto">
            <a:xfrm>
              <a:off x="2822" y="3955"/>
              <a:ext cx="15461" cy="2640"/>
            </a:xfrm>
            <a:custGeom>
              <a:avLst/>
              <a:gdLst/>
              <a:ahLst/>
              <a:cxnLst>
                <a:cxn ang="0">
                  <a:pos x="15461" y="440"/>
                </a:cxn>
                <a:cxn ang="0">
                  <a:pos x="15461" y="2200"/>
                </a:cxn>
                <a:cxn ang="0">
                  <a:pos x="15455" y="2272"/>
                </a:cxn>
                <a:cxn ang="0">
                  <a:pos x="15439" y="2339"/>
                </a:cxn>
                <a:cxn ang="0">
                  <a:pos x="15412" y="2402"/>
                </a:cxn>
                <a:cxn ang="0">
                  <a:pos x="15376" y="2460"/>
                </a:cxn>
                <a:cxn ang="0">
                  <a:pos x="15332" y="2511"/>
                </a:cxn>
                <a:cxn ang="0">
                  <a:pos x="15281" y="2555"/>
                </a:cxn>
                <a:cxn ang="0">
                  <a:pos x="15223" y="2591"/>
                </a:cxn>
                <a:cxn ang="0">
                  <a:pos x="15160" y="2618"/>
                </a:cxn>
                <a:cxn ang="0">
                  <a:pos x="15093" y="2634"/>
                </a:cxn>
                <a:cxn ang="0">
                  <a:pos x="15021" y="2640"/>
                </a:cxn>
                <a:cxn ang="0">
                  <a:pos x="0" y="2640"/>
                </a:cxn>
                <a:cxn ang="0">
                  <a:pos x="0" y="0"/>
                </a:cxn>
                <a:cxn ang="0">
                  <a:pos x="15021" y="0"/>
                </a:cxn>
                <a:cxn ang="0">
                  <a:pos x="15093" y="6"/>
                </a:cxn>
                <a:cxn ang="0">
                  <a:pos x="15160" y="23"/>
                </a:cxn>
                <a:cxn ang="0">
                  <a:pos x="15223" y="49"/>
                </a:cxn>
                <a:cxn ang="0">
                  <a:pos x="15281" y="85"/>
                </a:cxn>
                <a:cxn ang="0">
                  <a:pos x="15332" y="129"/>
                </a:cxn>
                <a:cxn ang="0">
                  <a:pos x="15376" y="180"/>
                </a:cxn>
                <a:cxn ang="0">
                  <a:pos x="15412" y="238"/>
                </a:cxn>
                <a:cxn ang="0">
                  <a:pos x="15439" y="301"/>
                </a:cxn>
                <a:cxn ang="0">
                  <a:pos x="15455" y="369"/>
                </a:cxn>
                <a:cxn ang="0">
                  <a:pos x="15461" y="440"/>
                </a:cxn>
              </a:cxnLst>
              <a:rect l="0" t="0" r="r" b="b"/>
              <a:pathLst>
                <a:path w="15461" h="2640">
                  <a:moveTo>
                    <a:pt x="15461" y="440"/>
                  </a:moveTo>
                  <a:lnTo>
                    <a:pt x="15461" y="2200"/>
                  </a:lnTo>
                  <a:lnTo>
                    <a:pt x="15455" y="2272"/>
                  </a:lnTo>
                  <a:lnTo>
                    <a:pt x="15439" y="2339"/>
                  </a:lnTo>
                  <a:lnTo>
                    <a:pt x="15412" y="2402"/>
                  </a:lnTo>
                  <a:lnTo>
                    <a:pt x="15376" y="2460"/>
                  </a:lnTo>
                  <a:lnTo>
                    <a:pt x="15332" y="2511"/>
                  </a:lnTo>
                  <a:lnTo>
                    <a:pt x="15281" y="2555"/>
                  </a:lnTo>
                  <a:lnTo>
                    <a:pt x="15223" y="2591"/>
                  </a:lnTo>
                  <a:lnTo>
                    <a:pt x="15160" y="2618"/>
                  </a:lnTo>
                  <a:lnTo>
                    <a:pt x="15093" y="2634"/>
                  </a:lnTo>
                  <a:lnTo>
                    <a:pt x="15021" y="2640"/>
                  </a:lnTo>
                  <a:lnTo>
                    <a:pt x="0" y="2640"/>
                  </a:lnTo>
                  <a:lnTo>
                    <a:pt x="0" y="0"/>
                  </a:lnTo>
                  <a:lnTo>
                    <a:pt x="15021" y="0"/>
                  </a:lnTo>
                  <a:lnTo>
                    <a:pt x="15093" y="6"/>
                  </a:lnTo>
                  <a:lnTo>
                    <a:pt x="15160" y="23"/>
                  </a:lnTo>
                  <a:lnTo>
                    <a:pt x="15223" y="49"/>
                  </a:lnTo>
                  <a:lnTo>
                    <a:pt x="15281" y="85"/>
                  </a:lnTo>
                  <a:lnTo>
                    <a:pt x="15332" y="129"/>
                  </a:lnTo>
                  <a:lnTo>
                    <a:pt x="15376" y="180"/>
                  </a:lnTo>
                  <a:lnTo>
                    <a:pt x="15412" y="238"/>
                  </a:lnTo>
                  <a:lnTo>
                    <a:pt x="15439" y="301"/>
                  </a:lnTo>
                  <a:lnTo>
                    <a:pt x="15455" y="369"/>
                  </a:lnTo>
                  <a:lnTo>
                    <a:pt x="15461" y="440"/>
                  </a:lnTo>
                  <a:close/>
                </a:path>
              </a:pathLst>
            </a:custGeom>
            <a:noFill/>
            <a:ln w="6096">
              <a:solidFill>
                <a:srgbClr val="5FD127"/>
              </a:solidFill>
              <a:round/>
              <a:headEnd/>
              <a:tailEnd/>
            </a:ln>
          </p:spPr>
          <p:txBody>
            <a:bodyPr vert="horz" wrap="square" lIns="91440" tIns="45720" rIns="91440" bIns="45720" numCol="1" anchor="t" anchorCtr="0" compatLnSpc="1">
              <a:prstTxWarp prst="textNoShape">
                <a:avLst/>
              </a:prstTxWarp>
            </a:bodyPr>
            <a:lstStyle/>
            <a:p>
              <a:endParaRPr lang="fr-FR"/>
            </a:p>
          </p:txBody>
        </p:sp>
        <p:pic>
          <p:nvPicPr>
            <p:cNvPr id="12" name="Picture 10"/>
            <p:cNvPicPr>
              <a:picLocks noChangeAspect="1" noChangeArrowheads="1"/>
            </p:cNvPicPr>
            <p:nvPr/>
          </p:nvPicPr>
          <p:blipFill>
            <a:blip r:embed="rId5"/>
            <a:srcRect/>
            <a:stretch>
              <a:fillRect/>
            </a:stretch>
          </p:blipFill>
          <p:spPr bwMode="auto">
            <a:xfrm>
              <a:off x="883" y="7267"/>
              <a:ext cx="1940" cy="2775"/>
            </a:xfrm>
            <a:prstGeom prst="rect">
              <a:avLst/>
            </a:prstGeom>
            <a:noFill/>
          </p:spPr>
        </p:pic>
        <p:sp>
          <p:nvSpPr>
            <p:cNvPr id="13" name="Freeform 11"/>
            <p:cNvSpPr>
              <a:spLocks/>
            </p:cNvSpPr>
            <p:nvPr/>
          </p:nvSpPr>
          <p:spPr bwMode="auto">
            <a:xfrm>
              <a:off x="883" y="7267"/>
              <a:ext cx="1940" cy="2775"/>
            </a:xfrm>
            <a:custGeom>
              <a:avLst/>
              <a:gdLst/>
              <a:ahLst/>
              <a:cxnLst>
                <a:cxn ang="0">
                  <a:pos x="1939" y="0"/>
                </a:cxn>
                <a:cxn ang="0">
                  <a:pos x="1939" y="1805"/>
                </a:cxn>
                <a:cxn ang="0">
                  <a:pos x="970" y="2775"/>
                </a:cxn>
                <a:cxn ang="0">
                  <a:pos x="0" y="1805"/>
                </a:cxn>
                <a:cxn ang="0">
                  <a:pos x="0" y="0"/>
                </a:cxn>
                <a:cxn ang="0">
                  <a:pos x="970" y="970"/>
                </a:cxn>
                <a:cxn ang="0">
                  <a:pos x="1939" y="0"/>
                </a:cxn>
              </a:cxnLst>
              <a:rect l="0" t="0" r="r" b="b"/>
              <a:pathLst>
                <a:path w="1940" h="2775">
                  <a:moveTo>
                    <a:pt x="1939" y="0"/>
                  </a:moveTo>
                  <a:lnTo>
                    <a:pt x="1939" y="1805"/>
                  </a:lnTo>
                  <a:lnTo>
                    <a:pt x="970" y="2775"/>
                  </a:lnTo>
                  <a:lnTo>
                    <a:pt x="0" y="1805"/>
                  </a:lnTo>
                  <a:lnTo>
                    <a:pt x="0" y="0"/>
                  </a:lnTo>
                  <a:lnTo>
                    <a:pt x="970" y="970"/>
                  </a:lnTo>
                  <a:lnTo>
                    <a:pt x="1939" y="0"/>
                  </a:lnTo>
                  <a:close/>
                </a:path>
              </a:pathLst>
            </a:custGeom>
            <a:noFill/>
            <a:ln w="6096">
              <a:solidFill>
                <a:srgbClr val="34879F"/>
              </a:solid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4" name="Freeform 12"/>
            <p:cNvSpPr>
              <a:spLocks/>
            </p:cNvSpPr>
            <p:nvPr/>
          </p:nvSpPr>
          <p:spPr bwMode="auto">
            <a:xfrm>
              <a:off x="2822" y="6883"/>
              <a:ext cx="15461" cy="2573"/>
            </a:xfrm>
            <a:custGeom>
              <a:avLst/>
              <a:gdLst/>
              <a:ahLst/>
              <a:cxnLst>
                <a:cxn ang="0">
                  <a:pos x="15032" y="0"/>
                </a:cxn>
                <a:cxn ang="0">
                  <a:pos x="0" y="0"/>
                </a:cxn>
                <a:cxn ang="0">
                  <a:pos x="0" y="2573"/>
                </a:cxn>
                <a:cxn ang="0">
                  <a:pos x="15032" y="2573"/>
                </a:cxn>
                <a:cxn ang="0">
                  <a:pos x="15109" y="2566"/>
                </a:cxn>
                <a:cxn ang="0">
                  <a:pos x="15182" y="2546"/>
                </a:cxn>
                <a:cxn ang="0">
                  <a:pos x="15249" y="2514"/>
                </a:cxn>
                <a:cxn ang="0">
                  <a:pos x="15309" y="2472"/>
                </a:cxn>
                <a:cxn ang="0">
                  <a:pos x="15360" y="2420"/>
                </a:cxn>
                <a:cxn ang="0">
                  <a:pos x="15403" y="2361"/>
                </a:cxn>
                <a:cxn ang="0">
                  <a:pos x="15434" y="2294"/>
                </a:cxn>
                <a:cxn ang="0">
                  <a:pos x="15454" y="2221"/>
                </a:cxn>
                <a:cxn ang="0">
                  <a:pos x="15461" y="2144"/>
                </a:cxn>
                <a:cxn ang="0">
                  <a:pos x="15461" y="429"/>
                </a:cxn>
                <a:cxn ang="0">
                  <a:pos x="15454" y="352"/>
                </a:cxn>
                <a:cxn ang="0">
                  <a:pos x="15434" y="279"/>
                </a:cxn>
                <a:cxn ang="0">
                  <a:pos x="15403" y="213"/>
                </a:cxn>
                <a:cxn ang="0">
                  <a:pos x="15360" y="153"/>
                </a:cxn>
                <a:cxn ang="0">
                  <a:pos x="15309" y="101"/>
                </a:cxn>
                <a:cxn ang="0">
                  <a:pos x="15249" y="59"/>
                </a:cxn>
                <a:cxn ang="0">
                  <a:pos x="15182" y="27"/>
                </a:cxn>
                <a:cxn ang="0">
                  <a:pos x="15109" y="7"/>
                </a:cxn>
                <a:cxn ang="0">
                  <a:pos x="15032" y="0"/>
                </a:cxn>
              </a:cxnLst>
              <a:rect l="0" t="0" r="r" b="b"/>
              <a:pathLst>
                <a:path w="15461" h="2573">
                  <a:moveTo>
                    <a:pt x="15032" y="0"/>
                  </a:moveTo>
                  <a:lnTo>
                    <a:pt x="0" y="0"/>
                  </a:lnTo>
                  <a:lnTo>
                    <a:pt x="0" y="2573"/>
                  </a:lnTo>
                  <a:lnTo>
                    <a:pt x="15032" y="2573"/>
                  </a:lnTo>
                  <a:lnTo>
                    <a:pt x="15109" y="2566"/>
                  </a:lnTo>
                  <a:lnTo>
                    <a:pt x="15182" y="2546"/>
                  </a:lnTo>
                  <a:lnTo>
                    <a:pt x="15249" y="2514"/>
                  </a:lnTo>
                  <a:lnTo>
                    <a:pt x="15309" y="2472"/>
                  </a:lnTo>
                  <a:lnTo>
                    <a:pt x="15360" y="2420"/>
                  </a:lnTo>
                  <a:lnTo>
                    <a:pt x="15403" y="2361"/>
                  </a:lnTo>
                  <a:lnTo>
                    <a:pt x="15434" y="2294"/>
                  </a:lnTo>
                  <a:lnTo>
                    <a:pt x="15454" y="2221"/>
                  </a:lnTo>
                  <a:lnTo>
                    <a:pt x="15461" y="2144"/>
                  </a:lnTo>
                  <a:lnTo>
                    <a:pt x="15461" y="429"/>
                  </a:lnTo>
                  <a:lnTo>
                    <a:pt x="15454" y="352"/>
                  </a:lnTo>
                  <a:lnTo>
                    <a:pt x="15434" y="279"/>
                  </a:lnTo>
                  <a:lnTo>
                    <a:pt x="15403" y="213"/>
                  </a:lnTo>
                  <a:lnTo>
                    <a:pt x="15360" y="153"/>
                  </a:lnTo>
                  <a:lnTo>
                    <a:pt x="15309" y="101"/>
                  </a:lnTo>
                  <a:lnTo>
                    <a:pt x="15249" y="59"/>
                  </a:lnTo>
                  <a:lnTo>
                    <a:pt x="15182" y="27"/>
                  </a:lnTo>
                  <a:lnTo>
                    <a:pt x="15109" y="7"/>
                  </a:lnTo>
                  <a:lnTo>
                    <a:pt x="15032" y="0"/>
                  </a:lnTo>
                  <a:close/>
                </a:path>
              </a:pathLst>
            </a:custGeom>
            <a:solidFill>
              <a:srgbClr val="FFFFFF">
                <a:alpha val="90195"/>
              </a:srgbClr>
            </a:solidFill>
            <a:ln w="9525">
              <a:noFill/>
              <a:round/>
              <a:headEnd/>
              <a:tailEnd/>
            </a:ln>
          </p:spPr>
          <p:txBody>
            <a:bodyPr vert="horz" wrap="square" lIns="91440" tIns="45720" rIns="91440" bIns="45720" numCol="1" anchor="t" anchorCtr="0" compatLnSpc="1">
              <a:prstTxWarp prst="textNoShape">
                <a:avLst/>
              </a:prstTxWarp>
            </a:bodyPr>
            <a:lstStyle/>
            <a:p>
              <a:endParaRPr lang="fr-FR"/>
            </a:p>
          </p:txBody>
        </p:sp>
        <p:sp>
          <p:nvSpPr>
            <p:cNvPr id="15" name="Freeform 13"/>
            <p:cNvSpPr>
              <a:spLocks/>
            </p:cNvSpPr>
            <p:nvPr/>
          </p:nvSpPr>
          <p:spPr bwMode="auto">
            <a:xfrm>
              <a:off x="2822" y="6883"/>
              <a:ext cx="15461" cy="2573"/>
            </a:xfrm>
            <a:custGeom>
              <a:avLst/>
              <a:gdLst/>
              <a:ahLst/>
              <a:cxnLst>
                <a:cxn ang="0">
                  <a:pos x="15461" y="429"/>
                </a:cxn>
                <a:cxn ang="0">
                  <a:pos x="15461" y="2144"/>
                </a:cxn>
                <a:cxn ang="0">
                  <a:pos x="15454" y="2221"/>
                </a:cxn>
                <a:cxn ang="0">
                  <a:pos x="15434" y="2294"/>
                </a:cxn>
                <a:cxn ang="0">
                  <a:pos x="15403" y="2361"/>
                </a:cxn>
                <a:cxn ang="0">
                  <a:pos x="15360" y="2420"/>
                </a:cxn>
                <a:cxn ang="0">
                  <a:pos x="15309" y="2472"/>
                </a:cxn>
                <a:cxn ang="0">
                  <a:pos x="15249" y="2514"/>
                </a:cxn>
                <a:cxn ang="0">
                  <a:pos x="15182" y="2546"/>
                </a:cxn>
                <a:cxn ang="0">
                  <a:pos x="15109" y="2566"/>
                </a:cxn>
                <a:cxn ang="0">
                  <a:pos x="15032" y="2573"/>
                </a:cxn>
                <a:cxn ang="0">
                  <a:pos x="0" y="2573"/>
                </a:cxn>
                <a:cxn ang="0">
                  <a:pos x="0" y="0"/>
                </a:cxn>
                <a:cxn ang="0">
                  <a:pos x="15032" y="0"/>
                </a:cxn>
                <a:cxn ang="0">
                  <a:pos x="15109" y="7"/>
                </a:cxn>
                <a:cxn ang="0">
                  <a:pos x="15182" y="27"/>
                </a:cxn>
                <a:cxn ang="0">
                  <a:pos x="15249" y="59"/>
                </a:cxn>
                <a:cxn ang="0">
                  <a:pos x="15309" y="101"/>
                </a:cxn>
                <a:cxn ang="0">
                  <a:pos x="15360" y="153"/>
                </a:cxn>
                <a:cxn ang="0">
                  <a:pos x="15403" y="213"/>
                </a:cxn>
                <a:cxn ang="0">
                  <a:pos x="15434" y="279"/>
                </a:cxn>
                <a:cxn ang="0">
                  <a:pos x="15454" y="352"/>
                </a:cxn>
                <a:cxn ang="0">
                  <a:pos x="15461" y="429"/>
                </a:cxn>
              </a:cxnLst>
              <a:rect l="0" t="0" r="r" b="b"/>
              <a:pathLst>
                <a:path w="15461" h="2573">
                  <a:moveTo>
                    <a:pt x="15461" y="429"/>
                  </a:moveTo>
                  <a:lnTo>
                    <a:pt x="15461" y="2144"/>
                  </a:lnTo>
                  <a:lnTo>
                    <a:pt x="15454" y="2221"/>
                  </a:lnTo>
                  <a:lnTo>
                    <a:pt x="15434" y="2294"/>
                  </a:lnTo>
                  <a:lnTo>
                    <a:pt x="15403" y="2361"/>
                  </a:lnTo>
                  <a:lnTo>
                    <a:pt x="15360" y="2420"/>
                  </a:lnTo>
                  <a:lnTo>
                    <a:pt x="15309" y="2472"/>
                  </a:lnTo>
                  <a:lnTo>
                    <a:pt x="15249" y="2514"/>
                  </a:lnTo>
                  <a:lnTo>
                    <a:pt x="15182" y="2546"/>
                  </a:lnTo>
                  <a:lnTo>
                    <a:pt x="15109" y="2566"/>
                  </a:lnTo>
                  <a:lnTo>
                    <a:pt x="15032" y="2573"/>
                  </a:lnTo>
                  <a:lnTo>
                    <a:pt x="0" y="2573"/>
                  </a:lnTo>
                  <a:lnTo>
                    <a:pt x="0" y="0"/>
                  </a:lnTo>
                  <a:lnTo>
                    <a:pt x="15032" y="0"/>
                  </a:lnTo>
                  <a:lnTo>
                    <a:pt x="15109" y="7"/>
                  </a:lnTo>
                  <a:lnTo>
                    <a:pt x="15182" y="27"/>
                  </a:lnTo>
                  <a:lnTo>
                    <a:pt x="15249" y="59"/>
                  </a:lnTo>
                  <a:lnTo>
                    <a:pt x="15309" y="101"/>
                  </a:lnTo>
                  <a:lnTo>
                    <a:pt x="15360" y="153"/>
                  </a:lnTo>
                  <a:lnTo>
                    <a:pt x="15403" y="213"/>
                  </a:lnTo>
                  <a:lnTo>
                    <a:pt x="15434" y="279"/>
                  </a:lnTo>
                  <a:lnTo>
                    <a:pt x="15454" y="352"/>
                  </a:lnTo>
                  <a:lnTo>
                    <a:pt x="15461" y="429"/>
                  </a:lnTo>
                  <a:close/>
                </a:path>
              </a:pathLst>
            </a:custGeom>
            <a:noFill/>
            <a:ln w="6096">
              <a:solidFill>
                <a:srgbClr val="34879F"/>
              </a:solidFill>
              <a:round/>
              <a:headEnd/>
              <a:tailEnd/>
            </a:ln>
          </p:spPr>
          <p:txBody>
            <a:bodyPr vert="horz" wrap="square" lIns="91440" tIns="45720" rIns="91440" bIns="45720" numCol="1" anchor="t" anchorCtr="0" compatLnSpc="1">
              <a:prstTxWarp prst="textNoShape">
                <a:avLst/>
              </a:prstTxWarp>
            </a:bodyPr>
            <a:lstStyle/>
            <a:p>
              <a:endParaRPr lang="fr-FR"/>
            </a:p>
          </p:txBody>
        </p:sp>
      </p:grpSp>
      <p:sp>
        <p:nvSpPr>
          <p:cNvPr id="16" name="Rectangle 15"/>
          <p:cNvSpPr/>
          <p:nvPr/>
        </p:nvSpPr>
        <p:spPr>
          <a:xfrm>
            <a:off x="616944" y="1431271"/>
            <a:ext cx="1421175" cy="830997"/>
          </a:xfrm>
          <a:prstGeom prst="rect">
            <a:avLst/>
          </a:prstGeom>
        </p:spPr>
        <p:txBody>
          <a:bodyPr wrap="square">
            <a:spAutoFit/>
          </a:bodyPr>
          <a:lstStyle/>
          <a:p>
            <a:pPr lvl="0" algn="ctr" fontAlgn="base">
              <a:spcBef>
                <a:spcPct val="0"/>
              </a:spcBef>
              <a:spcAft>
                <a:spcPct val="0"/>
              </a:spcAft>
            </a:pPr>
            <a:r>
              <a:rPr lang="fr-FR" sz="1600" b="1" dirty="0" smtClean="0">
                <a:latin typeface="Tahoma" pitchFamily="34" charset="0"/>
                <a:ea typeface="Verdana" pitchFamily="34" charset="0"/>
                <a:cs typeface="Tahoma" pitchFamily="34" charset="0"/>
              </a:rPr>
              <a:t>Les activités</a:t>
            </a:r>
            <a:endParaRPr lang="fr-FR" sz="1600" dirty="0" smtClean="0">
              <a:latin typeface="Arial" pitchFamily="34" charset="0"/>
              <a:cs typeface="Arial" pitchFamily="34" charset="0"/>
            </a:endParaRPr>
          </a:p>
          <a:p>
            <a:pPr lvl="0" algn="ctr" eaLnBrk="0" fontAlgn="base" hangingPunct="0">
              <a:spcBef>
                <a:spcPct val="0"/>
              </a:spcBef>
              <a:spcAft>
                <a:spcPct val="0"/>
              </a:spcAft>
            </a:pPr>
            <a:r>
              <a:rPr lang="fr-FR" sz="1600" b="1" dirty="0" smtClean="0">
                <a:latin typeface="Tahoma" pitchFamily="34" charset="0"/>
                <a:ea typeface="Verdana" pitchFamily="34" charset="0"/>
                <a:cs typeface="Tahoma" pitchFamily="34" charset="0"/>
              </a:rPr>
              <a:t>clés</a:t>
            </a:r>
            <a:endParaRPr lang="fr-FR" sz="1600" dirty="0" smtClean="0">
              <a:latin typeface="Arial" pitchFamily="34" charset="0"/>
              <a:cs typeface="Arial" pitchFamily="34" charset="0"/>
            </a:endParaRPr>
          </a:p>
        </p:txBody>
      </p:sp>
      <p:sp>
        <p:nvSpPr>
          <p:cNvPr id="17" name="Rectangle 15"/>
          <p:cNvSpPr>
            <a:spLocks noChangeArrowheads="1"/>
          </p:cNvSpPr>
          <p:nvPr/>
        </p:nvSpPr>
        <p:spPr bwMode="auto">
          <a:xfrm>
            <a:off x="380960" y="3500438"/>
            <a:ext cx="1643074"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chemeClr val="tx1"/>
                </a:solidFill>
                <a:effectLst/>
                <a:latin typeface="Tahoma" pitchFamily="34" charset="0"/>
                <a:ea typeface="Verdana" pitchFamily="34" charset="0"/>
                <a:cs typeface="Tahoma" pitchFamily="34" charset="0"/>
              </a:rPr>
              <a:t>Partenaires</a:t>
            </a:r>
            <a:endParaRPr kumimoji="0" lang="fr-FR" sz="9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fr-FR" sz="1600" b="1" i="0" u="none" strike="noStrike" cap="none" normalizeH="0" baseline="0" dirty="0" smtClean="0">
                <a:ln>
                  <a:noFill/>
                </a:ln>
                <a:solidFill>
                  <a:schemeClr val="tx1"/>
                </a:solidFill>
                <a:effectLst/>
                <a:latin typeface="Tahoma" pitchFamily="34" charset="0"/>
                <a:ea typeface="Verdana" pitchFamily="34" charset="0"/>
                <a:cs typeface="Tahoma" pitchFamily="34" charset="0"/>
              </a:rPr>
              <a:t>clés</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8" name="Rectangle 16"/>
          <p:cNvSpPr>
            <a:spLocks noChangeArrowheads="1"/>
          </p:cNvSpPr>
          <p:nvPr/>
        </p:nvSpPr>
        <p:spPr bwMode="auto">
          <a:xfrm>
            <a:off x="320196" y="5281052"/>
            <a:ext cx="1785950"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chemeClr val="tx1"/>
                </a:solidFill>
                <a:effectLst/>
                <a:latin typeface="Tahoma" pitchFamily="34" charset="0"/>
                <a:ea typeface="Verdana" pitchFamily="34" charset="0"/>
                <a:cs typeface="Tahoma" pitchFamily="34" charset="0"/>
              </a:rPr>
              <a:t>Structures</a:t>
            </a:r>
          </a:p>
          <a:p>
            <a:pPr marL="0" marR="0" lvl="0" indent="0" algn="ctr" defTabSz="9144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chemeClr val="tx1"/>
                </a:solidFill>
                <a:effectLst/>
                <a:latin typeface="Tahoma" pitchFamily="34" charset="0"/>
                <a:ea typeface="Verdana" pitchFamily="34" charset="0"/>
                <a:cs typeface="Tahoma" pitchFamily="34" charset="0"/>
              </a:rPr>
              <a:t> de coûts</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9" name="Rectangle 18"/>
          <p:cNvSpPr/>
          <p:nvPr/>
        </p:nvSpPr>
        <p:spPr>
          <a:xfrm>
            <a:off x="2027104" y="853662"/>
            <a:ext cx="9375354" cy="1400383"/>
          </a:xfrm>
          <a:prstGeom prst="rect">
            <a:avLst/>
          </a:prstGeom>
        </p:spPr>
        <p:txBody>
          <a:bodyPr wrap="square">
            <a:spAutoFit/>
          </a:bodyPr>
          <a:lstStyle/>
          <a:p>
            <a:pPr algn="just"/>
            <a:r>
              <a:rPr lang="fr-FR" sz="1700" dirty="0" smtClean="0">
                <a:latin typeface="Tahoma" pitchFamily="34" charset="0"/>
                <a:ea typeface="Verdana" pitchFamily="34" charset="0"/>
                <a:cs typeface="Tahoma" pitchFamily="34" charset="0"/>
              </a:rPr>
              <a:t>Il s’agit des choses les plus importantes qu’une entreprise doit faire pour que son modèle économique fonctionne. Par exemple, dire que vous vendez des produits n'est pas suffisant : s'agit-il de l'achat/revente, ou de la conception et fabrication, ou bien au contraire une place de marché (internet) ? Dans ce dernier cas l’activité réelle de l’entreprise consistera à gérer un site internet et un centre de logistique.</a:t>
            </a:r>
          </a:p>
        </p:txBody>
      </p:sp>
      <p:sp>
        <p:nvSpPr>
          <p:cNvPr id="20" name="Rectangle 19"/>
          <p:cNvSpPr/>
          <p:nvPr/>
        </p:nvSpPr>
        <p:spPr>
          <a:xfrm>
            <a:off x="2082188" y="2571744"/>
            <a:ext cx="9243152" cy="1323439"/>
          </a:xfrm>
          <a:prstGeom prst="rect">
            <a:avLst/>
          </a:prstGeom>
        </p:spPr>
        <p:txBody>
          <a:bodyPr wrap="square">
            <a:spAutoFit/>
          </a:bodyPr>
          <a:lstStyle/>
          <a:p>
            <a:pPr algn="just"/>
            <a:r>
              <a:rPr lang="fr-FR" sz="1600" dirty="0" smtClean="0">
                <a:latin typeface="Tahoma" pitchFamily="34" charset="0"/>
                <a:ea typeface="Verdana" pitchFamily="34" charset="0"/>
                <a:cs typeface="Tahoma" pitchFamily="34" charset="0"/>
              </a:rPr>
              <a:t>Ce sont les alliés extérieurs de l’entreprise grâce auxquels vous pourrez faire évoluer et améliorer votre offre. Une bonne relation partenariale peut par ailleurs vous garantir certains avantages sur vos concurrents : contrôle des prix, exclusivité d’un savoir-faire, maîtrise du cycle de production, etc. Voici des exemples de partenaires clés : fournisseurs, sous-traitants, experts, prescripteurs, anciens clients, etc.</a:t>
            </a:r>
          </a:p>
        </p:txBody>
      </p:sp>
      <p:sp>
        <p:nvSpPr>
          <p:cNvPr id="21" name="Rectangle 1"/>
          <p:cNvSpPr>
            <a:spLocks noChangeArrowheads="1"/>
          </p:cNvSpPr>
          <p:nvPr/>
        </p:nvSpPr>
        <p:spPr bwMode="auto">
          <a:xfrm>
            <a:off x="2104222" y="4500570"/>
            <a:ext cx="9254168" cy="132343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1" algn="just" defTabSz="914400" rtl="0" eaLnBrk="1" fontAlgn="base" latinLnBrk="0" hangingPunct="1">
              <a:lnSpc>
                <a:spcPct val="100000"/>
              </a:lnSpc>
              <a:spcBef>
                <a:spcPct val="0"/>
              </a:spcBef>
              <a:spcAft>
                <a:spcPct val="0"/>
              </a:spcAft>
              <a:buClrTx/>
              <a:buSzTx/>
            </a:pPr>
            <a:r>
              <a:rPr lang="fr-FR" sz="1600" dirty="0" smtClean="0">
                <a:latin typeface="Tahoma" pitchFamily="34" charset="0"/>
                <a:ea typeface="Verdana" pitchFamily="34" charset="0"/>
                <a:cs typeface="Tahoma" pitchFamily="34" charset="0"/>
              </a:rPr>
              <a:t>Il est nécessaire d’évaluer l’ensemble des coûts indispensables au bon fonctionnement de l’activité décrite. ( Coûts variables : ils dépendent du niveau d'activité de l'entreprise et augmente au fur et à mesure que le CA augmente (achat de marchandises, commissions, matières premières, </a:t>
            </a:r>
            <a:r>
              <a:rPr lang="fr-FR" sz="1600" dirty="0" err="1" smtClean="0">
                <a:latin typeface="Tahoma" pitchFamily="34" charset="0"/>
                <a:ea typeface="Verdana" pitchFamily="34" charset="0"/>
                <a:cs typeface="Tahoma" pitchFamily="34" charset="0"/>
              </a:rPr>
              <a:t>etc</a:t>
            </a:r>
            <a:r>
              <a:rPr lang="fr-FR" sz="1600" dirty="0" smtClean="0">
                <a:latin typeface="Tahoma" pitchFamily="34" charset="0"/>
                <a:ea typeface="Verdana" pitchFamily="34" charset="0"/>
                <a:cs typeface="Tahoma" pitchFamily="34" charset="0"/>
              </a:rPr>
              <a:t> et  Coûts fixes : ce sont les dépenses incompressibles indépendantes du CA (prime d’assurance, loyer, ressources humaines, etc.).</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grpSp>
        <p:nvGrpSpPr>
          <p:cNvPr id="3" name="Group 1"/>
          <p:cNvGrpSpPr>
            <a:grpSpLocks/>
          </p:cNvGrpSpPr>
          <p:nvPr/>
        </p:nvGrpSpPr>
        <p:grpSpPr bwMode="auto">
          <a:xfrm>
            <a:off x="790575" y="2063750"/>
            <a:ext cx="3070225" cy="3275013"/>
            <a:chOff x="0" y="0"/>
            <a:chExt cx="4834" cy="5156"/>
          </a:xfrm>
        </p:grpSpPr>
        <p:pic>
          <p:nvPicPr>
            <p:cNvPr id="4" name="Picture 2"/>
            <p:cNvPicPr>
              <a:picLocks noChangeAspect="1" noChangeArrowheads="1"/>
            </p:cNvPicPr>
            <p:nvPr/>
          </p:nvPicPr>
          <p:blipFill>
            <a:blip r:embed="rId3"/>
            <a:srcRect/>
            <a:stretch>
              <a:fillRect/>
            </a:stretch>
          </p:blipFill>
          <p:spPr bwMode="auto">
            <a:xfrm>
              <a:off x="4" y="4"/>
              <a:ext cx="4824" cy="1119"/>
            </a:xfrm>
            <a:prstGeom prst="rect">
              <a:avLst/>
            </a:prstGeom>
            <a:noFill/>
          </p:spPr>
        </p:pic>
        <p:sp>
          <p:nvSpPr>
            <p:cNvPr id="5" name="Rectangle 3"/>
            <p:cNvSpPr>
              <a:spLocks noChangeArrowheads="1"/>
            </p:cNvSpPr>
            <p:nvPr/>
          </p:nvSpPr>
          <p:spPr bwMode="auto">
            <a:xfrm>
              <a:off x="4" y="4"/>
              <a:ext cx="4824" cy="1119"/>
            </a:xfrm>
            <a:prstGeom prst="rect">
              <a:avLst/>
            </a:prstGeom>
            <a:noFill/>
            <a:ln w="6096">
              <a:solidFill>
                <a:srgbClr val="EF3E2B"/>
              </a:solidFill>
              <a:miter lim="800000"/>
              <a:headEnd/>
              <a:tailEnd/>
            </a:ln>
          </p:spPr>
          <p:txBody>
            <a:bodyPr vert="horz" wrap="square" lIns="91440" tIns="45720" rIns="91440" bIns="45720" numCol="1" anchor="t" anchorCtr="0" compatLnSpc="1">
              <a:prstTxWarp prst="textNoShape">
                <a:avLst/>
              </a:prstTxWarp>
            </a:bodyPr>
            <a:lstStyle/>
            <a:p>
              <a:endParaRPr lang="fr-FR"/>
            </a:p>
          </p:txBody>
        </p:sp>
        <p:sp>
          <p:nvSpPr>
            <p:cNvPr id="6" name="Text Box 4"/>
            <p:cNvSpPr txBox="1">
              <a:spLocks noChangeArrowheads="1"/>
            </p:cNvSpPr>
            <p:nvPr/>
          </p:nvSpPr>
          <p:spPr bwMode="auto">
            <a:xfrm>
              <a:off x="4" y="1128"/>
              <a:ext cx="4824" cy="4028"/>
            </a:xfrm>
            <a:prstGeom prst="rect">
              <a:avLst/>
            </a:prstGeom>
            <a:solidFill>
              <a:srgbClr val="F8CECD">
                <a:alpha val="90195"/>
              </a:srgbClr>
            </a:solidFill>
            <a:ln w="9525">
              <a:noFill/>
              <a:miter lim="800000"/>
              <a:headEnd/>
              <a:tailEnd/>
            </a:ln>
          </p:spPr>
          <p:txBody>
            <a:bodyPr vert="horz" wrap="square" lIns="0" tIns="0" rIns="0" bIns="0" numCol="1" anchor="t" anchorCtr="0" compatLnSpc="1">
              <a:prstTxWarp prst="textNoShape">
                <a:avLst/>
              </a:prstTxWarp>
            </a:bodyPr>
            <a:lstStyle/>
            <a:p>
              <a:pPr marL="92075" marR="0" lvl="1" algn="l" defTabSz="914400" rtl="0" eaLnBrk="1" fontAlgn="base" latinLnBrk="0" hangingPunct="1">
                <a:lnSpc>
                  <a:spcPct val="129000"/>
                </a:lnSpc>
                <a:spcBef>
                  <a:spcPts val="413"/>
                </a:spcBef>
                <a:spcAft>
                  <a:spcPct val="0"/>
                </a:spcAft>
                <a:buClrTx/>
                <a:buSzTx/>
                <a:buFont typeface="Verdana" pitchFamily="34" charset="0"/>
                <a:buChar char="•"/>
                <a:tabLst/>
              </a:pPr>
              <a:r>
                <a:rPr kumimoji="0" lang="fr-FR" sz="1400" b="0" i="0" u="none" strike="noStrike" cap="none" normalizeH="0" baseline="0" dirty="0" smtClean="0">
                  <a:ln>
                    <a:noFill/>
                  </a:ln>
                  <a:solidFill>
                    <a:schemeClr val="tx1"/>
                  </a:solidFill>
                  <a:effectLst/>
                  <a:latin typeface="Arial" pitchFamily="34" charset="0"/>
                  <a:ea typeface="Arial" pitchFamily="34" charset="0"/>
                  <a:cs typeface="Arial" pitchFamily="34" charset="0"/>
                </a:rPr>
                <a:t>-</a:t>
              </a:r>
              <a:r>
                <a:rPr kumimoji="0" lang="fr-FR" sz="1400" b="0" i="0" u="none" strike="noStrike" cap="none" normalizeH="0" baseline="0" dirty="0" smtClean="0">
                  <a:ln>
                    <a:noFill/>
                  </a:ln>
                  <a:solidFill>
                    <a:schemeClr val="tx1"/>
                  </a:solidFill>
                  <a:effectLst/>
                  <a:latin typeface="Calibri" pitchFamily="34" charset="0"/>
                  <a:ea typeface="Arial" pitchFamily="34" charset="0"/>
                  <a:cs typeface="Arial" pitchFamily="34" charset="0"/>
                </a:rPr>
                <a:t> collecte de données</a:t>
              </a:r>
            </a:p>
            <a:p>
              <a:pPr marL="92075" marR="0" lvl="2" algn="l" defTabSz="914400" rtl="0" eaLnBrk="1" fontAlgn="base" latinLnBrk="0" hangingPunct="1">
                <a:lnSpc>
                  <a:spcPct val="122000"/>
                </a:lnSpc>
                <a:spcBef>
                  <a:spcPct val="0"/>
                </a:spcBef>
                <a:spcAft>
                  <a:spcPct val="0"/>
                </a:spcAft>
                <a:buClrTx/>
                <a:buSzTx/>
                <a:buFont typeface="Verdana" pitchFamily="34" charset="0"/>
                <a:buChar char="-"/>
                <a:tabLst/>
              </a:pPr>
              <a:r>
                <a:rPr kumimoji="0" lang="fr-FR" sz="1400" b="0" i="0" u="none" strike="noStrike" cap="none" normalizeH="0" baseline="0" dirty="0" smtClean="0">
                  <a:ln>
                    <a:noFill/>
                  </a:ln>
                  <a:solidFill>
                    <a:schemeClr val="tx1"/>
                  </a:solidFill>
                  <a:effectLst/>
                  <a:latin typeface="Calibri" pitchFamily="34" charset="0"/>
                  <a:ea typeface="Arial" pitchFamily="34" charset="0"/>
                  <a:cs typeface="Arial" pitchFamily="34" charset="0"/>
                </a:rPr>
                <a:t>paiement des prestataires</a:t>
              </a:r>
              <a:endParaRPr kumimoji="0" lang="fr-FR" sz="14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L="92075" marR="0" lvl="2" algn="l" defTabSz="914400" rtl="0" eaLnBrk="1" fontAlgn="base" latinLnBrk="0" hangingPunct="1">
                <a:lnSpc>
                  <a:spcPct val="124000"/>
                </a:lnSpc>
                <a:spcBef>
                  <a:spcPct val="0"/>
                </a:spcBef>
                <a:spcAft>
                  <a:spcPct val="0"/>
                </a:spcAft>
                <a:buClrTx/>
                <a:buSzTx/>
                <a:buFont typeface="Verdana" pitchFamily="34" charset="0"/>
                <a:buChar char="-"/>
                <a:tabLst/>
              </a:pPr>
              <a:r>
                <a:rPr kumimoji="0" lang="fr-FR" sz="1400" b="0" i="0" u="none" strike="noStrike" cap="none" normalizeH="0" baseline="0" dirty="0" smtClean="0">
                  <a:ln>
                    <a:noFill/>
                  </a:ln>
                  <a:solidFill>
                    <a:schemeClr val="tx1"/>
                  </a:solidFill>
                  <a:effectLst/>
                  <a:latin typeface="Calibri" pitchFamily="34" charset="0"/>
                  <a:ea typeface="Arial" pitchFamily="34" charset="0"/>
                  <a:cs typeface="Arial" pitchFamily="34" charset="0"/>
                </a:rPr>
                <a:t>préparation de plats</a:t>
              </a:r>
              <a:endParaRPr kumimoji="0" lang="fr-FR" sz="14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L="92075" marR="0" lvl="0" algn="l" defTabSz="914400" rtl="0" eaLnBrk="1" fontAlgn="base" latinLnBrk="0" hangingPunct="1">
                <a:lnSpc>
                  <a:spcPct val="100000"/>
                </a:lnSpc>
                <a:spcBef>
                  <a:spcPct val="0"/>
                </a:spcBef>
                <a:spcAft>
                  <a:spcPct val="0"/>
                </a:spcAft>
                <a:buClrTx/>
                <a:buSzTx/>
                <a:buFont typeface="Verdana" pitchFamily="34" charset="0"/>
                <a:buChar char="-"/>
                <a:tabLst/>
              </a:pPr>
              <a:r>
                <a:rPr kumimoji="0" lang="fr-FR" sz="1400" b="0" i="0" u="none" strike="noStrike" cap="none" normalizeH="0" baseline="0" dirty="0" smtClean="0">
                  <a:ln>
                    <a:noFill/>
                  </a:ln>
                  <a:solidFill>
                    <a:schemeClr val="tx1"/>
                  </a:solidFill>
                  <a:effectLst/>
                  <a:latin typeface="Calibri" pitchFamily="34" charset="0"/>
                  <a:ea typeface="Arial" pitchFamily="34" charset="0"/>
                  <a:cs typeface="Arial" pitchFamily="34" charset="0"/>
                </a:rPr>
                <a:t>prestation de conseil</a:t>
              </a:r>
              <a:endParaRPr kumimoji="0" lang="fr-FR" sz="14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L="92075" marR="0" lvl="2" algn="l" defTabSz="914400" rtl="0" eaLnBrk="1" fontAlgn="base" latinLnBrk="0" hangingPunct="1">
                <a:lnSpc>
                  <a:spcPct val="122000"/>
                </a:lnSpc>
                <a:spcBef>
                  <a:spcPct val="0"/>
                </a:spcBef>
                <a:spcAft>
                  <a:spcPct val="0"/>
                </a:spcAft>
                <a:buClrTx/>
                <a:buSzTx/>
                <a:buFont typeface="Verdana" pitchFamily="34" charset="0"/>
                <a:buChar char="-"/>
                <a:tabLst/>
              </a:pPr>
              <a:r>
                <a:rPr kumimoji="0" lang="fr-FR" sz="1400" b="0" i="0" u="none" strike="noStrike" cap="none" normalizeH="0" baseline="0" dirty="0" smtClean="0">
                  <a:ln>
                    <a:noFill/>
                  </a:ln>
                  <a:solidFill>
                    <a:schemeClr val="tx1"/>
                  </a:solidFill>
                  <a:effectLst/>
                  <a:latin typeface="Calibri" pitchFamily="34" charset="0"/>
                  <a:ea typeface="Arial" pitchFamily="34" charset="0"/>
                  <a:cs typeface="Arial" pitchFamily="34" charset="0"/>
                </a:rPr>
                <a:t>vente de produit</a:t>
              </a:r>
              <a:endParaRPr kumimoji="0" lang="fr-FR" sz="14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L="92075" marR="0" lvl="2" algn="l" defTabSz="914400" rtl="0" eaLnBrk="1" fontAlgn="base" latinLnBrk="0" hangingPunct="1">
                <a:lnSpc>
                  <a:spcPct val="124000"/>
                </a:lnSpc>
                <a:spcBef>
                  <a:spcPct val="0"/>
                </a:spcBef>
                <a:spcAft>
                  <a:spcPct val="0"/>
                </a:spcAft>
                <a:buClrTx/>
                <a:buSzTx/>
                <a:buFont typeface="Verdana" pitchFamily="34" charset="0"/>
                <a:buChar char="-"/>
                <a:tabLst/>
              </a:pPr>
              <a:r>
                <a:rPr kumimoji="0" lang="fr-FR" sz="1400" b="0" i="0" u="none" strike="noStrike" cap="none" normalizeH="0" baseline="0" dirty="0" smtClean="0">
                  <a:ln>
                    <a:noFill/>
                  </a:ln>
                  <a:solidFill>
                    <a:schemeClr val="tx1"/>
                  </a:solidFill>
                  <a:effectLst/>
                  <a:latin typeface="Calibri" pitchFamily="34" charset="0"/>
                  <a:ea typeface="Arial" pitchFamily="34" charset="0"/>
                  <a:cs typeface="Arial" pitchFamily="34" charset="0"/>
                </a:rPr>
                <a:t>production de contenu</a:t>
              </a:r>
            </a:p>
            <a:p>
              <a:pPr marL="92075" marR="0" lvl="0" algn="l" defTabSz="914400" rtl="0" eaLnBrk="1" fontAlgn="base" latinLnBrk="0" hangingPunct="1">
                <a:lnSpc>
                  <a:spcPct val="100000"/>
                </a:lnSpc>
                <a:spcBef>
                  <a:spcPct val="0"/>
                </a:spcBef>
                <a:spcAft>
                  <a:spcPct val="0"/>
                </a:spcAft>
                <a:buClrTx/>
                <a:buSzTx/>
                <a:buFont typeface="Verdana" pitchFamily="34" charset="0"/>
                <a:buChar char="-"/>
                <a:tabLst/>
              </a:pPr>
              <a:r>
                <a:rPr kumimoji="0" lang="fr-FR" sz="1400" b="0" i="0" u="none" strike="noStrike" cap="none" normalizeH="0" baseline="0" dirty="0" smtClean="0">
                  <a:ln>
                    <a:noFill/>
                  </a:ln>
                  <a:solidFill>
                    <a:schemeClr val="tx1"/>
                  </a:solidFill>
                  <a:effectLst/>
                  <a:latin typeface="Calibri" pitchFamily="34" charset="0"/>
                  <a:ea typeface="Arial" pitchFamily="34" charset="0"/>
                  <a:cs typeface="Arial" pitchFamily="34" charset="0"/>
                </a:rPr>
                <a:t>location d'appartement</a:t>
              </a:r>
            </a:p>
            <a:p>
              <a:pPr marL="92075" marR="0" lvl="2" algn="l" defTabSz="914400" rtl="0" eaLnBrk="1" fontAlgn="base" latinLnBrk="0" hangingPunct="1">
                <a:lnSpc>
                  <a:spcPct val="129000"/>
                </a:lnSpc>
                <a:spcBef>
                  <a:spcPct val="0"/>
                </a:spcBef>
                <a:spcAft>
                  <a:spcPct val="0"/>
                </a:spcAft>
                <a:buClrTx/>
                <a:buSzTx/>
                <a:buFont typeface="Verdana" pitchFamily="34" charset="0"/>
                <a:buChar char="-"/>
                <a:tabLst/>
              </a:pPr>
              <a:r>
                <a:rPr kumimoji="0" lang="fr-FR" sz="1400" b="0" i="0" u="none" strike="noStrike" cap="none" normalizeH="0" baseline="0" dirty="0" smtClean="0">
                  <a:ln>
                    <a:noFill/>
                  </a:ln>
                  <a:solidFill>
                    <a:schemeClr val="tx1"/>
                  </a:solidFill>
                  <a:effectLst/>
                  <a:latin typeface="Calibri" pitchFamily="34" charset="0"/>
                  <a:ea typeface="Arial" pitchFamily="34" charset="0"/>
                  <a:cs typeface="Arial" pitchFamily="34" charset="0"/>
                </a:rPr>
                <a:t>mise en relation</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7" name="Text Box 5"/>
            <p:cNvSpPr txBox="1">
              <a:spLocks noChangeArrowheads="1"/>
            </p:cNvSpPr>
            <p:nvPr/>
          </p:nvSpPr>
          <p:spPr bwMode="auto">
            <a:xfrm>
              <a:off x="4" y="4"/>
              <a:ext cx="4824" cy="1119"/>
            </a:xfrm>
            <a:prstGeom prst="rect">
              <a:avLst/>
            </a:prstGeom>
            <a:noFill/>
            <a:ln w="6096">
              <a:solidFill>
                <a:srgbClr val="EF3E2B"/>
              </a:solidFill>
              <a:miter lim="800000"/>
              <a:headEnd/>
              <a:tailEnd/>
            </a:ln>
          </p:spPr>
          <p:txBody>
            <a:bodyPr vert="horz" wrap="square" lIns="0" tIns="0" rIns="0" bIns="0" numCol="1" anchor="t" anchorCtr="0" compatLnSpc="1">
              <a:prstTxWarp prst="textNoShape">
                <a:avLst/>
              </a:prstTxWarp>
            </a:bodyPr>
            <a:lstStyle/>
            <a:p>
              <a:pPr marL="457200" marR="473075" lvl="1" indent="0" algn="ctr" defTabSz="914400" rtl="0" eaLnBrk="1" fontAlgn="base" latinLnBrk="0" hangingPunct="1">
                <a:lnSpc>
                  <a:spcPct val="100000"/>
                </a:lnSpc>
                <a:spcBef>
                  <a:spcPts val="425"/>
                </a:spcBef>
                <a:spcAft>
                  <a:spcPts val="1000"/>
                </a:spcAft>
                <a:buClrTx/>
                <a:buSzTx/>
                <a:buFontTx/>
                <a:buNone/>
                <a:tabLst/>
              </a:pPr>
              <a:r>
                <a:rPr kumimoji="0" lang="fr-FR" sz="1400" b="1" i="0" u="none" strike="noStrike" cap="none" normalizeH="0" baseline="0" dirty="0" smtClean="0">
                  <a:ln>
                    <a:noFill/>
                  </a:ln>
                  <a:solidFill>
                    <a:schemeClr val="tx1"/>
                  </a:solidFill>
                  <a:effectLst/>
                  <a:latin typeface="Tahoma" pitchFamily="34" charset="0"/>
                  <a:ea typeface="Arial" pitchFamily="34" charset="0"/>
                  <a:cs typeface="Arial" pitchFamily="34" charset="0"/>
                </a:rPr>
                <a:t>DES EXEMPLES D'ACTIVITÉS CLÉS</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grpSp>
      <p:grpSp>
        <p:nvGrpSpPr>
          <p:cNvPr id="8" name="Group 6"/>
          <p:cNvGrpSpPr>
            <a:grpSpLocks/>
          </p:cNvGrpSpPr>
          <p:nvPr/>
        </p:nvGrpSpPr>
        <p:grpSpPr bwMode="auto">
          <a:xfrm>
            <a:off x="4283075" y="2063750"/>
            <a:ext cx="3070225" cy="3275013"/>
            <a:chOff x="0" y="0"/>
            <a:chExt cx="4834" cy="5156"/>
          </a:xfrm>
        </p:grpSpPr>
        <p:pic>
          <p:nvPicPr>
            <p:cNvPr id="9" name="Picture 7"/>
            <p:cNvPicPr>
              <a:picLocks noChangeAspect="1" noChangeArrowheads="1"/>
            </p:cNvPicPr>
            <p:nvPr/>
          </p:nvPicPr>
          <p:blipFill>
            <a:blip r:embed="rId4"/>
            <a:srcRect/>
            <a:stretch>
              <a:fillRect/>
            </a:stretch>
          </p:blipFill>
          <p:spPr bwMode="auto">
            <a:xfrm>
              <a:off x="4" y="4"/>
              <a:ext cx="4824" cy="1119"/>
            </a:xfrm>
            <a:prstGeom prst="rect">
              <a:avLst/>
            </a:prstGeom>
            <a:noFill/>
          </p:spPr>
        </p:pic>
        <p:sp>
          <p:nvSpPr>
            <p:cNvPr id="10" name="Rectangle 8"/>
            <p:cNvSpPr>
              <a:spLocks noChangeArrowheads="1"/>
            </p:cNvSpPr>
            <p:nvPr/>
          </p:nvSpPr>
          <p:spPr bwMode="auto">
            <a:xfrm>
              <a:off x="4" y="4"/>
              <a:ext cx="4824" cy="1119"/>
            </a:xfrm>
            <a:prstGeom prst="rect">
              <a:avLst/>
            </a:prstGeom>
            <a:noFill/>
            <a:ln w="6096">
              <a:solidFill>
                <a:srgbClr val="34879F"/>
              </a:solidFill>
              <a:miter lim="800000"/>
              <a:headEnd/>
              <a:tailEnd/>
            </a:ln>
          </p:spPr>
          <p:txBody>
            <a:bodyPr vert="horz" wrap="square" lIns="91440" tIns="45720" rIns="91440" bIns="45720" numCol="1" anchor="t" anchorCtr="0" compatLnSpc="1">
              <a:prstTxWarp prst="textNoShape">
                <a:avLst/>
              </a:prstTxWarp>
            </a:bodyPr>
            <a:lstStyle/>
            <a:p>
              <a:endParaRPr lang="fr-FR"/>
            </a:p>
          </p:txBody>
        </p:sp>
        <p:sp>
          <p:nvSpPr>
            <p:cNvPr id="11" name="Text Box 9"/>
            <p:cNvSpPr txBox="1">
              <a:spLocks noChangeArrowheads="1"/>
            </p:cNvSpPr>
            <p:nvPr/>
          </p:nvSpPr>
          <p:spPr bwMode="auto">
            <a:xfrm>
              <a:off x="4" y="1128"/>
              <a:ext cx="4824" cy="4028"/>
            </a:xfrm>
            <a:prstGeom prst="rect">
              <a:avLst/>
            </a:prstGeom>
            <a:solidFill>
              <a:srgbClr val="CDDADF">
                <a:alpha val="90195"/>
              </a:srgbClr>
            </a:solidFill>
            <a:ln w="9525">
              <a:noFill/>
              <a:miter lim="800000"/>
              <a:headEnd/>
              <a:tailEnd/>
            </a:ln>
          </p:spPr>
          <p:txBody>
            <a:bodyPr vert="horz" wrap="square" lIns="0" tIns="0" rIns="0" bIns="0" numCol="1" anchor="t" anchorCtr="0" compatLnSpc="1">
              <a:prstTxWarp prst="textNoShape">
                <a:avLst/>
              </a:prstTxWarp>
            </a:bodyPr>
            <a:lstStyle/>
            <a:p>
              <a:pPr marR="0" lvl="1" indent="-365125" algn="l" defTabSz="914400" rtl="0" eaLnBrk="1" fontAlgn="base" latinLnBrk="0" hangingPunct="1">
                <a:lnSpc>
                  <a:spcPct val="129000"/>
                </a:lnSpc>
                <a:spcBef>
                  <a:spcPts val="413"/>
                </a:spcBef>
                <a:spcAft>
                  <a:spcPct val="0"/>
                </a:spcAft>
                <a:buClrTx/>
                <a:buSzTx/>
                <a:buFont typeface="Verdana" pitchFamily="34" charset="0"/>
                <a:buChar char="•"/>
                <a:tabLst/>
              </a:pPr>
              <a:r>
                <a:rPr kumimoji="0" lang="fr-FR" sz="1400" b="0" i="0" u="none" strike="noStrike" cap="none" normalizeH="0" baseline="0" dirty="0" smtClean="0">
                  <a:ln>
                    <a:noFill/>
                  </a:ln>
                  <a:solidFill>
                    <a:schemeClr val="tx1"/>
                  </a:solidFill>
                  <a:effectLst/>
                  <a:latin typeface="Arial" pitchFamily="34" charset="0"/>
                  <a:ea typeface="Arial" pitchFamily="34" charset="0"/>
                  <a:cs typeface="Arial" pitchFamily="34" charset="0"/>
                </a:rPr>
                <a:t>-</a:t>
              </a:r>
              <a:r>
                <a:rPr kumimoji="0" lang="fr-FR" sz="1400" b="0" i="0" u="none" strike="noStrike" cap="none" normalizeH="0" baseline="0" dirty="0" smtClean="0">
                  <a:ln>
                    <a:noFill/>
                  </a:ln>
                  <a:solidFill>
                    <a:schemeClr val="tx1"/>
                  </a:solidFill>
                  <a:effectLst/>
                  <a:latin typeface="Calibri" pitchFamily="34" charset="0"/>
                  <a:ea typeface="Arial" pitchFamily="34" charset="0"/>
                  <a:cs typeface="Arial" pitchFamily="34" charset="0"/>
                </a:rPr>
                <a:t> des agences marketing</a:t>
              </a:r>
              <a:endParaRPr kumimoji="0" lang="fr-FR" sz="14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L="457200" marR="0" lvl="2" indent="-365125" algn="l" defTabSz="914400" rtl="0" eaLnBrk="1" fontAlgn="base" latinLnBrk="0" hangingPunct="1">
                <a:lnSpc>
                  <a:spcPct val="122000"/>
                </a:lnSpc>
                <a:spcBef>
                  <a:spcPct val="0"/>
                </a:spcBef>
                <a:spcAft>
                  <a:spcPct val="0"/>
                </a:spcAft>
                <a:buClrTx/>
                <a:buSzTx/>
                <a:buFont typeface="Verdana" pitchFamily="34" charset="0"/>
                <a:buChar char="-"/>
                <a:tabLst/>
              </a:pPr>
              <a:r>
                <a:rPr kumimoji="0" lang="fr-FR" sz="1400" b="0" i="0" u="none" strike="noStrike" cap="none" normalizeH="0" baseline="0" dirty="0" smtClean="0">
                  <a:ln>
                    <a:noFill/>
                  </a:ln>
                  <a:solidFill>
                    <a:schemeClr val="tx1"/>
                  </a:solidFill>
                  <a:effectLst/>
                  <a:latin typeface="Calibri" pitchFamily="34" charset="0"/>
                  <a:ea typeface="Arial" pitchFamily="34" charset="0"/>
                  <a:cs typeface="Arial" pitchFamily="34" charset="0"/>
                </a:rPr>
                <a:t>des collectivités locales</a:t>
              </a:r>
              <a:endParaRPr kumimoji="0" lang="fr-FR" sz="14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L="457200" marR="0" lvl="2" indent="-365125" algn="l" defTabSz="914400" rtl="0" eaLnBrk="1" fontAlgn="base" latinLnBrk="0" hangingPunct="1">
                <a:lnSpc>
                  <a:spcPct val="124000"/>
                </a:lnSpc>
                <a:spcBef>
                  <a:spcPct val="0"/>
                </a:spcBef>
                <a:spcAft>
                  <a:spcPct val="0"/>
                </a:spcAft>
                <a:buClrTx/>
                <a:buSzTx/>
                <a:buFont typeface="Verdana" pitchFamily="34" charset="0"/>
                <a:buChar char="-"/>
                <a:tabLst/>
              </a:pPr>
              <a:r>
                <a:rPr kumimoji="0" lang="fr-FR" sz="1400" b="0" i="0" u="none" strike="noStrike" cap="none" normalizeH="0" baseline="0" dirty="0" smtClean="0">
                  <a:ln>
                    <a:noFill/>
                  </a:ln>
                  <a:solidFill>
                    <a:schemeClr val="tx1"/>
                  </a:solidFill>
                  <a:effectLst/>
                  <a:latin typeface="Calibri" pitchFamily="34" charset="0"/>
                  <a:ea typeface="Arial" pitchFamily="34" charset="0"/>
                  <a:cs typeface="Arial" pitchFamily="34" charset="0"/>
                </a:rPr>
                <a:t>des agences immobilières</a:t>
              </a:r>
              <a:endParaRPr kumimoji="0" lang="fr-FR" sz="14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L="457200" marR="0" lvl="0" indent="-365125" algn="l" defTabSz="914400" rtl="0" eaLnBrk="1" fontAlgn="base" latinLnBrk="0" hangingPunct="1">
                <a:lnSpc>
                  <a:spcPct val="100000"/>
                </a:lnSpc>
                <a:spcBef>
                  <a:spcPct val="0"/>
                </a:spcBef>
                <a:spcAft>
                  <a:spcPct val="0"/>
                </a:spcAft>
                <a:buClrTx/>
                <a:buSzTx/>
                <a:buFont typeface="Verdana" pitchFamily="34" charset="0"/>
                <a:buChar char="-"/>
                <a:tabLst/>
              </a:pPr>
              <a:r>
                <a:rPr kumimoji="0" lang="fr-FR" sz="1400" b="0" i="0" u="none" strike="noStrike" cap="none" normalizeH="0" baseline="0" dirty="0" smtClean="0">
                  <a:ln>
                    <a:noFill/>
                  </a:ln>
                  <a:solidFill>
                    <a:schemeClr val="tx1"/>
                  </a:solidFill>
                  <a:effectLst/>
                  <a:latin typeface="Calibri" pitchFamily="34" charset="0"/>
                  <a:ea typeface="Arial" pitchFamily="34" charset="0"/>
                  <a:cs typeface="Arial" pitchFamily="34" charset="0"/>
                </a:rPr>
                <a:t>des propriétaires d'immeubles</a:t>
              </a:r>
              <a:endParaRPr kumimoji="0" lang="fr-FR" sz="14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L="457200" marR="0" lvl="2" indent="-365125" algn="l" defTabSz="914400" rtl="0" eaLnBrk="1" fontAlgn="base" latinLnBrk="0" hangingPunct="1">
                <a:lnSpc>
                  <a:spcPct val="122000"/>
                </a:lnSpc>
                <a:spcBef>
                  <a:spcPct val="0"/>
                </a:spcBef>
                <a:spcAft>
                  <a:spcPct val="0"/>
                </a:spcAft>
                <a:buClrTx/>
                <a:buSzTx/>
                <a:buFont typeface="Verdana" pitchFamily="34" charset="0"/>
                <a:buChar char="-"/>
                <a:tabLst/>
              </a:pPr>
              <a:r>
                <a:rPr kumimoji="0" lang="fr-FR" sz="1400" b="0" i="0" u="none" strike="noStrike" cap="none" normalizeH="0" baseline="0" dirty="0" smtClean="0">
                  <a:ln>
                    <a:noFill/>
                  </a:ln>
                  <a:solidFill>
                    <a:schemeClr val="tx1"/>
                  </a:solidFill>
                  <a:effectLst/>
                  <a:latin typeface="Calibri" pitchFamily="34" charset="0"/>
                  <a:ea typeface="Arial" pitchFamily="34" charset="0"/>
                  <a:cs typeface="Arial" pitchFamily="34" charset="0"/>
                </a:rPr>
                <a:t>des apporteurs d'affaires</a:t>
              </a:r>
              <a:endParaRPr kumimoji="0" lang="fr-FR" sz="14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L="457200" marR="0" lvl="2" indent="-365125" algn="l" defTabSz="914400" rtl="0" eaLnBrk="1" fontAlgn="base" latinLnBrk="0" hangingPunct="1">
                <a:lnSpc>
                  <a:spcPct val="124000"/>
                </a:lnSpc>
                <a:spcBef>
                  <a:spcPct val="0"/>
                </a:spcBef>
                <a:spcAft>
                  <a:spcPct val="0"/>
                </a:spcAft>
                <a:buClrTx/>
                <a:buSzTx/>
                <a:buFont typeface="Verdana" pitchFamily="34" charset="0"/>
                <a:buChar char="-"/>
                <a:tabLst/>
              </a:pPr>
              <a:r>
                <a:rPr kumimoji="0" lang="fr-FR" sz="1400" b="0" i="0" u="none" strike="noStrike" cap="none" normalizeH="0" baseline="0" dirty="0" smtClean="0">
                  <a:ln>
                    <a:noFill/>
                  </a:ln>
                  <a:solidFill>
                    <a:schemeClr val="tx1"/>
                  </a:solidFill>
                  <a:effectLst/>
                  <a:latin typeface="Calibri" pitchFamily="34" charset="0"/>
                  <a:ea typeface="Arial" pitchFamily="34" charset="0"/>
                  <a:cs typeface="Arial" pitchFamily="34" charset="0"/>
                </a:rPr>
                <a:t>des </a:t>
              </a:r>
              <a:r>
                <a:rPr kumimoji="0" lang="fr-FR" sz="1400" b="0" i="0" u="none" strike="noStrike" cap="none" normalizeH="0" baseline="0" dirty="0" err="1" smtClean="0">
                  <a:ln>
                    <a:noFill/>
                  </a:ln>
                  <a:solidFill>
                    <a:schemeClr val="tx1"/>
                  </a:solidFill>
                  <a:effectLst/>
                  <a:latin typeface="Calibri" pitchFamily="34" charset="0"/>
                  <a:ea typeface="Arial" pitchFamily="34" charset="0"/>
                  <a:cs typeface="Arial" pitchFamily="34" charset="0"/>
                </a:rPr>
                <a:t>influenceurs</a:t>
              </a:r>
              <a:endParaRPr kumimoji="0" lang="fr-FR" sz="14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L="457200" marR="0" lvl="0" indent="-365125" algn="l" defTabSz="914400" rtl="0" eaLnBrk="1" fontAlgn="base" latinLnBrk="0" hangingPunct="1">
                <a:lnSpc>
                  <a:spcPct val="100000"/>
                </a:lnSpc>
                <a:spcBef>
                  <a:spcPct val="0"/>
                </a:spcBef>
                <a:spcAft>
                  <a:spcPct val="0"/>
                </a:spcAft>
                <a:buClrTx/>
                <a:buSzTx/>
                <a:buFont typeface="Verdana" pitchFamily="34" charset="0"/>
                <a:buChar char="-"/>
                <a:tabLst/>
              </a:pPr>
              <a:r>
                <a:rPr kumimoji="0" lang="fr-FR" sz="1400" b="0" i="0" u="none" strike="noStrike" cap="none" normalizeH="0" baseline="0" dirty="0" smtClean="0">
                  <a:ln>
                    <a:noFill/>
                  </a:ln>
                  <a:solidFill>
                    <a:schemeClr val="tx1"/>
                  </a:solidFill>
                  <a:effectLst/>
                  <a:latin typeface="Calibri" pitchFamily="34" charset="0"/>
                  <a:ea typeface="Arial" pitchFamily="34" charset="0"/>
                  <a:cs typeface="Arial" pitchFamily="34" charset="0"/>
                </a:rPr>
                <a:t>des producteurs de matières</a:t>
              </a:r>
              <a:endParaRPr kumimoji="0" lang="fr-FR" sz="14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R="0" lvl="1" indent="-365125" algn="l" defTabSz="914400" rtl="0" eaLnBrk="1" fontAlgn="base" latinLnBrk="0" hangingPunct="1">
                <a:lnSpc>
                  <a:spcPct val="124000"/>
                </a:lnSpc>
                <a:spcBef>
                  <a:spcPct val="0"/>
                </a:spcBef>
                <a:spcAft>
                  <a:spcPts val="1000"/>
                </a:spcAft>
                <a:buClrTx/>
                <a:buSzTx/>
                <a:buFontTx/>
                <a:buNone/>
                <a:tabLst/>
              </a:pPr>
              <a:r>
                <a:rPr kumimoji="0" lang="fr-FR" sz="1400" b="0" i="0" u="none" strike="noStrike" cap="none" normalizeH="0" baseline="0" dirty="0" smtClean="0">
                  <a:ln>
                    <a:noFill/>
                  </a:ln>
                  <a:solidFill>
                    <a:schemeClr val="tx1"/>
                  </a:solidFill>
                  <a:effectLst/>
                  <a:latin typeface="Calibri" pitchFamily="34" charset="0"/>
                  <a:ea typeface="Arial" pitchFamily="34" charset="0"/>
                  <a:cs typeface="Arial" pitchFamily="34" charset="0"/>
                </a:rPr>
                <a:t>Premières</a:t>
              </a:r>
            </a:p>
            <a:p>
              <a:pPr marL="457200" marR="0" lvl="2" indent="-365125" algn="l" defTabSz="914400" rtl="0" eaLnBrk="1" fontAlgn="base" latinLnBrk="0" hangingPunct="1">
                <a:lnSpc>
                  <a:spcPct val="129000"/>
                </a:lnSpc>
                <a:spcBef>
                  <a:spcPct val="0"/>
                </a:spcBef>
                <a:spcAft>
                  <a:spcPct val="0"/>
                </a:spcAft>
                <a:buClrTx/>
                <a:buSzTx/>
                <a:buFont typeface="Verdana" pitchFamily="34" charset="0"/>
                <a:buChar char="-"/>
                <a:tabLst/>
              </a:pPr>
              <a:r>
                <a:rPr kumimoji="0" lang="fr-FR" sz="1400" b="0" i="0" u="none" strike="noStrike" cap="none" normalizeH="0" baseline="0" dirty="0" smtClean="0">
                  <a:ln>
                    <a:noFill/>
                  </a:ln>
                  <a:solidFill>
                    <a:schemeClr val="tx1"/>
                  </a:solidFill>
                  <a:effectLst/>
                  <a:latin typeface="Calibri" pitchFamily="34" charset="0"/>
                  <a:ea typeface="Arial" pitchFamily="34" charset="0"/>
                  <a:cs typeface="Arial" pitchFamily="34" charset="0"/>
                </a:rPr>
                <a:t>des incubateurs</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2" name="Text Box 10"/>
            <p:cNvSpPr txBox="1">
              <a:spLocks noChangeArrowheads="1"/>
            </p:cNvSpPr>
            <p:nvPr/>
          </p:nvSpPr>
          <p:spPr bwMode="auto">
            <a:xfrm>
              <a:off x="4" y="4"/>
              <a:ext cx="4824" cy="1119"/>
            </a:xfrm>
            <a:prstGeom prst="rect">
              <a:avLst/>
            </a:prstGeom>
            <a:noFill/>
            <a:ln w="6096">
              <a:solidFill>
                <a:srgbClr val="34879F"/>
              </a:solidFill>
              <a:miter lim="800000"/>
              <a:headEnd/>
              <a:tailEnd/>
            </a:ln>
          </p:spPr>
          <p:txBody>
            <a:bodyPr vert="horz" wrap="square" lIns="0" tIns="0" rIns="0" bIns="0" numCol="1" anchor="t" anchorCtr="0" compatLnSpc="1">
              <a:prstTxWarp prst="textNoShape">
                <a:avLst/>
              </a:prstTxWarp>
            </a:bodyPr>
            <a:lstStyle/>
            <a:p>
              <a:pPr marL="457200" marR="558800" lvl="1" indent="0" algn="l" defTabSz="914400" rtl="0" eaLnBrk="1" fontAlgn="base" latinLnBrk="0" hangingPunct="1">
                <a:lnSpc>
                  <a:spcPct val="100000"/>
                </a:lnSpc>
                <a:spcBef>
                  <a:spcPts val="1200"/>
                </a:spcBef>
                <a:spcAft>
                  <a:spcPts val="1000"/>
                </a:spcAft>
                <a:buClrTx/>
                <a:buSzTx/>
                <a:buFontTx/>
                <a:buNone/>
                <a:tabLst/>
              </a:pPr>
              <a:r>
                <a:rPr kumimoji="0" lang="fr-FR" sz="1400" b="1" i="0" u="none" strike="noStrike" cap="none" normalizeH="0" baseline="0" dirty="0" smtClean="0">
                  <a:ln>
                    <a:noFill/>
                  </a:ln>
                  <a:solidFill>
                    <a:schemeClr val="tx1"/>
                  </a:solidFill>
                  <a:effectLst/>
                  <a:latin typeface="Tahoma" pitchFamily="34" charset="0"/>
                  <a:ea typeface="Arial" pitchFamily="34" charset="0"/>
                  <a:cs typeface="Arial" pitchFamily="34" charset="0"/>
                </a:rPr>
                <a:t>DES EXEMPLES DE PARTENAIRES CLES</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grpSp>
      <p:grpSp>
        <p:nvGrpSpPr>
          <p:cNvPr id="13" name="Group 11"/>
          <p:cNvGrpSpPr>
            <a:grpSpLocks/>
          </p:cNvGrpSpPr>
          <p:nvPr/>
        </p:nvGrpSpPr>
        <p:grpSpPr bwMode="auto">
          <a:xfrm>
            <a:off x="7778116" y="2066291"/>
            <a:ext cx="3389696" cy="3272472"/>
            <a:chOff x="4" y="4"/>
            <a:chExt cx="5337" cy="5152"/>
          </a:xfrm>
        </p:grpSpPr>
        <p:pic>
          <p:nvPicPr>
            <p:cNvPr id="14" name="Picture 12"/>
            <p:cNvPicPr>
              <a:picLocks noChangeAspect="1" noChangeArrowheads="1"/>
            </p:cNvPicPr>
            <p:nvPr/>
          </p:nvPicPr>
          <p:blipFill>
            <a:blip r:embed="rId5"/>
            <a:srcRect/>
            <a:stretch>
              <a:fillRect/>
            </a:stretch>
          </p:blipFill>
          <p:spPr bwMode="auto">
            <a:xfrm>
              <a:off x="4" y="4"/>
              <a:ext cx="5337" cy="1119"/>
            </a:xfrm>
            <a:prstGeom prst="rect">
              <a:avLst/>
            </a:prstGeom>
            <a:noFill/>
          </p:spPr>
        </p:pic>
        <p:sp>
          <p:nvSpPr>
            <p:cNvPr id="15" name="Rectangle 13"/>
            <p:cNvSpPr>
              <a:spLocks noChangeArrowheads="1"/>
            </p:cNvSpPr>
            <p:nvPr/>
          </p:nvSpPr>
          <p:spPr bwMode="auto">
            <a:xfrm>
              <a:off x="4" y="4"/>
              <a:ext cx="4829" cy="1119"/>
            </a:xfrm>
            <a:prstGeom prst="rect">
              <a:avLst/>
            </a:prstGeom>
            <a:noFill/>
            <a:ln w="6096">
              <a:solidFill>
                <a:srgbClr val="F8D22E"/>
              </a:solidFill>
              <a:miter lim="800000"/>
              <a:headEnd/>
              <a:tailEnd/>
            </a:ln>
          </p:spPr>
          <p:txBody>
            <a:bodyPr vert="horz" wrap="square" lIns="91440" tIns="45720" rIns="91440" bIns="45720" numCol="1" anchor="t" anchorCtr="0" compatLnSpc="1">
              <a:prstTxWarp prst="textNoShape">
                <a:avLst/>
              </a:prstTxWarp>
            </a:bodyPr>
            <a:lstStyle/>
            <a:p>
              <a:endParaRPr lang="fr-FR"/>
            </a:p>
          </p:txBody>
        </p:sp>
        <p:sp>
          <p:nvSpPr>
            <p:cNvPr id="16" name="Text Box 14"/>
            <p:cNvSpPr txBox="1">
              <a:spLocks noChangeArrowheads="1"/>
            </p:cNvSpPr>
            <p:nvPr/>
          </p:nvSpPr>
          <p:spPr bwMode="auto">
            <a:xfrm>
              <a:off x="4" y="1128"/>
              <a:ext cx="5337" cy="4028"/>
            </a:xfrm>
            <a:prstGeom prst="rect">
              <a:avLst/>
            </a:prstGeom>
            <a:solidFill>
              <a:srgbClr val="FBEDCD">
                <a:alpha val="90195"/>
              </a:srgbClr>
            </a:solidFill>
            <a:ln w="9525">
              <a:noFill/>
              <a:miter lim="800000"/>
              <a:headEnd/>
              <a:tailEnd/>
            </a:ln>
          </p:spPr>
          <p:txBody>
            <a:bodyPr vert="horz" wrap="square" lIns="0" tIns="0" rIns="0" bIns="0" numCol="1" anchor="t" anchorCtr="0" compatLnSpc="1">
              <a:prstTxWarp prst="textNoShape">
                <a:avLst/>
              </a:prstTxWarp>
            </a:bodyPr>
            <a:lstStyle/>
            <a:p>
              <a:pPr marL="0" marR="1555750" lvl="1" algn="just" defTabSz="914400" rtl="0" eaLnBrk="1" fontAlgn="base" latinLnBrk="0" hangingPunct="1">
                <a:lnSpc>
                  <a:spcPct val="100000"/>
                </a:lnSpc>
                <a:spcBef>
                  <a:spcPts val="550"/>
                </a:spcBef>
                <a:spcAft>
                  <a:spcPct val="0"/>
                </a:spcAft>
                <a:buClrTx/>
                <a:buSzTx/>
                <a:tabLst>
                  <a:tab pos="0" algn="l"/>
                  <a:tab pos="173038" algn="l"/>
                  <a:tab pos="266700" algn="l"/>
                </a:tabLst>
              </a:pPr>
              <a:r>
                <a:rPr lang="fr-FR" sz="1400" dirty="0" smtClean="0">
                  <a:latin typeface="Arial" pitchFamily="34" charset="0"/>
                  <a:ea typeface="Arial" pitchFamily="34" charset="0"/>
                  <a:cs typeface="Arial" pitchFamily="34" charset="0"/>
                </a:rPr>
                <a:t>- </a:t>
              </a:r>
              <a:r>
                <a:rPr kumimoji="0" lang="fr-FR" sz="1400" b="0" i="0" u="none" strike="noStrike" cap="none" normalizeH="0" baseline="0" dirty="0" smtClean="0">
                  <a:ln>
                    <a:noFill/>
                  </a:ln>
                  <a:solidFill>
                    <a:schemeClr val="tx1"/>
                  </a:solidFill>
                  <a:effectLst/>
                  <a:latin typeface="Calibri" pitchFamily="34" charset="0"/>
                  <a:ea typeface="Arial" pitchFamily="34" charset="0"/>
                  <a:cs typeface="Arial" pitchFamily="34" charset="0"/>
                </a:rPr>
                <a:t>achat et aménagement d'un local</a:t>
              </a:r>
            </a:p>
            <a:p>
              <a:pPr marL="173038" marR="0" lvl="2" indent="-80963" algn="just" defTabSz="914400" rtl="0" eaLnBrk="1" fontAlgn="base" latinLnBrk="0" hangingPunct="1">
                <a:lnSpc>
                  <a:spcPct val="122000"/>
                </a:lnSpc>
                <a:spcBef>
                  <a:spcPct val="0"/>
                </a:spcBef>
                <a:spcAft>
                  <a:spcPct val="0"/>
                </a:spcAft>
                <a:buClrTx/>
                <a:buSzTx/>
                <a:buFont typeface="Verdana" pitchFamily="34" charset="0"/>
                <a:buChar char="-"/>
                <a:tabLst/>
              </a:pPr>
              <a:r>
                <a:rPr kumimoji="0" lang="fr-FR" sz="1400" b="0" i="0" u="none" strike="noStrike" cap="none" normalizeH="0" baseline="0" dirty="0" smtClean="0">
                  <a:ln>
                    <a:noFill/>
                  </a:ln>
                  <a:solidFill>
                    <a:schemeClr val="tx1"/>
                  </a:solidFill>
                  <a:effectLst/>
                  <a:latin typeface="Calibri" pitchFamily="34" charset="0"/>
                  <a:ea typeface="Arial" pitchFamily="34" charset="0"/>
                  <a:cs typeface="Arial" pitchFamily="34" charset="0"/>
                </a:rPr>
                <a:t>loyers et dépôt de garantie</a:t>
              </a:r>
              <a:endParaRPr kumimoji="0" lang="fr-FR" sz="14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L="173038" marR="0" lvl="2" indent="-80963" algn="just" defTabSz="914400" rtl="0" eaLnBrk="1" fontAlgn="base" latinLnBrk="0" hangingPunct="1">
                <a:lnSpc>
                  <a:spcPct val="124000"/>
                </a:lnSpc>
                <a:spcBef>
                  <a:spcPct val="0"/>
                </a:spcBef>
                <a:spcAft>
                  <a:spcPct val="0"/>
                </a:spcAft>
                <a:buClrTx/>
                <a:buSzTx/>
                <a:buFont typeface="Verdana" pitchFamily="34" charset="0"/>
                <a:buChar char="-"/>
                <a:tabLst/>
              </a:pPr>
              <a:r>
                <a:rPr kumimoji="0" lang="fr-FR" sz="1400" b="0" i="0" u="none" strike="noStrike" cap="none" normalizeH="0" baseline="0" dirty="0" smtClean="0">
                  <a:ln>
                    <a:noFill/>
                  </a:ln>
                  <a:solidFill>
                    <a:schemeClr val="tx1"/>
                  </a:solidFill>
                  <a:effectLst/>
                  <a:latin typeface="Calibri" pitchFamily="34" charset="0"/>
                  <a:ea typeface="Arial" pitchFamily="34" charset="0"/>
                  <a:cs typeface="Arial" pitchFamily="34" charset="0"/>
                </a:rPr>
                <a:t>marketing et communication</a:t>
              </a:r>
              <a:endParaRPr kumimoji="0" lang="fr-FR" sz="14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L="173038" marR="0" lvl="0" indent="-80963" algn="just" defTabSz="914400" rtl="0" eaLnBrk="1" fontAlgn="base" latinLnBrk="0" hangingPunct="1">
                <a:lnSpc>
                  <a:spcPct val="100000"/>
                </a:lnSpc>
                <a:spcBef>
                  <a:spcPct val="0"/>
                </a:spcBef>
                <a:spcAft>
                  <a:spcPct val="0"/>
                </a:spcAft>
                <a:buClrTx/>
                <a:buSzTx/>
                <a:buFont typeface="Verdana" pitchFamily="34" charset="0"/>
                <a:buChar char="-"/>
                <a:tabLst/>
              </a:pPr>
              <a:r>
                <a:rPr kumimoji="0" lang="fr-FR" sz="1400" b="0" i="0" u="none" strike="noStrike" cap="none" normalizeH="0" baseline="0" dirty="0" smtClean="0">
                  <a:ln>
                    <a:noFill/>
                  </a:ln>
                  <a:solidFill>
                    <a:schemeClr val="tx1"/>
                  </a:solidFill>
                  <a:effectLst/>
                  <a:latin typeface="Calibri" pitchFamily="34" charset="0"/>
                  <a:ea typeface="Arial" pitchFamily="34" charset="0"/>
                  <a:cs typeface="Arial" pitchFamily="34" charset="0"/>
                </a:rPr>
                <a:t>salaires et cotisations salariales</a:t>
              </a:r>
              <a:endParaRPr kumimoji="0" lang="fr-FR" sz="14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L="173038" marR="0" lvl="0" indent="-80963" algn="just" defTabSz="914400" rtl="0" eaLnBrk="1" fontAlgn="base" latinLnBrk="0" hangingPunct="1">
                <a:lnSpc>
                  <a:spcPct val="100000"/>
                </a:lnSpc>
                <a:spcBef>
                  <a:spcPct val="0"/>
                </a:spcBef>
                <a:spcAft>
                  <a:spcPct val="0"/>
                </a:spcAft>
                <a:buClrTx/>
                <a:buSzTx/>
                <a:buFont typeface="Verdana" pitchFamily="34" charset="0"/>
                <a:buChar char="-"/>
                <a:tabLst/>
              </a:pPr>
              <a:r>
                <a:rPr kumimoji="0" lang="fr-FR" sz="1400" b="0" i="0" u="none" strike="noStrike" cap="none" normalizeH="0" baseline="0" dirty="0" smtClean="0">
                  <a:ln>
                    <a:noFill/>
                  </a:ln>
                  <a:solidFill>
                    <a:schemeClr val="tx1"/>
                  </a:solidFill>
                  <a:effectLst/>
                  <a:latin typeface="Calibri" pitchFamily="34" charset="0"/>
                  <a:ea typeface="Arial" pitchFamily="34" charset="0"/>
                  <a:cs typeface="Arial" pitchFamily="34" charset="0"/>
                </a:rPr>
                <a:t>achat et entretien de matériel</a:t>
              </a:r>
              <a:endParaRPr kumimoji="0" lang="fr-FR" sz="1400" b="0" i="0" u="none" strike="noStrike" cap="none" normalizeH="0" baseline="0" dirty="0" smtClean="0">
                <a:ln>
                  <a:noFill/>
                </a:ln>
                <a:solidFill>
                  <a:schemeClr val="tx1"/>
                </a:solidFill>
                <a:effectLst/>
                <a:latin typeface="Arial" pitchFamily="34" charset="0"/>
                <a:ea typeface="Arial" pitchFamily="34" charset="0"/>
                <a:cs typeface="Arial" pitchFamily="34" charset="0"/>
              </a:endParaRPr>
            </a:p>
            <a:p>
              <a:pPr marL="173038" marR="1441450" lvl="1" indent="-80963" algn="just" defTabSz="914400" rtl="0" eaLnBrk="1" fontAlgn="base" latinLnBrk="0" hangingPunct="1">
                <a:lnSpc>
                  <a:spcPct val="100000"/>
                </a:lnSpc>
                <a:spcBef>
                  <a:spcPts val="63"/>
                </a:spcBef>
                <a:spcAft>
                  <a:spcPct val="0"/>
                </a:spcAft>
                <a:buClrTx/>
                <a:buSzTx/>
                <a:buFont typeface="Verdana" pitchFamily="34" charset="0"/>
                <a:buChar char="-"/>
                <a:tabLst/>
              </a:pPr>
              <a:r>
                <a:rPr kumimoji="0" lang="fr-FR" sz="1400" b="0" i="0" u="none" strike="noStrike" cap="none" normalizeH="0" baseline="0" dirty="0" smtClean="0">
                  <a:ln>
                    <a:noFill/>
                  </a:ln>
                  <a:solidFill>
                    <a:schemeClr val="tx1"/>
                  </a:solidFill>
                  <a:effectLst/>
                  <a:latin typeface="Calibri" pitchFamily="34" charset="0"/>
                  <a:ea typeface="Arial" pitchFamily="34" charset="0"/>
                  <a:cs typeface="Arial" pitchFamily="34" charset="0"/>
                </a:rPr>
                <a:t>Commissions versées à un partenaire</a:t>
              </a:r>
            </a:p>
          </p:txBody>
        </p:sp>
        <p:sp>
          <p:nvSpPr>
            <p:cNvPr id="17" name="Text Box 15"/>
            <p:cNvSpPr txBox="1">
              <a:spLocks noChangeArrowheads="1"/>
            </p:cNvSpPr>
            <p:nvPr/>
          </p:nvSpPr>
          <p:spPr bwMode="auto">
            <a:xfrm>
              <a:off x="4" y="4"/>
              <a:ext cx="4829" cy="1119"/>
            </a:xfrm>
            <a:prstGeom prst="rect">
              <a:avLst/>
            </a:prstGeom>
            <a:noFill/>
            <a:ln w="6096">
              <a:solidFill>
                <a:srgbClr val="F8D22E"/>
              </a:solidFill>
              <a:miter lim="800000"/>
              <a:headEnd/>
              <a:tailEnd/>
            </a:ln>
          </p:spPr>
          <p:txBody>
            <a:bodyPr vert="horz" wrap="square" lIns="0" tIns="0" rIns="0" bIns="0" numCol="1" anchor="t" anchorCtr="0" compatLnSpc="1">
              <a:prstTxWarp prst="textNoShape">
                <a:avLst/>
              </a:prstTxWarp>
            </a:bodyPr>
            <a:lstStyle/>
            <a:p>
              <a:pPr marL="457200" marR="466725" lvl="1" indent="0" algn="l" defTabSz="914400" rtl="0" eaLnBrk="1" fontAlgn="base" latinLnBrk="0" hangingPunct="1">
                <a:lnSpc>
                  <a:spcPct val="100000"/>
                </a:lnSpc>
                <a:spcBef>
                  <a:spcPts val="1200"/>
                </a:spcBef>
                <a:spcAft>
                  <a:spcPts val="1000"/>
                </a:spcAft>
                <a:buClrTx/>
                <a:buSzTx/>
                <a:buFontTx/>
                <a:buNone/>
                <a:tabLst/>
              </a:pPr>
              <a:r>
                <a:rPr kumimoji="0" lang="fr-FR" sz="1400" b="1" i="0" u="none" strike="noStrike" cap="none" normalizeH="0" baseline="0" dirty="0" smtClean="0">
                  <a:ln>
                    <a:noFill/>
                  </a:ln>
                  <a:solidFill>
                    <a:schemeClr val="tx1"/>
                  </a:solidFill>
                  <a:effectLst/>
                  <a:latin typeface="Tahoma" pitchFamily="34" charset="0"/>
                  <a:ea typeface="Arial" pitchFamily="34" charset="0"/>
                  <a:cs typeface="Arial" pitchFamily="34" charset="0"/>
                </a:rPr>
                <a:t>DES EXEMPLES DE STRUCTURE DE COÛTS</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gr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pic>
        <p:nvPicPr>
          <p:cNvPr id="3" name="image199.jpeg"/>
          <p:cNvPicPr/>
          <p:nvPr/>
        </p:nvPicPr>
        <p:blipFill>
          <a:blip r:embed="rId3" cstate="print"/>
          <a:stretch>
            <a:fillRect/>
          </a:stretch>
        </p:blipFill>
        <p:spPr>
          <a:xfrm>
            <a:off x="714375" y="1428737"/>
            <a:ext cx="10763250" cy="4143404"/>
          </a:xfrm>
          <a:prstGeom prst="rect">
            <a:avLst/>
          </a:prstGeom>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ogner un rectangle avec un coin du même côté 2"/>
          <p:cNvSpPr/>
          <p:nvPr/>
        </p:nvSpPr>
        <p:spPr>
          <a:xfrm>
            <a:off x="1553377" y="1100766"/>
            <a:ext cx="5475383" cy="434935"/>
          </a:xfrm>
          <a:prstGeom prst="snip2SameRect">
            <a:avLst/>
          </a:prstGeom>
        </p:spPr>
        <p:style>
          <a:lnRef idx="2">
            <a:schemeClr val="dk1"/>
          </a:lnRef>
          <a:fillRef idx="1">
            <a:schemeClr val="lt1"/>
          </a:fillRef>
          <a:effectRef idx="0">
            <a:schemeClr val="dk1"/>
          </a:effectRef>
          <a:fontRef idx="minor">
            <a:schemeClr val="dk1"/>
          </a:fontRef>
        </p:style>
        <p:txBody>
          <a:bodyPr wrap="square">
            <a:spAutoFit/>
          </a:bodyPr>
          <a:lstStyle/>
          <a:p>
            <a:pPr lvl="0" algn="ctr"/>
            <a:r>
              <a:rPr lang="fr-FR" sz="2000" b="1" dirty="0" smtClean="0">
                <a:solidFill>
                  <a:srgbClr val="C00000"/>
                </a:solidFill>
              </a:rPr>
              <a:t>C-  LE BUSINESS PLAN</a:t>
            </a:r>
          </a:p>
        </p:txBody>
      </p:sp>
      <p:sp>
        <p:nvSpPr>
          <p:cNvPr id="4" name="Rectangle 3"/>
          <p:cNvSpPr/>
          <p:nvPr/>
        </p:nvSpPr>
        <p:spPr>
          <a:xfrm>
            <a:off x="1002534" y="1623254"/>
            <a:ext cx="10421957" cy="495520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endParaRPr lang="fr-FR" sz="800" dirty="0" smtClean="0">
              <a:latin typeface="Arial" pitchFamily="34" charset="0"/>
              <a:ea typeface="Verdana" pitchFamily="34" charset="0"/>
              <a:cs typeface="Verdana" pitchFamily="34" charset="0"/>
            </a:endParaRPr>
          </a:p>
          <a:p>
            <a:pPr algn="just"/>
            <a:r>
              <a:rPr lang="fr-FR" sz="2000" dirty="0" smtClean="0">
                <a:latin typeface="Arial" pitchFamily="34" charset="0"/>
                <a:ea typeface="Verdana" pitchFamily="34" charset="0"/>
                <a:cs typeface="Verdana" pitchFamily="34" charset="0"/>
              </a:rPr>
              <a:t>Le business plan (ou plan d’affaires) est, quant à lui, un dossier écrit qui présente votre projet de création d’entreprise dans sa globalité. C’est la résultante de toutes les études que vous avez menées pour votre projet en un unique document. Ce document est indispensable pour expliquer votre projet à un tiers et discuter avec différents partenaires (investisseurs, banquiers, administrations...). Il est aussi très utile pour matérialiser une vision commune du projet entre vous et vos associés. Le business model est le cœur de votre business plan, il est plus proche du concept que de la prévision. Le business plan est quant à lui une déclinaison opérationnelle et chiffrée de votre business model.</a:t>
            </a:r>
          </a:p>
          <a:p>
            <a:pPr algn="just"/>
            <a:r>
              <a:rPr lang="fr-FR" sz="2000" dirty="0" smtClean="0">
                <a:latin typeface="Arial" pitchFamily="34" charset="0"/>
                <a:ea typeface="Verdana" pitchFamily="34" charset="0"/>
                <a:cs typeface="Verdana" pitchFamily="34" charset="0"/>
              </a:rPr>
              <a:t> </a:t>
            </a:r>
            <a:r>
              <a:rPr lang="fr-FR" sz="2000" dirty="0" smtClean="0">
                <a:solidFill>
                  <a:schemeClr val="dk1"/>
                </a:solidFill>
                <a:latin typeface="Arial" pitchFamily="34" charset="0"/>
                <a:ea typeface="Verdana" pitchFamily="34" charset="0"/>
                <a:cs typeface="Verdana" pitchFamily="34" charset="0"/>
              </a:rPr>
              <a:t/>
            </a:r>
            <a:br>
              <a:rPr lang="fr-FR" sz="2000" dirty="0" smtClean="0">
                <a:solidFill>
                  <a:schemeClr val="dk1"/>
                </a:solidFill>
                <a:latin typeface="Arial" pitchFamily="34" charset="0"/>
                <a:ea typeface="Verdana" pitchFamily="34" charset="0"/>
                <a:cs typeface="Verdana" pitchFamily="34" charset="0"/>
              </a:rPr>
            </a:br>
            <a:r>
              <a:rPr lang="fr-FR" sz="2000" dirty="0" smtClean="0">
                <a:solidFill>
                  <a:schemeClr val="dk1"/>
                </a:solidFill>
                <a:latin typeface="Arial" pitchFamily="34" charset="0"/>
                <a:ea typeface="Verdana" pitchFamily="34" charset="0"/>
                <a:cs typeface="Verdana" pitchFamily="34" charset="0"/>
              </a:rPr>
              <a:t>1. </a:t>
            </a:r>
            <a:r>
              <a:rPr lang="fr-FR" sz="2000" b="1" dirty="0" smtClean="0">
                <a:solidFill>
                  <a:schemeClr val="tx2"/>
                </a:solidFill>
                <a:latin typeface="Arial" pitchFamily="34" charset="0"/>
                <a:ea typeface="Verdana" pitchFamily="34" charset="0"/>
                <a:cs typeface="Verdana" pitchFamily="34" charset="0"/>
              </a:rPr>
              <a:t>Résumé exécutif</a:t>
            </a:r>
            <a:r>
              <a:rPr lang="fr-FR" sz="2000" dirty="0" smtClean="0">
                <a:solidFill>
                  <a:schemeClr val="tx2"/>
                </a:solidFill>
                <a:latin typeface="Arial" pitchFamily="34" charset="0"/>
                <a:ea typeface="Verdana" pitchFamily="34" charset="0"/>
                <a:cs typeface="Verdana" pitchFamily="34" charset="0"/>
              </a:rPr>
              <a:t> </a:t>
            </a:r>
            <a:r>
              <a:rPr lang="fr-FR" sz="2000" dirty="0" smtClean="0">
                <a:solidFill>
                  <a:schemeClr val="dk1"/>
                </a:solidFill>
                <a:latin typeface="Arial" pitchFamily="34" charset="0"/>
                <a:ea typeface="Verdana" pitchFamily="34" charset="0"/>
                <a:cs typeface="Verdana" pitchFamily="34" charset="0"/>
              </a:rPr>
              <a:t>: Une synthèse du projet, incluant la mission de l'entreprise, les objectifs, les produits ou services offerts, et un aperçu financier.</a:t>
            </a:r>
            <a:br>
              <a:rPr lang="fr-FR" sz="2000" dirty="0" smtClean="0">
                <a:solidFill>
                  <a:schemeClr val="dk1"/>
                </a:solidFill>
                <a:latin typeface="Arial" pitchFamily="34" charset="0"/>
                <a:ea typeface="Verdana" pitchFamily="34" charset="0"/>
                <a:cs typeface="Verdana" pitchFamily="34" charset="0"/>
              </a:rPr>
            </a:br>
            <a:r>
              <a:rPr lang="fr-FR" sz="2000" dirty="0" smtClean="0">
                <a:solidFill>
                  <a:schemeClr val="dk1"/>
                </a:solidFill>
                <a:latin typeface="Arial" pitchFamily="34" charset="0"/>
                <a:ea typeface="Verdana" pitchFamily="34" charset="0"/>
                <a:cs typeface="Verdana" pitchFamily="34" charset="0"/>
              </a:rPr>
              <a:t>C'est souvent la première section, mais elle est généralement rédigée en dernier.</a:t>
            </a:r>
          </a:p>
          <a:p>
            <a:pPr algn="just"/>
            <a:endParaRPr lang="fr-FR" sz="8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2. </a:t>
            </a:r>
            <a:r>
              <a:rPr lang="fr-FR" sz="2000" b="1" dirty="0" smtClean="0">
                <a:solidFill>
                  <a:schemeClr val="tx2"/>
                </a:solidFill>
                <a:latin typeface="Arial" pitchFamily="34" charset="0"/>
                <a:ea typeface="Verdana" pitchFamily="34" charset="0"/>
                <a:cs typeface="Verdana" pitchFamily="34" charset="0"/>
              </a:rPr>
              <a:t>Description de l'entreprise </a:t>
            </a:r>
            <a:r>
              <a:rPr lang="fr-FR" sz="2000" dirty="0" smtClean="0">
                <a:solidFill>
                  <a:schemeClr val="dk1"/>
                </a:solidFill>
                <a:latin typeface="Arial" pitchFamily="34" charset="0"/>
                <a:ea typeface="Verdana" pitchFamily="34" charset="0"/>
                <a:cs typeface="Verdana" pitchFamily="34" charset="0"/>
              </a:rPr>
              <a:t>: Présentation de l'entreprise, de sa structure juridique, de son histoire, de sa mission, de ses valeurs et de ses objectifs</a:t>
            </a:r>
            <a:br>
              <a:rPr lang="fr-FR" sz="2000" dirty="0" smtClean="0">
                <a:solidFill>
                  <a:schemeClr val="dk1"/>
                </a:solidFill>
                <a:latin typeface="Arial" pitchFamily="34" charset="0"/>
                <a:ea typeface="Verdana" pitchFamily="34" charset="0"/>
                <a:cs typeface="Verdana" pitchFamily="34" charset="0"/>
              </a:rPr>
            </a:br>
            <a:r>
              <a:rPr lang="fr-FR" sz="2000" dirty="0" smtClean="0">
                <a:solidFill>
                  <a:schemeClr val="dk1"/>
                </a:solidFill>
                <a:latin typeface="Arial" pitchFamily="34" charset="0"/>
                <a:ea typeface="Verdana" pitchFamily="34" charset="0"/>
                <a:cs typeface="Verdana" pitchFamily="34" charset="0"/>
              </a:rPr>
              <a:t>à long terme.</a:t>
            </a:r>
            <a:endParaRPr lang="fr-FR"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826264" y="1135368"/>
            <a:ext cx="10455007" cy="550920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endParaRPr lang="fr-FR" sz="800" dirty="0" smtClean="0">
              <a:latin typeface="Arial" pitchFamily="34" charset="0"/>
              <a:ea typeface="Verdana" pitchFamily="34" charset="0"/>
              <a:cs typeface="Verdana" pitchFamily="34" charset="0"/>
            </a:endParaRPr>
          </a:p>
          <a:p>
            <a:pPr algn="just"/>
            <a:r>
              <a:rPr lang="fr-FR" sz="2000" dirty="0" smtClean="0">
                <a:latin typeface="Arial" pitchFamily="34" charset="0"/>
                <a:ea typeface="Verdana" pitchFamily="34" charset="0"/>
                <a:cs typeface="Verdana" pitchFamily="34" charset="0"/>
              </a:rPr>
              <a:t>3</a:t>
            </a:r>
            <a:r>
              <a:rPr lang="fr-FR" sz="2000" b="1" dirty="0" smtClean="0">
                <a:solidFill>
                  <a:schemeClr val="tx2"/>
                </a:solidFill>
                <a:latin typeface="Arial" pitchFamily="34" charset="0"/>
                <a:ea typeface="Verdana" pitchFamily="34" charset="0"/>
                <a:cs typeface="Verdana" pitchFamily="34" charset="0"/>
              </a:rPr>
              <a:t>. Analyse de marché </a:t>
            </a:r>
            <a:r>
              <a:rPr lang="fr-FR" sz="2000" dirty="0" smtClean="0">
                <a:latin typeface="Arial" pitchFamily="34" charset="0"/>
                <a:ea typeface="Verdana" pitchFamily="34" charset="0"/>
                <a:cs typeface="Verdana" pitchFamily="34" charset="0"/>
              </a:rPr>
              <a:t>: Étude du secteur d'activité, des tendances du marché, de la taille du marché, des segments de clientèle, et de la concurrence. Cela</a:t>
            </a:r>
            <a:br>
              <a:rPr lang="fr-FR" sz="2000" dirty="0" smtClean="0">
                <a:latin typeface="Arial" pitchFamily="34" charset="0"/>
                <a:ea typeface="Verdana" pitchFamily="34" charset="0"/>
                <a:cs typeface="Verdana" pitchFamily="34" charset="0"/>
              </a:rPr>
            </a:br>
            <a:r>
              <a:rPr lang="fr-FR" sz="2000" dirty="0" smtClean="0">
                <a:latin typeface="Arial" pitchFamily="34" charset="0"/>
                <a:ea typeface="Verdana" pitchFamily="34" charset="0"/>
                <a:cs typeface="Verdana" pitchFamily="34" charset="0"/>
              </a:rPr>
              <a:t>inclut également une analyse </a:t>
            </a:r>
            <a:r>
              <a:rPr lang="fr-FR" sz="2000" dirty="0" smtClean="0">
                <a:solidFill>
                  <a:srgbClr val="FF0000"/>
                </a:solidFill>
                <a:latin typeface="Arial" pitchFamily="34" charset="0"/>
                <a:ea typeface="Verdana" pitchFamily="34" charset="0"/>
                <a:cs typeface="Verdana" pitchFamily="34" charset="0"/>
              </a:rPr>
              <a:t>SWOT</a:t>
            </a:r>
            <a:r>
              <a:rPr lang="fr-FR" sz="2000" dirty="0" smtClean="0">
                <a:latin typeface="Arial" pitchFamily="34" charset="0"/>
                <a:ea typeface="Verdana" pitchFamily="34" charset="0"/>
                <a:cs typeface="Verdana" pitchFamily="34" charset="0"/>
              </a:rPr>
              <a:t> (forces, faiblesses, opportunités, menaces).</a:t>
            </a:r>
          </a:p>
          <a:p>
            <a:pPr algn="just"/>
            <a:endParaRPr lang="fr-FR" sz="8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4. </a:t>
            </a:r>
            <a:r>
              <a:rPr lang="fr-FR" sz="2000" b="1" dirty="0" smtClean="0">
                <a:solidFill>
                  <a:schemeClr val="tx2"/>
                </a:solidFill>
                <a:latin typeface="Arial" pitchFamily="34" charset="0"/>
                <a:ea typeface="Verdana" pitchFamily="34" charset="0"/>
                <a:cs typeface="Verdana" pitchFamily="34" charset="0"/>
              </a:rPr>
              <a:t>Organisation et gestion </a:t>
            </a:r>
            <a:r>
              <a:rPr lang="fr-FR" sz="2000" dirty="0" smtClean="0">
                <a:solidFill>
                  <a:schemeClr val="dk1"/>
                </a:solidFill>
                <a:latin typeface="Arial" pitchFamily="34" charset="0"/>
                <a:ea typeface="Verdana" pitchFamily="34" charset="0"/>
                <a:cs typeface="Verdana" pitchFamily="34" charset="0"/>
              </a:rPr>
              <a:t>: Structure organisationnelle de l'entreprise, présentation de l'équipe de direction, des rôles et des responsabilités, ainsi que</a:t>
            </a:r>
            <a:br>
              <a:rPr lang="fr-FR" sz="2000" dirty="0" smtClean="0">
                <a:solidFill>
                  <a:schemeClr val="dk1"/>
                </a:solidFill>
                <a:latin typeface="Arial" pitchFamily="34" charset="0"/>
                <a:ea typeface="Verdana" pitchFamily="34" charset="0"/>
                <a:cs typeface="Verdana" pitchFamily="34" charset="0"/>
              </a:rPr>
            </a:br>
            <a:r>
              <a:rPr lang="fr-FR" sz="2000" dirty="0" smtClean="0">
                <a:solidFill>
                  <a:schemeClr val="dk1"/>
                </a:solidFill>
                <a:latin typeface="Arial" pitchFamily="34" charset="0"/>
                <a:ea typeface="Verdana" pitchFamily="34" charset="0"/>
                <a:cs typeface="Verdana" pitchFamily="34" charset="0"/>
              </a:rPr>
              <a:t>des conseils d'administration ou des partenaires clés.</a:t>
            </a:r>
          </a:p>
          <a:p>
            <a:pPr algn="just"/>
            <a:endParaRPr lang="fr-FR" sz="8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5. </a:t>
            </a:r>
            <a:r>
              <a:rPr lang="fr-FR" sz="2000" b="1" dirty="0" smtClean="0">
                <a:solidFill>
                  <a:schemeClr val="tx2"/>
                </a:solidFill>
                <a:latin typeface="Arial" pitchFamily="34" charset="0"/>
                <a:ea typeface="Verdana" pitchFamily="34" charset="0"/>
                <a:cs typeface="Verdana" pitchFamily="34" charset="0"/>
              </a:rPr>
              <a:t>Produits ou services </a:t>
            </a:r>
            <a:r>
              <a:rPr lang="fr-FR" sz="2000" dirty="0" smtClean="0">
                <a:solidFill>
                  <a:schemeClr val="dk1"/>
                </a:solidFill>
                <a:latin typeface="Arial" pitchFamily="34" charset="0"/>
                <a:ea typeface="Verdana" pitchFamily="34" charset="0"/>
                <a:cs typeface="Verdana" pitchFamily="34" charset="0"/>
              </a:rPr>
              <a:t>: Description détaillée des produits ou services offerts, de leur valeur ajoutée, de leur cycle de vie, et des avantages concurrentiels.</a:t>
            </a:r>
          </a:p>
          <a:p>
            <a:pPr algn="just"/>
            <a:endParaRPr lang="fr-FR" sz="8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6. </a:t>
            </a:r>
            <a:r>
              <a:rPr lang="fr-FR" sz="2000" b="1" dirty="0" smtClean="0">
                <a:solidFill>
                  <a:schemeClr val="tx2"/>
                </a:solidFill>
                <a:latin typeface="Arial" pitchFamily="34" charset="0"/>
                <a:ea typeface="Verdana" pitchFamily="34" charset="0"/>
                <a:cs typeface="Verdana" pitchFamily="34" charset="0"/>
              </a:rPr>
              <a:t>Stratégie marketing et ventes </a:t>
            </a:r>
            <a:r>
              <a:rPr lang="fr-FR" sz="2000" dirty="0" smtClean="0">
                <a:solidFill>
                  <a:schemeClr val="dk1"/>
                </a:solidFill>
                <a:latin typeface="Arial" pitchFamily="34" charset="0"/>
                <a:ea typeface="Verdana" pitchFamily="34" charset="0"/>
                <a:cs typeface="Verdana" pitchFamily="34" charset="0"/>
              </a:rPr>
              <a:t>: Plan de marketing, y compris les stratégies de promotion, de distribution, de tarification et de vente. Cela inclut également</a:t>
            </a:r>
            <a:br>
              <a:rPr lang="fr-FR" sz="2000" dirty="0" smtClean="0">
                <a:solidFill>
                  <a:schemeClr val="dk1"/>
                </a:solidFill>
                <a:latin typeface="Arial" pitchFamily="34" charset="0"/>
                <a:ea typeface="Verdana" pitchFamily="34" charset="0"/>
                <a:cs typeface="Verdana" pitchFamily="34" charset="0"/>
              </a:rPr>
            </a:br>
            <a:r>
              <a:rPr lang="fr-FR" sz="2000" dirty="0" smtClean="0">
                <a:solidFill>
                  <a:schemeClr val="dk1"/>
                </a:solidFill>
                <a:latin typeface="Arial" pitchFamily="34" charset="0"/>
                <a:ea typeface="Verdana" pitchFamily="34" charset="0"/>
                <a:cs typeface="Verdana" pitchFamily="34" charset="0"/>
              </a:rPr>
              <a:t>l'identification des canaux de vente et des techniques de fidélisation de la clientèle.</a:t>
            </a:r>
          </a:p>
          <a:p>
            <a:pPr algn="just"/>
            <a:endParaRPr lang="fr-FR" sz="8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7. </a:t>
            </a:r>
            <a:r>
              <a:rPr lang="fr-FR" sz="2000" b="1" dirty="0" smtClean="0">
                <a:solidFill>
                  <a:schemeClr val="tx2"/>
                </a:solidFill>
                <a:latin typeface="Arial" pitchFamily="34" charset="0"/>
                <a:ea typeface="Verdana" pitchFamily="34" charset="0"/>
                <a:cs typeface="Verdana" pitchFamily="34" charset="0"/>
              </a:rPr>
              <a:t>Plan opérationnel </a:t>
            </a:r>
            <a:r>
              <a:rPr lang="fr-FR" sz="2000" dirty="0" smtClean="0">
                <a:solidFill>
                  <a:schemeClr val="dk1"/>
                </a:solidFill>
                <a:latin typeface="Arial" pitchFamily="34" charset="0"/>
                <a:ea typeface="Verdana" pitchFamily="34" charset="0"/>
                <a:cs typeface="Verdana" pitchFamily="34" charset="0"/>
              </a:rPr>
              <a:t>: Détails sur le fonctionnement quotidien de l'entreprise, y compris la production, la logistique, les installations, les technologies</a:t>
            </a:r>
            <a:br>
              <a:rPr lang="fr-FR" sz="2000" dirty="0" smtClean="0">
                <a:solidFill>
                  <a:schemeClr val="dk1"/>
                </a:solidFill>
                <a:latin typeface="Arial" pitchFamily="34" charset="0"/>
                <a:ea typeface="Verdana" pitchFamily="34" charset="0"/>
                <a:cs typeface="Verdana" pitchFamily="34" charset="0"/>
              </a:rPr>
            </a:br>
            <a:r>
              <a:rPr lang="fr-FR" sz="2000" dirty="0" smtClean="0">
                <a:solidFill>
                  <a:schemeClr val="dk1"/>
                </a:solidFill>
                <a:latin typeface="Arial" pitchFamily="34" charset="0"/>
                <a:ea typeface="Verdana" pitchFamily="34" charset="0"/>
                <a:cs typeface="Verdana" pitchFamily="34" charset="0"/>
              </a:rPr>
              <a:t>utilisées, et les processus opérationnels.</a:t>
            </a:r>
            <a:r>
              <a:rPr lang="fr-FR" sz="2000" dirty="0" smtClean="0"/>
              <a:t> </a:t>
            </a:r>
          </a:p>
          <a:p>
            <a:pPr algn="just"/>
            <a:endParaRPr lang="fr-FR" sz="2000" dirty="0" smtClean="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969483" y="1656316"/>
            <a:ext cx="10322805" cy="483209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endParaRPr lang="fr-FR" sz="800" dirty="0" smtClean="0"/>
          </a:p>
          <a:p>
            <a:pPr algn="just"/>
            <a:r>
              <a:rPr lang="fr-FR" sz="2000" dirty="0" smtClean="0">
                <a:latin typeface="Arial" pitchFamily="34" charset="0"/>
                <a:ea typeface="Verdana" pitchFamily="34" charset="0"/>
                <a:cs typeface="Verdana" pitchFamily="34" charset="0"/>
              </a:rPr>
              <a:t>8. </a:t>
            </a:r>
            <a:r>
              <a:rPr lang="fr-FR" sz="2000" b="1" dirty="0" smtClean="0">
                <a:solidFill>
                  <a:schemeClr val="tx2"/>
                </a:solidFill>
                <a:latin typeface="Arial" pitchFamily="34" charset="0"/>
                <a:ea typeface="Verdana" pitchFamily="34" charset="0"/>
                <a:cs typeface="Verdana" pitchFamily="34" charset="0"/>
              </a:rPr>
              <a:t>Plan financier </a:t>
            </a:r>
            <a:r>
              <a:rPr lang="fr-FR" sz="2000" dirty="0" smtClean="0">
                <a:latin typeface="Arial" pitchFamily="34" charset="0"/>
                <a:ea typeface="Verdana" pitchFamily="34" charset="0"/>
                <a:cs typeface="Verdana" pitchFamily="34" charset="0"/>
              </a:rPr>
              <a:t>: Prévisions financières, y compris les états financiers prévisionnels (compte de résultat, bilan, tableau des flux de trésorerie), les besoins</a:t>
            </a:r>
            <a:br>
              <a:rPr lang="fr-FR" sz="2000" dirty="0" smtClean="0">
                <a:latin typeface="Arial" pitchFamily="34" charset="0"/>
                <a:ea typeface="Verdana" pitchFamily="34" charset="0"/>
                <a:cs typeface="Verdana" pitchFamily="34" charset="0"/>
              </a:rPr>
            </a:br>
            <a:r>
              <a:rPr lang="fr-FR" sz="2000" dirty="0" smtClean="0">
                <a:latin typeface="Arial" pitchFamily="34" charset="0"/>
                <a:ea typeface="Verdana" pitchFamily="34" charset="0"/>
                <a:cs typeface="Verdana" pitchFamily="34" charset="0"/>
              </a:rPr>
              <a:t>en financement, les sources de revenus, et les indicateurs de performance clés.</a:t>
            </a:r>
          </a:p>
          <a:p>
            <a:pPr algn="just"/>
            <a:endParaRPr lang="fr-FR" sz="2000" dirty="0" smtClean="0">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9.</a:t>
            </a:r>
            <a:r>
              <a:rPr lang="fr-FR" sz="2000" b="1" dirty="0" smtClean="0">
                <a:solidFill>
                  <a:schemeClr val="tx2"/>
                </a:solidFill>
                <a:latin typeface="Arial" pitchFamily="34" charset="0"/>
                <a:ea typeface="Verdana" pitchFamily="34" charset="0"/>
                <a:cs typeface="Verdana" pitchFamily="34" charset="0"/>
              </a:rPr>
              <a:t> Annexes </a:t>
            </a:r>
            <a:r>
              <a:rPr lang="fr-FR" sz="2000" dirty="0" smtClean="0">
                <a:solidFill>
                  <a:schemeClr val="dk1"/>
                </a:solidFill>
                <a:latin typeface="Arial" pitchFamily="34" charset="0"/>
                <a:ea typeface="Verdana" pitchFamily="34" charset="0"/>
                <a:cs typeface="Verdana" pitchFamily="34" charset="0"/>
              </a:rPr>
              <a:t>: Documents supplémentaires qui soutiennent les informations présentées dans le business plan, tels que des études de marché, des CV des membres</a:t>
            </a:r>
            <a:br>
              <a:rPr lang="fr-FR" sz="2000" dirty="0" smtClean="0">
                <a:solidFill>
                  <a:schemeClr val="dk1"/>
                </a:solidFill>
                <a:latin typeface="Arial" pitchFamily="34" charset="0"/>
                <a:ea typeface="Verdana" pitchFamily="34" charset="0"/>
                <a:cs typeface="Verdana" pitchFamily="34" charset="0"/>
              </a:rPr>
            </a:br>
            <a:r>
              <a:rPr lang="fr-FR" sz="2000" dirty="0" smtClean="0">
                <a:solidFill>
                  <a:schemeClr val="dk1"/>
                </a:solidFill>
                <a:latin typeface="Arial" pitchFamily="34" charset="0"/>
                <a:ea typeface="Verdana" pitchFamily="34" charset="0"/>
                <a:cs typeface="Verdana" pitchFamily="34" charset="0"/>
              </a:rPr>
              <a:t>de l'équipe, des contrats, des licences, et d'autres documents pertinents.</a:t>
            </a:r>
            <a:br>
              <a:rPr lang="fr-FR" sz="2000" dirty="0" smtClean="0">
                <a:solidFill>
                  <a:schemeClr val="dk1"/>
                </a:solidFill>
                <a:latin typeface="Arial" pitchFamily="34" charset="0"/>
                <a:ea typeface="Verdana" pitchFamily="34" charset="0"/>
                <a:cs typeface="Verdana" pitchFamily="34" charset="0"/>
              </a:rPr>
            </a:br>
            <a:endParaRPr lang="fr-FR" sz="2000" dirty="0" smtClean="0">
              <a:solidFill>
                <a:schemeClr val="dk1"/>
              </a:solidFill>
              <a:latin typeface="Arial" pitchFamily="34" charset="0"/>
              <a:ea typeface="Verdana" pitchFamily="34" charset="0"/>
              <a:cs typeface="Verdana" pitchFamily="34" charset="0"/>
            </a:endParaRPr>
          </a:p>
          <a:p>
            <a:pPr algn="just"/>
            <a:r>
              <a:rPr lang="fr-FR" sz="2000" dirty="0" smtClean="0">
                <a:solidFill>
                  <a:schemeClr val="dk1"/>
                </a:solidFill>
                <a:latin typeface="Arial" pitchFamily="34" charset="0"/>
                <a:ea typeface="Verdana" pitchFamily="34" charset="0"/>
                <a:cs typeface="Verdana" pitchFamily="34" charset="0"/>
              </a:rPr>
              <a:t/>
            </a:r>
            <a:br>
              <a:rPr lang="fr-FR" sz="2000" dirty="0" smtClean="0">
                <a:solidFill>
                  <a:schemeClr val="dk1"/>
                </a:solidFill>
                <a:latin typeface="Arial" pitchFamily="34" charset="0"/>
                <a:ea typeface="Verdana" pitchFamily="34" charset="0"/>
                <a:cs typeface="Verdana" pitchFamily="34" charset="0"/>
              </a:rPr>
            </a:br>
            <a:r>
              <a:rPr lang="fr-FR" sz="2000" b="1" dirty="0" smtClean="0">
                <a:solidFill>
                  <a:schemeClr val="dk1"/>
                </a:solidFill>
                <a:latin typeface="Arial" pitchFamily="34" charset="0"/>
                <a:ea typeface="Verdana" pitchFamily="34" charset="0"/>
                <a:cs typeface="Verdana" pitchFamily="34" charset="0"/>
              </a:rPr>
              <a:t>Chaque section doit être soigneusement élaborée et soutenue par des données et des analyses pertinentes pour convaincre les parties prenantes de la viabilité</a:t>
            </a:r>
            <a:br>
              <a:rPr lang="fr-FR" sz="2000" b="1" dirty="0" smtClean="0">
                <a:solidFill>
                  <a:schemeClr val="dk1"/>
                </a:solidFill>
                <a:latin typeface="Arial" pitchFamily="34" charset="0"/>
                <a:ea typeface="Verdana" pitchFamily="34" charset="0"/>
                <a:cs typeface="Verdana" pitchFamily="34" charset="0"/>
              </a:rPr>
            </a:br>
            <a:r>
              <a:rPr lang="fr-FR" sz="2000" b="1" dirty="0" smtClean="0">
                <a:solidFill>
                  <a:schemeClr val="dk1"/>
                </a:solidFill>
                <a:latin typeface="Arial" pitchFamily="34" charset="0"/>
                <a:ea typeface="Verdana" pitchFamily="34" charset="0"/>
                <a:cs typeface="Verdana" pitchFamily="34" charset="0"/>
              </a:rPr>
              <a:t>et du potentiel de l'entreprise.</a:t>
            </a:r>
          </a:p>
          <a:p>
            <a:pPr algn="just"/>
            <a:endParaRPr lang="fr-FR" sz="2000" dirty="0" smtClean="0">
              <a:latin typeface="Arial" pitchFamily="34" charset="0"/>
              <a:ea typeface="Verdana" pitchFamily="34" charset="0"/>
              <a:cs typeface="Verdana" pitchFamily="34" charset="0"/>
            </a:endParaRPr>
          </a:p>
          <a:p>
            <a:pPr algn="just"/>
            <a:endParaRPr lang="fr-FR" sz="2000" dirty="0" smtClean="0">
              <a:solidFill>
                <a:schemeClr val="dk1"/>
              </a:solidFill>
              <a:latin typeface="Arial" pitchFamily="34" charset="0"/>
              <a:ea typeface="Verdana" pitchFamily="34" charset="0"/>
              <a:cs typeface="Verdana" pitchFamily="34" charset="0"/>
            </a:endParaRPr>
          </a:p>
          <a:p>
            <a:pPr algn="just"/>
            <a:endParaRPr lang="fr-FR" sz="2000" dirty="0" smtClean="0">
              <a:solidFill>
                <a:schemeClr val="dk1"/>
              </a:solidFill>
              <a:latin typeface="Arial" pitchFamily="34" charset="0"/>
              <a:ea typeface="Verdana" pitchFamily="34" charset="0"/>
              <a:cs typeface="Verdana" pitchFamily="34" charset="0"/>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903383" y="1028343"/>
            <a:ext cx="10223653" cy="526297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fr-FR" sz="1400" dirty="0" smtClean="0"/>
              <a:t>Créer un business plan pour une startup digitale est essentiel pour définir votre vision, vos objectifs et la manière dont vous comptez atteindre votre marché cible. Voici un exemple de structure de business plan pour une startup digitale :</a:t>
            </a:r>
            <a:br>
              <a:rPr lang="fr-FR" sz="1400" dirty="0" smtClean="0"/>
            </a:br>
            <a:r>
              <a:rPr lang="fr-FR" sz="1400" dirty="0" smtClean="0"/>
              <a:t/>
            </a:r>
            <a:br>
              <a:rPr lang="fr-FR" sz="1400" dirty="0" smtClean="0"/>
            </a:br>
            <a:r>
              <a:rPr lang="fr-FR" sz="1400" b="1" dirty="0" smtClean="0"/>
              <a:t>1</a:t>
            </a:r>
            <a:r>
              <a:rPr lang="fr-FR" sz="1400" b="1" dirty="0" smtClean="0">
                <a:solidFill>
                  <a:schemeClr val="accent2">
                    <a:lumMod val="60000"/>
                    <a:lumOff val="40000"/>
                  </a:schemeClr>
                </a:solidFill>
              </a:rPr>
              <a:t>. Résumé Exécutif</a:t>
            </a:r>
            <a:endParaRPr lang="fr-FR" sz="1400" b="1" dirty="0" smtClean="0"/>
          </a:p>
          <a:p>
            <a:r>
              <a:rPr lang="fr-FR" sz="1400" dirty="0" smtClean="0"/>
              <a:t>   - Nom de l'entreprise : </a:t>
            </a:r>
            <a:r>
              <a:rPr lang="fr-FR" sz="1400" dirty="0" err="1" smtClean="0"/>
              <a:t>DigiSolutions</a:t>
            </a:r>
            <a:r>
              <a:rPr lang="fr-FR" sz="1400" dirty="0" smtClean="0"/>
              <a:t/>
            </a:r>
            <a:br>
              <a:rPr lang="fr-FR" sz="1400" dirty="0" smtClean="0"/>
            </a:br>
            <a:r>
              <a:rPr lang="fr-FR" sz="1400" dirty="0" smtClean="0"/>
              <a:t>   - Mission : Offrir des solutions digitales innovantes pour aider les PME à optimiser leur présence en ligne.</a:t>
            </a:r>
            <a:br>
              <a:rPr lang="fr-FR" sz="1400" dirty="0" smtClean="0"/>
            </a:br>
            <a:r>
              <a:rPr lang="fr-FR" sz="1400" dirty="0" smtClean="0"/>
              <a:t>   - Produits/Services : Création de sites web, gestion des réseaux sociaux, SEO, et marketing digital.</a:t>
            </a:r>
            <a:br>
              <a:rPr lang="fr-FR" sz="1400" dirty="0" smtClean="0"/>
            </a:br>
            <a:r>
              <a:rPr lang="fr-FR" sz="1400" dirty="0" smtClean="0"/>
              <a:t>   - Marché cible : Petites et moyennes entreprises (PME) dans le secteur du commerce de détail.</a:t>
            </a:r>
            <a:br>
              <a:rPr lang="fr-FR" sz="1400" dirty="0" smtClean="0"/>
            </a:br>
            <a:r>
              <a:rPr lang="fr-FR" sz="1400" dirty="0" smtClean="0"/>
              <a:t>   - Objectifs financiers : Atteindre un chiffre d'affaires de 500 000 D dans les 3 premières années.</a:t>
            </a:r>
          </a:p>
          <a:p>
            <a:endParaRPr lang="fr-FR" sz="1400" dirty="0" smtClean="0"/>
          </a:p>
          <a:p>
            <a:r>
              <a:rPr lang="fr-FR" sz="1400" b="1" dirty="0" smtClean="0"/>
              <a:t>2. </a:t>
            </a:r>
            <a:r>
              <a:rPr lang="fr-FR" sz="1400" b="1" dirty="0" smtClean="0">
                <a:solidFill>
                  <a:schemeClr val="accent2">
                    <a:lumMod val="60000"/>
                    <a:lumOff val="40000"/>
                  </a:schemeClr>
                </a:solidFill>
              </a:rPr>
              <a:t>Description de l'Entreprise</a:t>
            </a:r>
            <a:r>
              <a:rPr lang="fr-FR" sz="1400" dirty="0" smtClean="0"/>
              <a:t/>
            </a:r>
            <a:br>
              <a:rPr lang="fr-FR" sz="1400" dirty="0" smtClean="0"/>
            </a:br>
            <a:r>
              <a:rPr lang="fr-FR" sz="1400" dirty="0" smtClean="0"/>
              <a:t>   - Structure juridique : SARL</a:t>
            </a:r>
            <a:br>
              <a:rPr lang="fr-FR" sz="1400" dirty="0" smtClean="0"/>
            </a:br>
            <a:r>
              <a:rPr lang="fr-FR" sz="1400" dirty="0" smtClean="0"/>
              <a:t>   - Localisation : Tunis, Tunisie   - Historique : Fondée en 2024 par une équipe de professionnels du marketing digital et du développement web.</a:t>
            </a:r>
            <a:br>
              <a:rPr lang="fr-FR" sz="1400" dirty="0" smtClean="0"/>
            </a:br>
            <a:r>
              <a:rPr lang="fr-FR" sz="1400" dirty="0" smtClean="0"/>
              <a:t/>
            </a:r>
            <a:br>
              <a:rPr lang="fr-FR" sz="1400" dirty="0" smtClean="0"/>
            </a:br>
            <a:r>
              <a:rPr lang="fr-FR" sz="1400" b="1" dirty="0" smtClean="0"/>
              <a:t>3. </a:t>
            </a:r>
            <a:r>
              <a:rPr lang="fr-FR" sz="1400" b="1" dirty="0" smtClean="0">
                <a:solidFill>
                  <a:schemeClr val="accent2">
                    <a:lumMod val="60000"/>
                    <a:lumOff val="40000"/>
                  </a:schemeClr>
                </a:solidFill>
              </a:rPr>
              <a:t>Analyse de Marché</a:t>
            </a:r>
            <a:r>
              <a:rPr lang="fr-FR" sz="1400" dirty="0" smtClean="0"/>
              <a:t/>
            </a:r>
            <a:br>
              <a:rPr lang="fr-FR" sz="1400" dirty="0" smtClean="0"/>
            </a:br>
            <a:r>
              <a:rPr lang="fr-FR" sz="1400" dirty="0" smtClean="0"/>
              <a:t>   - Tendances du marché : Croissance continue de la digitalisation des entreprises, augmentation de l'utilisation des réseaux sociaux.</a:t>
            </a:r>
            <a:br>
              <a:rPr lang="fr-FR" sz="1400" dirty="0" smtClean="0"/>
            </a:br>
            <a:r>
              <a:rPr lang="fr-FR" sz="1400" dirty="0" smtClean="0"/>
              <a:t>   - Analyse de la concurrence : Identification des principaux concurrents, analyse de leurs forces et faiblesses.</a:t>
            </a:r>
            <a:br>
              <a:rPr lang="fr-FR" sz="1400" dirty="0" smtClean="0"/>
            </a:br>
            <a:r>
              <a:rPr lang="fr-FR" sz="1400" dirty="0" smtClean="0"/>
              <a:t>   - Public cible : PME, en particulier celles qui n'ont pas encore une forte présence en ligne.</a:t>
            </a:r>
            <a:br>
              <a:rPr lang="fr-FR" sz="1400" dirty="0" smtClean="0"/>
            </a:br>
            <a:r>
              <a:rPr lang="fr-FR" sz="1400" dirty="0" smtClean="0"/>
              <a:t/>
            </a:r>
            <a:br>
              <a:rPr lang="fr-FR" sz="1400" dirty="0" smtClean="0"/>
            </a:br>
            <a:r>
              <a:rPr lang="fr-FR" sz="1400" b="1" dirty="0" smtClean="0"/>
              <a:t>4. </a:t>
            </a:r>
            <a:r>
              <a:rPr lang="fr-FR" sz="1400" b="1" dirty="0" smtClean="0">
                <a:solidFill>
                  <a:schemeClr val="accent2">
                    <a:lumMod val="60000"/>
                    <a:lumOff val="40000"/>
                  </a:schemeClr>
                </a:solidFill>
              </a:rPr>
              <a:t>Produits et Services</a:t>
            </a:r>
            <a:r>
              <a:rPr lang="fr-FR" sz="1400" dirty="0" smtClean="0"/>
              <a:t/>
            </a:r>
            <a:br>
              <a:rPr lang="fr-FR" sz="1400" dirty="0" smtClean="0"/>
            </a:br>
            <a:r>
              <a:rPr lang="fr-FR" sz="1400" dirty="0" smtClean="0"/>
              <a:t>   - Création de sites web** : Sites vitrines et e-commerce.</a:t>
            </a:r>
            <a:br>
              <a:rPr lang="fr-FR" sz="1400" dirty="0" smtClean="0"/>
            </a:br>
            <a:r>
              <a:rPr lang="fr-FR" sz="1400" dirty="0" smtClean="0"/>
              <a:t>   - Gestion des réseaux sociaux : Stratégies de contenu, publicité payante.</a:t>
            </a:r>
            <a:br>
              <a:rPr lang="fr-FR" sz="1400" dirty="0" smtClean="0"/>
            </a:br>
            <a:r>
              <a:rPr lang="fr-FR" sz="1400" dirty="0" smtClean="0"/>
              <a:t>    - Marketing digital : Campagnes d'</a:t>
            </a:r>
            <a:r>
              <a:rPr lang="fr-FR" sz="1400" dirty="0" err="1" smtClean="0"/>
              <a:t>emailing</a:t>
            </a:r>
            <a:r>
              <a:rPr lang="fr-FR" sz="1400" dirty="0" smtClean="0"/>
              <a:t>, publicité en ligne.</a:t>
            </a:r>
            <a:endParaRPr lang="fr-FR" sz="12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859315" y="947451"/>
            <a:ext cx="10510092" cy="560153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fr-FR" sz="1400" dirty="0" smtClean="0">
                <a:solidFill>
                  <a:schemeClr val="dk1"/>
                </a:solidFill>
              </a:rPr>
              <a:t>5</a:t>
            </a:r>
            <a:r>
              <a:rPr lang="fr-FR" sz="1400" b="1" dirty="0" smtClean="0">
                <a:solidFill>
                  <a:schemeClr val="accent2">
                    <a:lumMod val="60000"/>
                    <a:lumOff val="40000"/>
                  </a:schemeClr>
                </a:solidFill>
              </a:rPr>
              <a:t>. Stratégie Marketing</a:t>
            </a:r>
            <a:r>
              <a:rPr lang="fr-FR" sz="1400" dirty="0" smtClean="0">
                <a:solidFill>
                  <a:schemeClr val="dk1"/>
                </a:solidFill>
              </a:rPr>
              <a:t/>
            </a:r>
            <a:br>
              <a:rPr lang="fr-FR" sz="1400" dirty="0" smtClean="0">
                <a:solidFill>
                  <a:schemeClr val="dk1"/>
                </a:solidFill>
              </a:rPr>
            </a:br>
            <a:r>
              <a:rPr lang="fr-FR" sz="1400" dirty="0" smtClean="0">
                <a:solidFill>
                  <a:schemeClr val="dk1"/>
                </a:solidFill>
              </a:rPr>
              <a:t>   - Positionnement : Offrir des services personnalisés et abordables pour les PME.</a:t>
            </a:r>
            <a:br>
              <a:rPr lang="fr-FR" sz="1400" dirty="0" smtClean="0">
                <a:solidFill>
                  <a:schemeClr val="dk1"/>
                </a:solidFill>
              </a:rPr>
            </a:br>
            <a:r>
              <a:rPr lang="fr-FR" sz="1400" dirty="0" smtClean="0">
                <a:solidFill>
                  <a:schemeClr val="dk1"/>
                </a:solidFill>
              </a:rPr>
              <a:t>   - Canaux de distribution : Vente directe, partenariats avec des agences locales.</a:t>
            </a:r>
            <a:br>
              <a:rPr lang="fr-FR" sz="1400" dirty="0" smtClean="0">
                <a:solidFill>
                  <a:schemeClr val="dk1"/>
                </a:solidFill>
              </a:rPr>
            </a:br>
            <a:r>
              <a:rPr lang="fr-FR" sz="1400" dirty="0" smtClean="0">
                <a:solidFill>
                  <a:schemeClr val="dk1"/>
                </a:solidFill>
              </a:rPr>
              <a:t>   - Stratégies promotionnelles : </a:t>
            </a:r>
            <a:r>
              <a:rPr lang="fr-FR" sz="1400" dirty="0" err="1" smtClean="0">
                <a:solidFill>
                  <a:schemeClr val="dk1"/>
                </a:solidFill>
              </a:rPr>
              <a:t>Webinaires</a:t>
            </a:r>
            <a:r>
              <a:rPr lang="fr-FR" sz="1400" dirty="0" smtClean="0">
                <a:solidFill>
                  <a:schemeClr val="dk1"/>
                </a:solidFill>
              </a:rPr>
              <a:t>, contenu de blog, réseaux sociaux, publicité en ligne. **2. Description de l'Entreprise**</a:t>
            </a:r>
            <a:br>
              <a:rPr lang="fr-FR" sz="1400" dirty="0" smtClean="0">
                <a:solidFill>
                  <a:schemeClr val="dk1"/>
                </a:solidFill>
              </a:rPr>
            </a:br>
            <a:r>
              <a:rPr lang="fr-FR" sz="1400" dirty="0" smtClean="0"/>
              <a:t/>
            </a:r>
            <a:br>
              <a:rPr lang="fr-FR" sz="1400" dirty="0" smtClean="0"/>
            </a:br>
            <a:r>
              <a:rPr lang="fr-FR" sz="1400" dirty="0" smtClean="0"/>
              <a:t>6. </a:t>
            </a:r>
            <a:r>
              <a:rPr lang="fr-FR" sz="1400" b="1" dirty="0" smtClean="0">
                <a:solidFill>
                  <a:schemeClr val="accent2">
                    <a:lumMod val="60000"/>
                    <a:lumOff val="40000"/>
                  </a:schemeClr>
                </a:solidFill>
              </a:rPr>
              <a:t>Plan Opérationnel</a:t>
            </a:r>
            <a:r>
              <a:rPr lang="fr-FR" sz="1400" dirty="0" smtClean="0"/>
              <a:t/>
            </a:r>
            <a:br>
              <a:rPr lang="fr-FR" sz="1400" dirty="0" smtClean="0"/>
            </a:br>
            <a:r>
              <a:rPr lang="fr-FR" sz="1400" dirty="0" smtClean="0"/>
              <a:t>   - Équipe : Développeurs web, spécialistes en marketing digital, gestionnaires de projet.</a:t>
            </a:r>
            <a:br>
              <a:rPr lang="fr-FR" sz="1400" dirty="0" smtClean="0"/>
            </a:br>
            <a:r>
              <a:rPr lang="fr-FR" sz="1400" dirty="0" smtClean="0"/>
              <a:t>   - Localisation : Bureau à Paris avec possibilité de travail à distance.</a:t>
            </a:r>
            <a:br>
              <a:rPr lang="fr-FR" sz="1400" dirty="0" smtClean="0"/>
            </a:br>
            <a:r>
              <a:rPr lang="fr-FR" sz="1400" dirty="0" smtClean="0"/>
              <a:t>   - Technologie : Utilisation de logiciels de gestion de projet et d'outils de marketing digital.</a:t>
            </a:r>
            <a:br>
              <a:rPr lang="fr-FR" sz="1400" dirty="0" smtClean="0"/>
            </a:br>
            <a:r>
              <a:rPr lang="fr-FR" sz="1400" dirty="0" smtClean="0"/>
              <a:t/>
            </a:r>
            <a:br>
              <a:rPr lang="fr-FR" sz="1400" dirty="0" smtClean="0"/>
            </a:br>
            <a:r>
              <a:rPr lang="fr-FR" sz="1400" dirty="0" smtClean="0"/>
              <a:t>7. </a:t>
            </a:r>
            <a:r>
              <a:rPr lang="fr-FR" sz="1400" b="1" dirty="0" smtClean="0">
                <a:solidFill>
                  <a:schemeClr val="accent2">
                    <a:lumMod val="60000"/>
                    <a:lumOff val="40000"/>
                  </a:schemeClr>
                </a:solidFill>
              </a:rPr>
              <a:t>Plan Financier</a:t>
            </a:r>
            <a:r>
              <a:rPr lang="fr-FR" sz="1400" dirty="0" smtClean="0"/>
              <a:t/>
            </a:r>
            <a:br>
              <a:rPr lang="fr-FR" sz="1400" dirty="0" smtClean="0"/>
            </a:br>
            <a:r>
              <a:rPr lang="fr-FR" sz="1400" dirty="0" smtClean="0"/>
              <a:t>   - Prévisions de ventes : Estimations des revenus pour les 3 prochaines années.</a:t>
            </a:r>
            <a:br>
              <a:rPr lang="fr-FR" sz="1400" dirty="0" smtClean="0"/>
            </a:br>
            <a:r>
              <a:rPr lang="fr-FR" sz="1400" dirty="0" smtClean="0"/>
              <a:t>   - Coûts de démarrage : Estimation des coûts initiaux (équipement, marketing, salaires).</a:t>
            </a:r>
            <a:br>
              <a:rPr lang="fr-FR" sz="1400" dirty="0" smtClean="0"/>
            </a:br>
            <a:r>
              <a:rPr lang="fr-FR" sz="1400" dirty="0" smtClean="0"/>
              <a:t>   - Financement : Recherche de financements (investisseurs, prêts bancaires).</a:t>
            </a:r>
            <a:br>
              <a:rPr lang="fr-FR" sz="1400" dirty="0" smtClean="0"/>
            </a:br>
            <a:r>
              <a:rPr lang="fr-FR" sz="1400" dirty="0" smtClean="0"/>
              <a:t/>
            </a:r>
            <a:br>
              <a:rPr lang="fr-FR" sz="1400" dirty="0" smtClean="0"/>
            </a:br>
            <a:r>
              <a:rPr lang="fr-FR" sz="1400" dirty="0" smtClean="0"/>
              <a:t>8. </a:t>
            </a:r>
            <a:r>
              <a:rPr lang="fr-FR" sz="1400" b="1" dirty="0" smtClean="0">
                <a:solidFill>
                  <a:schemeClr val="accent2">
                    <a:lumMod val="60000"/>
                    <a:lumOff val="40000"/>
                  </a:schemeClr>
                </a:solidFill>
              </a:rPr>
              <a:t>Annexes</a:t>
            </a:r>
            <a:br>
              <a:rPr lang="fr-FR" sz="1400" b="1" dirty="0" smtClean="0">
                <a:solidFill>
                  <a:schemeClr val="accent2">
                    <a:lumMod val="60000"/>
                    <a:lumOff val="40000"/>
                  </a:schemeClr>
                </a:solidFill>
              </a:rPr>
            </a:br>
            <a:r>
              <a:rPr lang="fr-FR" sz="1400" b="1" dirty="0" smtClean="0">
                <a:solidFill>
                  <a:schemeClr val="accent2">
                    <a:lumMod val="60000"/>
                    <a:lumOff val="40000"/>
                  </a:schemeClr>
                </a:solidFill>
              </a:rPr>
              <a:t>   - </a:t>
            </a:r>
            <a:r>
              <a:rPr lang="fr-FR" sz="1400" dirty="0" smtClean="0"/>
              <a:t>CV des fondateurs</a:t>
            </a:r>
            <a:br>
              <a:rPr lang="fr-FR" sz="1400" dirty="0" smtClean="0"/>
            </a:br>
            <a:r>
              <a:rPr lang="fr-FR" sz="1400" dirty="0" smtClean="0"/>
              <a:t>   - Études de marché</a:t>
            </a:r>
            <a:br>
              <a:rPr lang="fr-FR" sz="1400" dirty="0" smtClean="0"/>
            </a:br>
            <a:r>
              <a:rPr lang="fr-FR" sz="1400" dirty="0" smtClean="0"/>
              <a:t>   - Exemples de travaux précédents</a:t>
            </a:r>
            <a:br>
              <a:rPr lang="fr-FR" sz="1400" dirty="0" smtClean="0"/>
            </a:br>
            <a:r>
              <a:rPr lang="fr-FR" sz="1400" dirty="0" smtClean="0"/>
              <a:t>   - Plans de marketing détaillés</a:t>
            </a:r>
            <a:br>
              <a:rPr lang="fr-FR" sz="1400" dirty="0" smtClean="0"/>
            </a:br>
            <a:r>
              <a:rPr lang="fr-FR" sz="1400" dirty="0" smtClean="0"/>
              <a:t/>
            </a:r>
            <a:br>
              <a:rPr lang="fr-FR" sz="1400" dirty="0" smtClean="0"/>
            </a:br>
            <a:r>
              <a:rPr lang="fr-FR" sz="1600" b="1" dirty="0" smtClean="0"/>
              <a:t/>
            </a:r>
            <a:br>
              <a:rPr lang="fr-FR" sz="1600" b="1" dirty="0" smtClean="0"/>
            </a:br>
            <a:r>
              <a:rPr lang="fr-FR" sz="1600" b="1" dirty="0" smtClean="0"/>
              <a:t>Ce business plan est un document vivant qui doit être régulièrement mis à jour en fonction de l'évolution de votre entreprise et du marché. Il est crucial de rester flexible et d'adapter votre stratégie en fonction des retours du marché et des performances de votre startup.</a:t>
            </a:r>
            <a:endParaRPr lang="fr-FR" sz="1600" b="1"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4" name="Rectangle à coins arrondis 3"/>
          <p:cNvSpPr/>
          <p:nvPr/>
        </p:nvSpPr>
        <p:spPr>
          <a:xfrm>
            <a:off x="619593" y="1120862"/>
            <a:ext cx="3381382" cy="510778"/>
          </a:xfrm>
          <a:prstGeom prst="roundRect">
            <a:avLst/>
          </a:prstGeom>
        </p:spPr>
        <p:style>
          <a:lnRef idx="1">
            <a:schemeClr val="accent3"/>
          </a:lnRef>
          <a:fillRef idx="3">
            <a:schemeClr val="accent3"/>
          </a:fillRef>
          <a:effectRef idx="2">
            <a:schemeClr val="accent3"/>
          </a:effectRef>
          <a:fontRef idx="minor">
            <a:schemeClr val="lt1"/>
          </a:fontRef>
        </p:style>
        <p:txBody>
          <a:bodyPr wrap="none">
            <a:spAutoFit/>
          </a:bodyPr>
          <a:lstStyle/>
          <a:p>
            <a:pPr algn="ctr"/>
            <a:r>
              <a:rPr lang="fr-FR" sz="2400" b="1" dirty="0" smtClean="0">
                <a:latin typeface="Arial" pitchFamily="34" charset="0"/>
                <a:cs typeface="Arial" pitchFamily="34" charset="0"/>
              </a:rPr>
              <a:t>3- ETUDE JURIDIQUE</a:t>
            </a:r>
            <a:endParaRPr lang="fr-FR" sz="2400" dirty="0"/>
          </a:p>
        </p:txBody>
      </p:sp>
      <p:sp>
        <p:nvSpPr>
          <p:cNvPr id="5" name="Rectangle 4"/>
          <p:cNvSpPr/>
          <p:nvPr/>
        </p:nvSpPr>
        <p:spPr>
          <a:xfrm>
            <a:off x="762000" y="1933456"/>
            <a:ext cx="10639426" cy="440120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b="1" dirty="0" smtClean="0">
                <a:solidFill>
                  <a:srgbClr val="C00000"/>
                </a:solidFill>
                <a:latin typeface="Arial" pitchFamily="34" charset="0"/>
                <a:ea typeface="Verdana" pitchFamily="34" charset="0"/>
                <a:cs typeface="Verdana" pitchFamily="34" charset="0"/>
              </a:rPr>
              <a:t>A – LA PORTEE DE L’ETUDE JURIDIQUE</a:t>
            </a:r>
          </a:p>
          <a:p>
            <a:pPr algn="just"/>
            <a:endParaRPr lang="fr-FR" sz="2000" dirty="0" smtClean="0">
              <a:solidFill>
                <a:schemeClr val="dk1"/>
              </a:solidFill>
              <a:latin typeface="Arial" pitchFamily="34" charset="0"/>
              <a:ea typeface="Verdana" pitchFamily="34" charset="0"/>
              <a:cs typeface="Verdana" pitchFamily="34" charset="0"/>
            </a:endParaRPr>
          </a:p>
          <a:p>
            <a:pPr algn="just">
              <a:buFont typeface="Wingdings" pitchFamily="2" charset="2"/>
              <a:buChar char="v"/>
            </a:pPr>
            <a:r>
              <a:rPr lang="fr-FR" sz="2000" dirty="0" smtClean="0">
                <a:solidFill>
                  <a:schemeClr val="dk1"/>
                </a:solidFill>
                <a:latin typeface="Arial" pitchFamily="34" charset="0"/>
                <a:ea typeface="Verdana" pitchFamily="34" charset="0"/>
                <a:cs typeface="Verdana" pitchFamily="34" charset="0"/>
              </a:rPr>
              <a:t> </a:t>
            </a:r>
            <a:r>
              <a:rPr lang="fr-FR" sz="2000" b="1" dirty="0" smtClean="0">
                <a:solidFill>
                  <a:schemeClr val="dk1"/>
                </a:solidFill>
                <a:latin typeface="Arial" pitchFamily="34" charset="0"/>
                <a:ea typeface="Verdana" pitchFamily="34" charset="0"/>
                <a:cs typeface="Verdana" pitchFamily="34" charset="0"/>
              </a:rPr>
              <a:t>Choix de la structure juridique :</a:t>
            </a:r>
          </a:p>
          <a:p>
            <a:pPr algn="just"/>
            <a:endParaRPr lang="fr-FR" sz="2000" dirty="0" smtClean="0">
              <a:solidFill>
                <a:schemeClr val="dk1"/>
              </a:solidFill>
              <a:latin typeface="Arial" pitchFamily="34" charset="0"/>
              <a:ea typeface="Verdana" pitchFamily="34" charset="0"/>
              <a:cs typeface="Verdana" pitchFamily="34" charset="0"/>
            </a:endParaRPr>
          </a:p>
          <a:p>
            <a:pPr lvl="1" algn="just"/>
            <a:r>
              <a:rPr lang="fr-FR" sz="2000" dirty="0" smtClean="0">
                <a:solidFill>
                  <a:schemeClr val="dk1"/>
                </a:solidFill>
                <a:latin typeface="Arial" pitchFamily="34" charset="0"/>
                <a:ea typeface="Verdana" pitchFamily="34" charset="0"/>
                <a:cs typeface="Verdana" pitchFamily="34" charset="0"/>
              </a:rPr>
              <a:t>Il est crucial de choisir la forme juridique la plus adaptée (SAS, SARL, micro-entreprise, etc.) en fonction des besoins, des objectifs et de la situation des fondateurs. Chaque structure a des implications fiscales, sociales et de responsabilité différentes.</a:t>
            </a:r>
          </a:p>
          <a:p>
            <a:pPr lvl="1" algn="just"/>
            <a:endParaRPr lang="fr-FR" sz="2000" dirty="0" smtClean="0">
              <a:solidFill>
                <a:schemeClr val="dk1"/>
              </a:solidFill>
              <a:latin typeface="Arial" pitchFamily="34" charset="0"/>
              <a:ea typeface="Verdana" pitchFamily="34" charset="0"/>
              <a:cs typeface="Verdana" pitchFamily="34" charset="0"/>
            </a:endParaRPr>
          </a:p>
          <a:p>
            <a:pPr algn="just">
              <a:buFont typeface="Wingdings" pitchFamily="2" charset="2"/>
              <a:buChar char="v"/>
            </a:pPr>
            <a:r>
              <a:rPr lang="fr-FR" sz="2000" b="1" dirty="0" smtClean="0">
                <a:solidFill>
                  <a:schemeClr val="dk1"/>
                </a:solidFill>
                <a:latin typeface="Arial" pitchFamily="34" charset="0"/>
                <a:ea typeface="Verdana" pitchFamily="34" charset="0"/>
                <a:cs typeface="Verdana" pitchFamily="34" charset="0"/>
              </a:rPr>
              <a:t> Propriété intellectuelle :</a:t>
            </a:r>
          </a:p>
          <a:p>
            <a:pPr algn="just"/>
            <a:endParaRPr lang="fr-FR" sz="2000" dirty="0" smtClean="0">
              <a:solidFill>
                <a:schemeClr val="dk1"/>
              </a:solidFill>
              <a:latin typeface="Arial" pitchFamily="34" charset="0"/>
              <a:ea typeface="Verdana" pitchFamily="34" charset="0"/>
              <a:cs typeface="Verdana" pitchFamily="34" charset="0"/>
            </a:endParaRPr>
          </a:p>
          <a:p>
            <a:pPr lvl="1" algn="just"/>
            <a:r>
              <a:rPr lang="fr-FR" sz="2000" dirty="0" smtClean="0">
                <a:solidFill>
                  <a:schemeClr val="dk1"/>
                </a:solidFill>
                <a:latin typeface="Arial" pitchFamily="34" charset="0"/>
                <a:ea typeface="Verdana" pitchFamily="34" charset="0"/>
                <a:cs typeface="Verdana" pitchFamily="34" charset="0"/>
              </a:rPr>
              <a:t>La protection des innovations, des marques et des créations est fondamentale. L’étude doit porter sur les droits d’auteur, les brevets, les marques, et les secrets commerciaux afin de protéger les actifs immatériels de la start-up.</a:t>
            </a:r>
          </a:p>
          <a:p>
            <a:pPr algn="just"/>
            <a:endParaRPr lang="fr-FR" sz="2000" dirty="0" smtClean="0">
              <a:solidFill>
                <a:schemeClr val="dk1"/>
              </a:solidFill>
              <a:latin typeface="Arial" pitchFamily="34" charset="0"/>
              <a:ea typeface="Verdana" pitchFamily="34" charset="0"/>
              <a:cs typeface="Verdana" pitchFamily="34" charset="0"/>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809625" y="1056144"/>
            <a:ext cx="10648950" cy="527836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lvl="1" algn="just"/>
            <a:endParaRPr lang="fr-FR" sz="900" dirty="0" smtClean="0">
              <a:solidFill>
                <a:schemeClr val="dk1"/>
              </a:solidFill>
              <a:latin typeface="Arial" pitchFamily="34" charset="0"/>
              <a:ea typeface="Verdana" pitchFamily="34" charset="0"/>
              <a:cs typeface="Verdana" pitchFamily="34" charset="0"/>
            </a:endParaRPr>
          </a:p>
          <a:p>
            <a:pPr algn="just">
              <a:buFont typeface="Wingdings" pitchFamily="2" charset="2"/>
              <a:buChar char="v"/>
            </a:pPr>
            <a:r>
              <a:rPr lang="fr-FR" sz="2000" dirty="0" smtClean="0">
                <a:solidFill>
                  <a:schemeClr val="dk1"/>
                </a:solidFill>
                <a:latin typeface="Arial" pitchFamily="34" charset="0"/>
                <a:ea typeface="Verdana" pitchFamily="34" charset="0"/>
                <a:cs typeface="Verdana" pitchFamily="34" charset="0"/>
              </a:rPr>
              <a:t> </a:t>
            </a:r>
            <a:r>
              <a:rPr lang="fr-FR" sz="2000" b="1" dirty="0" smtClean="0">
                <a:solidFill>
                  <a:schemeClr val="dk1"/>
                </a:solidFill>
                <a:latin typeface="Arial" pitchFamily="34" charset="0"/>
                <a:ea typeface="Verdana" pitchFamily="34" charset="0"/>
                <a:cs typeface="Verdana" pitchFamily="34" charset="0"/>
              </a:rPr>
              <a:t>Réglementation et conformité :</a:t>
            </a:r>
          </a:p>
          <a:p>
            <a:pPr lvl="1" algn="just"/>
            <a:r>
              <a:rPr lang="fr-FR" sz="2000" dirty="0" smtClean="0">
                <a:solidFill>
                  <a:schemeClr val="dk1"/>
                </a:solidFill>
                <a:latin typeface="Arial" pitchFamily="34" charset="0"/>
                <a:ea typeface="Verdana" pitchFamily="34" charset="0"/>
                <a:cs typeface="Verdana" pitchFamily="34" charset="0"/>
              </a:rPr>
              <a:t>Il est important d’analyser les obligations légales et réglementaires spécifiques à l’activité de la start-up (droit du travail, protection des données personnelles, normes de sécurité, etc.) pour s’assurer de la conformité et éviter les sanctions.</a:t>
            </a:r>
          </a:p>
          <a:p>
            <a:pPr algn="just"/>
            <a:endParaRPr lang="fr-FR" b="1" dirty="0" smtClean="0"/>
          </a:p>
          <a:p>
            <a:pPr algn="just"/>
            <a:r>
              <a:rPr lang="fr-FR" b="1" dirty="0" smtClean="0"/>
              <a:t>B- </a:t>
            </a:r>
            <a:r>
              <a:rPr lang="fr-FR" b="1" dirty="0" smtClean="0">
                <a:solidFill>
                  <a:srgbClr val="C00000"/>
                </a:solidFill>
                <a:latin typeface="Arial" pitchFamily="34" charset="0"/>
                <a:cs typeface="Arial" pitchFamily="34" charset="0"/>
              </a:rPr>
              <a:t>IMPORTANCE DE L’ETUDE JURIDIQUE</a:t>
            </a:r>
          </a:p>
          <a:p>
            <a:pPr algn="just"/>
            <a:endParaRPr lang="fr-FR" sz="800" b="1" dirty="0" smtClean="0"/>
          </a:p>
          <a:p>
            <a:pPr algn="just">
              <a:buFont typeface="Wingdings" pitchFamily="2" charset="2"/>
              <a:buChar char="Ø"/>
            </a:pPr>
            <a:r>
              <a:rPr lang="fr-FR" sz="2000" b="1" dirty="0" smtClean="0">
                <a:latin typeface="Arial" pitchFamily="34" charset="0"/>
                <a:ea typeface="Verdana" pitchFamily="34" charset="0"/>
                <a:cs typeface="Verdana" pitchFamily="34" charset="0"/>
              </a:rPr>
              <a:t> Minimisation des risques juridiques :</a:t>
            </a:r>
          </a:p>
          <a:p>
            <a:pPr algn="just">
              <a:buFont typeface="Wingdings" pitchFamily="2" charset="2"/>
              <a:buChar char="Ø"/>
            </a:pPr>
            <a:endParaRPr lang="fr-FR" sz="800" dirty="0" smtClean="0">
              <a:latin typeface="Arial" pitchFamily="34" charset="0"/>
              <a:ea typeface="Verdana" pitchFamily="34" charset="0"/>
              <a:cs typeface="Verdana" pitchFamily="34" charset="0"/>
            </a:endParaRPr>
          </a:p>
          <a:p>
            <a:pPr lvl="1" algn="just"/>
            <a:r>
              <a:rPr lang="fr-FR" sz="2000" dirty="0" smtClean="0">
                <a:latin typeface="Arial" pitchFamily="34" charset="0"/>
                <a:ea typeface="Verdana" pitchFamily="34" charset="0"/>
                <a:cs typeface="Verdana" pitchFamily="34" charset="0"/>
              </a:rPr>
              <a:t>Une bonne étude juridique permet d’identifier et de gérer les risques potentiels, évitant ainsi des litiges coûteux et des sanctions qui pourraient compromettre la pérennité de la start-up. </a:t>
            </a:r>
          </a:p>
          <a:p>
            <a:pPr lvl="1" algn="just"/>
            <a:endParaRPr lang="fr-FR" sz="800" dirty="0" smtClean="0">
              <a:latin typeface="Arial" pitchFamily="34" charset="0"/>
              <a:ea typeface="Verdana" pitchFamily="34" charset="0"/>
              <a:cs typeface="Verdana" pitchFamily="34" charset="0"/>
            </a:endParaRPr>
          </a:p>
          <a:p>
            <a:pPr algn="just">
              <a:buFont typeface="Wingdings" pitchFamily="2" charset="2"/>
              <a:buChar char="Ø"/>
            </a:pPr>
            <a:r>
              <a:rPr lang="fr-FR" sz="2000" b="1" dirty="0" smtClean="0">
                <a:latin typeface="Arial" pitchFamily="34" charset="0"/>
                <a:ea typeface="Verdana" pitchFamily="34" charset="0"/>
                <a:cs typeface="Verdana" pitchFamily="34" charset="0"/>
              </a:rPr>
              <a:t> Attraction des investisseurs :</a:t>
            </a:r>
          </a:p>
          <a:p>
            <a:pPr algn="just"/>
            <a:endParaRPr lang="fr-FR" sz="800" dirty="0" smtClean="0">
              <a:latin typeface="Arial" pitchFamily="34" charset="0"/>
              <a:ea typeface="Verdana" pitchFamily="34" charset="0"/>
              <a:cs typeface="Verdana" pitchFamily="34" charset="0"/>
            </a:endParaRPr>
          </a:p>
          <a:p>
            <a:pPr lvl="1" algn="just"/>
            <a:r>
              <a:rPr lang="fr-FR" sz="2000" dirty="0" smtClean="0">
                <a:latin typeface="Arial" pitchFamily="34" charset="0"/>
                <a:ea typeface="Verdana" pitchFamily="34" charset="0"/>
                <a:cs typeface="Verdana" pitchFamily="34" charset="0"/>
              </a:rPr>
              <a:t>Les investisseurs sont souvent plus enclins à soutenir une start-up qui a une base juridique solide et qui a pris les mesures nécessaires pour protéger ses actifs et respecter la réglementation.</a:t>
            </a:r>
          </a:p>
          <a:p>
            <a:pPr lvl="1" algn="just"/>
            <a:endParaRPr lang="fr-FR" sz="2000" dirty="0" smtClean="0">
              <a:latin typeface="Arial" pitchFamily="34" charset="0"/>
              <a:ea typeface="Verdana" pitchFamily="34" charset="0"/>
              <a:cs typeface="Verdana" pitchFamily="34" charset="0"/>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4" name="Rectangle 3"/>
          <p:cNvSpPr/>
          <p:nvPr/>
        </p:nvSpPr>
        <p:spPr>
          <a:xfrm>
            <a:off x="923925" y="1454914"/>
            <a:ext cx="10525125" cy="163121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buFont typeface="Wingdings" pitchFamily="2" charset="2"/>
              <a:buChar char="Ø"/>
            </a:pPr>
            <a:r>
              <a:rPr lang="fr-FR" sz="2000" b="1" dirty="0" smtClean="0">
                <a:latin typeface="Arial" pitchFamily="34" charset="0"/>
                <a:ea typeface="Verdana" pitchFamily="34" charset="0"/>
                <a:cs typeface="Verdana" pitchFamily="34" charset="0"/>
              </a:rPr>
              <a:t> Création de confiance :</a:t>
            </a:r>
          </a:p>
          <a:p>
            <a:pPr lvl="1" algn="just"/>
            <a:r>
              <a:rPr lang="fr-FR" sz="2000" dirty="0" smtClean="0">
                <a:latin typeface="Arial" pitchFamily="34" charset="0"/>
                <a:ea typeface="Verdana" pitchFamily="34" charset="0"/>
                <a:cs typeface="Verdana" pitchFamily="34" charset="0"/>
              </a:rPr>
              <a:t>En établissant un cadre juridique clair et solide, la start-up inspire confiance auprès des partenaires commerciaux, des clients et des employés, ce qui est essentiel pour développer des relations durables et favoriser la croissance.</a:t>
            </a:r>
          </a:p>
          <a:p>
            <a:pPr lvl="1"/>
            <a:endParaRPr lang="fr-FR" sz="2000" dirty="0" smtClean="0">
              <a:latin typeface="Arial" pitchFamily="34" charset="0"/>
              <a:ea typeface="Verdana" pitchFamily="34" charset="0"/>
              <a:cs typeface="Verdana" pitchFamily="34" charset="0"/>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98171" y="604547"/>
            <a:ext cx="9601199" cy="369332"/>
          </a:xfrm>
          <a:prstGeom prst="rect">
            <a:avLst/>
          </a:prstGeom>
        </p:spPr>
        <p:txBody>
          <a:bodyPr wrap="square">
            <a:spAutoFit/>
          </a:bodyPr>
          <a:lstStyle/>
          <a:p>
            <a:r>
              <a:rPr lang="fr-FR" b="1" dirty="0" smtClean="0">
                <a:solidFill>
                  <a:srgbClr val="C00000"/>
                </a:solidFill>
                <a:latin typeface="Arial" pitchFamily="34" charset="0"/>
                <a:ea typeface="Times New Roman" pitchFamily="18" charset="0"/>
                <a:cs typeface="Arial" pitchFamily="34" charset="0"/>
              </a:rPr>
              <a:t>D- </a:t>
            </a:r>
            <a:r>
              <a:rPr lang="fr-FR" b="1" smtClean="0">
                <a:solidFill>
                  <a:srgbClr val="C00000"/>
                </a:solidFill>
                <a:latin typeface="Arial" pitchFamily="34" charset="0"/>
                <a:ea typeface="Times New Roman" pitchFamily="18" charset="0"/>
                <a:cs typeface="Arial" pitchFamily="34" charset="0"/>
              </a:rPr>
              <a:t>RESUMEE RECAPULATIF DU PROCESSUS DE CREATION D’UNE START-UP </a:t>
            </a:r>
            <a:endParaRPr lang="fr-FR" sz="2000" b="1" dirty="0" smtClean="0">
              <a:solidFill>
                <a:srgbClr val="C00000"/>
              </a:solidFill>
              <a:latin typeface="Arial" pitchFamily="34" charset="0"/>
              <a:cs typeface="Arial" pitchFamily="34" charset="0"/>
            </a:endParaRPr>
          </a:p>
        </p:txBody>
      </p:sp>
      <p:sp>
        <p:nvSpPr>
          <p:cNvPr id="5" name="Rectangle 4"/>
          <p:cNvSpPr/>
          <p:nvPr/>
        </p:nvSpPr>
        <p:spPr>
          <a:xfrm>
            <a:off x="718457" y="1421564"/>
            <a:ext cx="10570028" cy="923330"/>
          </a:xfrm>
          <a:prstGeom prst="rect">
            <a:avLst/>
          </a:prstGeom>
        </p:spPr>
        <p:txBody>
          <a:bodyPr wrap="square">
            <a:spAutoFit/>
          </a:bodyPr>
          <a:lstStyle/>
          <a:p>
            <a:pPr algn="just"/>
            <a:r>
              <a:rPr lang="fr-FR" dirty="0" smtClean="0"/>
              <a:t>Créer une startup est un processus passionnant mais complexe qui nécessite une planification minutieuse et une exécution stratégique. La rencontre entre l’idée et le porteur du projet , se développe le long d’une chaine de valeurs, qui permet si toutes les condition de réussite son réunies, de produire une startup innovante.</a:t>
            </a:r>
          </a:p>
        </p:txBody>
      </p:sp>
      <p:sp>
        <p:nvSpPr>
          <p:cNvPr id="6" name="Nuage 5">
            <a:hlinkClick r:id="" action="ppaction://noaction" highlightClick="1">
              <a:snd r:embed="rId2" name="applause.wav" builtIn="1"/>
            </a:hlinkClick>
          </p:cNvPr>
          <p:cNvSpPr/>
          <p:nvPr/>
        </p:nvSpPr>
        <p:spPr>
          <a:xfrm>
            <a:off x="1436914" y="3309256"/>
            <a:ext cx="3733801" cy="3092172"/>
          </a:xfrm>
          <a:prstGeom prst="cloud">
            <a:avLst/>
          </a:prstGeom>
        </p:spPr>
        <p:style>
          <a:lnRef idx="3">
            <a:schemeClr val="lt1"/>
          </a:lnRef>
          <a:fillRef idx="1">
            <a:schemeClr val="accent5"/>
          </a:fillRef>
          <a:effectRef idx="1">
            <a:schemeClr val="accent5"/>
          </a:effectRef>
          <a:fontRef idx="minor">
            <a:schemeClr val="lt1"/>
          </a:fontRef>
        </p:style>
        <p:txBody>
          <a:bodyPr wrap="square">
            <a:spAutoFit/>
          </a:bodyPr>
          <a:lstStyle/>
          <a:p>
            <a:pPr algn="ctr"/>
            <a:r>
              <a:rPr lang="fr-FR" b="1" dirty="0" smtClean="0"/>
              <a:t>Avant de vous lancer et d’engager des ressources, la première étape à faire est la recherche d’une idée ou l’identification de l’opportunité</a:t>
            </a:r>
            <a:r>
              <a:rPr lang="fr-FR" dirty="0" smtClean="0"/>
              <a:t>.</a:t>
            </a:r>
            <a:endParaRPr lang="fr-FR" dirty="0"/>
          </a:p>
        </p:txBody>
      </p:sp>
      <p:sp>
        <p:nvSpPr>
          <p:cNvPr id="7" name="Rectangle 6"/>
          <p:cNvSpPr/>
          <p:nvPr/>
        </p:nvSpPr>
        <p:spPr>
          <a:xfrm>
            <a:off x="5595258" y="3629522"/>
            <a:ext cx="5638800" cy="184665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fr-FR" dirty="0" smtClean="0"/>
              <a:t>Pour ce faire : </a:t>
            </a:r>
          </a:p>
          <a:p>
            <a:pPr algn="just"/>
            <a:r>
              <a:rPr lang="fr-FR" sz="1600" dirty="0" smtClean="0"/>
              <a:t>• Réaliser une étude approfondie du marché afin de connaître les perspectives possibles pour sa startup.</a:t>
            </a:r>
          </a:p>
          <a:p>
            <a:pPr algn="just"/>
            <a:r>
              <a:rPr lang="fr-FR" sz="1600" dirty="0" smtClean="0"/>
              <a:t>Il faut s’assurer que l’idée est bien pertinente, unique et nouvelle (pour se faire, une étude Benchmark pourra être réalisée). Il est recommandé de vérifier si l’idée de startup correspond aux compétences, qualifications du fondateurs etc.</a:t>
            </a:r>
            <a:endParaRPr lang="fr-FR" sz="1600" dirty="0"/>
          </a:p>
        </p:txBody>
      </p:sp>
      <p:sp>
        <p:nvSpPr>
          <p:cNvPr id="8" name="Rectangle 7"/>
          <p:cNvSpPr/>
          <p:nvPr/>
        </p:nvSpPr>
        <p:spPr>
          <a:xfrm>
            <a:off x="1216658" y="2863334"/>
            <a:ext cx="3882858" cy="369332"/>
          </a:xfrm>
          <a:prstGeom prst="rect">
            <a:avLst/>
          </a:prstGeom>
        </p:spPr>
        <p:txBody>
          <a:bodyPr wrap="none">
            <a:spAutoFit/>
          </a:bodyPr>
          <a:lstStyle/>
          <a:p>
            <a:r>
              <a:rPr lang="fr-FR" b="1" dirty="0" smtClean="0">
                <a:solidFill>
                  <a:srgbClr val="00B050"/>
                </a:solidFill>
              </a:rPr>
              <a:t>Étape 1: Identification de l’opportunité</a:t>
            </a:r>
            <a:endParaRPr lang="fr-FR" b="1" dirty="0">
              <a:solidFill>
                <a:srgbClr val="00B050"/>
              </a:solidFill>
            </a:endParaRPr>
          </a:p>
        </p:txBody>
      </p:sp>
      <p:sp>
        <p:nvSpPr>
          <p:cNvPr id="9" name="Rectangle 8"/>
          <p:cNvSpPr/>
          <p:nvPr/>
        </p:nvSpPr>
        <p:spPr>
          <a:xfrm>
            <a:off x="5460375" y="2547648"/>
            <a:ext cx="2074607" cy="369332"/>
          </a:xfrm>
          <a:prstGeom prst="rect">
            <a:avLst/>
          </a:prstGeom>
        </p:spPr>
        <p:txBody>
          <a:bodyPr wrap="none">
            <a:spAutoFit/>
          </a:bodyPr>
          <a:lstStyle/>
          <a:p>
            <a:pPr algn="ctr"/>
            <a:r>
              <a:rPr lang="fr-FR" b="1" dirty="0" smtClean="0">
                <a:solidFill>
                  <a:srgbClr val="C00000"/>
                </a:solidFill>
              </a:rPr>
              <a:t>PHASE 1 : IDÉATION</a:t>
            </a:r>
            <a:endParaRPr lang="fr-FR" b="1" dirty="0">
              <a:solidFill>
                <a:srgbClr val="C00000"/>
              </a:solidFill>
            </a:endParaRPr>
          </a:p>
        </p:txBody>
      </p:sp>
      <p:sp>
        <p:nvSpPr>
          <p:cNvPr id="10" name="Rectangle 9"/>
          <p:cNvSpPr/>
          <p:nvPr/>
        </p:nvSpPr>
        <p:spPr>
          <a:xfrm>
            <a:off x="4920343" y="5783721"/>
            <a:ext cx="6096000" cy="646331"/>
          </a:xfrm>
          <a:prstGeom prst="rect">
            <a:avLst/>
          </a:prstGeom>
        </p:spPr>
        <p:txBody>
          <a:bodyPr>
            <a:spAutoFit/>
          </a:bodyPr>
          <a:lstStyle/>
          <a:p>
            <a:pPr algn="ctr"/>
            <a:r>
              <a:rPr lang="fr-FR" b="1" dirty="0" smtClean="0">
                <a:solidFill>
                  <a:schemeClr val="tx2">
                    <a:lumMod val="60000"/>
                    <a:lumOff val="40000"/>
                  </a:schemeClr>
                </a:solidFill>
              </a:rPr>
              <a:t>Vous possédez votre idée ? Parfait Il est maintenant temps de la confronter !</a:t>
            </a:r>
            <a:endParaRPr lang="fr-FR" b="1" dirty="0">
              <a:solidFill>
                <a:schemeClr val="tx2">
                  <a:lumMod val="60000"/>
                  <a:lumOff val="40000"/>
                </a:schemeClr>
              </a:solidFill>
            </a:endParaRPr>
          </a:p>
        </p:txBody>
      </p:sp>
      <p:sp>
        <p:nvSpPr>
          <p:cNvPr id="12" name="Rectangle 11"/>
          <p:cNvSpPr/>
          <p:nvPr/>
        </p:nvSpPr>
        <p:spPr>
          <a:xfrm>
            <a:off x="1960239" y="1023648"/>
            <a:ext cx="4912499" cy="369332"/>
          </a:xfrm>
          <a:prstGeom prst="rect">
            <a:avLst/>
          </a:prstGeom>
        </p:spPr>
        <p:txBody>
          <a:bodyPr wrap="none">
            <a:spAutoFit/>
          </a:bodyPr>
          <a:lstStyle/>
          <a:p>
            <a:r>
              <a:rPr lang="fr-FR" b="1" dirty="0" smtClean="0">
                <a:solidFill>
                  <a:schemeClr val="accent3">
                    <a:lumMod val="75000"/>
                  </a:schemeClr>
                </a:solidFill>
                <a:latin typeface="Arial" pitchFamily="34" charset="0"/>
                <a:cs typeface="Arial" pitchFamily="34" charset="0"/>
              </a:rPr>
              <a:t>I- ETAPES DE CREATION D’UNE STARTUP </a:t>
            </a:r>
            <a:endParaRPr lang="fr-FR" dirty="0">
              <a:solidFill>
                <a:schemeClr val="accent3">
                  <a:lumMod val="75000"/>
                </a:schemeClr>
              </a:solidFill>
            </a:endParaRPr>
          </a:p>
        </p:txBody>
      </p:sp>
      <p:pic>
        <p:nvPicPr>
          <p:cNvPr id="13" name="Image 12" descr="C:\Users\ma.mejri\Desktop\téléchargement (1).png"/>
          <p:cNvPicPr/>
          <p:nvPr/>
        </p:nvPicPr>
        <p:blipFill>
          <a:blip r:embed="rId3"/>
          <a:srcRect/>
          <a:stretch>
            <a:fillRect/>
          </a:stretch>
        </p:blipFill>
        <p:spPr bwMode="auto">
          <a:xfrm>
            <a:off x="439964" y="568325"/>
            <a:ext cx="1079500" cy="387350"/>
          </a:xfrm>
          <a:prstGeom prst="rect">
            <a:avLst/>
          </a:prstGeom>
          <a:noFill/>
          <a:ln w="9525">
            <a:noFill/>
            <a:miter lim="800000"/>
            <a:headEnd/>
            <a:tailEnd/>
          </a:ln>
        </p:spPr>
      </p:pic>
      <p:sp>
        <p:nvSpPr>
          <p:cNvPr id="11" name="Espace réservé de la date 10"/>
          <p:cNvSpPr>
            <a:spLocks noGrp="1"/>
          </p:cNvSpPr>
          <p:nvPr>
            <p:ph type="dt" sz="half" idx="10"/>
          </p:nvPr>
        </p:nvSpPr>
        <p:spPr/>
        <p:txBody>
          <a:bodyPr/>
          <a:lstStyle/>
          <a:p>
            <a:pPr lvl="0"/>
            <a:fld id="{520E9A59-115F-44D5-B3D9-9C667560186A}" type="datetime1">
              <a:rPr lang="en-US" smtClean="0"/>
              <a:pPr lvl="0"/>
              <a:t>11/16/2025</a:t>
            </a:fld>
            <a:endParaRPr lang="en-US"/>
          </a:p>
        </p:txBody>
      </p:sp>
      <p:sp>
        <p:nvSpPr>
          <p:cNvPr id="14" name="Espace réservé du numéro de diapositive 13"/>
          <p:cNvSpPr>
            <a:spLocks noGrp="1"/>
          </p:cNvSpPr>
          <p:nvPr>
            <p:ph type="sldNum" sz="quarter" idx="12"/>
          </p:nvPr>
        </p:nvSpPr>
        <p:spPr/>
        <p:txBody>
          <a:bodyPr/>
          <a:lstStyle/>
          <a:p>
            <a:pPr lvl="0"/>
            <a:fld id="{2390AFF8-1E19-449A-AA82-B5E4E90108F1}" type="slidenum">
              <a:rPr lang="fr-FR" smtClean="0"/>
              <a:pPr lvl="0"/>
              <a:t>168</a:t>
            </a:fld>
            <a:endParaRPr lang="fr-F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2329454" y="359620"/>
            <a:ext cx="3607975" cy="369332"/>
          </a:xfrm>
          <a:prstGeom prst="rect">
            <a:avLst/>
          </a:prstGeom>
        </p:spPr>
        <p:txBody>
          <a:bodyPr wrap="none">
            <a:spAutoFit/>
          </a:bodyPr>
          <a:lstStyle/>
          <a:p>
            <a:r>
              <a:rPr lang="fr-FR" b="1" dirty="0" smtClean="0">
                <a:solidFill>
                  <a:srgbClr val="00B050"/>
                </a:solidFill>
              </a:rPr>
              <a:t>Étape 2 : Réflexions préalables (1/2</a:t>
            </a:r>
            <a:r>
              <a:rPr lang="fr-FR" dirty="0" smtClean="0"/>
              <a:t>)</a:t>
            </a:r>
            <a:endParaRPr lang="fr-FR" dirty="0"/>
          </a:p>
        </p:txBody>
      </p:sp>
      <p:sp>
        <p:nvSpPr>
          <p:cNvPr id="11" name="Rectangle 10"/>
          <p:cNvSpPr/>
          <p:nvPr/>
        </p:nvSpPr>
        <p:spPr>
          <a:xfrm>
            <a:off x="2525484" y="787177"/>
            <a:ext cx="7206343" cy="369332"/>
          </a:xfrm>
          <a:prstGeom prst="rect">
            <a:avLst/>
          </a:prstGeom>
        </p:spPr>
        <p:txBody>
          <a:bodyPr wrap="square">
            <a:spAutoFit/>
          </a:bodyPr>
          <a:lstStyle/>
          <a:p>
            <a:pPr algn="ctr"/>
            <a:r>
              <a:rPr lang="fr-FR" b="1" dirty="0" smtClean="0"/>
              <a:t>Quelques sujets de réflexions préalables à la création de la startup :</a:t>
            </a:r>
            <a:endParaRPr lang="fr-FR" b="1" dirty="0"/>
          </a:p>
        </p:txBody>
      </p:sp>
      <p:sp>
        <p:nvSpPr>
          <p:cNvPr id="12" name="Rectangle 11"/>
          <p:cNvSpPr/>
          <p:nvPr/>
        </p:nvSpPr>
        <p:spPr>
          <a:xfrm>
            <a:off x="1055914" y="1312707"/>
            <a:ext cx="3265716" cy="107721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fr-FR" sz="1600" dirty="0" smtClean="0"/>
              <a:t>Quels sont les facteurs environnants nécessaires en termes de ressources financières et les moyens humains à mettre en place ?</a:t>
            </a:r>
            <a:endParaRPr lang="fr-FR" sz="1600" dirty="0"/>
          </a:p>
        </p:txBody>
      </p:sp>
      <p:sp>
        <p:nvSpPr>
          <p:cNvPr id="13" name="Rectangle 12"/>
          <p:cNvSpPr/>
          <p:nvPr/>
        </p:nvSpPr>
        <p:spPr>
          <a:xfrm>
            <a:off x="1088571" y="2605092"/>
            <a:ext cx="3298372" cy="5847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fr-FR" sz="1600" dirty="0" smtClean="0"/>
              <a:t>Quelles sont les c o m p o s a n t e s essentielles d’une innovation ?</a:t>
            </a:r>
          </a:p>
        </p:txBody>
      </p:sp>
      <p:sp>
        <p:nvSpPr>
          <p:cNvPr id="14" name="Rectangle 13"/>
          <p:cNvSpPr/>
          <p:nvPr/>
        </p:nvSpPr>
        <p:spPr>
          <a:xfrm>
            <a:off x="1066801" y="3377978"/>
            <a:ext cx="3243942" cy="83099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fr-FR" sz="1600" dirty="0" smtClean="0">
                <a:solidFill>
                  <a:schemeClr val="dk1"/>
                </a:solidFill>
              </a:rPr>
              <a:t>Puis-je bénéficier d'une aide financière ou fiscale dans le cadre de la création de mon activité</a:t>
            </a:r>
          </a:p>
        </p:txBody>
      </p:sp>
      <p:sp>
        <p:nvSpPr>
          <p:cNvPr id="16" name="Rectangle 15"/>
          <p:cNvSpPr/>
          <p:nvPr/>
        </p:nvSpPr>
        <p:spPr>
          <a:xfrm>
            <a:off x="4820038" y="4028106"/>
            <a:ext cx="3300704" cy="33855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fr-FR" sz="1600" dirty="0" smtClean="0">
                <a:solidFill>
                  <a:schemeClr val="dk1"/>
                </a:solidFill>
              </a:rPr>
              <a:t>Comment financer mon activité ?</a:t>
            </a:r>
          </a:p>
        </p:txBody>
      </p:sp>
      <p:sp>
        <p:nvSpPr>
          <p:cNvPr id="17" name="Rectangle 16"/>
          <p:cNvSpPr/>
          <p:nvPr/>
        </p:nvSpPr>
        <p:spPr>
          <a:xfrm>
            <a:off x="8382000" y="3614448"/>
            <a:ext cx="3407228" cy="5847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fr-FR" sz="1600" dirty="0" smtClean="0">
                <a:solidFill>
                  <a:schemeClr val="dk1"/>
                </a:solidFill>
              </a:rPr>
              <a:t>Quel capital social pour ma future société ? (****) </a:t>
            </a:r>
          </a:p>
        </p:txBody>
      </p:sp>
      <p:sp>
        <p:nvSpPr>
          <p:cNvPr id="18" name="Rectangle 17"/>
          <p:cNvSpPr/>
          <p:nvPr/>
        </p:nvSpPr>
        <p:spPr>
          <a:xfrm>
            <a:off x="8392885" y="2950418"/>
            <a:ext cx="3396343" cy="33855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fr-FR" sz="1600" dirty="0" smtClean="0">
                <a:solidFill>
                  <a:schemeClr val="dk1"/>
                </a:solidFill>
              </a:rPr>
              <a:t>Où implanter ma startup ? (***)</a:t>
            </a:r>
          </a:p>
        </p:txBody>
      </p:sp>
      <p:sp>
        <p:nvSpPr>
          <p:cNvPr id="19" name="Rectangle 18"/>
          <p:cNvSpPr/>
          <p:nvPr/>
        </p:nvSpPr>
        <p:spPr>
          <a:xfrm>
            <a:off x="8403771" y="2253733"/>
            <a:ext cx="3418114" cy="5847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fr-FR" sz="1600" dirty="0" smtClean="0">
                <a:solidFill>
                  <a:schemeClr val="dk1"/>
                </a:solidFill>
              </a:rPr>
              <a:t>Créer son activité seul ou avec des associés ? (**)</a:t>
            </a:r>
          </a:p>
        </p:txBody>
      </p:sp>
      <p:sp>
        <p:nvSpPr>
          <p:cNvPr id="22" name="Rectangle 21"/>
          <p:cNvSpPr/>
          <p:nvPr/>
        </p:nvSpPr>
        <p:spPr>
          <a:xfrm>
            <a:off x="8360228" y="1342349"/>
            <a:ext cx="3385458" cy="83099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fr-FR" sz="1600" dirty="0" smtClean="0">
                <a:solidFill>
                  <a:schemeClr val="dk1"/>
                </a:solidFill>
              </a:rPr>
              <a:t>L'activité que je souhaite exercer est elle réglementée ou nécessite-t-elle une autorisation (</a:t>
            </a:r>
            <a:r>
              <a:rPr lang="fr-FR" sz="1600" b="1" dirty="0" smtClean="0">
                <a:solidFill>
                  <a:srgbClr val="C00000"/>
                </a:solidFill>
              </a:rPr>
              <a:t>*</a:t>
            </a:r>
            <a:r>
              <a:rPr lang="fr-FR" sz="1600" dirty="0" smtClean="0">
                <a:solidFill>
                  <a:schemeClr val="dk1"/>
                </a:solidFill>
              </a:rPr>
              <a:t>)</a:t>
            </a:r>
          </a:p>
        </p:txBody>
      </p:sp>
      <p:sp>
        <p:nvSpPr>
          <p:cNvPr id="23" name="Rectangle 22"/>
          <p:cNvSpPr/>
          <p:nvPr/>
        </p:nvSpPr>
        <p:spPr>
          <a:xfrm>
            <a:off x="957944" y="4631514"/>
            <a:ext cx="10809514" cy="1569660"/>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just"/>
            <a:r>
              <a:rPr lang="fr-FR" sz="1600" b="1" dirty="0" smtClean="0"/>
              <a:t>(*) Certaines activités nécessite un certain nombre de </a:t>
            </a:r>
            <a:r>
              <a:rPr lang="fr-FR" sz="1600" b="1" dirty="0" err="1" smtClean="0"/>
              <a:t>prérequis</a:t>
            </a:r>
            <a:r>
              <a:rPr lang="fr-FR" sz="1600" b="1" dirty="0" smtClean="0"/>
              <a:t> ( attestations d'un ordre, agrément préalable, licence, </a:t>
            </a:r>
            <a:r>
              <a:rPr lang="fr-FR" sz="1600" b="1" dirty="0" err="1" smtClean="0"/>
              <a:t>etc</a:t>
            </a:r>
            <a:r>
              <a:rPr lang="fr-FR" sz="1600" b="1" dirty="0" smtClean="0"/>
              <a:t> ), </a:t>
            </a:r>
          </a:p>
          <a:p>
            <a:pPr algn="just"/>
            <a:r>
              <a:rPr lang="fr-FR" sz="1600" b="1" dirty="0" smtClean="0"/>
              <a:t>(**) Cette réflexion préalable est indispensable, elle influe sur le choix de la forme juridique</a:t>
            </a:r>
          </a:p>
          <a:p>
            <a:pPr algn="just"/>
            <a:r>
              <a:rPr lang="fr-FR" sz="1600" b="1" dirty="0" smtClean="0"/>
              <a:t>(***) La localisation de la startup reste une question importante, tant le choix de cette implantation peut influer sur l'image de votre structure, sa visibilité et sa clientèle, mais aussi sur les aides financières et fiscales dont vous pourriez bénéficier.</a:t>
            </a:r>
          </a:p>
          <a:p>
            <a:pPr algn="just"/>
            <a:r>
              <a:rPr lang="fr-FR" sz="1600" b="1" dirty="0" smtClean="0"/>
              <a:t> (****) La question importante est comment constituer ce capital social, plusieurs types d'apports étant possibles (apport en numéraire, en nature ou en industrie).</a:t>
            </a:r>
            <a:endParaRPr lang="fr-FR" sz="1600" b="1" dirty="0"/>
          </a:p>
        </p:txBody>
      </p:sp>
      <p:pic>
        <p:nvPicPr>
          <p:cNvPr id="20" name="Image 19" descr="C:\Users\ma.mejri\Desktop\téléchargement (1).png"/>
          <p:cNvPicPr/>
          <p:nvPr/>
        </p:nvPicPr>
        <p:blipFill>
          <a:blip r:embed="rId2"/>
          <a:srcRect/>
          <a:stretch>
            <a:fillRect/>
          </a:stretch>
        </p:blipFill>
        <p:spPr bwMode="auto">
          <a:xfrm>
            <a:off x="603250" y="590096"/>
            <a:ext cx="1079500" cy="387350"/>
          </a:xfrm>
          <a:prstGeom prst="rect">
            <a:avLst/>
          </a:prstGeom>
          <a:noFill/>
          <a:ln w="9525">
            <a:noFill/>
            <a:miter lim="800000"/>
            <a:headEnd/>
            <a:tailEnd/>
          </a:ln>
        </p:spPr>
      </p:pic>
      <p:sp>
        <p:nvSpPr>
          <p:cNvPr id="15" name="Espace réservé de la date 14"/>
          <p:cNvSpPr>
            <a:spLocks noGrp="1"/>
          </p:cNvSpPr>
          <p:nvPr>
            <p:ph type="dt" sz="half" idx="10"/>
          </p:nvPr>
        </p:nvSpPr>
        <p:spPr/>
        <p:txBody>
          <a:bodyPr/>
          <a:lstStyle/>
          <a:p>
            <a:pPr lvl="0"/>
            <a:fld id="{D840D962-887C-443C-991C-15FFDE021395}" type="datetime1">
              <a:rPr lang="en-US" smtClean="0"/>
              <a:pPr lvl="0"/>
              <a:t>11/16/2025</a:t>
            </a:fld>
            <a:endParaRPr lang="en-US"/>
          </a:p>
        </p:txBody>
      </p:sp>
      <p:sp>
        <p:nvSpPr>
          <p:cNvPr id="21" name="Espace réservé du numéro de diapositive 20"/>
          <p:cNvSpPr>
            <a:spLocks noGrp="1"/>
          </p:cNvSpPr>
          <p:nvPr>
            <p:ph type="sldNum" sz="quarter" idx="12"/>
          </p:nvPr>
        </p:nvSpPr>
        <p:spPr/>
        <p:txBody>
          <a:bodyPr/>
          <a:lstStyle/>
          <a:p>
            <a:pPr lvl="0"/>
            <a:fld id="{2390AFF8-1E19-449A-AA82-B5E4E90108F1}" type="slidenum">
              <a:rPr lang="fr-FR" smtClean="0"/>
              <a:pPr lvl="0"/>
              <a:t>169</a:t>
            </a:fld>
            <a:endParaRPr lang="fr-F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570704" y="707963"/>
            <a:ext cx="3360472" cy="369332"/>
          </a:xfrm>
          <a:prstGeom prst="rect">
            <a:avLst/>
          </a:prstGeom>
        </p:spPr>
        <p:txBody>
          <a:bodyPr wrap="none">
            <a:spAutoFit/>
          </a:bodyPr>
          <a:lstStyle/>
          <a:p>
            <a:r>
              <a:rPr lang="fr-FR" b="1" dirty="0" smtClean="0">
                <a:solidFill>
                  <a:srgbClr val="00B050"/>
                </a:solidFill>
              </a:rPr>
              <a:t>Étape 3 : Etude préliminaire (1/2)</a:t>
            </a:r>
          </a:p>
        </p:txBody>
      </p:sp>
      <p:sp>
        <p:nvSpPr>
          <p:cNvPr id="4" name="Étiquette 3"/>
          <p:cNvSpPr/>
          <p:nvPr/>
        </p:nvSpPr>
        <p:spPr>
          <a:xfrm>
            <a:off x="478971" y="1693707"/>
            <a:ext cx="6096000" cy="1200150"/>
          </a:xfrm>
          <a:prstGeom prst="plaque">
            <a:avLst/>
          </a:prstGeom>
        </p:spPr>
        <p:style>
          <a:lnRef idx="3">
            <a:schemeClr val="lt1"/>
          </a:lnRef>
          <a:fillRef idx="1">
            <a:schemeClr val="accent1"/>
          </a:fillRef>
          <a:effectRef idx="1">
            <a:schemeClr val="accent1"/>
          </a:effectRef>
          <a:fontRef idx="minor">
            <a:schemeClr val="lt1"/>
          </a:fontRef>
        </p:style>
        <p:txBody>
          <a:bodyPr>
            <a:spAutoFit/>
          </a:bodyPr>
          <a:lstStyle/>
          <a:p>
            <a:pPr algn="just"/>
            <a:r>
              <a:rPr lang="fr-FR" b="1" dirty="0" smtClean="0"/>
              <a:t>Vous démarrez un projet d’innovation ? Une startup ? Alors vous devez obligatoirement passer par une étude de faisabilité avant de vous lancer.</a:t>
            </a:r>
            <a:endParaRPr lang="fr-FR" b="1" dirty="0"/>
          </a:p>
        </p:txBody>
      </p:sp>
      <p:sp>
        <p:nvSpPr>
          <p:cNvPr id="5" name="Rectangle 4"/>
          <p:cNvSpPr/>
          <p:nvPr/>
        </p:nvSpPr>
        <p:spPr>
          <a:xfrm>
            <a:off x="7326086" y="1941064"/>
            <a:ext cx="4343400" cy="646331"/>
          </a:xfrm>
          <a:prstGeom prst="rect">
            <a:avLst/>
          </a:prstGeom>
        </p:spPr>
        <p:txBody>
          <a:bodyPr wrap="square">
            <a:spAutoFit/>
          </a:bodyPr>
          <a:lstStyle/>
          <a:p>
            <a:pPr algn="ctr"/>
            <a:r>
              <a:rPr lang="fr-FR" b="1" dirty="0" smtClean="0"/>
              <a:t>Une question importante doit se poser :       « </a:t>
            </a:r>
            <a:r>
              <a:rPr lang="fr-FR" b="1" dirty="0" smtClean="0">
                <a:solidFill>
                  <a:schemeClr val="tx2">
                    <a:lumMod val="60000"/>
                    <a:lumOff val="40000"/>
                  </a:schemeClr>
                </a:solidFill>
              </a:rPr>
              <a:t>Mon projet peut-il réussir ? » </a:t>
            </a:r>
            <a:endParaRPr lang="fr-FR" b="1" dirty="0">
              <a:solidFill>
                <a:schemeClr val="tx2">
                  <a:lumMod val="60000"/>
                  <a:lumOff val="40000"/>
                </a:schemeClr>
              </a:solidFill>
            </a:endParaRPr>
          </a:p>
        </p:txBody>
      </p:sp>
      <p:sp>
        <p:nvSpPr>
          <p:cNvPr id="6" name="Rectangle 5"/>
          <p:cNvSpPr/>
          <p:nvPr/>
        </p:nvSpPr>
        <p:spPr>
          <a:xfrm>
            <a:off x="1088571" y="3130621"/>
            <a:ext cx="9666514" cy="646331"/>
          </a:xfrm>
          <a:prstGeom prst="rect">
            <a:avLst/>
          </a:prstGeom>
        </p:spPr>
        <p:txBody>
          <a:bodyPr wrap="square">
            <a:spAutoFit/>
          </a:bodyPr>
          <a:lstStyle/>
          <a:p>
            <a:r>
              <a:rPr lang="fr-FR" dirty="0" smtClean="0"/>
              <a:t>Pour répondre à cette question, il faut passer par une étude préliminaire du projet. À cette fin, vous devez, en tant que </a:t>
            </a:r>
            <a:r>
              <a:rPr lang="fr-FR" dirty="0" err="1" smtClean="0"/>
              <a:t>startuper</a:t>
            </a:r>
            <a:r>
              <a:rPr lang="fr-FR" dirty="0" smtClean="0"/>
              <a:t>, vous interroger principalement sur :</a:t>
            </a:r>
            <a:endParaRPr lang="fr-FR" dirty="0"/>
          </a:p>
        </p:txBody>
      </p:sp>
      <p:sp>
        <p:nvSpPr>
          <p:cNvPr id="10" name="Rogner un rectangle avec un coin du même côté 9"/>
          <p:cNvSpPr/>
          <p:nvPr/>
        </p:nvSpPr>
        <p:spPr>
          <a:xfrm>
            <a:off x="849085" y="4055906"/>
            <a:ext cx="2982686" cy="1973937"/>
          </a:xfrm>
          <a:prstGeom prst="snip2SameRect">
            <a:avLst/>
          </a:prstGeom>
        </p:spPr>
        <p:style>
          <a:lnRef idx="3">
            <a:schemeClr val="lt1"/>
          </a:lnRef>
          <a:fillRef idx="1">
            <a:schemeClr val="accent1"/>
          </a:fillRef>
          <a:effectRef idx="1">
            <a:schemeClr val="accent1"/>
          </a:effectRef>
          <a:fontRef idx="minor">
            <a:schemeClr val="lt1"/>
          </a:fontRef>
        </p:style>
        <p:txBody>
          <a:bodyPr wrap="square">
            <a:spAutoFit/>
          </a:bodyPr>
          <a:lstStyle/>
          <a:p>
            <a:pPr algn="ctr"/>
            <a:r>
              <a:rPr lang="fr-FR" sz="1600" b="1" dirty="0" smtClean="0"/>
              <a:t>1</a:t>
            </a:r>
          </a:p>
          <a:p>
            <a:pPr algn="ctr"/>
            <a:r>
              <a:rPr lang="fr-FR" sz="1600" b="1" dirty="0" smtClean="0"/>
              <a:t>La mobilisation des ressources (exemples : Ressources matérielles, intellectuelles et les compétences humaines, financières, </a:t>
            </a:r>
            <a:r>
              <a:rPr lang="fr-FR" sz="1600" b="1" dirty="0" err="1" smtClean="0"/>
              <a:t>etc</a:t>
            </a:r>
            <a:r>
              <a:rPr lang="fr-FR" sz="1600" b="1" dirty="0" smtClean="0"/>
              <a:t>)</a:t>
            </a:r>
            <a:endParaRPr lang="fr-FR" sz="1600" b="1" dirty="0"/>
          </a:p>
        </p:txBody>
      </p:sp>
      <p:sp>
        <p:nvSpPr>
          <p:cNvPr id="11" name="Rogner un rectangle avec un coin du même côté 10"/>
          <p:cNvSpPr/>
          <p:nvPr/>
        </p:nvSpPr>
        <p:spPr>
          <a:xfrm>
            <a:off x="4234542" y="3954920"/>
            <a:ext cx="3450771" cy="2040850"/>
          </a:xfrm>
          <a:prstGeom prst="snip2SameRect">
            <a:avLst/>
          </a:prstGeom>
        </p:spPr>
        <p:style>
          <a:lnRef idx="3">
            <a:schemeClr val="lt1"/>
          </a:lnRef>
          <a:fillRef idx="1">
            <a:schemeClr val="accent1"/>
          </a:fillRef>
          <a:effectRef idx="1">
            <a:schemeClr val="accent1"/>
          </a:effectRef>
          <a:fontRef idx="minor">
            <a:schemeClr val="lt1"/>
          </a:fontRef>
        </p:style>
        <p:txBody>
          <a:bodyPr wrap="square">
            <a:spAutoFit/>
          </a:bodyPr>
          <a:lstStyle/>
          <a:p>
            <a:pPr algn="ctr"/>
            <a:r>
              <a:rPr lang="fr-FR" sz="1600" b="1" dirty="0" smtClean="0"/>
              <a:t>2</a:t>
            </a:r>
            <a:endParaRPr lang="fr-FR" sz="1600" b="1" dirty="0" smtClean="0">
              <a:solidFill>
                <a:schemeClr val="lt1"/>
              </a:solidFill>
            </a:endParaRPr>
          </a:p>
          <a:p>
            <a:pPr algn="ctr"/>
            <a:r>
              <a:rPr lang="fr-FR" sz="1600" b="1" dirty="0" smtClean="0"/>
              <a:t>L</a:t>
            </a:r>
            <a:r>
              <a:rPr lang="fr-FR" sz="1600" b="1" dirty="0" smtClean="0">
                <a:solidFill>
                  <a:schemeClr val="lt1"/>
                </a:solidFill>
              </a:rPr>
              <a:t>’identification des parties prenantes (exemples : client, l’équipe, fournisseurs, les pouvoirs publics, </a:t>
            </a:r>
            <a:r>
              <a:rPr lang="fr-FR" sz="1600" b="1" dirty="0" err="1" smtClean="0">
                <a:solidFill>
                  <a:schemeClr val="lt1"/>
                </a:solidFill>
              </a:rPr>
              <a:t>etc</a:t>
            </a:r>
            <a:r>
              <a:rPr lang="fr-FR" sz="1600" b="1" dirty="0" smtClean="0">
                <a:solidFill>
                  <a:schemeClr val="lt1"/>
                </a:solidFill>
              </a:rPr>
              <a:t>)</a:t>
            </a:r>
          </a:p>
          <a:p>
            <a:endParaRPr lang="fr-FR" dirty="0" smtClean="0"/>
          </a:p>
          <a:p>
            <a:endParaRPr lang="fr-FR" dirty="0"/>
          </a:p>
        </p:txBody>
      </p:sp>
      <p:sp>
        <p:nvSpPr>
          <p:cNvPr id="12" name="Rogner un rectangle avec un coin du même côté 11"/>
          <p:cNvSpPr/>
          <p:nvPr/>
        </p:nvSpPr>
        <p:spPr>
          <a:xfrm>
            <a:off x="8207828" y="4158734"/>
            <a:ext cx="3354659" cy="1806654"/>
          </a:xfrm>
          <a:prstGeom prst="snip2SameRect">
            <a:avLst/>
          </a:prstGeom>
        </p:spPr>
        <p:style>
          <a:lnRef idx="3">
            <a:schemeClr val="lt1"/>
          </a:lnRef>
          <a:fillRef idx="1">
            <a:schemeClr val="accent1"/>
          </a:fillRef>
          <a:effectRef idx="1">
            <a:schemeClr val="accent1"/>
          </a:effectRef>
          <a:fontRef idx="minor">
            <a:schemeClr val="lt1"/>
          </a:fontRef>
        </p:style>
        <p:txBody>
          <a:bodyPr wrap="square">
            <a:spAutoFit/>
          </a:bodyPr>
          <a:lstStyle/>
          <a:p>
            <a:pPr algn="ctr"/>
            <a:r>
              <a:rPr lang="fr-FR" sz="1600" b="1" dirty="0" smtClean="0"/>
              <a:t>3</a:t>
            </a:r>
          </a:p>
          <a:p>
            <a:pPr algn="ctr"/>
            <a:r>
              <a:rPr lang="fr-FR" sz="1600" b="1" dirty="0" smtClean="0"/>
              <a:t>Les contraintes &amp; incitations disponibles sur le marché</a:t>
            </a:r>
            <a:endParaRPr lang="fr-FR" dirty="0" smtClean="0"/>
          </a:p>
          <a:p>
            <a:endParaRPr lang="fr-FR" dirty="0" smtClean="0"/>
          </a:p>
          <a:p>
            <a:endParaRPr lang="fr-FR" dirty="0" smtClean="0"/>
          </a:p>
          <a:p>
            <a:endParaRPr lang="fr-FR" dirty="0"/>
          </a:p>
        </p:txBody>
      </p:sp>
      <p:pic>
        <p:nvPicPr>
          <p:cNvPr id="13" name="Image 12" descr="C:\Users\ma.mejri\Desktop\téléchargement (1).png"/>
          <p:cNvPicPr/>
          <p:nvPr/>
        </p:nvPicPr>
        <p:blipFill>
          <a:blip r:embed="rId2"/>
          <a:srcRect/>
          <a:stretch>
            <a:fillRect/>
          </a:stretch>
        </p:blipFill>
        <p:spPr bwMode="auto">
          <a:xfrm>
            <a:off x="984250" y="677182"/>
            <a:ext cx="1079500" cy="387350"/>
          </a:xfrm>
          <a:prstGeom prst="rect">
            <a:avLst/>
          </a:prstGeom>
          <a:noFill/>
          <a:ln w="9525">
            <a:noFill/>
            <a:miter lim="800000"/>
            <a:headEnd/>
            <a:tailEnd/>
          </a:ln>
        </p:spPr>
      </p:pic>
      <p:sp>
        <p:nvSpPr>
          <p:cNvPr id="14" name="Espace réservé de la date 13"/>
          <p:cNvSpPr>
            <a:spLocks noGrp="1"/>
          </p:cNvSpPr>
          <p:nvPr>
            <p:ph type="dt" sz="half" idx="10"/>
          </p:nvPr>
        </p:nvSpPr>
        <p:spPr/>
        <p:txBody>
          <a:bodyPr/>
          <a:lstStyle/>
          <a:p>
            <a:pPr lvl="0"/>
            <a:fld id="{E282A259-CACD-4BEE-9768-6E153BDF8113}" type="datetime1">
              <a:rPr lang="en-US" smtClean="0"/>
              <a:pPr lvl="0"/>
              <a:t>11/16/2025</a:t>
            </a:fld>
            <a:endParaRPr lang="en-US"/>
          </a:p>
        </p:txBody>
      </p:sp>
      <p:sp>
        <p:nvSpPr>
          <p:cNvPr id="15" name="Espace réservé du numéro de diapositive 14"/>
          <p:cNvSpPr>
            <a:spLocks noGrp="1"/>
          </p:cNvSpPr>
          <p:nvPr>
            <p:ph type="sldNum" sz="quarter" idx="12"/>
          </p:nvPr>
        </p:nvSpPr>
        <p:spPr/>
        <p:txBody>
          <a:bodyPr/>
          <a:lstStyle/>
          <a:p>
            <a:pPr lvl="0"/>
            <a:fld id="{2390AFF8-1E19-449A-AA82-B5E4E90108F1}" type="slidenum">
              <a:rPr lang="fr-FR" smtClean="0"/>
              <a:pPr lvl="0"/>
              <a:t>170</a:t>
            </a:fld>
            <a:endParaRPr lang="fr-F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17439" y="522905"/>
            <a:ext cx="3307572" cy="369332"/>
          </a:xfrm>
          <a:prstGeom prst="rect">
            <a:avLst/>
          </a:prstGeom>
        </p:spPr>
        <p:txBody>
          <a:bodyPr wrap="none">
            <a:spAutoFit/>
          </a:bodyPr>
          <a:lstStyle/>
          <a:p>
            <a:r>
              <a:rPr lang="fr-FR" b="1" dirty="0" smtClean="0">
                <a:solidFill>
                  <a:srgbClr val="00B050"/>
                </a:solidFill>
              </a:rPr>
              <a:t>Étape 3: Etude préliminaire (2/2)</a:t>
            </a:r>
          </a:p>
        </p:txBody>
      </p:sp>
      <p:sp>
        <p:nvSpPr>
          <p:cNvPr id="3" name="Rectangle 2"/>
          <p:cNvSpPr/>
          <p:nvPr/>
        </p:nvSpPr>
        <p:spPr>
          <a:xfrm>
            <a:off x="511628" y="1894144"/>
            <a:ext cx="4125685" cy="4724370"/>
          </a:xfrm>
          <a:prstGeom prst="rect">
            <a:avLst/>
          </a:prstGeom>
        </p:spPr>
        <p:style>
          <a:lnRef idx="3">
            <a:schemeClr val="lt1"/>
          </a:lnRef>
          <a:fillRef idx="1">
            <a:schemeClr val="accent1"/>
          </a:fillRef>
          <a:effectRef idx="1">
            <a:schemeClr val="accent1"/>
          </a:effectRef>
          <a:fontRef idx="minor">
            <a:schemeClr val="lt1"/>
          </a:fontRef>
        </p:style>
        <p:txBody>
          <a:bodyPr wrap="square">
            <a:spAutoFit/>
          </a:bodyPr>
          <a:lstStyle/>
          <a:p>
            <a:pPr algn="just"/>
            <a:r>
              <a:rPr lang="fr-FR" sz="1600" b="1" dirty="0" smtClean="0"/>
              <a:t>À travers une étude de marché, économique et juridique, vous seriez capable de répondre à diverses questions à savoir : </a:t>
            </a:r>
          </a:p>
          <a:p>
            <a:pPr algn="just"/>
            <a:endParaRPr lang="fr-FR" sz="500" b="1" dirty="0" smtClean="0"/>
          </a:p>
          <a:p>
            <a:pPr algn="just">
              <a:buFont typeface="Arial" pitchFamily="34" charset="0"/>
              <a:buChar char="•"/>
            </a:pPr>
            <a:r>
              <a:rPr lang="fr-FR" sz="1600" b="1" dirty="0" smtClean="0"/>
              <a:t> Le produit ou service existe-t-il déjà ? </a:t>
            </a:r>
          </a:p>
          <a:p>
            <a:pPr algn="just"/>
            <a:endParaRPr lang="fr-FR" sz="500" b="1" dirty="0" smtClean="0"/>
          </a:p>
          <a:p>
            <a:pPr algn="just">
              <a:buFont typeface="Arial" pitchFamily="34" charset="0"/>
              <a:buChar char="•"/>
            </a:pPr>
            <a:r>
              <a:rPr lang="fr-FR" sz="1600" b="1" dirty="0" smtClean="0"/>
              <a:t> À qui s’adressent le produit/ service à offrir ? </a:t>
            </a:r>
          </a:p>
          <a:p>
            <a:pPr algn="just"/>
            <a:endParaRPr lang="fr-FR" sz="500" b="1" dirty="0" smtClean="0"/>
          </a:p>
          <a:p>
            <a:pPr algn="just">
              <a:buFont typeface="Arial" pitchFamily="34" charset="0"/>
              <a:buChar char="•"/>
            </a:pPr>
            <a:r>
              <a:rPr lang="fr-FR" sz="1600" b="1" dirty="0" smtClean="0"/>
              <a:t> Pourquoi cette cible ? </a:t>
            </a:r>
          </a:p>
          <a:p>
            <a:pPr algn="just"/>
            <a:endParaRPr lang="fr-FR" sz="500" b="1" dirty="0" smtClean="0"/>
          </a:p>
          <a:p>
            <a:pPr algn="just">
              <a:buFont typeface="Arial" pitchFamily="34" charset="0"/>
              <a:buChar char="•"/>
            </a:pPr>
            <a:r>
              <a:rPr lang="fr-FR" sz="1600" b="1" dirty="0" smtClean="0"/>
              <a:t> Des clients sont-ils prêts à acheter ce produit/ service ? </a:t>
            </a:r>
          </a:p>
          <a:p>
            <a:pPr algn="just"/>
            <a:endParaRPr lang="fr-FR" sz="500" b="1" dirty="0" smtClean="0"/>
          </a:p>
          <a:p>
            <a:pPr algn="just">
              <a:buFont typeface="Arial" pitchFamily="34" charset="0"/>
              <a:buChar char="•"/>
            </a:pPr>
            <a:r>
              <a:rPr lang="fr-FR" sz="1600" b="1" dirty="0" smtClean="0"/>
              <a:t> Comment mobiliser les ressources humaines adéquates ? </a:t>
            </a:r>
          </a:p>
          <a:p>
            <a:pPr algn="just"/>
            <a:endParaRPr lang="fr-FR" sz="500" b="1" dirty="0" smtClean="0"/>
          </a:p>
          <a:p>
            <a:pPr algn="just">
              <a:buFont typeface="Arial" pitchFamily="34" charset="0"/>
              <a:buChar char="•"/>
            </a:pPr>
            <a:r>
              <a:rPr lang="fr-FR" sz="1600" b="1" dirty="0" smtClean="0"/>
              <a:t> Quelle source de financement choisir ? </a:t>
            </a:r>
          </a:p>
          <a:p>
            <a:pPr algn="just"/>
            <a:endParaRPr lang="fr-FR" sz="500" b="1" dirty="0" smtClean="0"/>
          </a:p>
          <a:p>
            <a:pPr algn="just">
              <a:buFont typeface="Arial" pitchFamily="34" charset="0"/>
              <a:buChar char="•"/>
            </a:pPr>
            <a:r>
              <a:rPr lang="fr-FR" sz="1600" b="1" dirty="0" smtClean="0"/>
              <a:t> Comment identifier les parties prenantes ?</a:t>
            </a:r>
          </a:p>
          <a:p>
            <a:pPr algn="just"/>
            <a:endParaRPr lang="fr-FR" sz="500" b="1" dirty="0" smtClean="0"/>
          </a:p>
          <a:p>
            <a:pPr algn="just">
              <a:buFont typeface="Arial" pitchFamily="34" charset="0"/>
              <a:buChar char="•"/>
            </a:pPr>
            <a:r>
              <a:rPr lang="fr-FR" sz="1600" b="1" dirty="0" smtClean="0"/>
              <a:t> Éventuellement, est ce que mon projet peut subir des contraintes ? </a:t>
            </a:r>
          </a:p>
          <a:p>
            <a:pPr algn="just"/>
            <a:endParaRPr lang="fr-FR" sz="500" b="1" dirty="0" smtClean="0"/>
          </a:p>
          <a:p>
            <a:pPr algn="just">
              <a:buFont typeface="Arial" pitchFamily="34" charset="0"/>
              <a:buChar char="•"/>
            </a:pPr>
            <a:r>
              <a:rPr lang="fr-FR" sz="1600" b="1" dirty="0" smtClean="0"/>
              <a:t> Quelles sont les clauses réglementaires à respecter ?</a:t>
            </a:r>
            <a:endParaRPr lang="fr-FR" sz="1600" b="1" dirty="0"/>
          </a:p>
        </p:txBody>
      </p:sp>
      <p:sp>
        <p:nvSpPr>
          <p:cNvPr id="5" name="Rectangle 4"/>
          <p:cNvSpPr/>
          <p:nvPr/>
        </p:nvSpPr>
        <p:spPr>
          <a:xfrm>
            <a:off x="5693230" y="203538"/>
            <a:ext cx="5954486" cy="2616101"/>
          </a:xfrm>
          <a:prstGeom prst="rect">
            <a:avLst/>
          </a:prstGeom>
        </p:spPr>
        <p:style>
          <a:lnRef idx="3">
            <a:schemeClr val="lt1"/>
          </a:lnRef>
          <a:fillRef idx="1">
            <a:schemeClr val="accent1"/>
          </a:fillRef>
          <a:effectRef idx="1">
            <a:schemeClr val="accent1"/>
          </a:effectRef>
          <a:fontRef idx="minor">
            <a:schemeClr val="lt1"/>
          </a:fontRef>
        </p:style>
        <p:txBody>
          <a:bodyPr wrap="square">
            <a:spAutoFit/>
          </a:bodyPr>
          <a:lstStyle/>
          <a:p>
            <a:pPr algn="just"/>
            <a:r>
              <a:rPr lang="fr-FR" dirty="0" smtClean="0"/>
              <a:t>In </a:t>
            </a:r>
            <a:r>
              <a:rPr lang="fr-FR" sz="1600" b="1" dirty="0" smtClean="0"/>
              <a:t>fine, l’étude préliminaire vous permettra de : </a:t>
            </a:r>
          </a:p>
          <a:p>
            <a:pPr algn="just"/>
            <a:endParaRPr lang="fr-FR" sz="1600" b="1" dirty="0" smtClean="0"/>
          </a:p>
          <a:p>
            <a:pPr algn="just">
              <a:buFont typeface="Arial" pitchFamily="34" charset="0"/>
              <a:buChar char="•"/>
            </a:pPr>
            <a:r>
              <a:rPr lang="fr-FR" sz="1600" b="1" dirty="0" smtClean="0"/>
              <a:t> Décider si votre projet est viable ou non de le lancer ou non ; </a:t>
            </a:r>
          </a:p>
          <a:p>
            <a:pPr algn="just">
              <a:buFont typeface="Arial" pitchFamily="34" charset="0"/>
              <a:buChar char="•"/>
            </a:pPr>
            <a:r>
              <a:rPr lang="fr-FR" sz="1600" b="1" dirty="0" smtClean="0"/>
              <a:t> Evaluer les tendances ; </a:t>
            </a:r>
          </a:p>
          <a:p>
            <a:pPr algn="just">
              <a:buFont typeface="Arial" pitchFamily="34" charset="0"/>
              <a:buChar char="•"/>
            </a:pPr>
            <a:r>
              <a:rPr lang="fr-FR" sz="1600" b="1" dirty="0" smtClean="0"/>
              <a:t> Comprendre les problématiques non résolues ; </a:t>
            </a:r>
          </a:p>
          <a:p>
            <a:pPr algn="just">
              <a:buFont typeface="Arial" pitchFamily="34" charset="0"/>
              <a:buChar char="•"/>
            </a:pPr>
            <a:r>
              <a:rPr lang="fr-FR" sz="1600" b="1" dirty="0" smtClean="0"/>
              <a:t> Trouver les facteurs directement ou indirectement liés à votre projet ; </a:t>
            </a:r>
          </a:p>
          <a:p>
            <a:pPr algn="just">
              <a:buFont typeface="Arial" pitchFamily="34" charset="0"/>
              <a:buChar char="•"/>
            </a:pPr>
            <a:r>
              <a:rPr lang="fr-FR" sz="1600" b="1" dirty="0" smtClean="0"/>
              <a:t> Vous positionner ; </a:t>
            </a:r>
          </a:p>
          <a:p>
            <a:pPr algn="just">
              <a:buFont typeface="Arial" pitchFamily="34" charset="0"/>
              <a:buChar char="•"/>
            </a:pPr>
            <a:r>
              <a:rPr lang="fr-FR" sz="1600" b="1" dirty="0" smtClean="0"/>
              <a:t> Mieux vous projeter, en connaissances de risques réels fondés sur des témoignages et non pas seulement sur des pensées</a:t>
            </a:r>
            <a:r>
              <a:rPr lang="fr-FR" dirty="0" smtClean="0"/>
              <a:t>.</a:t>
            </a:r>
            <a:endParaRPr lang="fr-FR" dirty="0"/>
          </a:p>
        </p:txBody>
      </p:sp>
      <p:sp>
        <p:nvSpPr>
          <p:cNvPr id="6" name="Rectangle 5"/>
          <p:cNvSpPr/>
          <p:nvPr/>
        </p:nvSpPr>
        <p:spPr>
          <a:xfrm>
            <a:off x="5203371" y="3094282"/>
            <a:ext cx="6814458" cy="3539430"/>
          </a:xfrm>
          <a:prstGeom prst="rect">
            <a:avLst/>
          </a:prstGeom>
        </p:spPr>
        <p:style>
          <a:lnRef idx="3">
            <a:schemeClr val="lt1"/>
          </a:lnRef>
          <a:fillRef idx="1">
            <a:schemeClr val="accent1"/>
          </a:fillRef>
          <a:effectRef idx="1">
            <a:schemeClr val="accent1"/>
          </a:effectRef>
          <a:fontRef idx="minor">
            <a:schemeClr val="lt1"/>
          </a:fontRef>
        </p:style>
        <p:txBody>
          <a:bodyPr wrap="square">
            <a:spAutoFit/>
          </a:bodyPr>
          <a:lstStyle/>
          <a:p>
            <a:pPr algn="just"/>
            <a:r>
              <a:rPr lang="fr-FR" sz="1600" b="1" dirty="0" smtClean="0"/>
              <a:t>En  résumé, l’étude préliminaire englobe :</a:t>
            </a:r>
          </a:p>
          <a:p>
            <a:pPr algn="just"/>
            <a:endParaRPr lang="fr-FR" sz="800" b="1" dirty="0" smtClean="0"/>
          </a:p>
          <a:p>
            <a:pPr algn="just">
              <a:buFont typeface="Wingdings" pitchFamily="2" charset="2"/>
              <a:buChar char="v"/>
            </a:pPr>
            <a:r>
              <a:rPr lang="fr-FR" sz="1600" b="1" dirty="0" smtClean="0"/>
              <a:t> Étude économique, organisationnelle ;</a:t>
            </a:r>
          </a:p>
          <a:p>
            <a:pPr algn="just"/>
            <a:r>
              <a:rPr lang="fr-FR" sz="1600" b="1" dirty="0" smtClean="0"/>
              <a:t> </a:t>
            </a:r>
            <a:endParaRPr lang="fr-FR" sz="800" b="1" dirty="0" smtClean="0"/>
          </a:p>
          <a:p>
            <a:pPr algn="just">
              <a:buFont typeface="Wingdings" pitchFamily="2" charset="2"/>
              <a:buChar char="v"/>
            </a:pPr>
            <a:r>
              <a:rPr lang="fr-FR" sz="1600" b="1" dirty="0" smtClean="0"/>
              <a:t> Étude de marché (tendances du marché, marché potentiel, positionnement et stratégie marketing) ;</a:t>
            </a:r>
          </a:p>
          <a:p>
            <a:pPr algn="just"/>
            <a:endParaRPr lang="fr-FR" sz="800" b="1" dirty="0" smtClean="0"/>
          </a:p>
          <a:p>
            <a:pPr algn="just">
              <a:buFont typeface="Wingdings" pitchFamily="2" charset="2"/>
              <a:buChar char="v"/>
            </a:pPr>
            <a:r>
              <a:rPr lang="fr-FR" sz="1600" b="1" dirty="0" smtClean="0"/>
              <a:t>  Étude technique (contexte et contraintes, choix technologiques, modalités d’approvisionnement, coûts d’investissement) ;</a:t>
            </a:r>
          </a:p>
          <a:p>
            <a:pPr algn="just"/>
            <a:endParaRPr lang="fr-FR" sz="800" b="1" dirty="0" smtClean="0"/>
          </a:p>
          <a:p>
            <a:pPr algn="just">
              <a:buFont typeface="Wingdings" pitchFamily="2" charset="2"/>
              <a:buChar char="v"/>
            </a:pPr>
            <a:r>
              <a:rPr lang="fr-FR" sz="1600" b="1" dirty="0" smtClean="0"/>
              <a:t>  Étude financière (hypothèses de durée de vie, taux d’actualisation, inflation, revenus et dépenses du projet, financement, évaluation de la rentabilité) ; </a:t>
            </a:r>
          </a:p>
          <a:p>
            <a:pPr algn="just"/>
            <a:endParaRPr lang="fr-FR" sz="800" b="1" dirty="0" smtClean="0"/>
          </a:p>
          <a:p>
            <a:pPr algn="just">
              <a:buFont typeface="Wingdings" pitchFamily="2" charset="2"/>
              <a:buChar char="v"/>
            </a:pPr>
            <a:r>
              <a:rPr lang="fr-FR" sz="1600" b="1" dirty="0" smtClean="0"/>
              <a:t> Étude juridique (la réglementation, aspects juridiques, le choix du statut, </a:t>
            </a:r>
            <a:r>
              <a:rPr lang="fr-FR" sz="1600" b="1" dirty="0" err="1" smtClean="0"/>
              <a:t>etc</a:t>
            </a:r>
            <a:r>
              <a:rPr lang="fr-FR" sz="1600" b="1" dirty="0" smtClean="0"/>
              <a:t>)</a:t>
            </a:r>
          </a:p>
        </p:txBody>
      </p:sp>
      <p:pic>
        <p:nvPicPr>
          <p:cNvPr id="8" name="Image 7" descr="C:\Users\ma.mejri\Desktop\téléchargement (1).png"/>
          <p:cNvPicPr/>
          <p:nvPr/>
        </p:nvPicPr>
        <p:blipFill>
          <a:blip r:embed="rId2"/>
          <a:srcRect/>
          <a:stretch>
            <a:fillRect/>
          </a:stretch>
        </p:blipFill>
        <p:spPr bwMode="auto">
          <a:xfrm>
            <a:off x="0" y="383267"/>
            <a:ext cx="1079500" cy="387350"/>
          </a:xfrm>
          <a:prstGeom prst="rect">
            <a:avLst/>
          </a:prstGeom>
          <a:noFill/>
          <a:ln w="9525">
            <a:noFill/>
            <a:miter lim="800000"/>
            <a:headEnd/>
            <a:tailEnd/>
          </a:ln>
        </p:spPr>
      </p:pic>
      <p:sp>
        <p:nvSpPr>
          <p:cNvPr id="7" name="Espace réservé de la date 6"/>
          <p:cNvSpPr>
            <a:spLocks noGrp="1"/>
          </p:cNvSpPr>
          <p:nvPr>
            <p:ph type="dt" sz="half" idx="10"/>
          </p:nvPr>
        </p:nvSpPr>
        <p:spPr/>
        <p:txBody>
          <a:bodyPr/>
          <a:lstStyle/>
          <a:p>
            <a:pPr lvl="0"/>
            <a:fld id="{DE4281B1-8EF8-4A01-8BD8-BB3A7C7F4393}" type="datetime1">
              <a:rPr lang="en-US" smtClean="0"/>
              <a:pPr lvl="0"/>
              <a:t>11/16/2025</a:t>
            </a:fld>
            <a:endParaRPr lang="en-US"/>
          </a:p>
        </p:txBody>
      </p:sp>
      <p:sp>
        <p:nvSpPr>
          <p:cNvPr id="9" name="Espace réservé du numéro de diapositive 8"/>
          <p:cNvSpPr>
            <a:spLocks noGrp="1"/>
          </p:cNvSpPr>
          <p:nvPr>
            <p:ph type="sldNum" sz="quarter" idx="12"/>
          </p:nvPr>
        </p:nvSpPr>
        <p:spPr/>
        <p:txBody>
          <a:bodyPr/>
          <a:lstStyle/>
          <a:p>
            <a:pPr lvl="0"/>
            <a:fld id="{2390AFF8-1E19-449A-AA82-B5E4E90108F1}" type="slidenum">
              <a:rPr lang="fr-FR" smtClean="0"/>
              <a:pPr lvl="0"/>
              <a:t>171</a:t>
            </a:fld>
            <a:endParaRPr lang="fr-F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02598" y="718848"/>
            <a:ext cx="3187989" cy="369332"/>
          </a:xfrm>
          <a:prstGeom prst="rect">
            <a:avLst/>
          </a:prstGeom>
        </p:spPr>
        <p:txBody>
          <a:bodyPr wrap="none">
            <a:spAutoFit/>
          </a:bodyPr>
          <a:lstStyle/>
          <a:p>
            <a:r>
              <a:rPr lang="fr-FR" b="1" dirty="0" smtClean="0">
                <a:solidFill>
                  <a:srgbClr val="00B050"/>
                </a:solidFill>
              </a:rPr>
              <a:t>Étape 4 : Planification du projet</a:t>
            </a:r>
          </a:p>
        </p:txBody>
      </p:sp>
      <p:sp>
        <p:nvSpPr>
          <p:cNvPr id="3" name="Parenthèses 2"/>
          <p:cNvSpPr/>
          <p:nvPr/>
        </p:nvSpPr>
        <p:spPr>
          <a:xfrm>
            <a:off x="892628" y="1620522"/>
            <a:ext cx="6096000" cy="1328023"/>
          </a:xfrm>
          <a:prstGeom prst="bracketPair">
            <a:avLst/>
          </a:prstGeom>
        </p:spPr>
        <p:style>
          <a:lnRef idx="3">
            <a:schemeClr val="lt1"/>
          </a:lnRef>
          <a:fillRef idx="1">
            <a:schemeClr val="accent1"/>
          </a:fillRef>
          <a:effectRef idx="1">
            <a:schemeClr val="accent1"/>
          </a:effectRef>
          <a:fontRef idx="minor">
            <a:schemeClr val="lt1"/>
          </a:fontRef>
        </p:style>
        <p:txBody>
          <a:bodyPr>
            <a:spAutoFit/>
          </a:bodyPr>
          <a:lstStyle/>
          <a:p>
            <a:pPr algn="just"/>
            <a:r>
              <a:rPr lang="fr-FR" b="1" dirty="0" smtClean="0"/>
              <a:t>La planification consiste à déterminer la liste des tâches à réaliser, estimer le coût de réalisation, les besoins en ressources, sélectionner les profils nécessaires, déterminer les dates prévisionnelles et les ressources à prévoir</a:t>
            </a:r>
            <a:endParaRPr lang="fr-FR" b="1" dirty="0"/>
          </a:p>
        </p:txBody>
      </p:sp>
      <p:sp>
        <p:nvSpPr>
          <p:cNvPr id="4" name="Rectangle 3"/>
          <p:cNvSpPr/>
          <p:nvPr/>
        </p:nvSpPr>
        <p:spPr>
          <a:xfrm>
            <a:off x="8382000" y="1179064"/>
            <a:ext cx="3124199" cy="1200329"/>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just"/>
            <a:r>
              <a:rPr lang="fr-FR" b="1" dirty="0" smtClean="0">
                <a:solidFill>
                  <a:schemeClr val="accent3">
                    <a:lumMod val="75000"/>
                  </a:schemeClr>
                </a:solidFill>
              </a:rPr>
              <a:t>Parmi les différentes phases d’un projet, la planification est, sans aucun doute, cruciale</a:t>
            </a:r>
            <a:r>
              <a:rPr lang="fr-FR" dirty="0" smtClean="0"/>
              <a:t>.</a:t>
            </a:r>
            <a:endParaRPr lang="fr-FR" dirty="0"/>
          </a:p>
        </p:txBody>
      </p:sp>
      <p:sp>
        <p:nvSpPr>
          <p:cNvPr id="5" name="Rectangle 4"/>
          <p:cNvSpPr/>
          <p:nvPr/>
        </p:nvSpPr>
        <p:spPr>
          <a:xfrm>
            <a:off x="816427" y="3238811"/>
            <a:ext cx="8675915" cy="2862322"/>
          </a:xfrm>
          <a:prstGeom prst="rect">
            <a:avLst/>
          </a:prstGeom>
        </p:spPr>
        <p:style>
          <a:lnRef idx="3">
            <a:schemeClr val="lt1"/>
          </a:lnRef>
          <a:fillRef idx="1">
            <a:schemeClr val="accent1"/>
          </a:fillRef>
          <a:effectRef idx="1">
            <a:schemeClr val="accent1"/>
          </a:effectRef>
          <a:fontRef idx="minor">
            <a:schemeClr val="lt1"/>
          </a:fontRef>
        </p:style>
        <p:txBody>
          <a:bodyPr wrap="square">
            <a:spAutoFit/>
          </a:bodyPr>
          <a:lstStyle/>
          <a:p>
            <a:pPr algn="just"/>
            <a:r>
              <a:rPr lang="fr-FR" b="1" dirty="0" smtClean="0"/>
              <a:t>Durant cette étape, un plan de projet est réalisé pour établir notamment les objectifs, les coûts, les délais, le choix des incubateurs et des mentors, identification de l’opportunité à partir des bases de données des travaux R&amp;D et du marché, y compris l’étude préliminaire de faisabilité et l’étude du plan d’affaires ( pré amorçage ). </a:t>
            </a:r>
          </a:p>
          <a:p>
            <a:pPr algn="just"/>
            <a:endParaRPr lang="fr-FR" b="1" dirty="0" smtClean="0"/>
          </a:p>
          <a:p>
            <a:pPr marL="990600" indent="-457200" algn="just">
              <a:buFont typeface="Wingdings" pitchFamily="2" charset="2"/>
              <a:buChar char="q"/>
            </a:pPr>
            <a:r>
              <a:rPr lang="fr-FR" b="1" dirty="0" smtClean="0"/>
              <a:t> Toutes les étapes nécessaires sont planifiées en détail chronologiquement. </a:t>
            </a:r>
          </a:p>
          <a:p>
            <a:pPr marL="631825" indent="-98425" algn="just"/>
            <a:endParaRPr lang="fr-FR" b="1" dirty="0" smtClean="0"/>
          </a:p>
          <a:p>
            <a:pPr marL="990600" indent="-457200" algn="just">
              <a:buFont typeface="Wingdings" pitchFamily="2" charset="2"/>
              <a:buChar char="q"/>
            </a:pPr>
            <a:r>
              <a:rPr lang="fr-FR" b="1" dirty="0" smtClean="0"/>
              <a:t> Le plan de projet doit être équilibré, et approuvé par toutes les parties prenantes, afin d’éviter que des malentendus puissent apparaître lors de la suite du déroulement du projet.</a:t>
            </a:r>
          </a:p>
        </p:txBody>
      </p:sp>
      <p:pic>
        <p:nvPicPr>
          <p:cNvPr id="7" name="Image 6" descr="C:\Users\ma.mejri\Desktop\téléchargement (1).png"/>
          <p:cNvPicPr/>
          <p:nvPr/>
        </p:nvPicPr>
        <p:blipFill>
          <a:blip r:embed="rId2"/>
          <a:srcRect/>
          <a:stretch>
            <a:fillRect/>
          </a:stretch>
        </p:blipFill>
        <p:spPr bwMode="auto">
          <a:xfrm>
            <a:off x="407307" y="492125"/>
            <a:ext cx="1079500" cy="387350"/>
          </a:xfrm>
          <a:prstGeom prst="rect">
            <a:avLst/>
          </a:prstGeom>
          <a:noFill/>
          <a:ln w="9525">
            <a:noFill/>
            <a:miter lim="800000"/>
            <a:headEnd/>
            <a:tailEnd/>
          </a:ln>
        </p:spPr>
      </p:pic>
      <p:sp>
        <p:nvSpPr>
          <p:cNvPr id="8" name="Espace réservé de la date 7"/>
          <p:cNvSpPr>
            <a:spLocks noGrp="1"/>
          </p:cNvSpPr>
          <p:nvPr>
            <p:ph type="dt" sz="half" idx="10"/>
          </p:nvPr>
        </p:nvSpPr>
        <p:spPr/>
        <p:txBody>
          <a:bodyPr/>
          <a:lstStyle/>
          <a:p>
            <a:pPr lvl="0"/>
            <a:fld id="{90F6911C-CDAC-4A7A-9A8D-0D36CCF76A89}" type="datetime1">
              <a:rPr lang="en-US" smtClean="0"/>
              <a:pPr lvl="0"/>
              <a:t>11/16/2025</a:t>
            </a:fld>
            <a:endParaRPr lang="en-US"/>
          </a:p>
        </p:txBody>
      </p:sp>
      <p:sp>
        <p:nvSpPr>
          <p:cNvPr id="9" name="Espace réservé du numéro de diapositive 8"/>
          <p:cNvSpPr>
            <a:spLocks noGrp="1"/>
          </p:cNvSpPr>
          <p:nvPr>
            <p:ph type="sldNum" sz="quarter" idx="12"/>
          </p:nvPr>
        </p:nvSpPr>
        <p:spPr/>
        <p:txBody>
          <a:bodyPr/>
          <a:lstStyle/>
          <a:p>
            <a:pPr lvl="0"/>
            <a:fld id="{2390AFF8-1E19-449A-AA82-B5E4E90108F1}" type="slidenum">
              <a:rPr lang="fr-FR" smtClean="0"/>
              <a:pPr lvl="0"/>
              <a:t>172</a:t>
            </a:fld>
            <a:endParaRPr lang="fr-F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45060" y="501135"/>
            <a:ext cx="3861955" cy="369332"/>
          </a:xfrm>
          <a:prstGeom prst="rect">
            <a:avLst/>
          </a:prstGeom>
        </p:spPr>
        <p:txBody>
          <a:bodyPr wrap="none">
            <a:spAutoFit/>
          </a:bodyPr>
          <a:lstStyle/>
          <a:p>
            <a:r>
              <a:rPr lang="fr-FR" b="1" dirty="0" smtClean="0">
                <a:solidFill>
                  <a:srgbClr val="00B050"/>
                </a:solidFill>
              </a:rPr>
              <a:t>Étape 5 : Elaboration du Business Plan </a:t>
            </a:r>
          </a:p>
        </p:txBody>
      </p:sp>
      <p:sp>
        <p:nvSpPr>
          <p:cNvPr id="3" name="Rectangle 2"/>
          <p:cNvSpPr/>
          <p:nvPr/>
        </p:nvSpPr>
        <p:spPr>
          <a:xfrm>
            <a:off x="2046514" y="852492"/>
            <a:ext cx="10145486" cy="369332"/>
          </a:xfrm>
          <a:prstGeom prst="rect">
            <a:avLst/>
          </a:prstGeom>
        </p:spPr>
        <p:txBody>
          <a:bodyPr wrap="square">
            <a:spAutoFit/>
          </a:bodyPr>
          <a:lstStyle/>
          <a:p>
            <a:r>
              <a:rPr lang="fr-FR" b="1" dirty="0" smtClean="0">
                <a:solidFill>
                  <a:schemeClr val="accent1">
                    <a:lumMod val="75000"/>
                  </a:schemeClr>
                </a:solidFill>
              </a:rPr>
              <a:t>Qu’est-ce qu’un business plan pour une startup ? et pourquoi ai-je besoin d’un business plan ?</a:t>
            </a:r>
            <a:endParaRPr lang="fr-FR" b="1" dirty="0">
              <a:solidFill>
                <a:schemeClr val="accent1">
                  <a:lumMod val="75000"/>
                </a:schemeClr>
              </a:solidFill>
            </a:endParaRPr>
          </a:p>
        </p:txBody>
      </p:sp>
      <p:sp>
        <p:nvSpPr>
          <p:cNvPr id="4" name="Rectangle 3"/>
          <p:cNvSpPr/>
          <p:nvPr/>
        </p:nvSpPr>
        <p:spPr>
          <a:xfrm>
            <a:off x="979713" y="1351393"/>
            <a:ext cx="10395857" cy="1200329"/>
          </a:xfrm>
          <a:prstGeom prst="rect">
            <a:avLst/>
          </a:prstGeom>
        </p:spPr>
        <p:txBody>
          <a:bodyPr wrap="square">
            <a:spAutoFit/>
          </a:bodyPr>
          <a:lstStyle/>
          <a:p>
            <a:r>
              <a:rPr lang="fr-FR" b="1" dirty="0" smtClean="0">
                <a:solidFill>
                  <a:schemeClr val="accent1">
                    <a:lumMod val="75000"/>
                  </a:schemeClr>
                </a:solidFill>
              </a:rPr>
              <a:t>Business plan : </a:t>
            </a:r>
          </a:p>
          <a:p>
            <a:pPr algn="just"/>
            <a:r>
              <a:rPr lang="fr-FR" dirty="0" smtClean="0"/>
              <a:t>un document incontournable pour convaincre les investisseurs à contribuer au financement du projet. Ce document se compose d’une partie non chiffrée (décrit l’idée) et une partie chiffrée (permet de renseigner sur les réalisations attendues).</a:t>
            </a:r>
            <a:endParaRPr lang="fr-FR" dirty="0"/>
          </a:p>
        </p:txBody>
      </p:sp>
      <p:sp>
        <p:nvSpPr>
          <p:cNvPr id="5" name="Rectangle 4"/>
          <p:cNvSpPr/>
          <p:nvPr/>
        </p:nvSpPr>
        <p:spPr>
          <a:xfrm>
            <a:off x="3472542" y="2591192"/>
            <a:ext cx="5560071" cy="369332"/>
          </a:xfrm>
          <a:prstGeom prst="rect">
            <a:avLst/>
          </a:prstGeom>
        </p:spPr>
        <p:txBody>
          <a:bodyPr wrap="square">
            <a:spAutoFit/>
          </a:bodyPr>
          <a:lstStyle/>
          <a:p>
            <a:r>
              <a:rPr lang="fr-FR" b="1" dirty="0" smtClean="0">
                <a:solidFill>
                  <a:schemeClr val="accent1">
                    <a:lumMod val="75000"/>
                  </a:schemeClr>
                </a:solidFill>
              </a:rPr>
              <a:t>Comment construire un business plan pour ma startup ?</a:t>
            </a:r>
            <a:endParaRPr lang="fr-FR" b="1" dirty="0">
              <a:solidFill>
                <a:schemeClr val="accent1">
                  <a:lumMod val="75000"/>
                </a:schemeClr>
              </a:solidFill>
            </a:endParaRPr>
          </a:p>
        </p:txBody>
      </p:sp>
      <p:graphicFrame>
        <p:nvGraphicFramePr>
          <p:cNvPr id="6" name="Diagramme 5"/>
          <p:cNvGraphicFramePr/>
          <p:nvPr/>
        </p:nvGraphicFramePr>
        <p:xfrm>
          <a:off x="1643743" y="3113314"/>
          <a:ext cx="7522028" cy="33752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Image 7" descr="C:\Users\ma.mejri\Desktop\téléchargement (1).png"/>
          <p:cNvPicPr/>
          <p:nvPr/>
        </p:nvPicPr>
        <p:blipFill>
          <a:blip r:embed="rId6"/>
          <a:srcRect/>
          <a:stretch>
            <a:fillRect/>
          </a:stretch>
        </p:blipFill>
        <p:spPr bwMode="auto">
          <a:xfrm>
            <a:off x="276679" y="405040"/>
            <a:ext cx="1079500" cy="387350"/>
          </a:xfrm>
          <a:prstGeom prst="rect">
            <a:avLst/>
          </a:prstGeom>
          <a:noFill/>
          <a:ln w="9525">
            <a:noFill/>
            <a:miter lim="800000"/>
            <a:headEnd/>
            <a:tailEnd/>
          </a:ln>
        </p:spPr>
      </p:pic>
      <p:sp>
        <p:nvSpPr>
          <p:cNvPr id="9" name="Espace réservé de la date 8"/>
          <p:cNvSpPr>
            <a:spLocks noGrp="1"/>
          </p:cNvSpPr>
          <p:nvPr>
            <p:ph type="dt" sz="half" idx="10"/>
          </p:nvPr>
        </p:nvSpPr>
        <p:spPr/>
        <p:txBody>
          <a:bodyPr/>
          <a:lstStyle/>
          <a:p>
            <a:pPr lvl="0"/>
            <a:fld id="{2D04AD89-9714-4554-90E4-E4C87CD366A4}" type="datetime1">
              <a:rPr lang="en-US" smtClean="0"/>
              <a:pPr lvl="0"/>
              <a:t>11/16/2025</a:t>
            </a:fld>
            <a:endParaRPr lang="en-US"/>
          </a:p>
        </p:txBody>
      </p:sp>
      <p:sp>
        <p:nvSpPr>
          <p:cNvPr id="10" name="Espace réservé du numéro de diapositive 9"/>
          <p:cNvSpPr>
            <a:spLocks noGrp="1"/>
          </p:cNvSpPr>
          <p:nvPr>
            <p:ph type="sldNum" sz="quarter" idx="12"/>
          </p:nvPr>
        </p:nvSpPr>
        <p:spPr/>
        <p:txBody>
          <a:bodyPr/>
          <a:lstStyle/>
          <a:p>
            <a:pPr lvl="0"/>
            <a:fld id="{2390AFF8-1E19-449A-AA82-B5E4E90108F1}" type="slidenum">
              <a:rPr lang="fr-FR" smtClean="0"/>
              <a:pPr lvl="0"/>
              <a:t>173</a:t>
            </a:fld>
            <a:endParaRPr lang="fr-F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72644" y="697077"/>
            <a:ext cx="2119491" cy="369332"/>
          </a:xfrm>
          <a:prstGeom prst="rect">
            <a:avLst/>
          </a:prstGeom>
        </p:spPr>
        <p:txBody>
          <a:bodyPr wrap="none">
            <a:spAutoFit/>
          </a:bodyPr>
          <a:lstStyle/>
          <a:p>
            <a:r>
              <a:rPr lang="fr-FR" b="1" dirty="0" smtClean="0">
                <a:solidFill>
                  <a:srgbClr val="C00000"/>
                </a:solidFill>
              </a:rPr>
              <a:t>PHASE 2 : CRÉATION</a:t>
            </a:r>
            <a:endParaRPr lang="fr-FR" b="1" dirty="0">
              <a:solidFill>
                <a:srgbClr val="C00000"/>
              </a:solidFill>
            </a:endParaRPr>
          </a:p>
        </p:txBody>
      </p:sp>
      <p:sp>
        <p:nvSpPr>
          <p:cNvPr id="3" name="Rectangle 2"/>
          <p:cNvSpPr/>
          <p:nvPr/>
        </p:nvSpPr>
        <p:spPr>
          <a:xfrm>
            <a:off x="2030474" y="1295792"/>
            <a:ext cx="3905493" cy="369332"/>
          </a:xfrm>
          <a:prstGeom prst="rect">
            <a:avLst/>
          </a:prstGeom>
        </p:spPr>
        <p:txBody>
          <a:bodyPr wrap="none">
            <a:spAutoFit/>
          </a:bodyPr>
          <a:lstStyle/>
          <a:p>
            <a:r>
              <a:rPr lang="en-US" b="1" dirty="0" smtClean="0">
                <a:solidFill>
                  <a:srgbClr val="00B050"/>
                </a:solidFill>
              </a:rPr>
              <a:t>Étape 6: Proof of Concept «POC » (1/2)</a:t>
            </a:r>
            <a:endParaRPr lang="fr-FR" b="1" dirty="0" smtClean="0">
              <a:solidFill>
                <a:srgbClr val="00B050"/>
              </a:solidFill>
            </a:endParaRPr>
          </a:p>
        </p:txBody>
      </p:sp>
      <p:sp>
        <p:nvSpPr>
          <p:cNvPr id="11" name="Rectangle 10"/>
          <p:cNvSpPr/>
          <p:nvPr/>
        </p:nvSpPr>
        <p:spPr>
          <a:xfrm>
            <a:off x="892627" y="1892665"/>
            <a:ext cx="10461172" cy="646331"/>
          </a:xfrm>
          <a:prstGeom prst="rect">
            <a:avLst/>
          </a:prstGeom>
        </p:spPr>
        <p:txBody>
          <a:bodyPr wrap="square">
            <a:spAutoFit/>
          </a:bodyPr>
          <a:lstStyle/>
          <a:p>
            <a:pPr algn="just"/>
            <a:r>
              <a:rPr lang="fr-FR" dirty="0" smtClean="0"/>
              <a:t>Après les analyses préliminaires et la fixation du planning du projet, le </a:t>
            </a:r>
            <a:r>
              <a:rPr lang="fr-FR" dirty="0" err="1" smtClean="0"/>
              <a:t>startuper</a:t>
            </a:r>
            <a:r>
              <a:rPr lang="fr-FR" dirty="0" smtClean="0"/>
              <a:t> doit développer une "maquette", un "prototype" ou une "version Bêta" du produit ou service, qui pourra être exposé au marché</a:t>
            </a:r>
            <a:endParaRPr lang="fr-FR" dirty="0"/>
          </a:p>
        </p:txBody>
      </p:sp>
      <p:sp>
        <p:nvSpPr>
          <p:cNvPr id="12" name="Rectangle 11"/>
          <p:cNvSpPr/>
          <p:nvPr/>
        </p:nvSpPr>
        <p:spPr>
          <a:xfrm>
            <a:off x="3048001" y="2724836"/>
            <a:ext cx="6096000" cy="646331"/>
          </a:xfrm>
          <a:prstGeom prst="rect">
            <a:avLst/>
          </a:prstGeom>
        </p:spPr>
        <p:txBody>
          <a:bodyPr>
            <a:spAutoFit/>
          </a:bodyPr>
          <a:lstStyle/>
          <a:p>
            <a:pPr algn="just"/>
            <a:r>
              <a:rPr lang="fr-FR" b="1" dirty="0" smtClean="0">
                <a:solidFill>
                  <a:schemeClr val="accent1">
                    <a:lumMod val="75000"/>
                  </a:schemeClr>
                </a:solidFill>
              </a:rPr>
              <a:t>Les plus avertis choisiront de passer par un incubateur, qui aidera à mobiliser un financement adapté à cette phase.</a:t>
            </a:r>
            <a:endParaRPr lang="fr-FR" b="1" dirty="0">
              <a:solidFill>
                <a:schemeClr val="accent1">
                  <a:lumMod val="75000"/>
                </a:schemeClr>
              </a:solidFill>
            </a:endParaRPr>
          </a:p>
        </p:txBody>
      </p:sp>
      <p:sp>
        <p:nvSpPr>
          <p:cNvPr id="13" name="Rectangle 12"/>
          <p:cNvSpPr/>
          <p:nvPr/>
        </p:nvSpPr>
        <p:spPr>
          <a:xfrm>
            <a:off x="805543" y="3565382"/>
            <a:ext cx="10548257" cy="2954655"/>
          </a:xfrm>
          <a:prstGeom prst="rect">
            <a:avLst/>
          </a:prstGeom>
        </p:spPr>
        <p:txBody>
          <a:bodyPr wrap="square">
            <a:spAutoFit/>
          </a:bodyPr>
          <a:lstStyle/>
          <a:p>
            <a:r>
              <a:rPr lang="fr-FR" b="1" dirty="0" smtClean="0">
                <a:solidFill>
                  <a:schemeClr val="accent1">
                    <a:lumMod val="75000"/>
                  </a:schemeClr>
                </a:solidFill>
              </a:rPr>
              <a:t>La preuve du concept :</a:t>
            </a:r>
          </a:p>
          <a:p>
            <a:r>
              <a:rPr lang="fr-FR" sz="800" dirty="0" smtClean="0"/>
              <a:t> </a:t>
            </a:r>
          </a:p>
          <a:p>
            <a:pPr algn="just"/>
            <a:r>
              <a:rPr lang="fr-FR" dirty="0" smtClean="0"/>
              <a:t>une démonstration qui permet de produire des données tangibles, qui prouve qu’un concept, une idée peut avoir une application réelle et qui servira à valider l’existence d’un marché.</a:t>
            </a:r>
          </a:p>
          <a:p>
            <a:pPr algn="just"/>
            <a:r>
              <a:rPr lang="fr-FR" sz="800" dirty="0" smtClean="0"/>
              <a:t> </a:t>
            </a:r>
          </a:p>
          <a:p>
            <a:pPr algn="just"/>
            <a:r>
              <a:rPr lang="fr-FR" dirty="0" smtClean="0"/>
              <a:t>Pour les startups, la preuve du concept c’est de savoir si le service ou le produit qu’elles proposent répond à un besoin réel et si le business model est viable. </a:t>
            </a:r>
          </a:p>
          <a:p>
            <a:pPr algn="just"/>
            <a:endParaRPr lang="fr-FR" sz="800" dirty="0" smtClean="0"/>
          </a:p>
          <a:p>
            <a:pPr algn="just"/>
            <a:r>
              <a:rPr lang="fr-FR" b="1" dirty="0" smtClean="0"/>
              <a:t>La preuve du concept comprend : </a:t>
            </a:r>
          </a:p>
          <a:p>
            <a:pPr algn="just">
              <a:buFont typeface="Courier New" pitchFamily="49" charset="0"/>
              <a:buChar char="o"/>
            </a:pPr>
            <a:r>
              <a:rPr lang="fr-FR" dirty="0" smtClean="0"/>
              <a:t> La validation du business model, des projections financières, de la rentabilité des produits/services proposés ; </a:t>
            </a:r>
          </a:p>
          <a:p>
            <a:pPr algn="just">
              <a:buFont typeface="Courier New" pitchFamily="49" charset="0"/>
              <a:buChar char="o"/>
            </a:pPr>
            <a:r>
              <a:rPr lang="fr-FR" dirty="0" smtClean="0"/>
              <a:t> L’analyse des coûts de développement ;</a:t>
            </a:r>
          </a:p>
          <a:p>
            <a:pPr>
              <a:buFont typeface="Courier New" pitchFamily="49" charset="0"/>
              <a:buChar char="o"/>
            </a:pPr>
            <a:r>
              <a:rPr lang="fr-FR" dirty="0" smtClean="0"/>
              <a:t> </a:t>
            </a:r>
            <a:r>
              <a:rPr lang="fr-FR" dirty="0" err="1" smtClean="0"/>
              <a:t>Etc</a:t>
            </a:r>
            <a:endParaRPr lang="fr-FR" dirty="0"/>
          </a:p>
        </p:txBody>
      </p:sp>
      <p:pic>
        <p:nvPicPr>
          <p:cNvPr id="8" name="Image 7" descr="C:\Users\ma.mejri\Desktop\téléchargement (1).png"/>
          <p:cNvPicPr/>
          <p:nvPr/>
        </p:nvPicPr>
        <p:blipFill>
          <a:blip r:embed="rId2"/>
          <a:srcRect/>
          <a:stretch>
            <a:fillRect/>
          </a:stretch>
        </p:blipFill>
        <p:spPr bwMode="auto">
          <a:xfrm>
            <a:off x="276679" y="557439"/>
            <a:ext cx="1079500" cy="387350"/>
          </a:xfrm>
          <a:prstGeom prst="rect">
            <a:avLst/>
          </a:prstGeom>
          <a:noFill/>
          <a:ln w="9525">
            <a:noFill/>
            <a:miter lim="800000"/>
            <a:headEnd/>
            <a:tailEnd/>
          </a:ln>
        </p:spPr>
      </p:pic>
      <p:sp>
        <p:nvSpPr>
          <p:cNvPr id="9" name="Espace réservé de la date 8"/>
          <p:cNvSpPr>
            <a:spLocks noGrp="1"/>
          </p:cNvSpPr>
          <p:nvPr>
            <p:ph type="dt" sz="half" idx="10"/>
          </p:nvPr>
        </p:nvSpPr>
        <p:spPr/>
        <p:txBody>
          <a:bodyPr/>
          <a:lstStyle/>
          <a:p>
            <a:pPr lvl="0"/>
            <a:fld id="{6C5B6715-822C-4EE8-8EC4-A74835882C10}" type="datetime1">
              <a:rPr lang="en-US" smtClean="0"/>
              <a:pPr lvl="0"/>
              <a:t>11/16/2025</a:t>
            </a:fld>
            <a:endParaRPr lang="en-US"/>
          </a:p>
        </p:txBody>
      </p:sp>
      <p:sp>
        <p:nvSpPr>
          <p:cNvPr id="10" name="Espace réservé du numéro de diapositive 9"/>
          <p:cNvSpPr>
            <a:spLocks noGrp="1"/>
          </p:cNvSpPr>
          <p:nvPr>
            <p:ph type="sldNum" sz="quarter" idx="12"/>
          </p:nvPr>
        </p:nvSpPr>
        <p:spPr/>
        <p:txBody>
          <a:bodyPr/>
          <a:lstStyle/>
          <a:p>
            <a:pPr lvl="0"/>
            <a:fld id="{2390AFF8-1E19-449A-AA82-B5E4E90108F1}" type="slidenum">
              <a:rPr lang="fr-FR" smtClean="0"/>
              <a:pPr lvl="0"/>
              <a:t>174</a:t>
            </a:fld>
            <a:endParaRPr lang="fr-F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20987" y="751505"/>
            <a:ext cx="2119491" cy="369332"/>
          </a:xfrm>
          <a:prstGeom prst="rect">
            <a:avLst/>
          </a:prstGeom>
        </p:spPr>
        <p:txBody>
          <a:bodyPr wrap="none">
            <a:spAutoFit/>
          </a:bodyPr>
          <a:lstStyle/>
          <a:p>
            <a:r>
              <a:rPr lang="fr-FR" b="1" dirty="0" smtClean="0">
                <a:solidFill>
                  <a:srgbClr val="C00000"/>
                </a:solidFill>
              </a:rPr>
              <a:t>PHASE 2 : CRÉATION</a:t>
            </a:r>
            <a:endParaRPr lang="fr-FR" b="1" dirty="0">
              <a:solidFill>
                <a:srgbClr val="C00000"/>
              </a:solidFill>
            </a:endParaRPr>
          </a:p>
        </p:txBody>
      </p:sp>
      <p:sp>
        <p:nvSpPr>
          <p:cNvPr id="3" name="Rectangle 2"/>
          <p:cNvSpPr/>
          <p:nvPr/>
        </p:nvSpPr>
        <p:spPr>
          <a:xfrm>
            <a:off x="865703" y="1469963"/>
            <a:ext cx="3905493" cy="369332"/>
          </a:xfrm>
          <a:prstGeom prst="rect">
            <a:avLst/>
          </a:prstGeom>
        </p:spPr>
        <p:txBody>
          <a:bodyPr wrap="none">
            <a:spAutoFit/>
          </a:bodyPr>
          <a:lstStyle/>
          <a:p>
            <a:r>
              <a:rPr lang="en-US" b="1" dirty="0" smtClean="0">
                <a:solidFill>
                  <a:srgbClr val="00B050"/>
                </a:solidFill>
              </a:rPr>
              <a:t>Étape 6: Proof of Concept «POC » (2/2)</a:t>
            </a:r>
            <a:endParaRPr lang="fr-FR" b="1" dirty="0" smtClean="0">
              <a:solidFill>
                <a:srgbClr val="00B050"/>
              </a:solidFill>
            </a:endParaRPr>
          </a:p>
        </p:txBody>
      </p:sp>
      <p:sp>
        <p:nvSpPr>
          <p:cNvPr id="6" name="Carré corné 5"/>
          <p:cNvSpPr/>
          <p:nvPr/>
        </p:nvSpPr>
        <p:spPr>
          <a:xfrm>
            <a:off x="3156858" y="1941063"/>
            <a:ext cx="2764971" cy="1432500"/>
          </a:xfrm>
          <a:prstGeom prst="foldedCorner">
            <a:avLst/>
          </a:prstGeom>
        </p:spPr>
        <p:style>
          <a:lnRef idx="1">
            <a:schemeClr val="accent1"/>
          </a:lnRef>
          <a:fillRef idx="3">
            <a:schemeClr val="accent1"/>
          </a:fillRef>
          <a:effectRef idx="2">
            <a:schemeClr val="accent1"/>
          </a:effectRef>
          <a:fontRef idx="minor">
            <a:schemeClr val="lt1"/>
          </a:fontRef>
        </p:style>
        <p:txBody>
          <a:bodyPr wrap="square">
            <a:spAutoFit/>
          </a:bodyPr>
          <a:lstStyle/>
          <a:p>
            <a:pPr algn="just"/>
            <a:r>
              <a:rPr lang="fr-FR" b="1" dirty="0" smtClean="0"/>
              <a:t>Étude consommateurs : Réaliser des tests du produit ou du service en conditions réelles</a:t>
            </a:r>
            <a:endParaRPr lang="fr-FR" b="1" dirty="0"/>
          </a:p>
        </p:txBody>
      </p:sp>
      <p:sp>
        <p:nvSpPr>
          <p:cNvPr id="7" name="Rogner un rectangle avec un coin diagonal 6"/>
          <p:cNvSpPr/>
          <p:nvPr/>
        </p:nvSpPr>
        <p:spPr>
          <a:xfrm>
            <a:off x="5965373" y="1973720"/>
            <a:ext cx="3048000" cy="1303943"/>
          </a:xfrm>
          <a:prstGeom prst="snip2DiagRect">
            <a:avLst/>
          </a:prstGeom>
        </p:spPr>
        <p:style>
          <a:lnRef idx="1">
            <a:schemeClr val="dk1"/>
          </a:lnRef>
          <a:fillRef idx="2">
            <a:schemeClr val="dk1"/>
          </a:fillRef>
          <a:effectRef idx="1">
            <a:schemeClr val="dk1"/>
          </a:effectRef>
          <a:fontRef idx="minor">
            <a:schemeClr val="dk1"/>
          </a:fontRef>
        </p:style>
        <p:txBody>
          <a:bodyPr wrap="square">
            <a:spAutoFit/>
          </a:bodyPr>
          <a:lstStyle/>
          <a:p>
            <a:pPr algn="just"/>
            <a:r>
              <a:rPr lang="fr-FR" b="1" dirty="0" smtClean="0"/>
              <a:t>Enquête de satisfaction : Récolter des feedbacks et avis de la part de la cible</a:t>
            </a:r>
          </a:p>
          <a:p>
            <a:pPr algn="just"/>
            <a:endParaRPr lang="fr-FR" sz="1100" b="1" dirty="0"/>
          </a:p>
        </p:txBody>
      </p:sp>
      <p:sp>
        <p:nvSpPr>
          <p:cNvPr id="8" name="Rogner et arrondir un rectangle à un seul coin 7"/>
          <p:cNvSpPr/>
          <p:nvPr/>
        </p:nvSpPr>
        <p:spPr>
          <a:xfrm>
            <a:off x="3080657" y="3813407"/>
            <a:ext cx="2764971" cy="1258372"/>
          </a:xfrm>
          <a:prstGeom prst="snipRoundRect">
            <a:avLst/>
          </a:prstGeom>
        </p:spPr>
        <p:style>
          <a:lnRef idx="1">
            <a:schemeClr val="accent4"/>
          </a:lnRef>
          <a:fillRef idx="3">
            <a:schemeClr val="accent4"/>
          </a:fillRef>
          <a:effectRef idx="2">
            <a:schemeClr val="accent4"/>
          </a:effectRef>
          <a:fontRef idx="minor">
            <a:schemeClr val="lt1"/>
          </a:fontRef>
        </p:style>
        <p:txBody>
          <a:bodyPr wrap="square">
            <a:spAutoFit/>
          </a:bodyPr>
          <a:lstStyle/>
          <a:p>
            <a:pPr algn="just"/>
            <a:r>
              <a:rPr lang="fr-FR" b="1" dirty="0" smtClean="0"/>
              <a:t>Etude de marché : Quelles sont les opportunités ? les menaces ?</a:t>
            </a:r>
            <a:endParaRPr lang="fr-FR" b="1" dirty="0"/>
          </a:p>
        </p:txBody>
      </p:sp>
      <p:sp>
        <p:nvSpPr>
          <p:cNvPr id="9" name="Rogner un rectangle avec un coin du même côté 8"/>
          <p:cNvSpPr/>
          <p:nvPr/>
        </p:nvSpPr>
        <p:spPr>
          <a:xfrm>
            <a:off x="6183086" y="3530378"/>
            <a:ext cx="2906485" cy="1605915"/>
          </a:xfrm>
          <a:prstGeom prst="snip2Same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just"/>
            <a:r>
              <a:rPr lang="fr-FR" b="1" dirty="0" smtClean="0"/>
              <a:t>Version limitée mise à disposition : Valider le fonctionnement de cette version et effectuer les ajustements nécessaires</a:t>
            </a:r>
            <a:endParaRPr lang="fr-FR" b="1" dirty="0"/>
          </a:p>
        </p:txBody>
      </p:sp>
      <p:sp>
        <p:nvSpPr>
          <p:cNvPr id="10" name="Rectangle 9"/>
          <p:cNvSpPr/>
          <p:nvPr/>
        </p:nvSpPr>
        <p:spPr>
          <a:xfrm>
            <a:off x="3696907" y="5497676"/>
            <a:ext cx="5038174" cy="369332"/>
          </a:xfrm>
          <a:prstGeom prst="rect">
            <a:avLst/>
          </a:prstGeom>
        </p:spPr>
        <p:txBody>
          <a:bodyPr wrap="none">
            <a:spAutoFit/>
          </a:bodyPr>
          <a:lstStyle/>
          <a:p>
            <a:r>
              <a:rPr lang="fr-FR" b="1" dirty="0" smtClean="0">
                <a:solidFill>
                  <a:schemeClr val="tx2">
                    <a:lumMod val="60000"/>
                    <a:lumOff val="40000"/>
                  </a:schemeClr>
                </a:solidFill>
              </a:rPr>
              <a:t>Les objectifs de la POC : tester, identifier et évaluer</a:t>
            </a:r>
            <a:endParaRPr lang="fr-FR" b="1" dirty="0">
              <a:solidFill>
                <a:schemeClr val="tx2">
                  <a:lumMod val="60000"/>
                  <a:lumOff val="40000"/>
                </a:schemeClr>
              </a:solidFill>
            </a:endParaRPr>
          </a:p>
        </p:txBody>
      </p:sp>
      <p:pic>
        <p:nvPicPr>
          <p:cNvPr id="12" name="Image 11" descr="C:\Users\ma.mejri\Desktop\téléchargement (1).png"/>
          <p:cNvPicPr/>
          <p:nvPr/>
        </p:nvPicPr>
        <p:blipFill>
          <a:blip r:embed="rId2"/>
          <a:srcRect/>
          <a:stretch>
            <a:fillRect/>
          </a:stretch>
        </p:blipFill>
        <p:spPr bwMode="auto">
          <a:xfrm>
            <a:off x="570593" y="557439"/>
            <a:ext cx="1079500" cy="387350"/>
          </a:xfrm>
          <a:prstGeom prst="rect">
            <a:avLst/>
          </a:prstGeom>
          <a:noFill/>
          <a:ln w="9525">
            <a:noFill/>
            <a:miter lim="800000"/>
            <a:headEnd/>
            <a:tailEnd/>
          </a:ln>
        </p:spPr>
      </p:pic>
      <p:sp>
        <p:nvSpPr>
          <p:cNvPr id="11" name="Espace réservé de la date 10"/>
          <p:cNvSpPr>
            <a:spLocks noGrp="1"/>
          </p:cNvSpPr>
          <p:nvPr>
            <p:ph type="dt" sz="half" idx="10"/>
          </p:nvPr>
        </p:nvSpPr>
        <p:spPr/>
        <p:txBody>
          <a:bodyPr/>
          <a:lstStyle/>
          <a:p>
            <a:pPr lvl="0"/>
            <a:fld id="{1DF67DF4-FDA8-4569-8AE5-FF4EFFC3CF46}" type="datetime1">
              <a:rPr lang="en-US" smtClean="0"/>
              <a:pPr lvl="0"/>
              <a:t>11/16/2025</a:t>
            </a:fld>
            <a:endParaRPr lang="en-US"/>
          </a:p>
        </p:txBody>
      </p:sp>
      <p:sp>
        <p:nvSpPr>
          <p:cNvPr id="13" name="Espace réservé du numéro de diapositive 12"/>
          <p:cNvSpPr>
            <a:spLocks noGrp="1"/>
          </p:cNvSpPr>
          <p:nvPr>
            <p:ph type="sldNum" sz="quarter" idx="12"/>
          </p:nvPr>
        </p:nvSpPr>
        <p:spPr/>
        <p:txBody>
          <a:bodyPr/>
          <a:lstStyle/>
          <a:p>
            <a:pPr lvl="0"/>
            <a:fld id="{2390AFF8-1E19-449A-AA82-B5E4E90108F1}" type="slidenum">
              <a:rPr lang="fr-FR" smtClean="0"/>
              <a:pPr lvl="0"/>
              <a:t>175</a:t>
            </a:fld>
            <a:endParaRPr lang="fr-F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49725" y="457591"/>
            <a:ext cx="2297745" cy="369332"/>
          </a:xfrm>
          <a:prstGeom prst="rect">
            <a:avLst/>
          </a:prstGeom>
        </p:spPr>
        <p:txBody>
          <a:bodyPr wrap="none">
            <a:spAutoFit/>
          </a:bodyPr>
          <a:lstStyle/>
          <a:p>
            <a:r>
              <a:rPr lang="fr-FR" b="1" dirty="0" smtClean="0">
                <a:solidFill>
                  <a:srgbClr val="C00000"/>
                </a:solidFill>
              </a:rPr>
              <a:t>PHASE 3 : AMORÇAGE</a:t>
            </a:r>
          </a:p>
        </p:txBody>
      </p:sp>
      <p:sp>
        <p:nvSpPr>
          <p:cNvPr id="3" name="Rectangle 2"/>
          <p:cNvSpPr/>
          <p:nvPr/>
        </p:nvSpPr>
        <p:spPr>
          <a:xfrm>
            <a:off x="2272347" y="893020"/>
            <a:ext cx="4939301" cy="369332"/>
          </a:xfrm>
          <a:prstGeom prst="rect">
            <a:avLst/>
          </a:prstGeom>
        </p:spPr>
        <p:txBody>
          <a:bodyPr wrap="none">
            <a:spAutoFit/>
          </a:bodyPr>
          <a:lstStyle/>
          <a:p>
            <a:r>
              <a:rPr lang="fr-FR" b="1" dirty="0" smtClean="0">
                <a:solidFill>
                  <a:srgbClr val="00B050"/>
                </a:solidFill>
              </a:rPr>
              <a:t>Étape 7 : Implémentation et développement (1/2)</a:t>
            </a:r>
          </a:p>
        </p:txBody>
      </p:sp>
      <p:sp>
        <p:nvSpPr>
          <p:cNvPr id="4" name="Étiquette 3"/>
          <p:cNvSpPr/>
          <p:nvPr/>
        </p:nvSpPr>
        <p:spPr>
          <a:xfrm>
            <a:off x="2046514" y="1323592"/>
            <a:ext cx="3265714" cy="2640330"/>
          </a:xfrm>
          <a:prstGeom prst="plaque">
            <a:avLst/>
          </a:prstGeom>
        </p:spPr>
        <p:style>
          <a:lnRef idx="1">
            <a:schemeClr val="accent1"/>
          </a:lnRef>
          <a:fillRef idx="3">
            <a:schemeClr val="accent1"/>
          </a:fillRef>
          <a:effectRef idx="2">
            <a:schemeClr val="accent1"/>
          </a:effectRef>
          <a:fontRef idx="minor">
            <a:schemeClr val="lt1"/>
          </a:fontRef>
        </p:style>
        <p:txBody>
          <a:bodyPr wrap="square">
            <a:spAutoFit/>
          </a:bodyPr>
          <a:lstStyle/>
          <a:p>
            <a:pPr algn="just"/>
            <a:r>
              <a:rPr lang="fr-FR" b="1" dirty="0" smtClean="0"/>
              <a:t>Une fois la phase de réflexion arrivée à son terme, c’est enfin le moment de lancer votre startup! Cette étape consiste à créer la startup elle même</a:t>
            </a:r>
            <a:endParaRPr lang="fr-FR" b="1" dirty="0"/>
          </a:p>
        </p:txBody>
      </p:sp>
      <p:sp>
        <p:nvSpPr>
          <p:cNvPr id="5" name="Rectangle 4"/>
          <p:cNvSpPr/>
          <p:nvPr/>
        </p:nvSpPr>
        <p:spPr>
          <a:xfrm>
            <a:off x="6607235" y="2471449"/>
            <a:ext cx="4293740" cy="400110"/>
          </a:xfrm>
          <a:prstGeom prst="rect">
            <a:avLst/>
          </a:prstGeom>
        </p:spPr>
        <p:txBody>
          <a:bodyPr wrap="none">
            <a:spAutoFit/>
          </a:bodyPr>
          <a:lstStyle/>
          <a:p>
            <a:r>
              <a:rPr lang="fr-FR" sz="2000" b="1" dirty="0" smtClean="0">
                <a:solidFill>
                  <a:schemeClr val="accent1">
                    <a:lumMod val="75000"/>
                  </a:schemeClr>
                </a:solidFill>
              </a:rPr>
              <a:t>C’est la phase opérationnelle du projet</a:t>
            </a:r>
            <a:endParaRPr lang="fr-FR" sz="2000" b="1" dirty="0">
              <a:solidFill>
                <a:schemeClr val="accent1">
                  <a:lumMod val="75000"/>
                </a:schemeClr>
              </a:solidFill>
            </a:endParaRPr>
          </a:p>
        </p:txBody>
      </p:sp>
      <p:sp>
        <p:nvSpPr>
          <p:cNvPr id="6" name="Rectangle 5"/>
          <p:cNvSpPr/>
          <p:nvPr/>
        </p:nvSpPr>
        <p:spPr>
          <a:xfrm>
            <a:off x="435427" y="3995678"/>
            <a:ext cx="5551715" cy="2585323"/>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just"/>
            <a:r>
              <a:rPr lang="fr-FR" dirty="0" smtClean="0"/>
              <a:t>De manière générale, la phase </a:t>
            </a:r>
            <a:r>
              <a:rPr lang="fr-FR" b="1" dirty="0" smtClean="0"/>
              <a:t>d’implémentation </a:t>
            </a:r>
            <a:r>
              <a:rPr lang="fr-FR" dirty="0" smtClean="0"/>
              <a:t>comprend : </a:t>
            </a:r>
          </a:p>
          <a:p>
            <a:pPr marL="631825" indent="-273050" algn="just">
              <a:buFont typeface="Wingdings" pitchFamily="2" charset="2"/>
              <a:buChar char="§"/>
            </a:pPr>
            <a:r>
              <a:rPr lang="fr-FR" dirty="0" smtClean="0"/>
              <a:t> La rédaction des statuts de la startup et dépôt et l’enregistrement des statuts. </a:t>
            </a:r>
          </a:p>
          <a:p>
            <a:pPr marL="631825" indent="-273050" algn="just">
              <a:buFont typeface="Wingdings" pitchFamily="2" charset="2"/>
              <a:buChar char="§"/>
            </a:pPr>
            <a:r>
              <a:rPr lang="fr-FR" dirty="0" smtClean="0"/>
              <a:t> La déclaration des activités de l’entité. </a:t>
            </a:r>
          </a:p>
          <a:p>
            <a:pPr marL="631825" indent="-273050" algn="just">
              <a:buFont typeface="Wingdings" pitchFamily="2" charset="2"/>
              <a:buChar char="§"/>
            </a:pPr>
            <a:r>
              <a:rPr lang="fr-FR" dirty="0" smtClean="0"/>
              <a:t> La publication se portant sur la constitution de la startup</a:t>
            </a:r>
          </a:p>
          <a:p>
            <a:pPr marL="631825" indent="-273050" algn="just">
              <a:buFont typeface="Wingdings" pitchFamily="2" charset="2"/>
              <a:buChar char="§"/>
            </a:pPr>
            <a:r>
              <a:rPr lang="fr-FR" dirty="0" smtClean="0"/>
              <a:t> L’immatriculation de la startup.</a:t>
            </a:r>
          </a:p>
          <a:p>
            <a:pPr marL="631825" indent="-273050" algn="just">
              <a:buFont typeface="Wingdings" pitchFamily="2" charset="2"/>
              <a:buChar char="§"/>
            </a:pPr>
            <a:r>
              <a:rPr lang="fr-FR" dirty="0" smtClean="0"/>
              <a:t> La divulgation du concept, de l’idée du projet.</a:t>
            </a:r>
            <a:endParaRPr lang="fr-FR" dirty="0"/>
          </a:p>
        </p:txBody>
      </p:sp>
      <p:sp>
        <p:nvSpPr>
          <p:cNvPr id="7" name="Rectangle 6"/>
          <p:cNvSpPr/>
          <p:nvPr/>
        </p:nvSpPr>
        <p:spPr>
          <a:xfrm>
            <a:off x="6074228" y="4040164"/>
            <a:ext cx="5747657" cy="2154436"/>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fr-FR" dirty="0" smtClean="0"/>
              <a:t>Parmi </a:t>
            </a:r>
            <a:r>
              <a:rPr lang="fr-FR" b="1" dirty="0" smtClean="0"/>
              <a:t>les problèmes </a:t>
            </a:r>
            <a:r>
              <a:rPr lang="fr-FR" dirty="0" smtClean="0"/>
              <a:t>fréquents pendant l’implémentation :</a:t>
            </a:r>
          </a:p>
          <a:p>
            <a:pPr algn="just"/>
            <a:endParaRPr lang="fr-FR" sz="800" dirty="0" smtClean="0"/>
          </a:p>
          <a:p>
            <a:pPr algn="just">
              <a:buFont typeface="Wingdings" pitchFamily="2" charset="2"/>
              <a:buChar char="Ø"/>
            </a:pPr>
            <a:r>
              <a:rPr lang="fr-FR" dirty="0" smtClean="0"/>
              <a:t> Les échéances non respectées.</a:t>
            </a:r>
          </a:p>
          <a:p>
            <a:pPr algn="just">
              <a:buFont typeface="Wingdings" pitchFamily="2" charset="2"/>
              <a:buChar char="Ø"/>
            </a:pPr>
            <a:r>
              <a:rPr lang="fr-FR" dirty="0" smtClean="0"/>
              <a:t> Le dépassement de budget sur l'ensemble du projet.</a:t>
            </a:r>
          </a:p>
          <a:p>
            <a:pPr algn="just">
              <a:buFont typeface="Wingdings" pitchFamily="2" charset="2"/>
              <a:buChar char="Ø"/>
            </a:pPr>
            <a:r>
              <a:rPr lang="fr-FR" dirty="0" smtClean="0"/>
              <a:t> Les retards ou blocages inattendus dus à un partenaire externe.</a:t>
            </a:r>
          </a:p>
          <a:p>
            <a:pPr algn="just">
              <a:buFont typeface="Wingdings" pitchFamily="2" charset="2"/>
              <a:buChar char="Ø"/>
            </a:pPr>
            <a:r>
              <a:rPr lang="fr-FR" dirty="0" smtClean="0"/>
              <a:t> Le retrait de parties prenantes jouant un rôle essentiel et diverses conséquences imprévues.</a:t>
            </a:r>
            <a:endParaRPr lang="fr-FR" dirty="0"/>
          </a:p>
        </p:txBody>
      </p:sp>
      <p:pic>
        <p:nvPicPr>
          <p:cNvPr id="9" name="Image 8" descr="C:\Users\ma.mejri\Desktop\téléchargement (1).png"/>
          <p:cNvPicPr/>
          <p:nvPr/>
        </p:nvPicPr>
        <p:blipFill>
          <a:blip r:embed="rId2"/>
          <a:srcRect/>
          <a:stretch>
            <a:fillRect/>
          </a:stretch>
        </p:blipFill>
        <p:spPr bwMode="auto">
          <a:xfrm>
            <a:off x="472621" y="448582"/>
            <a:ext cx="1079500" cy="387350"/>
          </a:xfrm>
          <a:prstGeom prst="rect">
            <a:avLst/>
          </a:prstGeom>
          <a:noFill/>
          <a:ln w="9525">
            <a:noFill/>
            <a:miter lim="800000"/>
            <a:headEnd/>
            <a:tailEnd/>
          </a:ln>
        </p:spPr>
      </p:pic>
      <p:sp>
        <p:nvSpPr>
          <p:cNvPr id="10" name="Espace réservé de la date 9"/>
          <p:cNvSpPr>
            <a:spLocks noGrp="1"/>
          </p:cNvSpPr>
          <p:nvPr>
            <p:ph type="dt" sz="half" idx="10"/>
          </p:nvPr>
        </p:nvSpPr>
        <p:spPr/>
        <p:txBody>
          <a:bodyPr/>
          <a:lstStyle/>
          <a:p>
            <a:pPr lvl="0"/>
            <a:fld id="{DDC5D6FA-40DA-4CF9-8B85-3A9C237C59C7}" type="datetime1">
              <a:rPr lang="en-US" smtClean="0"/>
              <a:pPr lvl="0"/>
              <a:t>11/16/2025</a:t>
            </a:fld>
            <a:endParaRPr lang="en-US"/>
          </a:p>
        </p:txBody>
      </p:sp>
      <p:sp>
        <p:nvSpPr>
          <p:cNvPr id="11" name="Espace réservé du numéro de diapositive 10"/>
          <p:cNvSpPr>
            <a:spLocks noGrp="1"/>
          </p:cNvSpPr>
          <p:nvPr>
            <p:ph type="sldNum" sz="quarter" idx="12"/>
          </p:nvPr>
        </p:nvSpPr>
        <p:spPr/>
        <p:txBody>
          <a:bodyPr/>
          <a:lstStyle/>
          <a:p>
            <a:pPr lvl="0"/>
            <a:fld id="{2390AFF8-1E19-449A-AA82-B5E4E90108F1}" type="slidenum">
              <a:rPr lang="fr-FR" smtClean="0"/>
              <a:pPr lvl="0"/>
              <a:t>176</a:t>
            </a:fld>
            <a:endParaRPr lang="fr-F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66261" y="784162"/>
            <a:ext cx="4940904" cy="369332"/>
          </a:xfrm>
          <a:prstGeom prst="rect">
            <a:avLst/>
          </a:prstGeom>
        </p:spPr>
        <p:txBody>
          <a:bodyPr wrap="none">
            <a:spAutoFit/>
          </a:bodyPr>
          <a:lstStyle/>
          <a:p>
            <a:r>
              <a:rPr lang="fr-FR" b="1" dirty="0" smtClean="0">
                <a:solidFill>
                  <a:srgbClr val="00B050"/>
                </a:solidFill>
              </a:rPr>
              <a:t>Étape 7 : Implémentation et développement (2/2)</a:t>
            </a:r>
          </a:p>
        </p:txBody>
      </p:sp>
      <p:sp>
        <p:nvSpPr>
          <p:cNvPr id="3" name="Rectangle 2"/>
          <p:cNvSpPr/>
          <p:nvPr/>
        </p:nvSpPr>
        <p:spPr>
          <a:xfrm>
            <a:off x="925285" y="1373165"/>
            <a:ext cx="10787743" cy="1477328"/>
          </a:xfrm>
          <a:prstGeom prst="rect">
            <a:avLst/>
          </a:prstGeom>
        </p:spPr>
        <p:txBody>
          <a:bodyPr wrap="square">
            <a:spAutoFit/>
          </a:bodyPr>
          <a:lstStyle/>
          <a:p>
            <a:r>
              <a:rPr lang="fr-FR" b="1" dirty="0" smtClean="0">
                <a:solidFill>
                  <a:schemeClr val="accent1">
                    <a:lumMod val="75000"/>
                  </a:schemeClr>
                </a:solidFill>
              </a:rPr>
              <a:t>L’art du pitch :</a:t>
            </a:r>
          </a:p>
          <a:p>
            <a:endParaRPr lang="fr-FR" dirty="0" smtClean="0"/>
          </a:p>
          <a:p>
            <a:pPr algn="just"/>
            <a:r>
              <a:rPr lang="fr-FR" dirty="0" smtClean="0"/>
              <a:t>Le pitch commercial c'est la faculté de se présenter de façon efficace et rapide lors d’un premier contact avec un client. Il permet d'accrocher ce dernier en faisant bonne impression et de lui donner envie d'aller plus loin avec vous.</a:t>
            </a:r>
            <a:endParaRPr lang="fr-FR" dirty="0"/>
          </a:p>
        </p:txBody>
      </p:sp>
      <p:sp>
        <p:nvSpPr>
          <p:cNvPr id="7" name="Ellipse 6"/>
          <p:cNvSpPr/>
          <p:nvPr/>
        </p:nvSpPr>
        <p:spPr>
          <a:xfrm>
            <a:off x="1278151" y="3538248"/>
            <a:ext cx="2280815" cy="51935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r>
              <a:rPr lang="fr-FR" b="1" dirty="0" smtClean="0"/>
              <a:t>Vous présenter</a:t>
            </a:r>
            <a:endParaRPr lang="fr-FR" b="1" dirty="0"/>
          </a:p>
        </p:txBody>
      </p:sp>
      <p:sp>
        <p:nvSpPr>
          <p:cNvPr id="8" name="Ellipse 7"/>
          <p:cNvSpPr/>
          <p:nvPr/>
        </p:nvSpPr>
        <p:spPr>
          <a:xfrm>
            <a:off x="3919875" y="2895992"/>
            <a:ext cx="2457269" cy="519351"/>
          </a:xfrm>
          <a:prstGeom prst="ellipse">
            <a:avLst/>
          </a:prstGeom>
        </p:spPr>
        <p:style>
          <a:lnRef idx="3">
            <a:schemeClr val="lt1"/>
          </a:lnRef>
          <a:fillRef idx="1">
            <a:schemeClr val="accent3"/>
          </a:fillRef>
          <a:effectRef idx="1">
            <a:schemeClr val="accent3"/>
          </a:effectRef>
          <a:fontRef idx="minor">
            <a:schemeClr val="lt1"/>
          </a:fontRef>
        </p:style>
        <p:txBody>
          <a:bodyPr wrap="none">
            <a:spAutoFit/>
          </a:bodyPr>
          <a:lstStyle/>
          <a:p>
            <a:r>
              <a:rPr lang="fr-FR" b="1" dirty="0" smtClean="0"/>
              <a:t>Susciter l’intérêt</a:t>
            </a:r>
            <a:endParaRPr lang="fr-FR" b="1" dirty="0"/>
          </a:p>
        </p:txBody>
      </p:sp>
      <p:sp>
        <p:nvSpPr>
          <p:cNvPr id="9" name="Ellipse 8"/>
          <p:cNvSpPr/>
          <p:nvPr/>
        </p:nvSpPr>
        <p:spPr>
          <a:xfrm>
            <a:off x="3645822" y="4038991"/>
            <a:ext cx="2777985" cy="519351"/>
          </a:xfrm>
          <a:prstGeom prst="ellipse">
            <a:avLst/>
          </a:prstGeom>
        </p:spPr>
        <p:style>
          <a:lnRef idx="1">
            <a:schemeClr val="accent6"/>
          </a:lnRef>
          <a:fillRef idx="3">
            <a:schemeClr val="accent6"/>
          </a:fillRef>
          <a:effectRef idx="2">
            <a:schemeClr val="accent6"/>
          </a:effectRef>
          <a:fontRef idx="minor">
            <a:schemeClr val="lt1"/>
          </a:fontRef>
        </p:style>
        <p:txBody>
          <a:bodyPr wrap="none">
            <a:spAutoFit/>
          </a:bodyPr>
          <a:lstStyle/>
          <a:p>
            <a:r>
              <a:rPr lang="fr-FR" b="1" dirty="0" smtClean="0"/>
              <a:t>Éveiller la curiosité</a:t>
            </a:r>
            <a:endParaRPr lang="fr-FR" b="1" dirty="0"/>
          </a:p>
        </p:txBody>
      </p:sp>
      <p:sp>
        <p:nvSpPr>
          <p:cNvPr id="10" name="Ellipse 9"/>
          <p:cNvSpPr/>
          <p:nvPr/>
        </p:nvSpPr>
        <p:spPr>
          <a:xfrm>
            <a:off x="6642106" y="3113706"/>
            <a:ext cx="2856969" cy="519351"/>
          </a:xfrm>
          <a:prstGeom prst="ellipse">
            <a:avLst/>
          </a:prstGeom>
        </p:spPr>
        <p:style>
          <a:lnRef idx="1">
            <a:schemeClr val="accent5"/>
          </a:lnRef>
          <a:fillRef idx="2">
            <a:schemeClr val="accent5"/>
          </a:fillRef>
          <a:effectRef idx="1">
            <a:schemeClr val="accent5"/>
          </a:effectRef>
          <a:fontRef idx="minor">
            <a:schemeClr val="dk1"/>
          </a:fontRef>
        </p:style>
        <p:txBody>
          <a:bodyPr wrap="none">
            <a:spAutoFit/>
          </a:bodyPr>
          <a:lstStyle/>
          <a:p>
            <a:r>
              <a:rPr lang="fr-FR" b="1" dirty="0" smtClean="0"/>
              <a:t>Marquer les esprits</a:t>
            </a:r>
            <a:endParaRPr lang="fr-FR" b="1" dirty="0"/>
          </a:p>
        </p:txBody>
      </p:sp>
      <p:sp>
        <p:nvSpPr>
          <p:cNvPr id="11" name="Ellipse 10"/>
          <p:cNvSpPr/>
          <p:nvPr/>
        </p:nvSpPr>
        <p:spPr>
          <a:xfrm>
            <a:off x="6966857" y="4104305"/>
            <a:ext cx="2209800" cy="1298377"/>
          </a:xfrm>
          <a:prstGeom prst="ellipse">
            <a:avLst/>
          </a:prstGeom>
        </p:spPr>
        <p:style>
          <a:lnRef idx="3">
            <a:schemeClr val="lt1"/>
          </a:lnRef>
          <a:fillRef idx="1">
            <a:schemeClr val="accent2"/>
          </a:fillRef>
          <a:effectRef idx="1">
            <a:schemeClr val="accent2"/>
          </a:effectRef>
          <a:fontRef idx="minor">
            <a:schemeClr val="lt1"/>
          </a:fontRef>
        </p:style>
        <p:txBody>
          <a:bodyPr wrap="square">
            <a:spAutoFit/>
          </a:bodyPr>
          <a:lstStyle/>
          <a:p>
            <a:pPr algn="ctr"/>
            <a:r>
              <a:rPr lang="fr-FR" b="1" dirty="0" smtClean="0"/>
              <a:t>Convaincre de votre valeur ajoutée</a:t>
            </a:r>
            <a:endParaRPr lang="fr-FR" b="1" dirty="0"/>
          </a:p>
        </p:txBody>
      </p:sp>
      <p:sp>
        <p:nvSpPr>
          <p:cNvPr id="13" name="Rectangle 12"/>
          <p:cNvSpPr/>
          <p:nvPr/>
        </p:nvSpPr>
        <p:spPr>
          <a:xfrm>
            <a:off x="1762864" y="5508563"/>
            <a:ext cx="5962210" cy="369332"/>
          </a:xfrm>
          <a:prstGeom prst="rect">
            <a:avLst/>
          </a:prstGeom>
        </p:spPr>
        <p:txBody>
          <a:bodyPr wrap="none">
            <a:spAutoFit/>
          </a:bodyPr>
          <a:lstStyle/>
          <a:p>
            <a:r>
              <a:rPr lang="fr-FR" b="1" dirty="0" smtClean="0">
                <a:solidFill>
                  <a:schemeClr val="accent1">
                    <a:lumMod val="75000"/>
                  </a:schemeClr>
                </a:solidFill>
              </a:rPr>
              <a:t>« Votre pitch de présentation doit être bref mais percutant »</a:t>
            </a:r>
            <a:endParaRPr lang="fr-FR" b="1" dirty="0">
              <a:solidFill>
                <a:schemeClr val="accent1">
                  <a:lumMod val="75000"/>
                </a:schemeClr>
              </a:solidFill>
            </a:endParaRPr>
          </a:p>
        </p:txBody>
      </p:sp>
      <p:pic>
        <p:nvPicPr>
          <p:cNvPr id="14" name="Image 13" descr="C:\Users\ma.mejri\Desktop\téléchargement (1).png"/>
          <p:cNvPicPr/>
          <p:nvPr/>
        </p:nvPicPr>
        <p:blipFill>
          <a:blip r:embed="rId3"/>
          <a:srcRect/>
          <a:stretch>
            <a:fillRect/>
          </a:stretch>
        </p:blipFill>
        <p:spPr bwMode="auto">
          <a:xfrm>
            <a:off x="984250" y="677182"/>
            <a:ext cx="1079500" cy="387350"/>
          </a:xfrm>
          <a:prstGeom prst="rect">
            <a:avLst/>
          </a:prstGeom>
          <a:noFill/>
          <a:ln w="9525">
            <a:noFill/>
            <a:miter lim="800000"/>
            <a:headEnd/>
            <a:tailEnd/>
          </a:ln>
        </p:spPr>
      </p:pic>
      <p:sp>
        <p:nvSpPr>
          <p:cNvPr id="12" name="Espace réservé de la date 11"/>
          <p:cNvSpPr>
            <a:spLocks noGrp="1"/>
          </p:cNvSpPr>
          <p:nvPr>
            <p:ph type="dt" sz="half" idx="10"/>
          </p:nvPr>
        </p:nvSpPr>
        <p:spPr/>
        <p:txBody>
          <a:bodyPr/>
          <a:lstStyle/>
          <a:p>
            <a:pPr lvl="0"/>
            <a:fld id="{70569F08-C6FE-4556-AA2C-7CC51C1504BA}" type="datetime1">
              <a:rPr lang="en-US" smtClean="0"/>
              <a:pPr lvl="0"/>
              <a:t>11/16/2025</a:t>
            </a:fld>
            <a:endParaRPr lang="en-US"/>
          </a:p>
        </p:txBody>
      </p:sp>
      <p:sp>
        <p:nvSpPr>
          <p:cNvPr id="15" name="Espace réservé du numéro de diapositive 14"/>
          <p:cNvSpPr>
            <a:spLocks noGrp="1"/>
          </p:cNvSpPr>
          <p:nvPr>
            <p:ph type="sldNum" sz="quarter" idx="12"/>
          </p:nvPr>
        </p:nvSpPr>
        <p:spPr/>
        <p:txBody>
          <a:bodyPr/>
          <a:lstStyle/>
          <a:p>
            <a:pPr lvl="0"/>
            <a:fld id="{2390AFF8-1E19-449A-AA82-B5E4E90108F1}" type="slidenum">
              <a:rPr lang="fr-FR" smtClean="0"/>
              <a:pPr lvl="0"/>
              <a:t>177</a:t>
            </a:fld>
            <a:endParaRPr lang="fr-F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56241" y="784163"/>
            <a:ext cx="1983235" cy="369332"/>
          </a:xfrm>
          <a:prstGeom prst="rect">
            <a:avLst/>
          </a:prstGeom>
        </p:spPr>
        <p:txBody>
          <a:bodyPr wrap="none">
            <a:spAutoFit/>
          </a:bodyPr>
          <a:lstStyle/>
          <a:p>
            <a:r>
              <a:rPr lang="fr-FR" b="1" dirty="0" smtClean="0">
                <a:solidFill>
                  <a:srgbClr val="C00000"/>
                </a:solidFill>
              </a:rPr>
              <a:t>PHASE 4 : SCALING</a:t>
            </a:r>
          </a:p>
        </p:txBody>
      </p:sp>
      <p:sp>
        <p:nvSpPr>
          <p:cNvPr id="3" name="Rectangle 2"/>
          <p:cNvSpPr/>
          <p:nvPr/>
        </p:nvSpPr>
        <p:spPr>
          <a:xfrm>
            <a:off x="2294988" y="1306678"/>
            <a:ext cx="2314608" cy="369332"/>
          </a:xfrm>
          <a:prstGeom prst="rect">
            <a:avLst/>
          </a:prstGeom>
        </p:spPr>
        <p:txBody>
          <a:bodyPr wrap="none">
            <a:spAutoFit/>
          </a:bodyPr>
          <a:lstStyle/>
          <a:p>
            <a:r>
              <a:rPr lang="fr-FR" b="1" dirty="0" smtClean="0">
                <a:solidFill>
                  <a:srgbClr val="00B050"/>
                </a:solidFill>
              </a:rPr>
              <a:t>Étape 8 : La croissance</a:t>
            </a:r>
          </a:p>
        </p:txBody>
      </p:sp>
      <p:sp>
        <p:nvSpPr>
          <p:cNvPr id="4" name="Rectangle 3"/>
          <p:cNvSpPr/>
          <p:nvPr/>
        </p:nvSpPr>
        <p:spPr>
          <a:xfrm>
            <a:off x="7602002" y="1589705"/>
            <a:ext cx="2313967" cy="646331"/>
          </a:xfrm>
          <a:prstGeom prst="rect">
            <a:avLst/>
          </a:prstGeom>
        </p:spPr>
        <p:txBody>
          <a:bodyPr wrap="none">
            <a:spAutoFit/>
          </a:bodyPr>
          <a:lstStyle/>
          <a:p>
            <a:r>
              <a:rPr lang="fr-FR" b="1" dirty="0" smtClean="0">
                <a:solidFill>
                  <a:schemeClr val="accent1">
                    <a:lumMod val="75000"/>
                  </a:schemeClr>
                </a:solidFill>
              </a:rPr>
              <a:t>C’est là que ça devient</a:t>
            </a:r>
          </a:p>
          <a:p>
            <a:r>
              <a:rPr lang="fr-FR" b="1" dirty="0" smtClean="0">
                <a:solidFill>
                  <a:schemeClr val="accent1">
                    <a:lumMod val="75000"/>
                  </a:schemeClr>
                </a:solidFill>
              </a:rPr>
              <a:t> vraiment intéressant </a:t>
            </a:r>
            <a:endParaRPr lang="fr-FR" b="1" dirty="0">
              <a:solidFill>
                <a:schemeClr val="accent1">
                  <a:lumMod val="75000"/>
                </a:schemeClr>
              </a:solidFill>
            </a:endParaRPr>
          </a:p>
        </p:txBody>
      </p:sp>
      <p:sp>
        <p:nvSpPr>
          <p:cNvPr id="5" name="Étiquette 4"/>
          <p:cNvSpPr/>
          <p:nvPr/>
        </p:nvSpPr>
        <p:spPr>
          <a:xfrm>
            <a:off x="729343" y="1933193"/>
            <a:ext cx="3766457" cy="2280285"/>
          </a:xfrm>
          <a:prstGeom prst="plaque">
            <a:avLst/>
          </a:prstGeom>
        </p:spPr>
        <p:style>
          <a:lnRef idx="3">
            <a:schemeClr val="lt1"/>
          </a:lnRef>
          <a:fillRef idx="1">
            <a:schemeClr val="accent1"/>
          </a:fillRef>
          <a:effectRef idx="1">
            <a:schemeClr val="accent1"/>
          </a:effectRef>
          <a:fontRef idx="minor">
            <a:schemeClr val="lt1"/>
          </a:fontRef>
        </p:style>
        <p:txBody>
          <a:bodyPr wrap="square">
            <a:spAutoFit/>
          </a:bodyPr>
          <a:lstStyle/>
          <a:p>
            <a:pPr algn="just"/>
            <a:r>
              <a:rPr lang="fr-FR" b="1" dirty="0" smtClean="0"/>
              <a:t>À ce stade, vous avez pu valider que votre offre correspondait à un besoin. Maintenant, il est venu le temps d’industrialiser votre stratégie d’acquisition utilisateurs.</a:t>
            </a:r>
            <a:endParaRPr lang="fr-FR" b="1" dirty="0"/>
          </a:p>
        </p:txBody>
      </p:sp>
      <p:sp>
        <p:nvSpPr>
          <p:cNvPr id="6" name="Rectangle 5"/>
          <p:cNvSpPr/>
          <p:nvPr/>
        </p:nvSpPr>
        <p:spPr>
          <a:xfrm>
            <a:off x="1132113" y="4262735"/>
            <a:ext cx="10167257" cy="646331"/>
          </a:xfrm>
          <a:prstGeom prst="rect">
            <a:avLst/>
          </a:prstGeom>
        </p:spPr>
        <p:txBody>
          <a:bodyPr wrap="square">
            <a:spAutoFit/>
          </a:bodyPr>
          <a:lstStyle/>
          <a:p>
            <a:pPr algn="just"/>
            <a:r>
              <a:rPr lang="fr-FR" dirty="0" smtClean="0"/>
              <a:t>C’est au moment du </a:t>
            </a:r>
            <a:r>
              <a:rPr lang="fr-FR" dirty="0" err="1" smtClean="0"/>
              <a:t>Scaling</a:t>
            </a:r>
            <a:r>
              <a:rPr lang="fr-FR" dirty="0" smtClean="0"/>
              <a:t> que la pérennité de votre startup se joue. Vous mettez tout en </a:t>
            </a:r>
            <a:r>
              <a:rPr lang="fr-FR" dirty="0" err="1" smtClean="0"/>
              <a:t>oeuvre</a:t>
            </a:r>
            <a:r>
              <a:rPr lang="fr-FR" dirty="0" smtClean="0"/>
              <a:t> pour accélérer votre croissance</a:t>
            </a:r>
            <a:endParaRPr lang="fr-FR" dirty="0"/>
          </a:p>
        </p:txBody>
      </p:sp>
      <p:sp>
        <p:nvSpPr>
          <p:cNvPr id="7" name="Rectangle 6"/>
          <p:cNvSpPr/>
          <p:nvPr/>
        </p:nvSpPr>
        <p:spPr>
          <a:xfrm>
            <a:off x="1186542" y="4945520"/>
            <a:ext cx="10003971" cy="369332"/>
          </a:xfrm>
          <a:prstGeom prst="rect">
            <a:avLst/>
          </a:prstGeom>
        </p:spPr>
        <p:txBody>
          <a:bodyPr wrap="square">
            <a:spAutoFit/>
          </a:bodyPr>
          <a:lstStyle/>
          <a:p>
            <a:r>
              <a:rPr lang="fr-FR" b="1" dirty="0" smtClean="0">
                <a:solidFill>
                  <a:schemeClr val="accent1">
                    <a:lumMod val="75000"/>
                  </a:schemeClr>
                </a:solidFill>
              </a:rPr>
              <a:t>Cela passe inévitablement par la mise en place d’une stratégie marketing et commerciale innovante</a:t>
            </a:r>
            <a:r>
              <a:rPr lang="fr-FR" dirty="0" smtClean="0"/>
              <a:t>.</a:t>
            </a:r>
            <a:endParaRPr lang="fr-FR" dirty="0"/>
          </a:p>
        </p:txBody>
      </p:sp>
      <p:pic>
        <p:nvPicPr>
          <p:cNvPr id="9" name="Image 8" descr="C:\Users\ma.mejri\Desktop\téléchargement (1).png"/>
          <p:cNvPicPr/>
          <p:nvPr/>
        </p:nvPicPr>
        <p:blipFill>
          <a:blip r:embed="rId2"/>
          <a:srcRect/>
          <a:stretch>
            <a:fillRect/>
          </a:stretch>
        </p:blipFill>
        <p:spPr bwMode="auto">
          <a:xfrm>
            <a:off x="537936" y="557439"/>
            <a:ext cx="1079500" cy="387350"/>
          </a:xfrm>
          <a:prstGeom prst="rect">
            <a:avLst/>
          </a:prstGeom>
          <a:noFill/>
          <a:ln w="9525">
            <a:noFill/>
            <a:miter lim="800000"/>
            <a:headEnd/>
            <a:tailEnd/>
          </a:ln>
        </p:spPr>
      </p:pic>
      <p:sp>
        <p:nvSpPr>
          <p:cNvPr id="10" name="Espace réservé de la date 9"/>
          <p:cNvSpPr>
            <a:spLocks noGrp="1"/>
          </p:cNvSpPr>
          <p:nvPr>
            <p:ph type="dt" sz="half" idx="10"/>
          </p:nvPr>
        </p:nvSpPr>
        <p:spPr/>
        <p:txBody>
          <a:bodyPr/>
          <a:lstStyle/>
          <a:p>
            <a:pPr lvl="0"/>
            <a:fld id="{E853B299-54E1-48E4-87AD-00B542BEAB3B}" type="datetime1">
              <a:rPr lang="en-US" smtClean="0"/>
              <a:pPr lvl="0"/>
              <a:t>11/16/2025</a:t>
            </a:fld>
            <a:endParaRPr lang="en-US"/>
          </a:p>
        </p:txBody>
      </p:sp>
      <p:sp>
        <p:nvSpPr>
          <p:cNvPr id="11" name="Espace réservé du numéro de diapositive 10"/>
          <p:cNvSpPr>
            <a:spLocks noGrp="1"/>
          </p:cNvSpPr>
          <p:nvPr>
            <p:ph type="sldNum" sz="quarter" idx="12"/>
          </p:nvPr>
        </p:nvSpPr>
        <p:spPr/>
        <p:txBody>
          <a:bodyPr/>
          <a:lstStyle/>
          <a:p>
            <a:pPr lvl="0"/>
            <a:fld id="{2390AFF8-1E19-449A-AA82-B5E4E90108F1}" type="slidenum">
              <a:rPr lang="fr-FR" smtClean="0"/>
              <a:pPr lvl="0"/>
              <a:t>178</a:t>
            </a:fld>
            <a:endParaRPr lang="fr-F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73086" y="659563"/>
            <a:ext cx="9187543" cy="646331"/>
          </a:xfrm>
          <a:prstGeom prst="rect">
            <a:avLst/>
          </a:prstGeom>
        </p:spPr>
        <p:txBody>
          <a:bodyPr wrap="square">
            <a:spAutoFit/>
          </a:bodyPr>
          <a:lstStyle/>
          <a:p>
            <a:pPr algn="just"/>
            <a:r>
              <a:rPr lang="fr-FR" dirty="0" smtClean="0"/>
              <a:t>Votre startup croît à la vitesse de la lumière. Il est donc essentiel de recruter et de vous équiper des bons pour faire face à la montée en charge.</a:t>
            </a:r>
            <a:endParaRPr lang="fr-FR" dirty="0"/>
          </a:p>
        </p:txBody>
      </p:sp>
      <p:sp>
        <p:nvSpPr>
          <p:cNvPr id="3" name="Rectangle 2"/>
          <p:cNvSpPr/>
          <p:nvPr/>
        </p:nvSpPr>
        <p:spPr>
          <a:xfrm>
            <a:off x="2416629" y="1370150"/>
            <a:ext cx="9100457" cy="923330"/>
          </a:xfrm>
          <a:prstGeom prst="rect">
            <a:avLst/>
          </a:prstGeom>
        </p:spPr>
        <p:txBody>
          <a:bodyPr wrap="square">
            <a:spAutoFit/>
          </a:bodyPr>
          <a:lstStyle/>
          <a:p>
            <a:pPr algn="just"/>
            <a:r>
              <a:rPr lang="fr-FR" dirty="0" smtClean="0"/>
              <a:t>Le management est un enjeu majeur au moment du </a:t>
            </a:r>
            <a:r>
              <a:rPr lang="fr-FR" dirty="0" err="1" smtClean="0"/>
              <a:t>Scaling</a:t>
            </a:r>
            <a:r>
              <a:rPr lang="fr-FR" dirty="0" smtClean="0"/>
              <a:t>. La majorité de vos employés n’était pas là au moment de la création de votre startup vous devez vous assurer de la bonne gestion.</a:t>
            </a:r>
            <a:endParaRPr lang="fr-FR" dirty="0"/>
          </a:p>
        </p:txBody>
      </p:sp>
      <p:sp>
        <p:nvSpPr>
          <p:cNvPr id="4" name="Rectangle 3"/>
          <p:cNvSpPr/>
          <p:nvPr/>
        </p:nvSpPr>
        <p:spPr>
          <a:xfrm>
            <a:off x="903514" y="2693351"/>
            <a:ext cx="6477000" cy="286232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buFont typeface="Arial" pitchFamily="34" charset="0"/>
              <a:buChar char="•"/>
            </a:pPr>
            <a:r>
              <a:rPr lang="fr-FR" dirty="0" smtClean="0"/>
              <a:t> Identifier de nouveaux marchés ou segments à conquérir ; </a:t>
            </a:r>
          </a:p>
          <a:p>
            <a:pPr algn="just"/>
            <a:endParaRPr lang="fr-FR" dirty="0" smtClean="0"/>
          </a:p>
          <a:p>
            <a:pPr algn="just">
              <a:buFont typeface="Arial" pitchFamily="34" charset="0"/>
              <a:buChar char="•"/>
            </a:pPr>
            <a:r>
              <a:rPr lang="fr-FR" dirty="0" smtClean="0"/>
              <a:t> Mettre en </a:t>
            </a:r>
            <a:r>
              <a:rPr lang="fr-FR" dirty="0" err="1" smtClean="0"/>
              <a:t>oeuvre</a:t>
            </a:r>
            <a:r>
              <a:rPr lang="fr-FR" dirty="0" smtClean="0"/>
              <a:t> une stratégie Marketing pour accélérer votre croissance ;</a:t>
            </a:r>
          </a:p>
          <a:p>
            <a:pPr algn="just"/>
            <a:endParaRPr lang="fr-FR" dirty="0" smtClean="0"/>
          </a:p>
          <a:p>
            <a:pPr algn="just">
              <a:buFont typeface="Arial" pitchFamily="34" charset="0"/>
              <a:buChar char="•"/>
            </a:pPr>
            <a:r>
              <a:rPr lang="fr-FR" dirty="0" smtClean="0"/>
              <a:t> Recruter vite et bien ;</a:t>
            </a:r>
          </a:p>
          <a:p>
            <a:pPr algn="just"/>
            <a:endParaRPr lang="fr-FR" dirty="0" smtClean="0"/>
          </a:p>
          <a:p>
            <a:pPr algn="just">
              <a:buFont typeface="Arial" pitchFamily="34" charset="0"/>
              <a:buChar char="•"/>
            </a:pPr>
            <a:r>
              <a:rPr lang="fr-FR" dirty="0" smtClean="0"/>
              <a:t> Investir dans des outils </a:t>
            </a:r>
            <a:r>
              <a:rPr lang="fr-FR" dirty="0" err="1" smtClean="0"/>
              <a:t>SaaS</a:t>
            </a:r>
            <a:r>
              <a:rPr lang="fr-FR" dirty="0" smtClean="0"/>
              <a:t> pour gagner en performance et en productivité.</a:t>
            </a:r>
          </a:p>
          <a:p>
            <a:pPr algn="just"/>
            <a:r>
              <a:rPr lang="fr-FR" dirty="0" smtClean="0"/>
              <a:t> </a:t>
            </a:r>
            <a:endParaRPr lang="fr-FR" dirty="0"/>
          </a:p>
        </p:txBody>
      </p:sp>
      <p:pic>
        <p:nvPicPr>
          <p:cNvPr id="6" name="Image 5" descr="C:\Users\ma.mejri\Desktop\téléchargement (1).png"/>
          <p:cNvPicPr/>
          <p:nvPr/>
        </p:nvPicPr>
        <p:blipFill>
          <a:blip r:embed="rId2"/>
          <a:srcRect/>
          <a:stretch>
            <a:fillRect/>
          </a:stretch>
        </p:blipFill>
        <p:spPr bwMode="auto">
          <a:xfrm>
            <a:off x="581479" y="666296"/>
            <a:ext cx="1079500" cy="387350"/>
          </a:xfrm>
          <a:prstGeom prst="rect">
            <a:avLst/>
          </a:prstGeom>
          <a:noFill/>
          <a:ln w="9525">
            <a:noFill/>
            <a:miter lim="800000"/>
            <a:headEnd/>
            <a:tailEnd/>
          </a:ln>
        </p:spPr>
      </p:pic>
      <p:sp>
        <p:nvSpPr>
          <p:cNvPr id="7" name="Espace réservé de la date 6"/>
          <p:cNvSpPr>
            <a:spLocks noGrp="1"/>
          </p:cNvSpPr>
          <p:nvPr>
            <p:ph type="dt" sz="half" idx="10"/>
          </p:nvPr>
        </p:nvSpPr>
        <p:spPr/>
        <p:txBody>
          <a:bodyPr/>
          <a:lstStyle/>
          <a:p>
            <a:pPr lvl="0"/>
            <a:fld id="{C7B90B41-8CD7-47A3-B889-5B87717CCCB2}" type="datetime1">
              <a:rPr lang="en-US" smtClean="0"/>
              <a:pPr lvl="0"/>
              <a:t>11/16/2025</a:t>
            </a:fld>
            <a:endParaRPr lang="en-US"/>
          </a:p>
        </p:txBody>
      </p:sp>
      <p:sp>
        <p:nvSpPr>
          <p:cNvPr id="8" name="Espace réservé du numéro de diapositive 7"/>
          <p:cNvSpPr>
            <a:spLocks noGrp="1"/>
          </p:cNvSpPr>
          <p:nvPr>
            <p:ph type="sldNum" sz="quarter" idx="12"/>
          </p:nvPr>
        </p:nvSpPr>
        <p:spPr/>
        <p:txBody>
          <a:bodyPr/>
          <a:lstStyle/>
          <a:p>
            <a:pPr lvl="0"/>
            <a:fld id="{2390AFF8-1E19-449A-AA82-B5E4E90108F1}" type="slidenum">
              <a:rPr lang="fr-FR" smtClean="0"/>
              <a:pPr lvl="0"/>
              <a:t>179</a:t>
            </a:fld>
            <a:endParaRPr lang="fr-F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11928" y="414047"/>
            <a:ext cx="2270558" cy="369332"/>
          </a:xfrm>
          <a:prstGeom prst="rect">
            <a:avLst/>
          </a:prstGeom>
        </p:spPr>
        <p:txBody>
          <a:bodyPr wrap="none">
            <a:spAutoFit/>
          </a:bodyPr>
          <a:lstStyle/>
          <a:p>
            <a:r>
              <a:rPr lang="fr-FR" b="1" dirty="0" smtClean="0">
                <a:solidFill>
                  <a:srgbClr val="C00000"/>
                </a:solidFill>
              </a:rPr>
              <a:t>PHASE 5 : EXPANSION</a:t>
            </a:r>
          </a:p>
        </p:txBody>
      </p:sp>
      <p:sp>
        <p:nvSpPr>
          <p:cNvPr id="3" name="Rectangle 2"/>
          <p:cNvSpPr/>
          <p:nvPr/>
        </p:nvSpPr>
        <p:spPr>
          <a:xfrm>
            <a:off x="2164389" y="795048"/>
            <a:ext cx="4168257" cy="369332"/>
          </a:xfrm>
          <a:prstGeom prst="rect">
            <a:avLst/>
          </a:prstGeom>
        </p:spPr>
        <p:txBody>
          <a:bodyPr wrap="none">
            <a:spAutoFit/>
          </a:bodyPr>
          <a:lstStyle/>
          <a:p>
            <a:r>
              <a:rPr lang="fr-FR" b="1" dirty="0" smtClean="0">
                <a:solidFill>
                  <a:srgbClr val="00B050"/>
                </a:solidFill>
              </a:rPr>
              <a:t>Étape 9 : Développement à l’international</a:t>
            </a:r>
          </a:p>
        </p:txBody>
      </p:sp>
      <p:sp>
        <p:nvSpPr>
          <p:cNvPr id="4" name="Rogner et arrondir un rectangle à un seul coin 3"/>
          <p:cNvSpPr/>
          <p:nvPr/>
        </p:nvSpPr>
        <p:spPr>
          <a:xfrm>
            <a:off x="620486" y="1275193"/>
            <a:ext cx="6629400" cy="1839158"/>
          </a:xfrm>
          <a:prstGeom prst="snipRoundRect">
            <a:avLst/>
          </a:prstGeom>
        </p:spPr>
        <p:style>
          <a:lnRef idx="3">
            <a:schemeClr val="lt1"/>
          </a:lnRef>
          <a:fillRef idx="1">
            <a:schemeClr val="accent1"/>
          </a:fillRef>
          <a:effectRef idx="1">
            <a:schemeClr val="accent1"/>
          </a:effectRef>
          <a:fontRef idx="minor">
            <a:schemeClr val="lt1"/>
          </a:fontRef>
        </p:style>
        <p:txBody>
          <a:bodyPr wrap="square">
            <a:spAutoFit/>
          </a:bodyPr>
          <a:lstStyle/>
          <a:p>
            <a:pPr algn="just"/>
            <a:r>
              <a:rPr lang="fr-FR" b="1" dirty="0" smtClean="0"/>
              <a:t>Vous êtes à la recherche d’une stratégie offensive d’expansion ?</a:t>
            </a:r>
          </a:p>
          <a:p>
            <a:pPr algn="just"/>
            <a:r>
              <a:rPr lang="fr-FR" b="1" dirty="0" smtClean="0"/>
              <a:t>Vos fondations sont solides ?</a:t>
            </a:r>
          </a:p>
          <a:p>
            <a:pPr algn="just"/>
            <a:r>
              <a:rPr lang="fr-FR" b="1" dirty="0" smtClean="0"/>
              <a:t>Votre offre plaît au marché ? </a:t>
            </a:r>
          </a:p>
          <a:p>
            <a:pPr algn="just"/>
            <a:r>
              <a:rPr lang="fr-FR" b="1" dirty="0" smtClean="0"/>
              <a:t>Votre stratégie Marketing a fait ses preuves ?</a:t>
            </a:r>
          </a:p>
          <a:p>
            <a:pPr algn="just"/>
            <a:r>
              <a:rPr lang="fr-FR" b="1" dirty="0" smtClean="0"/>
              <a:t>Alors, vous avez suffisamment de maturité pour partir à la conquête de nouveaux marchés à l’international.</a:t>
            </a:r>
            <a:endParaRPr lang="fr-FR" b="1" dirty="0"/>
          </a:p>
        </p:txBody>
      </p:sp>
      <p:sp>
        <p:nvSpPr>
          <p:cNvPr id="5" name="Carré corné 4"/>
          <p:cNvSpPr/>
          <p:nvPr/>
        </p:nvSpPr>
        <p:spPr>
          <a:xfrm>
            <a:off x="718456" y="3221653"/>
            <a:ext cx="6411685" cy="3562886"/>
          </a:xfrm>
          <a:prstGeom prst="foldedCorner">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just"/>
            <a:r>
              <a:rPr lang="fr-FR" dirty="0" smtClean="0"/>
              <a:t>La stratégie d’internationalisation vise à ouvrir de nouvelles parts de marché à l’international en trouvant des débouchés commerciaux. </a:t>
            </a:r>
          </a:p>
          <a:p>
            <a:pPr algn="just"/>
            <a:endParaRPr lang="fr-FR" sz="800" dirty="0" smtClean="0"/>
          </a:p>
          <a:p>
            <a:pPr algn="just"/>
            <a:r>
              <a:rPr lang="fr-FR" dirty="0" smtClean="0"/>
              <a:t>Intégrer une dimension internationale s’inscrit aujourd’hui directement dans l’ADN d’une startup. </a:t>
            </a:r>
          </a:p>
          <a:p>
            <a:pPr algn="just"/>
            <a:endParaRPr lang="fr-FR" sz="800" dirty="0" smtClean="0"/>
          </a:p>
          <a:p>
            <a:pPr algn="just"/>
            <a:r>
              <a:rPr lang="fr-FR" dirty="0" smtClean="0"/>
              <a:t>C’est un moyen de gagner de nouveaux clients rapidement, d’accélérer la croissance de la startup et de se positionner comme leader.</a:t>
            </a:r>
          </a:p>
          <a:p>
            <a:pPr algn="just"/>
            <a:r>
              <a:rPr lang="fr-FR" sz="1400" b="1" dirty="0" smtClean="0">
                <a:solidFill>
                  <a:srgbClr val="C00000"/>
                </a:solidFill>
              </a:rPr>
              <a:t>ATTENTION! VOUS ALLEZ RENCONTRER DES BARRIÈRES TECHNOLOGIQUE, CULTURELLES ET LÉGISLATIVES</a:t>
            </a:r>
          </a:p>
        </p:txBody>
      </p:sp>
      <p:sp>
        <p:nvSpPr>
          <p:cNvPr id="6" name="Rectangle 5"/>
          <p:cNvSpPr/>
          <p:nvPr/>
        </p:nvSpPr>
        <p:spPr>
          <a:xfrm>
            <a:off x="7707086" y="574825"/>
            <a:ext cx="4114800" cy="587853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just"/>
            <a:r>
              <a:rPr lang="fr-FR" dirty="0" smtClean="0"/>
              <a:t>Pour investir avec succès dans de nouveaux marchés, il est essentiel de suivre quelques instructions à savoir :</a:t>
            </a:r>
          </a:p>
          <a:p>
            <a:pPr algn="just"/>
            <a:endParaRPr lang="fr-FR" sz="800" dirty="0" smtClean="0"/>
          </a:p>
          <a:p>
            <a:pPr algn="just"/>
            <a:r>
              <a:rPr lang="fr-FR" b="1" dirty="0" smtClean="0"/>
              <a:t>Identifier les marchés à fort potentiel. </a:t>
            </a:r>
          </a:p>
          <a:p>
            <a:pPr algn="just"/>
            <a:endParaRPr lang="fr-FR" sz="800" dirty="0" smtClean="0"/>
          </a:p>
          <a:p>
            <a:pPr algn="just">
              <a:buFont typeface="Wingdings" pitchFamily="2" charset="2"/>
              <a:buChar char="v"/>
            </a:pPr>
            <a:r>
              <a:rPr lang="fr-FR" dirty="0" smtClean="0"/>
              <a:t> Ne pas choisir un marché par hasard : Il faut se baser sur des critères mesurables, tangibles qui justifient votre stratégie d’internationalisation tels que la taille du marché, la croissance économique, les habitudes des consommateurs, le taux de pénétration Internet, les méthodes de paiement en ligne, les pratiques en ligne. </a:t>
            </a:r>
          </a:p>
          <a:p>
            <a:pPr algn="just"/>
            <a:endParaRPr lang="fr-FR" sz="800" dirty="0" smtClean="0"/>
          </a:p>
          <a:p>
            <a:pPr algn="just">
              <a:buFont typeface="Wingdings" pitchFamily="2" charset="2"/>
              <a:buChar char="v"/>
            </a:pPr>
            <a:r>
              <a:rPr lang="fr-FR" dirty="0" smtClean="0"/>
              <a:t> Adapter votre offre et votre stratégie marketing aux caractéristiques des nouveaux marchés.</a:t>
            </a:r>
          </a:p>
          <a:p>
            <a:pPr algn="just"/>
            <a:endParaRPr lang="fr-FR" dirty="0" smtClean="0"/>
          </a:p>
          <a:p>
            <a:pPr algn="just"/>
            <a:r>
              <a:rPr lang="fr-FR" dirty="0" smtClean="0"/>
              <a:t>Industrialiser et automatiser votre stratégie Marketing. </a:t>
            </a:r>
          </a:p>
          <a:p>
            <a:pPr algn="just"/>
            <a:r>
              <a:rPr lang="fr-FR" dirty="0" smtClean="0"/>
              <a:t>Renforcer votre équipe commerciale</a:t>
            </a:r>
            <a:endParaRPr lang="fr-FR" dirty="0"/>
          </a:p>
        </p:txBody>
      </p:sp>
      <p:pic>
        <p:nvPicPr>
          <p:cNvPr id="8" name="Image 7" descr="C:\Users\ma.mejri\Desktop\téléchargement (1).png"/>
          <p:cNvPicPr/>
          <p:nvPr/>
        </p:nvPicPr>
        <p:blipFill>
          <a:blip r:embed="rId2"/>
          <a:srcRect/>
          <a:stretch>
            <a:fillRect/>
          </a:stretch>
        </p:blipFill>
        <p:spPr bwMode="auto">
          <a:xfrm>
            <a:off x="527050" y="448581"/>
            <a:ext cx="1079500" cy="387350"/>
          </a:xfrm>
          <a:prstGeom prst="rect">
            <a:avLst/>
          </a:prstGeom>
          <a:noFill/>
          <a:ln w="9525">
            <a:noFill/>
            <a:miter lim="800000"/>
            <a:headEnd/>
            <a:tailEnd/>
          </a:ln>
        </p:spPr>
      </p:pic>
      <p:sp>
        <p:nvSpPr>
          <p:cNvPr id="9" name="Espace réservé de la date 8"/>
          <p:cNvSpPr>
            <a:spLocks noGrp="1"/>
          </p:cNvSpPr>
          <p:nvPr>
            <p:ph type="dt" sz="half" idx="10"/>
          </p:nvPr>
        </p:nvSpPr>
        <p:spPr/>
        <p:txBody>
          <a:bodyPr/>
          <a:lstStyle/>
          <a:p>
            <a:pPr lvl="0"/>
            <a:fld id="{FEFC21DE-03BB-4D25-ACAE-0B27196619F0}" type="datetime1">
              <a:rPr lang="en-US" smtClean="0"/>
              <a:pPr lvl="0"/>
              <a:t>11/16/2025</a:t>
            </a:fld>
            <a:endParaRPr lang="en-US"/>
          </a:p>
        </p:txBody>
      </p:sp>
      <p:sp>
        <p:nvSpPr>
          <p:cNvPr id="10" name="Espace réservé du numéro de diapositive 9"/>
          <p:cNvSpPr>
            <a:spLocks noGrp="1"/>
          </p:cNvSpPr>
          <p:nvPr>
            <p:ph type="sldNum" sz="quarter" idx="12"/>
          </p:nvPr>
        </p:nvSpPr>
        <p:spPr/>
        <p:txBody>
          <a:bodyPr/>
          <a:lstStyle/>
          <a:p>
            <a:pPr lvl="0"/>
            <a:fld id="{2390AFF8-1E19-449A-AA82-B5E4E90108F1}" type="slidenum">
              <a:rPr lang="fr-FR" smtClean="0"/>
              <a:pPr lvl="0"/>
              <a:t>180</a:t>
            </a:fld>
            <a:endParaRPr lang="fr-F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92786" y="577334"/>
            <a:ext cx="2106859" cy="369332"/>
          </a:xfrm>
          <a:prstGeom prst="rect">
            <a:avLst/>
          </a:prstGeom>
        </p:spPr>
        <p:txBody>
          <a:bodyPr wrap="none">
            <a:spAutoFit/>
          </a:bodyPr>
          <a:lstStyle/>
          <a:p>
            <a:r>
              <a:rPr lang="fr-FR" b="1" dirty="0" smtClean="0">
                <a:solidFill>
                  <a:srgbClr val="C00000"/>
                </a:solidFill>
              </a:rPr>
              <a:t>PHASE TRANSVERSE</a:t>
            </a:r>
          </a:p>
        </p:txBody>
      </p:sp>
      <p:sp>
        <p:nvSpPr>
          <p:cNvPr id="3" name="Rectangle 2"/>
          <p:cNvSpPr/>
          <p:nvPr/>
        </p:nvSpPr>
        <p:spPr>
          <a:xfrm>
            <a:off x="4428813" y="3244334"/>
            <a:ext cx="184731" cy="646331"/>
          </a:xfrm>
          <a:prstGeom prst="rect">
            <a:avLst/>
          </a:prstGeom>
        </p:spPr>
        <p:txBody>
          <a:bodyPr wrap="none">
            <a:spAutoFit/>
          </a:bodyPr>
          <a:lstStyle/>
          <a:p>
            <a:endParaRPr lang="fr-FR" dirty="0" smtClean="0"/>
          </a:p>
          <a:p>
            <a:endParaRPr lang="fr-FR" dirty="0"/>
          </a:p>
        </p:txBody>
      </p:sp>
      <p:sp>
        <p:nvSpPr>
          <p:cNvPr id="4" name="Rectangle à coins arrondis 3"/>
          <p:cNvSpPr/>
          <p:nvPr/>
        </p:nvSpPr>
        <p:spPr>
          <a:xfrm>
            <a:off x="1055914" y="1541306"/>
            <a:ext cx="6096000" cy="1940957"/>
          </a:xfrm>
          <a:prstGeom prst="roundRect">
            <a:avLst/>
          </a:prstGeom>
        </p:spPr>
        <p:style>
          <a:lnRef idx="3">
            <a:schemeClr val="lt1"/>
          </a:lnRef>
          <a:fillRef idx="1">
            <a:schemeClr val="accent1"/>
          </a:fillRef>
          <a:effectRef idx="1">
            <a:schemeClr val="accent1"/>
          </a:effectRef>
          <a:fontRef idx="minor">
            <a:schemeClr val="lt1"/>
          </a:fontRef>
        </p:style>
        <p:txBody>
          <a:bodyPr>
            <a:spAutoFit/>
          </a:bodyPr>
          <a:lstStyle/>
          <a:p>
            <a:r>
              <a:rPr lang="fr-FR" b="1" dirty="0" smtClean="0"/>
              <a:t>Qu’est ce qu’une levée de fonds ?</a:t>
            </a:r>
          </a:p>
          <a:p>
            <a:endParaRPr lang="fr-FR" dirty="0" smtClean="0"/>
          </a:p>
          <a:p>
            <a:pPr algn="just"/>
            <a:r>
              <a:rPr lang="fr-FR" dirty="0" smtClean="0"/>
              <a:t>La levée de fonds est le mode de financement que la plupart des startups adoptent. La levée de fonds consiste à avoir recours à un financement extérieur (généralement en capital).</a:t>
            </a:r>
            <a:endParaRPr lang="fr-FR" dirty="0"/>
          </a:p>
        </p:txBody>
      </p:sp>
      <p:sp>
        <p:nvSpPr>
          <p:cNvPr id="5" name="Rectangle 4"/>
          <p:cNvSpPr/>
          <p:nvPr/>
        </p:nvSpPr>
        <p:spPr>
          <a:xfrm>
            <a:off x="1382828" y="3766849"/>
            <a:ext cx="6639638" cy="400110"/>
          </a:xfrm>
          <a:prstGeom prst="rect">
            <a:avLst/>
          </a:prstGeom>
        </p:spPr>
        <p:txBody>
          <a:bodyPr wrap="none">
            <a:spAutoFit/>
          </a:bodyPr>
          <a:lstStyle/>
          <a:p>
            <a:r>
              <a:rPr lang="fr-FR" sz="2000" b="1" dirty="0" smtClean="0">
                <a:solidFill>
                  <a:schemeClr val="tx2">
                    <a:lumMod val="75000"/>
                  </a:schemeClr>
                </a:solidFill>
              </a:rPr>
              <a:t>Les étapes clés à respecter pour une levée de fonds efficace :</a:t>
            </a:r>
            <a:endParaRPr lang="fr-FR" sz="2000" b="1" dirty="0">
              <a:solidFill>
                <a:schemeClr val="tx2">
                  <a:lumMod val="75000"/>
                </a:schemeClr>
              </a:solidFill>
            </a:endParaRPr>
          </a:p>
        </p:txBody>
      </p:sp>
      <p:sp>
        <p:nvSpPr>
          <p:cNvPr id="6" name="Étiquette 5"/>
          <p:cNvSpPr/>
          <p:nvPr/>
        </p:nvSpPr>
        <p:spPr>
          <a:xfrm>
            <a:off x="1012738" y="4659477"/>
            <a:ext cx="1697806" cy="1200150"/>
          </a:xfrm>
          <a:prstGeom prst="plaque">
            <a:avLst/>
          </a:prstGeom>
        </p:spPr>
        <p:style>
          <a:lnRef idx="3">
            <a:schemeClr val="lt1"/>
          </a:lnRef>
          <a:fillRef idx="1">
            <a:schemeClr val="accent6"/>
          </a:fillRef>
          <a:effectRef idx="1">
            <a:schemeClr val="accent6"/>
          </a:effectRef>
          <a:fontRef idx="minor">
            <a:schemeClr val="lt1"/>
          </a:fontRef>
        </p:style>
        <p:txBody>
          <a:bodyPr wrap="square">
            <a:spAutoFit/>
          </a:bodyPr>
          <a:lstStyle/>
          <a:p>
            <a:pPr algn="ctr"/>
            <a:r>
              <a:rPr lang="fr-FR" b="1" dirty="0" smtClean="0"/>
              <a:t>Établir la liste des investisseurs </a:t>
            </a:r>
            <a:endParaRPr lang="fr-FR" b="1" dirty="0"/>
          </a:p>
        </p:txBody>
      </p:sp>
      <p:sp>
        <p:nvSpPr>
          <p:cNvPr id="7" name="Étiquette 6"/>
          <p:cNvSpPr/>
          <p:nvPr/>
        </p:nvSpPr>
        <p:spPr>
          <a:xfrm>
            <a:off x="2950739" y="4605048"/>
            <a:ext cx="1348396" cy="1200150"/>
          </a:xfrm>
          <a:prstGeom prst="plaque">
            <a:avLst/>
          </a:prstGeom>
        </p:spPr>
        <p:style>
          <a:lnRef idx="3">
            <a:schemeClr val="lt1"/>
          </a:lnRef>
          <a:fillRef idx="1">
            <a:schemeClr val="accent6"/>
          </a:fillRef>
          <a:effectRef idx="1">
            <a:schemeClr val="accent6"/>
          </a:effectRef>
          <a:fontRef idx="minor">
            <a:schemeClr val="lt1"/>
          </a:fontRef>
        </p:style>
        <p:txBody>
          <a:bodyPr wrap="none">
            <a:spAutoFit/>
          </a:bodyPr>
          <a:lstStyle/>
          <a:p>
            <a:pPr algn="ctr"/>
            <a:r>
              <a:rPr lang="fr-FR" b="1" dirty="0" smtClean="0"/>
              <a:t>Préparer </a:t>
            </a:r>
          </a:p>
          <a:p>
            <a:pPr algn="ctr"/>
            <a:r>
              <a:rPr lang="fr-FR" b="1" dirty="0" smtClean="0"/>
              <a:t>un</a:t>
            </a:r>
          </a:p>
          <a:p>
            <a:pPr algn="ctr"/>
            <a:r>
              <a:rPr lang="fr-FR" b="1" dirty="0" smtClean="0"/>
              <a:t> teaser</a:t>
            </a:r>
            <a:endParaRPr lang="fr-FR" b="1" dirty="0"/>
          </a:p>
        </p:txBody>
      </p:sp>
      <p:sp>
        <p:nvSpPr>
          <p:cNvPr id="8" name="Étiquette 7"/>
          <p:cNvSpPr/>
          <p:nvPr/>
        </p:nvSpPr>
        <p:spPr>
          <a:xfrm>
            <a:off x="4530924" y="4550619"/>
            <a:ext cx="2304177" cy="1200150"/>
          </a:xfrm>
          <a:prstGeom prst="plaque">
            <a:avLst/>
          </a:prstGeom>
        </p:spPr>
        <p:style>
          <a:lnRef idx="3">
            <a:schemeClr val="lt1"/>
          </a:lnRef>
          <a:fillRef idx="1">
            <a:schemeClr val="accent6"/>
          </a:fillRef>
          <a:effectRef idx="1">
            <a:schemeClr val="accent6"/>
          </a:effectRef>
          <a:fontRef idx="minor">
            <a:schemeClr val="lt1"/>
          </a:fontRef>
        </p:style>
        <p:txBody>
          <a:bodyPr wrap="none">
            <a:spAutoFit/>
          </a:bodyPr>
          <a:lstStyle/>
          <a:p>
            <a:pPr algn="ctr"/>
            <a:r>
              <a:rPr lang="fr-FR" b="1" dirty="0" smtClean="0"/>
              <a:t>Préparer le dossier </a:t>
            </a:r>
          </a:p>
          <a:p>
            <a:pPr algn="ctr"/>
            <a:r>
              <a:rPr lang="fr-FR" b="1" dirty="0" smtClean="0"/>
              <a:t>de la demande </a:t>
            </a:r>
          </a:p>
          <a:p>
            <a:pPr algn="ctr"/>
            <a:r>
              <a:rPr lang="fr-FR" b="1" dirty="0" smtClean="0"/>
              <a:t>de financement </a:t>
            </a:r>
            <a:endParaRPr lang="fr-FR" b="1" dirty="0"/>
          </a:p>
        </p:txBody>
      </p:sp>
      <p:sp>
        <p:nvSpPr>
          <p:cNvPr id="9" name="Étiquette 8"/>
          <p:cNvSpPr/>
          <p:nvPr/>
        </p:nvSpPr>
        <p:spPr>
          <a:xfrm>
            <a:off x="6964322" y="4594162"/>
            <a:ext cx="1927105" cy="1200150"/>
          </a:xfrm>
          <a:prstGeom prst="plaque">
            <a:avLst/>
          </a:prstGeom>
        </p:spPr>
        <p:style>
          <a:lnRef idx="3">
            <a:schemeClr val="lt1"/>
          </a:lnRef>
          <a:fillRef idx="1">
            <a:schemeClr val="accent6"/>
          </a:fillRef>
          <a:effectRef idx="1">
            <a:schemeClr val="accent6"/>
          </a:effectRef>
          <a:fontRef idx="minor">
            <a:schemeClr val="lt1"/>
          </a:fontRef>
        </p:style>
        <p:txBody>
          <a:bodyPr wrap="none">
            <a:spAutoFit/>
          </a:bodyPr>
          <a:lstStyle/>
          <a:p>
            <a:pPr algn="ctr"/>
            <a:r>
              <a:rPr lang="fr-FR" b="1" dirty="0" smtClean="0"/>
              <a:t>Déposer </a:t>
            </a:r>
          </a:p>
          <a:p>
            <a:pPr algn="ctr"/>
            <a:r>
              <a:rPr lang="fr-FR" b="1" dirty="0" smtClean="0"/>
              <a:t>la demande </a:t>
            </a:r>
          </a:p>
          <a:p>
            <a:pPr algn="ctr"/>
            <a:r>
              <a:rPr lang="fr-FR" b="1" dirty="0" smtClean="0"/>
              <a:t>de financement</a:t>
            </a:r>
            <a:endParaRPr lang="fr-FR" b="1" dirty="0"/>
          </a:p>
        </p:txBody>
      </p:sp>
      <p:sp>
        <p:nvSpPr>
          <p:cNvPr id="10" name="Étiquette 9"/>
          <p:cNvSpPr/>
          <p:nvPr/>
        </p:nvSpPr>
        <p:spPr>
          <a:xfrm>
            <a:off x="9185985" y="4572392"/>
            <a:ext cx="1866752" cy="1200150"/>
          </a:xfrm>
          <a:prstGeom prst="plaque">
            <a:avLst/>
          </a:prstGeom>
        </p:spPr>
        <p:style>
          <a:lnRef idx="3">
            <a:schemeClr val="lt1"/>
          </a:lnRef>
          <a:fillRef idx="1">
            <a:schemeClr val="accent6"/>
          </a:fillRef>
          <a:effectRef idx="1">
            <a:schemeClr val="accent6"/>
          </a:effectRef>
          <a:fontRef idx="minor">
            <a:schemeClr val="lt1"/>
          </a:fontRef>
        </p:style>
        <p:txBody>
          <a:bodyPr wrap="none">
            <a:spAutoFit/>
          </a:bodyPr>
          <a:lstStyle/>
          <a:p>
            <a:pPr algn="ctr"/>
            <a:r>
              <a:rPr lang="fr-FR" b="1" dirty="0" smtClean="0"/>
              <a:t>Première prise </a:t>
            </a:r>
          </a:p>
          <a:p>
            <a:pPr algn="ctr"/>
            <a:r>
              <a:rPr lang="fr-FR" b="1" dirty="0" smtClean="0"/>
              <a:t>de</a:t>
            </a:r>
          </a:p>
          <a:p>
            <a:pPr algn="ctr"/>
            <a:r>
              <a:rPr lang="fr-FR" b="1" dirty="0" smtClean="0"/>
              <a:t> contact</a:t>
            </a:r>
            <a:endParaRPr lang="fr-FR" b="1" dirty="0"/>
          </a:p>
        </p:txBody>
      </p:sp>
      <p:pic>
        <p:nvPicPr>
          <p:cNvPr id="12" name="Image 11" descr="C:\Users\ma.mejri\Desktop\téléchargement (1).png"/>
          <p:cNvPicPr/>
          <p:nvPr/>
        </p:nvPicPr>
        <p:blipFill>
          <a:blip r:embed="rId2"/>
          <a:srcRect/>
          <a:stretch>
            <a:fillRect/>
          </a:stretch>
        </p:blipFill>
        <p:spPr bwMode="auto">
          <a:xfrm>
            <a:off x="374650" y="492125"/>
            <a:ext cx="1079500" cy="387350"/>
          </a:xfrm>
          <a:prstGeom prst="rect">
            <a:avLst/>
          </a:prstGeom>
          <a:noFill/>
          <a:ln w="9525">
            <a:noFill/>
            <a:miter lim="800000"/>
            <a:headEnd/>
            <a:tailEnd/>
          </a:ln>
        </p:spPr>
      </p:pic>
      <p:sp>
        <p:nvSpPr>
          <p:cNvPr id="13" name="Espace réservé de la date 12"/>
          <p:cNvSpPr>
            <a:spLocks noGrp="1"/>
          </p:cNvSpPr>
          <p:nvPr>
            <p:ph type="dt" sz="half" idx="10"/>
          </p:nvPr>
        </p:nvSpPr>
        <p:spPr/>
        <p:txBody>
          <a:bodyPr/>
          <a:lstStyle/>
          <a:p>
            <a:pPr lvl="0"/>
            <a:fld id="{40557C42-F6CF-4149-8EC0-924CBE4FD003}" type="datetime1">
              <a:rPr lang="en-US" smtClean="0"/>
              <a:pPr lvl="0"/>
              <a:t>11/16/2025</a:t>
            </a:fld>
            <a:endParaRPr lang="en-US"/>
          </a:p>
        </p:txBody>
      </p:sp>
      <p:sp>
        <p:nvSpPr>
          <p:cNvPr id="14" name="Espace réservé du numéro de diapositive 13"/>
          <p:cNvSpPr>
            <a:spLocks noGrp="1"/>
          </p:cNvSpPr>
          <p:nvPr>
            <p:ph type="sldNum" sz="quarter" idx="12"/>
          </p:nvPr>
        </p:nvSpPr>
        <p:spPr/>
        <p:txBody>
          <a:bodyPr/>
          <a:lstStyle/>
          <a:p>
            <a:pPr lvl="0"/>
            <a:fld id="{2390AFF8-1E19-449A-AA82-B5E4E90108F1}" type="slidenum">
              <a:rPr lang="fr-FR" smtClean="0"/>
              <a:pPr lvl="0"/>
              <a:t>181</a:t>
            </a:fld>
            <a:endParaRPr lang="fr-F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16951" y="860362"/>
            <a:ext cx="1987852" cy="369332"/>
          </a:xfrm>
          <a:prstGeom prst="rect">
            <a:avLst/>
          </a:prstGeom>
        </p:spPr>
        <p:txBody>
          <a:bodyPr wrap="none">
            <a:spAutoFit/>
          </a:bodyPr>
          <a:lstStyle/>
          <a:p>
            <a:r>
              <a:rPr lang="fr-FR" b="1" dirty="0" smtClean="0">
                <a:solidFill>
                  <a:srgbClr val="C00000"/>
                </a:solidFill>
              </a:rPr>
              <a:t>LE LABEL STARTUP </a:t>
            </a:r>
            <a:endParaRPr lang="fr-FR" b="1" dirty="0">
              <a:solidFill>
                <a:srgbClr val="C00000"/>
              </a:solidFill>
            </a:endParaRPr>
          </a:p>
        </p:txBody>
      </p:sp>
      <p:sp>
        <p:nvSpPr>
          <p:cNvPr id="3" name="Rectangle 2"/>
          <p:cNvSpPr/>
          <p:nvPr/>
        </p:nvSpPr>
        <p:spPr>
          <a:xfrm>
            <a:off x="1632857" y="1209880"/>
            <a:ext cx="9949543" cy="923330"/>
          </a:xfrm>
          <a:prstGeom prst="rect">
            <a:avLst/>
          </a:prstGeom>
        </p:spPr>
        <p:txBody>
          <a:bodyPr wrap="square">
            <a:spAutoFit/>
          </a:bodyPr>
          <a:lstStyle/>
          <a:p>
            <a:pPr algn="just"/>
            <a:r>
              <a:rPr lang="fr-FR" dirty="0" smtClean="0"/>
              <a:t>L’octroi du label Startup est soumis à certaines conditions énumérées ci dessous. Le label ne peut donc être octroyé qu’en phase de développement, de croissance ou de développement à l’international tout en respectant les conditions de </a:t>
            </a:r>
            <a:r>
              <a:rPr lang="fr-FR" dirty="0" err="1" smtClean="0"/>
              <a:t>labelisation</a:t>
            </a:r>
            <a:r>
              <a:rPr lang="fr-FR" dirty="0" smtClean="0"/>
              <a:t> ainsi que la durée de sa validité.</a:t>
            </a:r>
            <a:endParaRPr lang="fr-FR" dirty="0"/>
          </a:p>
        </p:txBody>
      </p:sp>
      <p:sp>
        <p:nvSpPr>
          <p:cNvPr id="4" name="Rectangle 3"/>
          <p:cNvSpPr/>
          <p:nvPr/>
        </p:nvSpPr>
        <p:spPr>
          <a:xfrm>
            <a:off x="3498053" y="2166649"/>
            <a:ext cx="4892493" cy="369332"/>
          </a:xfrm>
          <a:prstGeom prst="rect">
            <a:avLst/>
          </a:prstGeom>
        </p:spPr>
        <p:txBody>
          <a:bodyPr wrap="none">
            <a:spAutoFit/>
          </a:bodyPr>
          <a:lstStyle/>
          <a:p>
            <a:r>
              <a:rPr lang="fr-FR" b="1" dirty="0" smtClean="0">
                <a:solidFill>
                  <a:schemeClr val="tx2">
                    <a:lumMod val="75000"/>
                  </a:schemeClr>
                </a:solidFill>
              </a:rPr>
              <a:t>5 critères à satisfaire pour obtenir le label startup</a:t>
            </a:r>
            <a:endParaRPr lang="fr-FR" b="1" dirty="0">
              <a:solidFill>
                <a:schemeClr val="tx2">
                  <a:lumMod val="75000"/>
                </a:schemeClr>
              </a:solidFill>
            </a:endParaRPr>
          </a:p>
        </p:txBody>
      </p:sp>
      <p:sp>
        <p:nvSpPr>
          <p:cNvPr id="6" name="Rogner un rectangle à un seul coin 5"/>
          <p:cNvSpPr/>
          <p:nvPr/>
        </p:nvSpPr>
        <p:spPr>
          <a:xfrm>
            <a:off x="936172" y="2681292"/>
            <a:ext cx="1741713" cy="1890058"/>
          </a:xfrm>
          <a:prstGeom prst="snip1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b="1" dirty="0" smtClean="0">
                <a:solidFill>
                  <a:schemeClr val="accent1">
                    <a:lumMod val="75000"/>
                  </a:schemeClr>
                </a:solidFill>
              </a:rPr>
              <a:t>L’âge</a:t>
            </a:r>
            <a:r>
              <a:rPr lang="fr-FR" dirty="0" smtClean="0"/>
              <a:t> de la société ne doit pas dépasser 8 ans depuis sa constitution juridique.</a:t>
            </a:r>
            <a:endParaRPr lang="fr-FR" dirty="0"/>
          </a:p>
        </p:txBody>
      </p:sp>
      <p:sp>
        <p:nvSpPr>
          <p:cNvPr id="7" name="Rogner un rectangle à un seul coin 6"/>
          <p:cNvSpPr/>
          <p:nvPr/>
        </p:nvSpPr>
        <p:spPr>
          <a:xfrm>
            <a:off x="2830286" y="2651649"/>
            <a:ext cx="2275113" cy="2760345"/>
          </a:xfrm>
          <a:prstGeom prst="snip1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b="1" dirty="0" smtClean="0">
                <a:solidFill>
                  <a:schemeClr val="accent1">
                    <a:lumMod val="75000"/>
                  </a:schemeClr>
                </a:solidFill>
              </a:rPr>
              <a:t>La Taille </a:t>
            </a:r>
            <a:r>
              <a:rPr lang="fr-FR" dirty="0" smtClean="0"/>
              <a:t>: Le nombre d’employés de la société ne doit pas dépasser 100 Le total bilan ou de chiffre d’affaires annuel doit être inférieur à 15 millions de dinars.</a:t>
            </a:r>
            <a:endParaRPr lang="fr-FR" dirty="0"/>
          </a:p>
        </p:txBody>
      </p:sp>
      <p:sp>
        <p:nvSpPr>
          <p:cNvPr id="8" name="Rogner un rectangle à un seul coin 7"/>
          <p:cNvSpPr/>
          <p:nvPr/>
        </p:nvSpPr>
        <p:spPr>
          <a:xfrm>
            <a:off x="5421085" y="2679450"/>
            <a:ext cx="2764971" cy="3614559"/>
          </a:xfrm>
          <a:prstGeom prst="snip1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b="1" dirty="0" smtClean="0">
                <a:solidFill>
                  <a:schemeClr val="accent1">
                    <a:lumMod val="75000"/>
                  </a:schemeClr>
                </a:solidFill>
              </a:rPr>
              <a:t>Scalabilité </a:t>
            </a:r>
            <a:r>
              <a:rPr lang="fr-FR" dirty="0" smtClean="0"/>
              <a:t>: Le marché cible de la société doit être grand et homogène, la solution apportée doit être adaptée au marché (solution </a:t>
            </a:r>
            <a:r>
              <a:rPr lang="fr-FR" dirty="0" err="1" smtClean="0"/>
              <a:t>market</a:t>
            </a:r>
            <a:r>
              <a:rPr lang="fr-FR" dirty="0" smtClean="0"/>
              <a:t> fit), le produit doit présenter un minimum d’avancement (Proof of concept) et l’équipe en charge doit être capable d’implémenter le projet.</a:t>
            </a:r>
            <a:endParaRPr lang="fr-FR" dirty="0"/>
          </a:p>
        </p:txBody>
      </p:sp>
      <p:sp>
        <p:nvSpPr>
          <p:cNvPr id="9" name="Rogner un rectangle à un seul coin 8"/>
          <p:cNvSpPr/>
          <p:nvPr/>
        </p:nvSpPr>
        <p:spPr>
          <a:xfrm>
            <a:off x="8501742" y="2662534"/>
            <a:ext cx="3309257" cy="1907024"/>
          </a:xfrm>
          <a:prstGeom prst="snip1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b="1" dirty="0" smtClean="0">
                <a:solidFill>
                  <a:schemeClr val="accent1">
                    <a:lumMod val="75000"/>
                  </a:schemeClr>
                </a:solidFill>
              </a:rPr>
              <a:t>Indépendance </a:t>
            </a:r>
            <a:r>
              <a:rPr lang="fr-FR" dirty="0" smtClean="0"/>
              <a:t>: Le capital de la société doit être détenu à plus de 2/3 par des personnes physiques, des organismes d’investissement réglementés ou des Startups étrangères.</a:t>
            </a:r>
            <a:endParaRPr lang="fr-FR" dirty="0"/>
          </a:p>
        </p:txBody>
      </p:sp>
      <p:sp>
        <p:nvSpPr>
          <p:cNvPr id="10" name="Rogner un rectangle à un seul coin 9"/>
          <p:cNvSpPr/>
          <p:nvPr/>
        </p:nvSpPr>
        <p:spPr>
          <a:xfrm>
            <a:off x="8458201" y="4796135"/>
            <a:ext cx="3320142" cy="1907024"/>
          </a:xfrm>
          <a:prstGeom prst="snip1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b="1" dirty="0" smtClean="0">
                <a:solidFill>
                  <a:schemeClr val="accent1">
                    <a:lumMod val="75000"/>
                  </a:schemeClr>
                </a:solidFill>
              </a:rPr>
              <a:t>Innovation</a:t>
            </a:r>
            <a:r>
              <a:rPr lang="fr-FR" dirty="0" smtClean="0"/>
              <a:t> : Le modèle économique de la société doit être innovant apportant une solution intéressante et différenciée à un problème donné.</a:t>
            </a:r>
            <a:endParaRPr lang="fr-FR" dirty="0"/>
          </a:p>
        </p:txBody>
      </p:sp>
      <p:sp>
        <p:nvSpPr>
          <p:cNvPr id="11" name="Rectangle 10"/>
          <p:cNvSpPr/>
          <p:nvPr/>
        </p:nvSpPr>
        <p:spPr>
          <a:xfrm>
            <a:off x="761999" y="5645221"/>
            <a:ext cx="4452257" cy="738664"/>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r>
              <a:rPr lang="fr-FR" sz="1400" b="1" dirty="0" smtClean="0"/>
              <a:t>LA VALIDITÉ DU LABEL STARTUP NE PEUT PAS DÉPASSER HUIT (8) ANS À COMPTER DE LA DATE DE CONSTITUTION DE LA SOCIÉTÉ</a:t>
            </a:r>
            <a:r>
              <a:rPr lang="fr-FR" sz="1400" dirty="0" smtClean="0"/>
              <a:t>.</a:t>
            </a:r>
            <a:endParaRPr lang="fr-FR" sz="1400" dirty="0"/>
          </a:p>
        </p:txBody>
      </p:sp>
      <p:pic>
        <p:nvPicPr>
          <p:cNvPr id="13" name="Image 12" descr="C:\Users\ma.mejri\Desktop\téléchargement (1).png"/>
          <p:cNvPicPr/>
          <p:nvPr/>
        </p:nvPicPr>
        <p:blipFill>
          <a:blip r:embed="rId2"/>
          <a:srcRect/>
          <a:stretch>
            <a:fillRect/>
          </a:stretch>
        </p:blipFill>
        <p:spPr bwMode="auto">
          <a:xfrm>
            <a:off x="548822" y="415925"/>
            <a:ext cx="1079500" cy="387350"/>
          </a:xfrm>
          <a:prstGeom prst="rect">
            <a:avLst/>
          </a:prstGeom>
          <a:noFill/>
          <a:ln w="9525">
            <a:noFill/>
            <a:miter lim="800000"/>
            <a:headEnd/>
            <a:tailEnd/>
          </a:ln>
        </p:spPr>
      </p:pic>
      <p:sp>
        <p:nvSpPr>
          <p:cNvPr id="12" name="Espace réservé de la date 11"/>
          <p:cNvSpPr>
            <a:spLocks noGrp="1"/>
          </p:cNvSpPr>
          <p:nvPr>
            <p:ph type="dt" sz="half" idx="10"/>
          </p:nvPr>
        </p:nvSpPr>
        <p:spPr/>
        <p:txBody>
          <a:bodyPr/>
          <a:lstStyle/>
          <a:p>
            <a:pPr lvl="0"/>
            <a:fld id="{7415F4C9-23CC-4969-B4F3-DD22A2257ED9}" type="datetime1">
              <a:rPr lang="en-US" smtClean="0"/>
              <a:pPr lvl="0"/>
              <a:t>11/16/2025</a:t>
            </a:fld>
            <a:endParaRPr lang="en-US"/>
          </a:p>
        </p:txBody>
      </p:sp>
      <p:sp>
        <p:nvSpPr>
          <p:cNvPr id="14" name="Espace réservé du numéro de diapositive 13"/>
          <p:cNvSpPr>
            <a:spLocks noGrp="1"/>
          </p:cNvSpPr>
          <p:nvPr>
            <p:ph type="sldNum" sz="quarter" idx="12"/>
          </p:nvPr>
        </p:nvSpPr>
        <p:spPr/>
        <p:txBody>
          <a:bodyPr/>
          <a:lstStyle/>
          <a:p>
            <a:pPr lvl="0"/>
            <a:fld id="{2390AFF8-1E19-449A-AA82-B5E4E90108F1}" type="slidenum">
              <a:rPr lang="fr-FR" smtClean="0"/>
              <a:pPr lvl="0"/>
              <a:t>182</a:t>
            </a:fld>
            <a:endParaRPr lang="fr-F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Parallélogramme 2"/>
          <p:cNvSpPr/>
          <p:nvPr/>
        </p:nvSpPr>
        <p:spPr>
          <a:xfrm>
            <a:off x="694063" y="2305759"/>
            <a:ext cx="11127036" cy="1605201"/>
          </a:xfrm>
          <a:prstGeom prst="parallelogram">
            <a:avLst/>
          </a:prstGeom>
        </p:spPr>
        <p:style>
          <a:lnRef idx="3">
            <a:schemeClr val="lt1"/>
          </a:lnRef>
          <a:fillRef idx="1">
            <a:schemeClr val="accent3"/>
          </a:fillRef>
          <a:effectRef idx="1">
            <a:schemeClr val="accent3"/>
          </a:effectRef>
          <a:fontRef idx="minor">
            <a:schemeClr val="lt1"/>
          </a:fontRef>
        </p:style>
        <p:txBody>
          <a:bodyPr wrap="square">
            <a:spAutoFit/>
          </a:bodyPr>
          <a:lstStyle/>
          <a:p>
            <a:pPr algn="just"/>
            <a:endParaRPr lang="fr-FR" dirty="0" smtClean="0">
              <a:latin typeface="Arial" pitchFamily="34" charset="0"/>
              <a:ea typeface="Times New Roman" pitchFamily="18" charset="0"/>
              <a:cs typeface="Arial" pitchFamily="34" charset="0"/>
            </a:endParaRPr>
          </a:p>
          <a:p>
            <a:pPr algn="ctr"/>
            <a:r>
              <a:rPr lang="fr-FR" sz="2400" b="1" dirty="0" smtClean="0">
                <a:solidFill>
                  <a:schemeClr val="dk1"/>
                </a:solidFill>
                <a:latin typeface="Arial" pitchFamily="34" charset="0"/>
                <a:ea typeface="Times New Roman" pitchFamily="18" charset="0"/>
                <a:cs typeface="Arial" pitchFamily="34" charset="0"/>
              </a:rPr>
              <a:t>CHAPITRE III : MANAGEMENT DE L’ENTREPRISE</a:t>
            </a:r>
          </a:p>
          <a:p>
            <a:pPr marL="342900" indent="-342900" algn="just">
              <a:buAutoNum type="arabicPeriod"/>
            </a:pPr>
            <a:endParaRPr lang="fr-FR" dirty="0" smtClean="0">
              <a:latin typeface="Arial" pitchFamily="34" charset="0"/>
              <a:ea typeface="Times New Roman" pitchFamily="18" charset="0"/>
              <a:cs typeface="Arial" pitchFamily="34" charset="0"/>
            </a:endParaRPr>
          </a:p>
          <a:p>
            <a:pPr marL="342900" indent="-342900" algn="just">
              <a:buAutoNum type="arabicPeriod"/>
            </a:pPr>
            <a:endParaRPr lang="fr-FR" dirty="0" smtClean="0">
              <a:solidFill>
                <a:schemeClr val="dk1"/>
              </a:solidFill>
              <a:latin typeface="Arial" pitchFamily="34" charset="0"/>
              <a:ea typeface="Times New Roman" pitchFamily="18" charset="0"/>
              <a:cs typeface="Arial" pitchFamily="34" charset="0"/>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4" name="Rectangle 3"/>
          <p:cNvSpPr/>
          <p:nvPr/>
        </p:nvSpPr>
        <p:spPr>
          <a:xfrm>
            <a:off x="1309654" y="1000108"/>
            <a:ext cx="4286280" cy="369332"/>
          </a:xfrm>
          <a:prstGeom prst="rect">
            <a:avLst/>
          </a:prstGeom>
        </p:spPr>
        <p:txBody>
          <a:bodyPr wrap="square">
            <a:spAutoFit/>
          </a:bodyPr>
          <a:lstStyle/>
          <a:p>
            <a:r>
              <a:rPr lang="fr-FR" b="1" dirty="0" smtClean="0">
                <a:solidFill>
                  <a:srgbClr val="C00000"/>
                </a:solidFill>
              </a:rPr>
              <a:t>I- LE MANAGEMENT : </a:t>
            </a:r>
            <a:r>
              <a:rPr lang="fr-FR" b="1" dirty="0" smtClean="0">
                <a:solidFill>
                  <a:srgbClr val="C00000"/>
                </a:solidFill>
              </a:rPr>
              <a:t>Définition</a:t>
            </a:r>
            <a:endParaRPr lang="fr-FR" b="1" dirty="0">
              <a:solidFill>
                <a:srgbClr val="C00000"/>
              </a:solidFill>
            </a:endParaRPr>
          </a:p>
        </p:txBody>
      </p:sp>
      <p:sp>
        <p:nvSpPr>
          <p:cNvPr id="6" name="Rectangle 5"/>
          <p:cNvSpPr/>
          <p:nvPr/>
        </p:nvSpPr>
        <p:spPr>
          <a:xfrm>
            <a:off x="952464" y="1500174"/>
            <a:ext cx="10429948" cy="421653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dirty="0" smtClean="0">
                <a:solidFill>
                  <a:schemeClr val="dk1"/>
                </a:solidFill>
                <a:latin typeface="Arial" pitchFamily="34" charset="0"/>
                <a:ea typeface="Times New Roman" pitchFamily="18" charset="0"/>
                <a:cs typeface="Arial" pitchFamily="34" charset="0"/>
              </a:rPr>
              <a:t>Le management est un processus systématique et dynamique qui consiste à planifier, organiser, diriger et contrôler les ressources humaines, financières, matérielles et informationnelles d’une organisation dans le but d’atteindre des objectifs définis de manière efficace et efficiente. Il englobe une variété de pratiques et de compétences qui permettent de coordonner les efforts des individus au sein d’une équipe, tout en tenant compte des interactions et des dynamiques humaines qui influencent la performance et le bien-être au travail.</a:t>
            </a:r>
          </a:p>
          <a:p>
            <a:pPr algn="just"/>
            <a:endParaRPr lang="fr-FR" sz="2000" dirty="0" smtClean="0">
              <a:solidFill>
                <a:schemeClr val="dk1"/>
              </a:solidFill>
              <a:latin typeface="Arial" pitchFamily="34" charset="0"/>
              <a:ea typeface="Times New Roman" pitchFamily="18" charset="0"/>
              <a:cs typeface="Arial" pitchFamily="34" charset="0"/>
            </a:endParaRPr>
          </a:p>
          <a:p>
            <a:pPr algn="just"/>
            <a:r>
              <a:rPr lang="fr-FR" sz="2000" b="1" dirty="0" smtClean="0">
                <a:solidFill>
                  <a:schemeClr val="accent3">
                    <a:lumMod val="75000"/>
                  </a:schemeClr>
                </a:solidFill>
                <a:latin typeface="Arial" pitchFamily="34" charset="0"/>
                <a:ea typeface="Times New Roman" pitchFamily="18" charset="0"/>
                <a:cs typeface="Arial" pitchFamily="34" charset="0"/>
              </a:rPr>
              <a:t>Les composantes essentielles du management :</a:t>
            </a:r>
          </a:p>
          <a:p>
            <a:pPr algn="just"/>
            <a:endParaRPr lang="fr-FR" sz="800" dirty="0" smtClean="0">
              <a:solidFill>
                <a:schemeClr val="dk1"/>
              </a:solidFill>
              <a:latin typeface="Arial" pitchFamily="34" charset="0"/>
              <a:ea typeface="Times New Roman" pitchFamily="18" charset="0"/>
              <a:cs typeface="Arial" pitchFamily="34" charset="0"/>
            </a:endParaRPr>
          </a:p>
          <a:p>
            <a:pPr marL="1436688" indent="-623888" algn="just">
              <a:buFont typeface="Wingdings" pitchFamily="2" charset="2"/>
              <a:buChar char="v"/>
            </a:pPr>
            <a:r>
              <a:rPr lang="fr-FR" sz="2000" b="1" dirty="0" smtClean="0">
                <a:solidFill>
                  <a:schemeClr val="accent5">
                    <a:lumMod val="75000"/>
                  </a:schemeClr>
                </a:solidFill>
                <a:latin typeface="Arial" pitchFamily="34" charset="0"/>
                <a:ea typeface="Times New Roman" pitchFamily="18" charset="0"/>
                <a:cs typeface="Arial" pitchFamily="34" charset="0"/>
              </a:rPr>
              <a:t>Planification </a:t>
            </a:r>
            <a:r>
              <a:rPr lang="fr-FR" sz="2000" dirty="0" smtClean="0">
                <a:solidFill>
                  <a:schemeClr val="dk1"/>
                </a:solidFill>
                <a:latin typeface="Arial" pitchFamily="34" charset="0"/>
                <a:ea typeface="Times New Roman" pitchFamily="18" charset="0"/>
                <a:cs typeface="Arial" pitchFamily="34" charset="0"/>
              </a:rPr>
              <a:t>: Il s’agit de définir des objectifs clairs et mesurables, ainsi que d’élaborer des stratégies et des plans d’action pour atteindre ces objectifs. La planification implique également l’anticipation des besoins futurs et l’évaluation des risques.</a:t>
            </a:r>
            <a:endParaRPr lang="fr-FR"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4" name="Rectangle 3"/>
          <p:cNvSpPr/>
          <p:nvPr/>
        </p:nvSpPr>
        <p:spPr>
          <a:xfrm>
            <a:off x="952464" y="1000108"/>
            <a:ext cx="10429948" cy="483209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endParaRPr lang="fr-FR" sz="800" b="1" dirty="0" smtClean="0">
              <a:solidFill>
                <a:schemeClr val="accent5">
                  <a:lumMod val="75000"/>
                </a:schemeClr>
              </a:solidFill>
              <a:latin typeface="Arial" pitchFamily="34" charset="0"/>
              <a:ea typeface="Times New Roman" pitchFamily="18" charset="0"/>
              <a:cs typeface="Arial" pitchFamily="34" charset="0"/>
            </a:endParaRPr>
          </a:p>
          <a:p>
            <a:pPr marL="1524000" indent="-711200" algn="just">
              <a:buFont typeface="Wingdings" pitchFamily="2" charset="2"/>
              <a:buChar char="v"/>
            </a:pPr>
            <a:r>
              <a:rPr lang="fr-FR" sz="2000" b="1" dirty="0" smtClean="0">
                <a:solidFill>
                  <a:schemeClr val="accent5">
                    <a:lumMod val="75000"/>
                  </a:schemeClr>
                </a:solidFill>
                <a:latin typeface="Arial" pitchFamily="34" charset="0"/>
                <a:ea typeface="Times New Roman" pitchFamily="18" charset="0"/>
                <a:cs typeface="Arial" pitchFamily="34" charset="0"/>
              </a:rPr>
              <a:t>Organisation</a:t>
            </a:r>
            <a:r>
              <a:rPr lang="fr-FR" sz="2000" dirty="0" smtClean="0">
                <a:solidFill>
                  <a:schemeClr val="dk1"/>
                </a:solidFill>
                <a:latin typeface="Arial" pitchFamily="34" charset="0"/>
                <a:ea typeface="Times New Roman" pitchFamily="18" charset="0"/>
                <a:cs typeface="Arial" pitchFamily="34" charset="0"/>
              </a:rPr>
              <a:t> : Cette étape consiste à structurer l’organisation de manière à optimiser l’utilisation des ressources. Cela inclut la définition des rôles et responsabilités, la création de hiérarchies et de systèmes de communication, et la mise en place de processus opérationnels.</a:t>
            </a:r>
          </a:p>
          <a:p>
            <a:pPr marL="1524000" indent="-711200" algn="just"/>
            <a:endParaRPr lang="fr-FR" sz="2000" dirty="0" smtClean="0">
              <a:solidFill>
                <a:schemeClr val="dk1"/>
              </a:solidFill>
              <a:latin typeface="Arial" pitchFamily="34" charset="0"/>
              <a:ea typeface="Times New Roman" pitchFamily="18" charset="0"/>
              <a:cs typeface="Arial" pitchFamily="34" charset="0"/>
            </a:endParaRPr>
          </a:p>
          <a:p>
            <a:pPr marL="1524000" indent="-711200" algn="just">
              <a:buFont typeface="Wingdings" pitchFamily="2" charset="2"/>
              <a:buChar char="v"/>
            </a:pPr>
            <a:r>
              <a:rPr lang="fr-FR" sz="2000" b="1" dirty="0" smtClean="0">
                <a:solidFill>
                  <a:schemeClr val="accent5">
                    <a:lumMod val="75000"/>
                  </a:schemeClr>
                </a:solidFill>
                <a:latin typeface="Arial" pitchFamily="34" charset="0"/>
                <a:ea typeface="Times New Roman" pitchFamily="18" charset="0"/>
                <a:cs typeface="Arial" pitchFamily="34" charset="0"/>
              </a:rPr>
              <a:t>Direction</a:t>
            </a:r>
            <a:r>
              <a:rPr lang="fr-FR" sz="2000" dirty="0" smtClean="0">
                <a:solidFill>
                  <a:schemeClr val="dk1"/>
                </a:solidFill>
                <a:latin typeface="Arial" pitchFamily="34" charset="0"/>
                <a:ea typeface="Times New Roman" pitchFamily="18" charset="0"/>
                <a:cs typeface="Arial" pitchFamily="34" charset="0"/>
              </a:rPr>
              <a:t> : Le management implique la capacité à inspirer, motiver et guider les membres d’une équipe. Cela comprend l’application de styles de leadership adaptés, la communication des attentes et des objectifs, ainsi que le soutien et l’encouragement au développement personnel et professionnel des collaborateurs.</a:t>
            </a:r>
          </a:p>
          <a:p>
            <a:pPr marL="1524000" indent="-711200" algn="just"/>
            <a:endParaRPr lang="fr-FR" sz="2000" dirty="0" smtClean="0">
              <a:solidFill>
                <a:schemeClr val="dk1"/>
              </a:solidFill>
              <a:latin typeface="Arial" pitchFamily="34" charset="0"/>
              <a:ea typeface="Times New Roman" pitchFamily="18" charset="0"/>
              <a:cs typeface="Arial" pitchFamily="34" charset="0"/>
            </a:endParaRPr>
          </a:p>
          <a:p>
            <a:pPr marL="1524000" indent="-711200" algn="just">
              <a:buFont typeface="Wingdings" pitchFamily="2" charset="2"/>
              <a:buChar char="v"/>
            </a:pPr>
            <a:r>
              <a:rPr lang="fr-FR" sz="2000" b="1" dirty="0" smtClean="0">
                <a:solidFill>
                  <a:schemeClr val="accent5">
                    <a:lumMod val="75000"/>
                  </a:schemeClr>
                </a:solidFill>
                <a:latin typeface="Arial" pitchFamily="34" charset="0"/>
                <a:ea typeface="Times New Roman" pitchFamily="18" charset="0"/>
                <a:cs typeface="Arial" pitchFamily="34" charset="0"/>
              </a:rPr>
              <a:t>Contrôle</a:t>
            </a:r>
            <a:r>
              <a:rPr lang="fr-FR" sz="2000" dirty="0" smtClean="0">
                <a:solidFill>
                  <a:schemeClr val="dk1"/>
                </a:solidFill>
                <a:latin typeface="Arial" pitchFamily="34" charset="0"/>
                <a:ea typeface="Times New Roman" pitchFamily="18" charset="0"/>
                <a:cs typeface="Arial" pitchFamily="34" charset="0"/>
              </a:rPr>
              <a:t> : Cette composante consiste à évaluer les performances par rapport aux objectifs fixés. Elle implique la mise en place d’indicateurs de performance, la surveillance des processus, et l’apport de corrections nécessaires pour assurer l’atteinte des résultats attendus.</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881026" y="1142984"/>
            <a:ext cx="10429948" cy="501675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1800225" indent="-900113" algn="just">
              <a:buFont typeface="Wingdings" pitchFamily="2" charset="2"/>
              <a:buChar char="v"/>
            </a:pPr>
            <a:r>
              <a:rPr lang="fr-FR" sz="2000" b="1" dirty="0" smtClean="0">
                <a:solidFill>
                  <a:schemeClr val="accent5">
                    <a:lumMod val="75000"/>
                  </a:schemeClr>
                </a:solidFill>
                <a:latin typeface="Arial" pitchFamily="34" charset="0"/>
                <a:ea typeface="Times New Roman" pitchFamily="18" charset="0"/>
                <a:cs typeface="Arial" pitchFamily="34" charset="0"/>
              </a:rPr>
              <a:t>Gestion des ressources humaines</a:t>
            </a:r>
            <a:r>
              <a:rPr lang="fr-FR" b="1" dirty="0" smtClean="0">
                <a:solidFill>
                  <a:schemeClr val="accent5">
                    <a:lumMod val="75000"/>
                  </a:schemeClr>
                </a:solidFill>
                <a:latin typeface="Arial" pitchFamily="34" charset="0"/>
                <a:ea typeface="Times New Roman" pitchFamily="18" charset="0"/>
                <a:cs typeface="Arial" pitchFamily="34" charset="0"/>
              </a:rPr>
              <a:t> </a:t>
            </a:r>
            <a:r>
              <a:rPr lang="fr-FR" dirty="0" smtClean="0">
                <a:solidFill>
                  <a:schemeClr val="dk1"/>
                </a:solidFill>
                <a:latin typeface="Arial" pitchFamily="34" charset="0"/>
                <a:ea typeface="Times New Roman" pitchFamily="18" charset="0"/>
                <a:cs typeface="Arial" pitchFamily="34" charset="0"/>
              </a:rPr>
              <a:t>: </a:t>
            </a:r>
            <a:r>
              <a:rPr lang="fr-FR" sz="2000" dirty="0" smtClean="0">
                <a:solidFill>
                  <a:schemeClr val="dk1"/>
                </a:solidFill>
                <a:latin typeface="Arial" pitchFamily="34" charset="0"/>
                <a:ea typeface="Times New Roman" pitchFamily="18" charset="0"/>
                <a:cs typeface="Arial" pitchFamily="34" charset="0"/>
              </a:rPr>
              <a:t>Le management implique également le recrutement, la formation et le développement des talents. Cela englobe la création d’un environnement de travail positif et inclusif, propice à la motivation et à l’engagement des employés.</a:t>
            </a:r>
          </a:p>
          <a:p>
            <a:pPr marL="1800225" indent="-900113" algn="just"/>
            <a:endParaRPr lang="fr-FR" sz="2000" dirty="0" smtClean="0">
              <a:solidFill>
                <a:schemeClr val="dk1"/>
              </a:solidFill>
              <a:latin typeface="Arial" pitchFamily="34" charset="0"/>
              <a:ea typeface="Times New Roman" pitchFamily="18" charset="0"/>
              <a:cs typeface="Arial" pitchFamily="34" charset="0"/>
            </a:endParaRPr>
          </a:p>
          <a:p>
            <a:pPr marL="1800225" indent="-900113" algn="just">
              <a:buFont typeface="Wingdings" pitchFamily="2" charset="2"/>
              <a:buChar char="v"/>
            </a:pPr>
            <a:r>
              <a:rPr lang="fr-FR" sz="2000" b="1" dirty="0" smtClean="0">
                <a:solidFill>
                  <a:schemeClr val="accent5">
                    <a:lumMod val="75000"/>
                  </a:schemeClr>
                </a:solidFill>
                <a:latin typeface="Arial" pitchFamily="34" charset="0"/>
                <a:ea typeface="Times New Roman" pitchFamily="18" charset="0"/>
                <a:cs typeface="Arial" pitchFamily="34" charset="0"/>
              </a:rPr>
              <a:t>Communication </a:t>
            </a:r>
            <a:r>
              <a:rPr lang="fr-FR" sz="2000" dirty="0" smtClean="0">
                <a:solidFill>
                  <a:schemeClr val="dk1"/>
                </a:solidFill>
                <a:latin typeface="Arial" pitchFamily="34" charset="0"/>
                <a:ea typeface="Times New Roman" pitchFamily="18" charset="0"/>
                <a:cs typeface="Arial" pitchFamily="34" charset="0"/>
              </a:rPr>
              <a:t>: Une communication efficace est essentielle dans le management. Elle permet de garantir que les informations circulent correctement entre les membres de l’équipe, de résoudre les conflits, et de construire des relations de confiance et de collaboration.</a:t>
            </a:r>
          </a:p>
          <a:p>
            <a:pPr marL="1800225" indent="-900113" algn="just"/>
            <a:endParaRPr lang="fr-FR" sz="2000" dirty="0" smtClean="0">
              <a:solidFill>
                <a:schemeClr val="dk1"/>
              </a:solidFill>
              <a:latin typeface="Arial" pitchFamily="34" charset="0"/>
              <a:ea typeface="Times New Roman" pitchFamily="18" charset="0"/>
              <a:cs typeface="Arial" pitchFamily="34" charset="0"/>
            </a:endParaRPr>
          </a:p>
          <a:p>
            <a:pPr marL="1800225" indent="-900113" algn="just">
              <a:buFont typeface="Wingdings" pitchFamily="2" charset="2"/>
              <a:buChar char="v"/>
            </a:pPr>
            <a:r>
              <a:rPr lang="fr-FR" sz="2000" b="1" dirty="0" smtClean="0">
                <a:solidFill>
                  <a:schemeClr val="accent5">
                    <a:lumMod val="75000"/>
                  </a:schemeClr>
                </a:solidFill>
                <a:latin typeface="Arial" pitchFamily="34" charset="0"/>
                <a:ea typeface="Times New Roman" pitchFamily="18" charset="0"/>
                <a:cs typeface="Arial" pitchFamily="34" charset="0"/>
              </a:rPr>
              <a:t>Innovation et Adaptabilité</a:t>
            </a:r>
            <a:r>
              <a:rPr lang="fr-FR" sz="2000" dirty="0" smtClean="0">
                <a:solidFill>
                  <a:schemeClr val="dk1"/>
                </a:solidFill>
                <a:latin typeface="Arial" pitchFamily="34" charset="0"/>
                <a:ea typeface="Times New Roman" pitchFamily="18" charset="0"/>
                <a:cs typeface="Arial" pitchFamily="34" charset="0"/>
              </a:rPr>
              <a:t> : Le management moderne nécessite également d’encourager l’innovation et d’être capable de s’adapter aux changements internes et externes. Cela implique une culture d’apprentissage continu et une ouverture à de nouvelles idées et pratiques.</a:t>
            </a:r>
          </a:p>
          <a:p>
            <a:pPr algn="just"/>
            <a:endParaRPr lang="fr-FR" sz="2000" dirty="0" smtClean="0">
              <a:solidFill>
                <a:schemeClr val="dk1"/>
              </a:solidFill>
              <a:latin typeface="Arial" pitchFamily="34" charset="0"/>
              <a:ea typeface="Times New Roman" pitchFamily="18" charset="0"/>
              <a:cs typeface="Arial" pitchFamily="34" charset="0"/>
            </a:endParaRP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à coins arrondis 2"/>
          <p:cNvSpPr/>
          <p:nvPr/>
        </p:nvSpPr>
        <p:spPr>
          <a:xfrm>
            <a:off x="2166910" y="1785926"/>
            <a:ext cx="7715304" cy="3166824"/>
          </a:xfrm>
          <a:prstGeom prst="round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dirty="0" smtClean="0">
                <a:solidFill>
                  <a:schemeClr val="dk1"/>
                </a:solidFill>
                <a:latin typeface="Arial" pitchFamily="34" charset="0"/>
                <a:ea typeface="Times New Roman" pitchFamily="18" charset="0"/>
                <a:cs typeface="Arial" pitchFamily="34" charset="0"/>
              </a:rPr>
              <a:t>En résumé, le management est un processus complexe qui va bien au-delà de la simple gestion des tâches. Il nécessite une compréhension approfondie des interactions humaines, des compétences en communication, et la capacité à naviguer dans un environnement en constante évolution. Dans le cadre de ce module, nous explorerons ces différentes dimensions du management d’équipe et de la communication en entreprise, afin de développer des leaders capables de relever les défis contemporains du monde du travail</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381092" y="1142984"/>
            <a:ext cx="5643602" cy="369332"/>
          </a:xfrm>
          <a:prstGeom prst="rect">
            <a:avLst/>
          </a:prstGeom>
        </p:spPr>
        <p:txBody>
          <a:bodyPr wrap="square">
            <a:spAutoFit/>
          </a:bodyPr>
          <a:lstStyle/>
          <a:p>
            <a:r>
              <a:rPr lang="fr-FR" b="1" dirty="0" smtClean="0">
                <a:solidFill>
                  <a:srgbClr val="C00000"/>
                </a:solidFill>
              </a:rPr>
              <a:t>II- LE MANAGEMENT : Les différents </a:t>
            </a:r>
            <a:r>
              <a:rPr lang="fr-FR" b="1" dirty="0" smtClean="0">
                <a:solidFill>
                  <a:srgbClr val="C00000"/>
                </a:solidFill>
              </a:rPr>
              <a:t>types</a:t>
            </a:r>
            <a:endParaRPr lang="fr-FR" b="1" dirty="0">
              <a:solidFill>
                <a:srgbClr val="C00000"/>
              </a:solidFill>
            </a:endParaRPr>
          </a:p>
        </p:txBody>
      </p:sp>
      <p:sp>
        <p:nvSpPr>
          <p:cNvPr id="4" name="Rectangle 3"/>
          <p:cNvSpPr/>
          <p:nvPr/>
        </p:nvSpPr>
        <p:spPr>
          <a:xfrm>
            <a:off x="1095340" y="1785926"/>
            <a:ext cx="10287072" cy="286232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endParaRPr lang="fr-FR" sz="2000" dirty="0" smtClean="0">
              <a:solidFill>
                <a:schemeClr val="dk1"/>
              </a:solidFill>
              <a:latin typeface="Arial" pitchFamily="34" charset="0"/>
              <a:ea typeface="Times New Roman" pitchFamily="18" charset="0"/>
              <a:cs typeface="Arial" pitchFamily="34" charset="0"/>
            </a:endParaRPr>
          </a:p>
          <a:p>
            <a:r>
              <a:rPr lang="fr-FR" sz="2000" b="1" dirty="0" smtClean="0">
                <a:solidFill>
                  <a:schemeClr val="accent5">
                    <a:lumMod val="75000"/>
                  </a:schemeClr>
                </a:solidFill>
                <a:latin typeface="Arial" pitchFamily="34" charset="0"/>
                <a:ea typeface="Times New Roman" pitchFamily="18" charset="0"/>
                <a:cs typeface="Arial" pitchFamily="34" charset="0"/>
              </a:rPr>
              <a:t>1- Le Management Collaboratif</a:t>
            </a:r>
          </a:p>
          <a:p>
            <a:endParaRPr lang="fr-FR" sz="2000" dirty="0" smtClean="0">
              <a:solidFill>
                <a:schemeClr val="dk1"/>
              </a:solidFill>
              <a:latin typeface="Arial" pitchFamily="34" charset="0"/>
              <a:ea typeface="Times New Roman" pitchFamily="18" charset="0"/>
              <a:cs typeface="Arial" pitchFamily="34" charset="0"/>
            </a:endParaRPr>
          </a:p>
          <a:p>
            <a:r>
              <a:rPr lang="fr-FR" sz="2000" dirty="0" smtClean="0">
                <a:solidFill>
                  <a:schemeClr val="dk1"/>
                </a:solidFill>
                <a:latin typeface="Arial" pitchFamily="34" charset="0"/>
                <a:ea typeface="Times New Roman" pitchFamily="18" charset="0"/>
                <a:cs typeface="Arial" pitchFamily="34" charset="0"/>
              </a:rPr>
              <a:t>Cette nouvelle méthode de management horizontal :</a:t>
            </a:r>
          </a:p>
          <a:p>
            <a:endParaRPr lang="fr-FR" sz="2000" dirty="0" smtClean="0">
              <a:solidFill>
                <a:schemeClr val="dk1"/>
              </a:solidFill>
              <a:latin typeface="Arial" pitchFamily="34" charset="0"/>
              <a:ea typeface="Times New Roman" pitchFamily="18" charset="0"/>
              <a:cs typeface="Arial" pitchFamily="34" charset="0"/>
            </a:endParaRPr>
          </a:p>
          <a:p>
            <a:r>
              <a:rPr lang="fr-FR" sz="2000" dirty="0" smtClean="0">
                <a:solidFill>
                  <a:schemeClr val="dk1"/>
                </a:solidFill>
                <a:latin typeface="Arial" pitchFamily="34" charset="0"/>
                <a:ea typeface="Times New Roman" pitchFamily="18" charset="0"/>
                <a:cs typeface="Arial" pitchFamily="34" charset="0"/>
              </a:rPr>
              <a:t>- Transforme complètement les méthodes de management traditionnelles</a:t>
            </a:r>
          </a:p>
          <a:p>
            <a:r>
              <a:rPr lang="fr-FR" sz="2000" dirty="0" smtClean="0">
                <a:latin typeface="Arial" pitchFamily="34" charset="0"/>
                <a:ea typeface="Times New Roman" pitchFamily="18" charset="0"/>
                <a:cs typeface="Arial" pitchFamily="34" charset="0"/>
              </a:rPr>
              <a:t>- </a:t>
            </a:r>
            <a:r>
              <a:rPr lang="fr-FR" sz="2000" dirty="0" smtClean="0">
                <a:solidFill>
                  <a:schemeClr val="dk1"/>
                </a:solidFill>
                <a:latin typeface="Arial" pitchFamily="34" charset="0"/>
                <a:ea typeface="Times New Roman" pitchFamily="18" charset="0"/>
                <a:cs typeface="Arial" pitchFamily="34" charset="0"/>
              </a:rPr>
              <a:t>Commence à être adoptée par de plus en plus de grands groupes</a:t>
            </a:r>
          </a:p>
          <a:p>
            <a:pPr>
              <a:buFontTx/>
              <a:buChar char="-"/>
            </a:pPr>
            <a:r>
              <a:rPr lang="fr-FR" sz="2000" dirty="0" smtClean="0">
                <a:solidFill>
                  <a:schemeClr val="dk1"/>
                </a:solidFill>
                <a:latin typeface="Arial" pitchFamily="34" charset="0"/>
                <a:ea typeface="Times New Roman" pitchFamily="18" charset="0"/>
                <a:cs typeface="Arial" pitchFamily="34" charset="0"/>
              </a:rPr>
              <a:t>Se caractérise souvent par un fonctionnement en méthodes agiles</a:t>
            </a:r>
          </a:p>
          <a:p>
            <a:pPr>
              <a:buFontTx/>
              <a:buChar char="-"/>
            </a:pPr>
            <a:endParaRPr lang="fr-FR" sz="2000" dirty="0" smtClean="0">
              <a:solidFill>
                <a:schemeClr val="dk1"/>
              </a:solidFill>
              <a:latin typeface="Arial" pitchFamily="34" charset="0"/>
              <a:ea typeface="Times New Roman" pitchFamily="18" charset="0"/>
              <a:cs typeface="Arial" pitchFamily="34" charset="0"/>
            </a:endParaRP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1"/>
          <p:cNvSpPr>
            <a:spLocks noChangeArrowheads="1"/>
          </p:cNvSpPr>
          <p:nvPr/>
        </p:nvSpPr>
        <p:spPr bwMode="auto">
          <a:xfrm>
            <a:off x="3595670" y="928670"/>
            <a:ext cx="4968476" cy="338554"/>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0" eaLnBrk="1" fontAlgn="base" latinLnBrk="0" hangingPunct="1">
              <a:lnSpc>
                <a:spcPct val="100000"/>
              </a:lnSpc>
              <a:spcBef>
                <a:spcPct val="0"/>
              </a:spcBef>
              <a:spcAft>
                <a:spcPct val="0"/>
              </a:spcAft>
              <a:buClrTx/>
              <a:buSzTx/>
              <a:buFontTx/>
              <a:buNone/>
              <a:tabLst>
                <a:tab pos="450850" algn="l"/>
              </a:tabLst>
            </a:pPr>
            <a:r>
              <a:rPr kumimoji="0" lang="fr-FR" sz="1600" b="1" i="0" u="none" strike="noStrike" cap="none" normalizeH="0" baseline="0" dirty="0" smtClean="0">
                <a:ln>
                  <a:noFill/>
                </a:ln>
                <a:solidFill>
                  <a:schemeClr val="accent6">
                    <a:lumMod val="75000"/>
                  </a:schemeClr>
                </a:solidFill>
                <a:effectLst/>
                <a:latin typeface="Calibri" pitchFamily="34" charset="0"/>
                <a:ea typeface="Calibri" pitchFamily="34" charset="0"/>
                <a:cs typeface="Arial" pitchFamily="34" charset="0"/>
              </a:rPr>
              <a:t>Avantages et inconvénients du management collaboratif</a:t>
            </a:r>
            <a:endParaRPr kumimoji="0" lang="fr-FR" sz="1600" b="0" i="0" u="none" strike="noStrike" cap="none" normalizeH="0" baseline="0" dirty="0" smtClean="0">
              <a:ln>
                <a:noFill/>
              </a:ln>
              <a:solidFill>
                <a:schemeClr val="accent6">
                  <a:lumMod val="75000"/>
                </a:schemeClr>
              </a:solidFill>
              <a:effectLst/>
              <a:latin typeface="Arial" pitchFamily="34" charset="0"/>
              <a:cs typeface="Arial" pitchFamily="34" charset="0"/>
            </a:endParaRPr>
          </a:p>
        </p:txBody>
      </p:sp>
      <p:graphicFrame>
        <p:nvGraphicFramePr>
          <p:cNvPr id="4" name="Tableau 3"/>
          <p:cNvGraphicFramePr>
            <a:graphicFrameLocks noGrp="1"/>
          </p:cNvGraphicFramePr>
          <p:nvPr/>
        </p:nvGraphicFramePr>
        <p:xfrm>
          <a:off x="952464" y="1357298"/>
          <a:ext cx="10501386" cy="4383455"/>
        </p:xfrm>
        <a:graphic>
          <a:graphicData uri="http://schemas.openxmlformats.org/drawingml/2006/table">
            <a:tbl>
              <a:tblPr/>
              <a:tblGrid>
                <a:gridCol w="5250693"/>
                <a:gridCol w="5250693"/>
              </a:tblGrid>
              <a:tr h="285752">
                <a:tc>
                  <a:txBody>
                    <a:bodyPr/>
                    <a:lstStyle/>
                    <a:p>
                      <a:pPr algn="ctr">
                        <a:lnSpc>
                          <a:spcPct val="115000"/>
                        </a:lnSpc>
                        <a:spcAft>
                          <a:spcPts val="0"/>
                        </a:spcAft>
                      </a:pPr>
                      <a:r>
                        <a:rPr lang="fr-FR" sz="1400" b="1" dirty="0">
                          <a:latin typeface="Calibri"/>
                          <a:ea typeface="Calibri"/>
                          <a:cs typeface="Arial"/>
                        </a:rPr>
                        <a:t>Avantages</a:t>
                      </a:r>
                      <a:endParaRPr lang="fr-FR" sz="1400" dirty="0">
                        <a:latin typeface="Calibri"/>
                        <a:ea typeface="Calibri"/>
                        <a:cs typeface="Arial"/>
                      </a:endParaRPr>
                    </a:p>
                  </a:txBody>
                  <a:tcPr marL="52833" marR="528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fr-FR" sz="1400" b="1" dirty="0">
                          <a:latin typeface="Calibri"/>
                          <a:ea typeface="Calibri"/>
                          <a:cs typeface="Arial"/>
                        </a:rPr>
                        <a:t>Inconvénients</a:t>
                      </a:r>
                      <a:endParaRPr lang="fr-FR" sz="1400" dirty="0">
                        <a:latin typeface="Calibri"/>
                        <a:ea typeface="Calibri"/>
                        <a:cs typeface="Arial"/>
                      </a:endParaRPr>
                    </a:p>
                  </a:txBody>
                  <a:tcPr marL="52833" marR="528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97703">
                <a:tc>
                  <a:txBody>
                    <a:bodyPr/>
                    <a:lstStyle/>
                    <a:p>
                      <a:pPr marL="342900" lvl="0" indent="-342900" algn="just" rtl="0">
                        <a:lnSpc>
                          <a:spcPct val="115000"/>
                        </a:lnSpc>
                        <a:spcAft>
                          <a:spcPts val="600"/>
                        </a:spcAft>
                      </a:pPr>
                      <a:r>
                        <a:rPr lang="fr-FR" sz="1400" b="1" dirty="0">
                          <a:solidFill>
                            <a:srgbClr val="2D3748"/>
                          </a:solidFill>
                          <a:latin typeface="Segoe UI"/>
                          <a:ea typeface="Times New Roman"/>
                          <a:cs typeface="Arial"/>
                        </a:rPr>
                        <a:t>Meilleure prise de décision</a:t>
                      </a:r>
                      <a:r>
                        <a:rPr lang="fr-FR" sz="1400" dirty="0">
                          <a:solidFill>
                            <a:srgbClr val="2D3748"/>
                          </a:solidFill>
                          <a:latin typeface="Segoe UI"/>
                          <a:ea typeface="Times New Roman"/>
                          <a:cs typeface="Arial"/>
                        </a:rPr>
                        <a:t> :</a:t>
                      </a:r>
                      <a:endParaRPr lang="fr-FR" sz="1400" dirty="0">
                        <a:latin typeface="Calibri"/>
                        <a:ea typeface="Calibri"/>
                        <a:cs typeface="Arial"/>
                      </a:endParaRPr>
                    </a:p>
                    <a:p>
                      <a:pPr marL="742950" lvl="1" indent="-285750" algn="just">
                        <a:lnSpc>
                          <a:spcPct val="115000"/>
                        </a:lnSpc>
                        <a:spcAft>
                          <a:spcPts val="360"/>
                        </a:spcAft>
                        <a:buSzPts val="1000"/>
                        <a:buFont typeface="Symbol"/>
                        <a:buChar char=""/>
                      </a:pPr>
                      <a:r>
                        <a:rPr lang="fr-FR" sz="1400" dirty="0">
                          <a:solidFill>
                            <a:srgbClr val="2D3748"/>
                          </a:solidFill>
                          <a:latin typeface="Segoe UI"/>
                          <a:ea typeface="Times New Roman"/>
                          <a:cs typeface="Arial"/>
                        </a:rPr>
                        <a:t>En impliquant plusieurs membres d’une équipe dans le processus décisionnel, le management collaboratif permet de bénéficier d’une diversité de perspectives et d’idées, ce qui peut conduire à des décisions plus éclairées.</a:t>
                      </a:r>
                      <a:endParaRPr lang="fr-FR" sz="1400" dirty="0">
                        <a:latin typeface="Calibri"/>
                        <a:ea typeface="Calibri"/>
                        <a:cs typeface="Arial"/>
                      </a:endParaRPr>
                    </a:p>
                    <a:p>
                      <a:pPr marL="342900" lvl="0" indent="-342900" algn="just">
                        <a:lnSpc>
                          <a:spcPct val="115000"/>
                        </a:lnSpc>
                        <a:spcAft>
                          <a:spcPts val="600"/>
                        </a:spcAft>
                      </a:pPr>
                      <a:r>
                        <a:rPr lang="fr-FR" sz="1400" b="1" dirty="0">
                          <a:solidFill>
                            <a:srgbClr val="2D3748"/>
                          </a:solidFill>
                          <a:latin typeface="Segoe UI"/>
                          <a:ea typeface="Times New Roman"/>
                          <a:cs typeface="Arial"/>
                        </a:rPr>
                        <a:t>Engagement des employés</a:t>
                      </a:r>
                      <a:r>
                        <a:rPr lang="fr-FR" sz="1400" dirty="0">
                          <a:solidFill>
                            <a:srgbClr val="2D3748"/>
                          </a:solidFill>
                          <a:latin typeface="Segoe UI"/>
                          <a:ea typeface="Times New Roman"/>
                          <a:cs typeface="Arial"/>
                        </a:rPr>
                        <a:t> :</a:t>
                      </a:r>
                      <a:endParaRPr lang="fr-FR" sz="1400" dirty="0">
                        <a:latin typeface="Calibri"/>
                        <a:ea typeface="Calibri"/>
                        <a:cs typeface="Arial"/>
                      </a:endParaRPr>
                    </a:p>
                    <a:p>
                      <a:pPr marL="742950" lvl="1" indent="-285750" algn="just">
                        <a:lnSpc>
                          <a:spcPct val="115000"/>
                        </a:lnSpc>
                        <a:spcAft>
                          <a:spcPts val="360"/>
                        </a:spcAft>
                        <a:buSzPts val="1000"/>
                        <a:buFont typeface="Symbol"/>
                        <a:buChar char=""/>
                      </a:pPr>
                      <a:r>
                        <a:rPr lang="fr-FR" sz="1400" dirty="0">
                          <a:solidFill>
                            <a:srgbClr val="2D3748"/>
                          </a:solidFill>
                          <a:latin typeface="Segoe UI"/>
                          <a:ea typeface="Times New Roman"/>
                          <a:cs typeface="Arial"/>
                        </a:rPr>
                        <a:t>Les collaborateurs se sentent valorisés et écoutés, ce qui augmente leur motivation et leur engagement envers l’équipe et l’organisation.</a:t>
                      </a:r>
                      <a:endParaRPr lang="fr-FR" sz="1400" dirty="0">
                        <a:latin typeface="Calibri"/>
                        <a:ea typeface="Calibri"/>
                        <a:cs typeface="Arial"/>
                      </a:endParaRPr>
                    </a:p>
                    <a:p>
                      <a:pPr marL="342900" lvl="0" indent="-342900" algn="just">
                        <a:lnSpc>
                          <a:spcPct val="115000"/>
                        </a:lnSpc>
                        <a:spcAft>
                          <a:spcPts val="600"/>
                        </a:spcAft>
                      </a:pPr>
                      <a:r>
                        <a:rPr lang="fr-FR" sz="1400" b="1" dirty="0">
                          <a:solidFill>
                            <a:srgbClr val="2D3748"/>
                          </a:solidFill>
                          <a:latin typeface="Segoe UI"/>
                          <a:ea typeface="Times New Roman"/>
                          <a:cs typeface="Arial"/>
                        </a:rPr>
                        <a:t>Innovation accrue</a:t>
                      </a:r>
                      <a:r>
                        <a:rPr lang="fr-FR" sz="1400" dirty="0">
                          <a:solidFill>
                            <a:srgbClr val="2D3748"/>
                          </a:solidFill>
                          <a:latin typeface="Segoe UI"/>
                          <a:ea typeface="Times New Roman"/>
                          <a:cs typeface="Arial"/>
                        </a:rPr>
                        <a:t> :</a:t>
                      </a:r>
                      <a:endParaRPr lang="fr-FR" sz="1400" dirty="0">
                        <a:latin typeface="Calibri"/>
                        <a:ea typeface="Calibri"/>
                        <a:cs typeface="Arial"/>
                      </a:endParaRPr>
                    </a:p>
                    <a:p>
                      <a:pPr marL="742950" lvl="1" indent="-285750" algn="just">
                        <a:lnSpc>
                          <a:spcPct val="115000"/>
                        </a:lnSpc>
                        <a:spcAft>
                          <a:spcPts val="360"/>
                        </a:spcAft>
                        <a:buSzPts val="1000"/>
                        <a:buFont typeface="Symbol"/>
                        <a:buChar char=""/>
                        <a:tabLst>
                          <a:tab pos="450215" algn="l"/>
                        </a:tabLst>
                      </a:pPr>
                      <a:r>
                        <a:rPr lang="fr-FR" sz="1400" dirty="0">
                          <a:solidFill>
                            <a:srgbClr val="2D3748"/>
                          </a:solidFill>
                          <a:latin typeface="Segoe UI"/>
                          <a:ea typeface="Times New Roman"/>
                          <a:cs typeface="Arial"/>
                        </a:rPr>
                        <a:t>La collaboration favorise un climat propice à la créativité et à l’innovation, car les membres de l’équipe peuvent partager librement leurs idées et expérimenter de nouvelles approches</a:t>
                      </a:r>
                      <a:r>
                        <a:rPr lang="fr-FR" sz="1400" dirty="0" smtClean="0">
                          <a:solidFill>
                            <a:srgbClr val="2D3748"/>
                          </a:solidFill>
                          <a:latin typeface="Segoe UI"/>
                          <a:ea typeface="Times New Roman"/>
                          <a:cs typeface="Arial"/>
                        </a:rPr>
                        <a:t>.</a:t>
                      </a:r>
                      <a:endParaRPr lang="fr-FR" sz="1400" dirty="0">
                        <a:latin typeface="Calibri"/>
                        <a:ea typeface="Calibri"/>
                        <a:cs typeface="Arial"/>
                      </a:endParaRPr>
                    </a:p>
                  </a:txBody>
                  <a:tcPr marL="52833" marR="528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rtl="0">
                        <a:lnSpc>
                          <a:spcPct val="115000"/>
                        </a:lnSpc>
                        <a:spcAft>
                          <a:spcPts val="600"/>
                        </a:spcAft>
                      </a:pPr>
                      <a:r>
                        <a:rPr lang="fr-FR" sz="1400" b="1" dirty="0">
                          <a:solidFill>
                            <a:srgbClr val="2D3748"/>
                          </a:solidFill>
                          <a:latin typeface="Segoe UI"/>
                          <a:ea typeface="Times New Roman"/>
                          <a:cs typeface="Arial"/>
                        </a:rPr>
                        <a:t>Prise de décision plus lente</a:t>
                      </a:r>
                      <a:r>
                        <a:rPr lang="fr-FR" sz="1400" dirty="0">
                          <a:solidFill>
                            <a:srgbClr val="2D3748"/>
                          </a:solidFill>
                          <a:latin typeface="Segoe UI"/>
                          <a:ea typeface="Times New Roman"/>
                          <a:cs typeface="Arial"/>
                        </a:rPr>
                        <a:t> :</a:t>
                      </a:r>
                      <a:endParaRPr lang="fr-FR" sz="1400" dirty="0">
                        <a:latin typeface="Calibri"/>
                        <a:ea typeface="Calibri"/>
                        <a:cs typeface="Arial"/>
                      </a:endParaRPr>
                    </a:p>
                    <a:p>
                      <a:pPr marL="742950" lvl="1" indent="-285750" algn="just">
                        <a:lnSpc>
                          <a:spcPct val="115000"/>
                        </a:lnSpc>
                        <a:spcAft>
                          <a:spcPts val="360"/>
                        </a:spcAft>
                        <a:buSzPts val="1000"/>
                        <a:buFont typeface="Symbol"/>
                        <a:buChar char=""/>
                      </a:pPr>
                      <a:r>
                        <a:rPr lang="fr-FR" sz="1400" dirty="0">
                          <a:solidFill>
                            <a:srgbClr val="2D3748"/>
                          </a:solidFill>
                          <a:latin typeface="Segoe UI"/>
                          <a:ea typeface="Times New Roman"/>
                          <a:cs typeface="Arial"/>
                        </a:rPr>
                        <a:t>Le processus de consultation et de consensus peut prolonger le temps nécessaire pour prendre des décisions, ce qui peut être problématique dans des situations nécessitant des réponses rapides.</a:t>
                      </a:r>
                      <a:endParaRPr lang="fr-FR" sz="1400" dirty="0">
                        <a:latin typeface="Calibri"/>
                        <a:ea typeface="Calibri"/>
                        <a:cs typeface="Arial"/>
                      </a:endParaRPr>
                    </a:p>
                    <a:p>
                      <a:pPr marL="342900" lvl="0" indent="-342900">
                        <a:lnSpc>
                          <a:spcPct val="115000"/>
                        </a:lnSpc>
                        <a:spcAft>
                          <a:spcPts val="600"/>
                        </a:spcAft>
                      </a:pPr>
                      <a:r>
                        <a:rPr lang="fr-FR" sz="1400" b="1" dirty="0">
                          <a:solidFill>
                            <a:srgbClr val="2D3748"/>
                          </a:solidFill>
                          <a:latin typeface="Segoe UI"/>
                          <a:ea typeface="Times New Roman"/>
                          <a:cs typeface="Arial"/>
                        </a:rPr>
                        <a:t>Conflits potentiels</a:t>
                      </a:r>
                      <a:r>
                        <a:rPr lang="fr-FR" sz="1400" dirty="0">
                          <a:solidFill>
                            <a:srgbClr val="2D3748"/>
                          </a:solidFill>
                          <a:latin typeface="Segoe UI"/>
                          <a:ea typeface="Times New Roman"/>
                          <a:cs typeface="Arial"/>
                        </a:rPr>
                        <a:t> :</a:t>
                      </a:r>
                      <a:endParaRPr lang="fr-FR" sz="1400" dirty="0">
                        <a:latin typeface="Calibri"/>
                        <a:ea typeface="Calibri"/>
                        <a:cs typeface="Arial"/>
                      </a:endParaRPr>
                    </a:p>
                    <a:p>
                      <a:pPr marL="742950" lvl="1" indent="-285750" algn="just">
                        <a:lnSpc>
                          <a:spcPct val="115000"/>
                        </a:lnSpc>
                        <a:spcAft>
                          <a:spcPts val="360"/>
                        </a:spcAft>
                        <a:buSzPts val="1000"/>
                        <a:buFont typeface="Symbol"/>
                        <a:buChar char=""/>
                      </a:pPr>
                      <a:r>
                        <a:rPr lang="fr-FR" sz="1400" dirty="0">
                          <a:solidFill>
                            <a:srgbClr val="2D3748"/>
                          </a:solidFill>
                          <a:latin typeface="Segoe UI"/>
                          <a:ea typeface="Times New Roman"/>
                          <a:cs typeface="Arial"/>
                        </a:rPr>
                        <a:t>La diversité des opinions et des approches peut parfois conduire à des désaccords et à des conflits au sein de l’équipe, nécessitant une gestion appropriée.</a:t>
                      </a:r>
                      <a:endParaRPr lang="fr-FR" sz="1400" dirty="0">
                        <a:latin typeface="Calibri"/>
                        <a:ea typeface="Calibri"/>
                        <a:cs typeface="Arial"/>
                      </a:endParaRPr>
                    </a:p>
                    <a:p>
                      <a:pPr marL="342900" lvl="0" indent="-342900">
                        <a:lnSpc>
                          <a:spcPct val="115000"/>
                        </a:lnSpc>
                        <a:spcAft>
                          <a:spcPts val="600"/>
                        </a:spcAft>
                      </a:pPr>
                      <a:r>
                        <a:rPr lang="fr-FR" sz="1400" b="1" dirty="0">
                          <a:solidFill>
                            <a:srgbClr val="2D3748"/>
                          </a:solidFill>
                          <a:latin typeface="Segoe UI"/>
                          <a:ea typeface="Times New Roman"/>
                          <a:cs typeface="Arial"/>
                        </a:rPr>
                        <a:t>Dilution des responsabilités</a:t>
                      </a:r>
                      <a:r>
                        <a:rPr lang="fr-FR" sz="1400" dirty="0">
                          <a:solidFill>
                            <a:srgbClr val="2D3748"/>
                          </a:solidFill>
                          <a:latin typeface="Segoe UI"/>
                          <a:ea typeface="Times New Roman"/>
                          <a:cs typeface="Arial"/>
                        </a:rPr>
                        <a:t> :</a:t>
                      </a:r>
                      <a:endParaRPr lang="fr-FR" sz="1400" dirty="0">
                        <a:latin typeface="Calibri"/>
                        <a:ea typeface="Calibri"/>
                        <a:cs typeface="Arial"/>
                      </a:endParaRPr>
                    </a:p>
                    <a:p>
                      <a:pPr marL="742950" lvl="1" indent="-285750">
                        <a:lnSpc>
                          <a:spcPct val="115000"/>
                        </a:lnSpc>
                        <a:spcAft>
                          <a:spcPts val="360"/>
                        </a:spcAft>
                        <a:buSzPts val="1000"/>
                        <a:buFont typeface="Symbol"/>
                        <a:buChar char=""/>
                      </a:pPr>
                      <a:r>
                        <a:rPr lang="fr-FR" sz="1400" dirty="0">
                          <a:solidFill>
                            <a:srgbClr val="2D3748"/>
                          </a:solidFill>
                          <a:latin typeface="Segoe UI"/>
                          <a:ea typeface="Times New Roman"/>
                          <a:cs typeface="Arial"/>
                        </a:rPr>
                        <a:t>Dans un cadre collaboratif, il peut être difficile de savoir qui est responsable de quoi, ce qui peut entraîner une </a:t>
                      </a:r>
                      <a:r>
                        <a:rPr lang="fr-FR" sz="1400" dirty="0" smtClean="0">
                          <a:solidFill>
                            <a:srgbClr val="2D3748"/>
                          </a:solidFill>
                          <a:latin typeface="Segoe UI"/>
                          <a:ea typeface="Times New Roman"/>
                          <a:cs typeface="Arial"/>
                        </a:rPr>
                        <a:t>confusion</a:t>
                      </a:r>
                      <a:r>
                        <a:rPr lang="fr-FR" sz="1400" baseline="0" dirty="0" smtClean="0">
                          <a:solidFill>
                            <a:srgbClr val="2D3748"/>
                          </a:solidFill>
                          <a:latin typeface="Segoe UI"/>
                          <a:ea typeface="Times New Roman"/>
                          <a:cs typeface="Arial"/>
                        </a:rPr>
                        <a:t> </a:t>
                      </a:r>
                      <a:r>
                        <a:rPr lang="fr-FR" sz="1400" dirty="0" smtClean="0">
                          <a:solidFill>
                            <a:srgbClr val="2D3748"/>
                          </a:solidFill>
                          <a:latin typeface="Segoe UI"/>
                          <a:ea typeface="Times New Roman"/>
                          <a:cs typeface="Arial"/>
                        </a:rPr>
                        <a:t>et </a:t>
                      </a:r>
                      <a:r>
                        <a:rPr lang="fr-FR" sz="1400" dirty="0">
                          <a:solidFill>
                            <a:srgbClr val="2D3748"/>
                          </a:solidFill>
                          <a:latin typeface="Segoe UI"/>
                          <a:ea typeface="Times New Roman"/>
                          <a:cs typeface="Arial"/>
                        </a:rPr>
                        <a:t>une dilution des responsabilités</a:t>
                      </a:r>
                      <a:r>
                        <a:rPr lang="fr-FR" sz="1400" dirty="0" smtClean="0">
                          <a:solidFill>
                            <a:srgbClr val="2D3748"/>
                          </a:solidFill>
                          <a:latin typeface="Segoe UI"/>
                          <a:ea typeface="Times New Roman"/>
                          <a:cs typeface="Arial"/>
                        </a:rPr>
                        <a:t>.</a:t>
                      </a:r>
                      <a:endParaRPr lang="fr-FR" sz="1400" dirty="0">
                        <a:latin typeface="Calibri"/>
                        <a:ea typeface="Calibri"/>
                        <a:cs typeface="Arial"/>
                      </a:endParaRPr>
                    </a:p>
                  </a:txBody>
                  <a:tcPr marL="52833" marR="528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graphicFrame>
        <p:nvGraphicFramePr>
          <p:cNvPr id="3" name="Tableau 2"/>
          <p:cNvGraphicFramePr>
            <a:graphicFrameLocks noGrp="1"/>
          </p:cNvGraphicFramePr>
          <p:nvPr/>
        </p:nvGraphicFramePr>
        <p:xfrm>
          <a:off x="1023902" y="1850834"/>
          <a:ext cx="10358510" cy="2656840"/>
        </p:xfrm>
        <a:graphic>
          <a:graphicData uri="http://schemas.openxmlformats.org/drawingml/2006/table">
            <a:tbl>
              <a:tblPr/>
              <a:tblGrid>
                <a:gridCol w="5179255"/>
                <a:gridCol w="5179255"/>
              </a:tblGrid>
              <a:tr h="0">
                <a:tc>
                  <a:txBody>
                    <a:bodyPr/>
                    <a:lstStyle/>
                    <a:p>
                      <a:pPr algn="ctr">
                        <a:lnSpc>
                          <a:spcPct val="115000"/>
                        </a:lnSpc>
                        <a:spcAft>
                          <a:spcPts val="0"/>
                        </a:spcAft>
                      </a:pPr>
                      <a:r>
                        <a:rPr lang="fr-FR" sz="1400" b="1" dirty="0">
                          <a:solidFill>
                            <a:schemeClr val="tx1"/>
                          </a:solidFill>
                          <a:latin typeface="Calibri"/>
                          <a:ea typeface="Calibri"/>
                          <a:cs typeface="Arial"/>
                        </a:rPr>
                        <a:t>Avantages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fr-FR" sz="1400" b="1" dirty="0">
                          <a:solidFill>
                            <a:schemeClr val="tx1"/>
                          </a:solidFill>
                          <a:latin typeface="Calibri"/>
                          <a:ea typeface="Calibri"/>
                          <a:cs typeface="Arial"/>
                        </a:rPr>
                        <a:t>Inconvénients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342900" lvl="0" indent="-342900" algn="just" rtl="0">
                        <a:lnSpc>
                          <a:spcPct val="115000"/>
                        </a:lnSpc>
                        <a:spcAft>
                          <a:spcPts val="600"/>
                        </a:spcAft>
                        <a:buFont typeface="+mj-lt"/>
                        <a:buNone/>
                      </a:pPr>
                      <a:r>
                        <a:rPr lang="fr-FR" sz="1400" b="1" dirty="0">
                          <a:solidFill>
                            <a:srgbClr val="2D3748"/>
                          </a:solidFill>
                          <a:latin typeface="Segoe UI"/>
                          <a:ea typeface="Times New Roman"/>
                          <a:cs typeface="Arial"/>
                        </a:rPr>
                        <a:t>Renforcement des relations interpersonnelles :</a:t>
                      </a:r>
                    </a:p>
                    <a:p>
                      <a:pPr marL="742950" lvl="1" indent="-285750" algn="just">
                        <a:lnSpc>
                          <a:spcPct val="115000"/>
                        </a:lnSpc>
                        <a:spcAft>
                          <a:spcPts val="360"/>
                        </a:spcAft>
                        <a:buSzPts val="1000"/>
                        <a:buFont typeface="Symbol"/>
                        <a:buChar char=""/>
                      </a:pPr>
                      <a:r>
                        <a:rPr lang="fr-FR" sz="1400" dirty="0">
                          <a:solidFill>
                            <a:srgbClr val="2D3748"/>
                          </a:solidFill>
                          <a:latin typeface="Segoe UI"/>
                          <a:ea typeface="Times New Roman"/>
                          <a:cs typeface="Arial"/>
                        </a:rPr>
                        <a:t>Le travail collaboratif crée des liens plus forts entre les membres de l’équipe, ce qui améliore la communication et la cohésion au sein du groupe.</a:t>
                      </a:r>
                    </a:p>
                    <a:p>
                      <a:pPr marL="342900" lvl="0" indent="-342900" algn="just">
                        <a:lnSpc>
                          <a:spcPct val="115000"/>
                        </a:lnSpc>
                        <a:spcAft>
                          <a:spcPts val="600"/>
                        </a:spcAft>
                        <a:buFont typeface="+mj-lt"/>
                        <a:buNone/>
                      </a:pPr>
                      <a:r>
                        <a:rPr lang="fr-FR" sz="1400" b="1" dirty="0">
                          <a:solidFill>
                            <a:srgbClr val="2D3748"/>
                          </a:solidFill>
                          <a:latin typeface="Segoe UI"/>
                          <a:ea typeface="Times New Roman"/>
                          <a:cs typeface="Arial"/>
                        </a:rPr>
                        <a:t>Flexibilité et adaptabilité </a:t>
                      </a:r>
                      <a:r>
                        <a:rPr lang="fr-FR" sz="1400" dirty="0">
                          <a:solidFill>
                            <a:srgbClr val="2D3748"/>
                          </a:solidFill>
                          <a:latin typeface="Segoe UI"/>
                          <a:ea typeface="Times New Roman"/>
                          <a:cs typeface="Arial"/>
                        </a:rPr>
                        <a:t>:</a:t>
                      </a:r>
                    </a:p>
                    <a:p>
                      <a:pPr marL="742950" lvl="1" indent="-285750" algn="just">
                        <a:lnSpc>
                          <a:spcPct val="115000"/>
                        </a:lnSpc>
                        <a:spcAft>
                          <a:spcPts val="360"/>
                        </a:spcAft>
                        <a:buSzPts val="1000"/>
                        <a:buFont typeface="Symbol"/>
                        <a:buChar char=""/>
                      </a:pPr>
                      <a:r>
                        <a:rPr lang="fr-FR" sz="1400" dirty="0">
                          <a:solidFill>
                            <a:srgbClr val="2D3748"/>
                          </a:solidFill>
                          <a:latin typeface="Segoe UI"/>
                          <a:ea typeface="Times New Roman"/>
                          <a:cs typeface="Arial"/>
                        </a:rPr>
                        <a:t>Les équipes collaboratives sont souvent plus réactives face aux changements, car elles peuvent rapidement ajuster leurs stratégies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just" rtl="0">
                        <a:lnSpc>
                          <a:spcPct val="115000"/>
                        </a:lnSpc>
                        <a:spcAft>
                          <a:spcPts val="600"/>
                        </a:spcAft>
                        <a:buFont typeface="+mj-lt"/>
                        <a:buNone/>
                      </a:pPr>
                      <a:r>
                        <a:rPr lang="fr-FR" sz="1400" b="1" dirty="0">
                          <a:solidFill>
                            <a:srgbClr val="2D3748"/>
                          </a:solidFill>
                          <a:latin typeface="Segoe UI"/>
                          <a:ea typeface="Times New Roman"/>
                          <a:cs typeface="Arial"/>
                        </a:rPr>
                        <a:t>Nécessité de compétences en communication :</a:t>
                      </a:r>
                    </a:p>
                    <a:p>
                      <a:pPr marL="742950" lvl="1" indent="-285750" algn="just">
                        <a:lnSpc>
                          <a:spcPct val="115000"/>
                        </a:lnSpc>
                        <a:spcAft>
                          <a:spcPts val="360"/>
                        </a:spcAft>
                        <a:buSzPts val="1000"/>
                        <a:buFont typeface="Symbol"/>
                        <a:buChar char=""/>
                      </a:pPr>
                      <a:r>
                        <a:rPr lang="fr-FR" sz="1400" dirty="0">
                          <a:solidFill>
                            <a:srgbClr val="2D3748"/>
                          </a:solidFill>
                          <a:latin typeface="Segoe UI"/>
                          <a:ea typeface="Times New Roman"/>
                          <a:cs typeface="Arial"/>
                        </a:rPr>
                        <a:t>Le succès du management collaboratif repose sur la capacité des membres de l’équipe à communiquer efficacement. Des compétences insuffisantes dans ce domaine peuvent nuire à la collaboration.</a:t>
                      </a:r>
                    </a:p>
                    <a:p>
                      <a:pPr marL="342900" lvl="0" indent="-342900" algn="just" rtl="0">
                        <a:lnSpc>
                          <a:spcPct val="115000"/>
                        </a:lnSpc>
                        <a:spcAft>
                          <a:spcPts val="600"/>
                        </a:spcAft>
                        <a:buFont typeface="+mj-lt"/>
                        <a:buNone/>
                      </a:pPr>
                      <a:r>
                        <a:rPr lang="fr-FR" sz="1400" b="1" dirty="0">
                          <a:solidFill>
                            <a:srgbClr val="2D3748"/>
                          </a:solidFill>
                          <a:latin typeface="Segoe UI"/>
                          <a:ea typeface="Times New Roman"/>
                          <a:cs typeface="Arial"/>
                        </a:rPr>
                        <a:t>Perception de favoritisme :</a:t>
                      </a:r>
                    </a:p>
                    <a:p>
                      <a:pPr marL="742950" lvl="1" indent="-285750" algn="just">
                        <a:lnSpc>
                          <a:spcPct val="115000"/>
                        </a:lnSpc>
                        <a:spcAft>
                          <a:spcPts val="360"/>
                        </a:spcAft>
                        <a:buSzPts val="1000"/>
                        <a:buFont typeface="Symbol"/>
                        <a:buChar char=""/>
                      </a:pPr>
                      <a:r>
                        <a:rPr lang="fr-FR" sz="1400" dirty="0">
                          <a:solidFill>
                            <a:srgbClr val="2D3748"/>
                          </a:solidFill>
                          <a:latin typeface="Segoe UI"/>
                          <a:ea typeface="Times New Roman"/>
                          <a:cs typeface="Arial"/>
                        </a:rPr>
                        <a:t>Certains membres de l’équipe peuvent percevoir que certaines voix sont plus entendues que d’autres, ce qui peut créer des frustrations et des tensions.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809588" y="1071546"/>
            <a:ext cx="10501386" cy="452431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b="1" dirty="0" smtClean="0">
                <a:solidFill>
                  <a:schemeClr val="accent1"/>
                </a:solidFill>
                <a:latin typeface="Arial" pitchFamily="34" charset="0"/>
                <a:ea typeface="Times New Roman" pitchFamily="18" charset="0"/>
                <a:cs typeface="Arial" pitchFamily="34" charset="0"/>
              </a:rPr>
              <a:t>Exemple : L’équipe de développement d’un produit technologique</a:t>
            </a:r>
          </a:p>
          <a:p>
            <a:pPr algn="just"/>
            <a:endParaRPr lang="fr-FR" sz="800" dirty="0" smtClean="0">
              <a:solidFill>
                <a:schemeClr val="dk1"/>
              </a:solidFill>
              <a:latin typeface="Arial" pitchFamily="34" charset="0"/>
              <a:ea typeface="Times New Roman" pitchFamily="18" charset="0"/>
              <a:cs typeface="Arial" pitchFamily="34" charset="0"/>
            </a:endParaRPr>
          </a:p>
          <a:p>
            <a:pPr algn="just"/>
            <a:r>
              <a:rPr lang="fr-FR" sz="2000" dirty="0" smtClean="0">
                <a:solidFill>
                  <a:schemeClr val="dk1"/>
                </a:solidFill>
                <a:latin typeface="Arial" pitchFamily="34" charset="0"/>
                <a:ea typeface="Times New Roman" pitchFamily="18" charset="0"/>
                <a:cs typeface="Arial" pitchFamily="34" charset="0"/>
              </a:rPr>
              <a:t>Imaginons une entreprise de technologie qui développe un nouveau logiciel. L’équipe de projet adopte un management collaboratif, impliquant des développeurs, des designers, des responsables marketing et des utilisateurs finaux dans le processus.</a:t>
            </a:r>
          </a:p>
          <a:p>
            <a:pPr algn="just"/>
            <a:endParaRPr lang="fr-FR" sz="2000" dirty="0" smtClean="0">
              <a:solidFill>
                <a:schemeClr val="dk1"/>
              </a:solidFill>
              <a:latin typeface="Arial" pitchFamily="34" charset="0"/>
              <a:ea typeface="Times New Roman" pitchFamily="18" charset="0"/>
              <a:cs typeface="Arial" pitchFamily="34" charset="0"/>
            </a:endParaRPr>
          </a:p>
          <a:p>
            <a:pPr algn="just"/>
            <a:r>
              <a:rPr lang="fr-FR" sz="2000" b="1" dirty="0" smtClean="0">
                <a:solidFill>
                  <a:schemeClr val="dk1"/>
                </a:solidFill>
                <a:latin typeface="Arial" pitchFamily="34" charset="0"/>
                <a:ea typeface="Times New Roman" pitchFamily="18" charset="0"/>
                <a:cs typeface="Arial" pitchFamily="34" charset="0"/>
              </a:rPr>
              <a:t>Avantages observés :</a:t>
            </a:r>
          </a:p>
          <a:p>
            <a:pPr algn="just"/>
            <a:r>
              <a:rPr lang="fr-FR" sz="2000" dirty="0" smtClean="0">
                <a:solidFill>
                  <a:schemeClr val="dk1"/>
                </a:solidFill>
                <a:latin typeface="Arial" pitchFamily="34" charset="0"/>
                <a:ea typeface="Times New Roman" pitchFamily="18" charset="0"/>
                <a:cs typeface="Arial" pitchFamily="34" charset="0"/>
              </a:rPr>
              <a:t>Grâce à des réunions régulières où chacun partage ses idées, l’équipe a pu concevoir une interface utilisateur qui répond parfaitement aux besoins des utilisateurs.</a:t>
            </a:r>
          </a:p>
          <a:p>
            <a:pPr algn="just"/>
            <a:r>
              <a:rPr lang="fr-FR" sz="2000" dirty="0" smtClean="0">
                <a:solidFill>
                  <a:schemeClr val="dk1"/>
                </a:solidFill>
                <a:latin typeface="Arial" pitchFamily="34" charset="0"/>
                <a:ea typeface="Times New Roman" pitchFamily="18" charset="0"/>
                <a:cs typeface="Arial" pitchFamily="34" charset="0"/>
              </a:rPr>
              <a:t>Les membres de l’équipe se sentent plus motivés et engagés, car leurs contributions sont prises en compte.</a:t>
            </a:r>
          </a:p>
          <a:p>
            <a:pPr algn="just"/>
            <a:endParaRPr lang="fr-FR" sz="2000" dirty="0" smtClean="0">
              <a:solidFill>
                <a:schemeClr val="dk1"/>
              </a:solidFill>
              <a:latin typeface="Arial" pitchFamily="34" charset="0"/>
              <a:ea typeface="Times New Roman" pitchFamily="18" charset="0"/>
              <a:cs typeface="Arial" pitchFamily="34" charset="0"/>
            </a:endParaRPr>
          </a:p>
          <a:p>
            <a:pPr algn="just"/>
            <a:r>
              <a:rPr lang="fr-FR" sz="2000" b="1" dirty="0" smtClean="0">
                <a:solidFill>
                  <a:schemeClr val="dk1"/>
                </a:solidFill>
                <a:latin typeface="Arial" pitchFamily="34" charset="0"/>
                <a:ea typeface="Times New Roman" pitchFamily="18" charset="0"/>
                <a:cs typeface="Arial" pitchFamily="34" charset="0"/>
              </a:rPr>
              <a:t>Inconvénients rencontrés :</a:t>
            </a:r>
          </a:p>
          <a:p>
            <a:pPr algn="just"/>
            <a:r>
              <a:rPr lang="fr-FR" sz="2000" dirty="0" smtClean="0">
                <a:solidFill>
                  <a:schemeClr val="dk1"/>
                </a:solidFill>
                <a:latin typeface="Arial" pitchFamily="34" charset="0"/>
                <a:ea typeface="Times New Roman" pitchFamily="18" charset="0"/>
                <a:cs typeface="Arial" pitchFamily="34" charset="0"/>
              </a:rPr>
              <a:t>Le processus de prise de décision a été plus long que prévu, car il a fallu plusieurs réunions pour arriver à un consensus sur certaines fonctionnalités.</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166778" y="1428736"/>
            <a:ext cx="9929882" cy="409342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endParaRPr lang="fr-FR" sz="2000" dirty="0" smtClean="0">
              <a:solidFill>
                <a:schemeClr val="dk1"/>
              </a:solidFill>
              <a:latin typeface="Arial" pitchFamily="34" charset="0"/>
              <a:ea typeface="Times New Roman" pitchFamily="18" charset="0"/>
              <a:cs typeface="Arial" pitchFamily="34" charset="0"/>
            </a:endParaRPr>
          </a:p>
          <a:p>
            <a:pPr algn="just"/>
            <a:r>
              <a:rPr lang="fr-FR" sz="2000" dirty="0" smtClean="0">
                <a:solidFill>
                  <a:schemeClr val="dk1"/>
                </a:solidFill>
                <a:latin typeface="Arial" pitchFamily="34" charset="0"/>
                <a:ea typeface="Times New Roman" pitchFamily="18" charset="0"/>
                <a:cs typeface="Arial" pitchFamily="34" charset="0"/>
              </a:rPr>
              <a:t>Des désaccords sont apparus entre les développeurs et les designers concernant certaines caractéristiques du produit, ce qui a nécessité une médiation pour résoudre les conflits.</a:t>
            </a:r>
          </a:p>
          <a:p>
            <a:pPr algn="just"/>
            <a:endParaRPr lang="fr-FR" sz="2000" dirty="0" smtClean="0">
              <a:solidFill>
                <a:schemeClr val="dk1"/>
              </a:solidFill>
              <a:latin typeface="Arial" pitchFamily="34" charset="0"/>
              <a:ea typeface="Times New Roman" pitchFamily="18" charset="0"/>
              <a:cs typeface="Arial" pitchFamily="34" charset="0"/>
            </a:endParaRPr>
          </a:p>
          <a:p>
            <a:pPr algn="just"/>
            <a:r>
              <a:rPr lang="fr-FR" sz="2000" dirty="0" smtClean="0">
                <a:solidFill>
                  <a:schemeClr val="dk1"/>
                </a:solidFill>
                <a:latin typeface="Arial" pitchFamily="34" charset="0"/>
                <a:ea typeface="Times New Roman" pitchFamily="18" charset="0"/>
                <a:cs typeface="Arial" pitchFamily="34" charset="0"/>
              </a:rPr>
              <a:t>Conclusion</a:t>
            </a:r>
          </a:p>
          <a:p>
            <a:pPr algn="just"/>
            <a:r>
              <a:rPr lang="fr-FR" sz="2000" dirty="0" smtClean="0">
                <a:solidFill>
                  <a:schemeClr val="dk1"/>
                </a:solidFill>
                <a:latin typeface="Arial" pitchFamily="34" charset="0"/>
                <a:ea typeface="Times New Roman" pitchFamily="18" charset="0"/>
                <a:cs typeface="Arial" pitchFamily="34" charset="0"/>
              </a:rPr>
              <a:t>Le management collaboratif présente des avantages significatifs en termes d’engagement, d’innovation et de prise de décision collective. Cependant, il comporte également des défis, notamment en matière de prise de décision rapide et de gestion des conflits. Une mise en œuvre réussie nécessite une attention particulière à la communication et à la clarification des rôles et des responsabilités.</a:t>
            </a:r>
            <a:endParaRPr lang="fr-FR" sz="2000" dirty="0" smtClean="0">
              <a:latin typeface="Arial" pitchFamily="34" charset="0"/>
              <a:ea typeface="Times New Roman" pitchFamily="18" charset="0"/>
              <a:cs typeface="Arial" pitchFamily="34" charset="0"/>
            </a:endParaRPr>
          </a:p>
          <a:p>
            <a:pPr algn="just"/>
            <a:endParaRPr lang="fr-FR" sz="2000" dirty="0" smtClean="0">
              <a:solidFill>
                <a:schemeClr val="dk1"/>
              </a:solidFill>
              <a:latin typeface="Arial" pitchFamily="34" charset="0"/>
              <a:ea typeface="Times New Roman" pitchFamily="18" charset="0"/>
              <a:cs typeface="Arial" pitchFamily="34" charset="0"/>
            </a:endParaRPr>
          </a:p>
          <a:p>
            <a:pPr algn="just"/>
            <a:endParaRPr lang="fr-FR" sz="2000" dirty="0" smtClean="0">
              <a:solidFill>
                <a:schemeClr val="dk1"/>
              </a:solidFill>
              <a:latin typeface="Arial" pitchFamily="34" charset="0"/>
              <a:ea typeface="Times New Roman" pitchFamily="18" charset="0"/>
              <a:cs typeface="Arial" pitchFamily="34" charset="0"/>
            </a:endParaRP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738150" y="1142984"/>
            <a:ext cx="10787138" cy="37856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endParaRPr lang="fr-FR" sz="2000" dirty="0" smtClean="0">
              <a:latin typeface="Arial" pitchFamily="34" charset="0"/>
              <a:ea typeface="Times New Roman" pitchFamily="18" charset="0"/>
              <a:cs typeface="Arial" pitchFamily="34" charset="0"/>
            </a:endParaRPr>
          </a:p>
          <a:p>
            <a:r>
              <a:rPr lang="fr-FR" sz="2000" b="1" dirty="0" smtClean="0">
                <a:solidFill>
                  <a:schemeClr val="accent5">
                    <a:lumMod val="75000"/>
                  </a:schemeClr>
                </a:solidFill>
                <a:latin typeface="Arial" pitchFamily="34" charset="0"/>
                <a:ea typeface="Times New Roman" pitchFamily="18" charset="0"/>
                <a:cs typeface="Arial" pitchFamily="34" charset="0"/>
              </a:rPr>
              <a:t>2- Le Management Constitutionnel :</a:t>
            </a:r>
          </a:p>
          <a:p>
            <a:pPr algn="just"/>
            <a:endParaRPr lang="fr-FR" sz="2000" dirty="0" smtClean="0">
              <a:latin typeface="Arial" pitchFamily="34" charset="0"/>
              <a:ea typeface="Times New Roman" pitchFamily="18" charset="0"/>
              <a:cs typeface="Arial" pitchFamily="34" charset="0"/>
            </a:endParaRPr>
          </a:p>
          <a:p>
            <a:pPr algn="just"/>
            <a:r>
              <a:rPr lang="fr-FR" sz="2000" dirty="0" smtClean="0">
                <a:latin typeface="Arial" pitchFamily="34" charset="0"/>
                <a:ea typeface="Times New Roman" pitchFamily="18" charset="0"/>
                <a:cs typeface="Arial" pitchFamily="34" charset="0"/>
              </a:rPr>
              <a:t>- Système managérial dans lequel ceux qui en ont le pouvoir adoptent une constitution pour l’organisation</a:t>
            </a:r>
            <a:endParaRPr lang="fr-FR" sz="2000" i="1" dirty="0" smtClean="0">
              <a:latin typeface="Arial" pitchFamily="34" charset="0"/>
              <a:ea typeface="Times New Roman" pitchFamily="18" charset="0"/>
              <a:cs typeface="Arial" pitchFamily="34" charset="0"/>
            </a:endParaRPr>
          </a:p>
          <a:p>
            <a:pPr algn="r"/>
            <a:r>
              <a:rPr lang="fr-FR" sz="2000" i="1" dirty="0" smtClean="0">
                <a:latin typeface="Arial" pitchFamily="34" charset="0"/>
                <a:ea typeface="Times New Roman" pitchFamily="18" charset="0"/>
                <a:cs typeface="Arial" pitchFamily="34" charset="0"/>
              </a:rPr>
              <a:t>• Cela régit la façon d’exercer le pouvoir à travers des règles et des processus qui s’appliquent à tous, y compris à eux-mêmes</a:t>
            </a:r>
          </a:p>
          <a:p>
            <a:pPr algn="r"/>
            <a:endParaRPr lang="fr-FR" sz="2000" i="1" dirty="0" smtClean="0">
              <a:latin typeface="Arial" pitchFamily="34" charset="0"/>
              <a:ea typeface="Times New Roman" pitchFamily="18" charset="0"/>
              <a:cs typeface="Arial" pitchFamily="34" charset="0"/>
            </a:endParaRPr>
          </a:p>
          <a:p>
            <a:pPr algn="ctr"/>
            <a:r>
              <a:rPr lang="fr-FR" sz="2000" dirty="0" smtClean="0">
                <a:latin typeface="Arial" pitchFamily="34" charset="0"/>
                <a:ea typeface="Times New Roman" pitchFamily="18" charset="0"/>
                <a:cs typeface="Arial" pitchFamily="34" charset="0"/>
              </a:rPr>
              <a:t>- Ce système permet de passer d’un pouvoir hiérarchique à un pouvoir constitutionnel qui fait loi</a:t>
            </a:r>
          </a:p>
          <a:p>
            <a:pPr indent="1160463" algn="ctr">
              <a:tabLst>
                <a:tab pos="1349375" algn="l"/>
              </a:tabLst>
            </a:pPr>
            <a:r>
              <a:rPr lang="fr-FR" sz="2000" dirty="0" smtClean="0">
                <a:latin typeface="Arial" pitchFamily="34" charset="0"/>
                <a:ea typeface="Times New Roman" pitchFamily="18" charset="0"/>
                <a:cs typeface="Arial" pitchFamily="34" charset="0"/>
              </a:rPr>
              <a:t>• </a:t>
            </a:r>
            <a:r>
              <a:rPr lang="fr-FR" sz="2000" i="1" dirty="0" smtClean="0">
                <a:latin typeface="Arial" pitchFamily="34" charset="0"/>
                <a:ea typeface="Times New Roman" pitchFamily="18" charset="0"/>
                <a:cs typeface="Arial" pitchFamily="34" charset="0"/>
              </a:rPr>
              <a:t>Système encadré et distribué selon les règles de droit définies dans la constitution choisie</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238216" y="2136339"/>
            <a:ext cx="9644130" cy="224676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endParaRPr lang="fr-FR" sz="2000" dirty="0" smtClean="0">
              <a:solidFill>
                <a:schemeClr val="dk1"/>
              </a:solidFill>
              <a:latin typeface="Arial" pitchFamily="34" charset="0"/>
              <a:ea typeface="Times New Roman" pitchFamily="18" charset="0"/>
              <a:cs typeface="Arial" pitchFamily="34" charset="0"/>
            </a:endParaRPr>
          </a:p>
          <a:p>
            <a:pPr algn="just"/>
            <a:r>
              <a:rPr lang="fr-FR" sz="2000" dirty="0" smtClean="0">
                <a:solidFill>
                  <a:schemeClr val="dk1"/>
                </a:solidFill>
                <a:latin typeface="Arial" pitchFamily="34" charset="0"/>
                <a:ea typeface="Times New Roman" pitchFamily="18" charset="0"/>
                <a:cs typeface="Arial" pitchFamily="34" charset="0"/>
              </a:rPr>
              <a:t>En somme, le management constitutionnel est un concept qui fait référence à un système de gestion basé sur des règles et des principes clairement définis, souvent ancrés dans des documents fondateurs ou des statuts. Ce type de management vise à établir un cadre qui garantit la transparence, la responsabilité et la participation des parties prenantes dans la prise de décisions. </a:t>
            </a:r>
          </a:p>
          <a:p>
            <a:pPr algn="just"/>
            <a:endParaRPr lang="fr-FR" sz="2000" dirty="0" smtClean="0">
              <a:solidFill>
                <a:schemeClr val="dk1"/>
              </a:solidFill>
              <a:latin typeface="Arial" pitchFamily="34" charset="0"/>
              <a:ea typeface="Times New Roman" pitchFamily="18" charset="0"/>
              <a:cs typeface="Arial" pitchFamily="34" charset="0"/>
            </a:endParaRP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1"/>
          <p:cNvSpPr>
            <a:spLocks noChangeArrowheads="1"/>
          </p:cNvSpPr>
          <p:nvPr/>
        </p:nvSpPr>
        <p:spPr bwMode="auto">
          <a:xfrm>
            <a:off x="3738546" y="1214422"/>
            <a:ext cx="6143668" cy="61555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fr-FR" sz="1600" b="1" dirty="0" smtClean="0">
                <a:solidFill>
                  <a:schemeClr val="accent6">
                    <a:lumMod val="75000"/>
                  </a:schemeClr>
                </a:solidFill>
                <a:latin typeface="Calibri" pitchFamily="34" charset="0"/>
                <a:ea typeface="Calibri" pitchFamily="34" charset="0"/>
                <a:cs typeface="Arial" pitchFamily="34" charset="0"/>
              </a:rPr>
              <a:t>Avantages et inconvénients du management constitutionnel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4" name="Tableau 3"/>
          <p:cNvGraphicFramePr>
            <a:graphicFrameLocks noGrp="1"/>
          </p:cNvGraphicFramePr>
          <p:nvPr/>
        </p:nvGraphicFramePr>
        <p:xfrm>
          <a:off x="809588" y="1758822"/>
          <a:ext cx="10572824" cy="2902204"/>
        </p:xfrm>
        <a:graphic>
          <a:graphicData uri="http://schemas.openxmlformats.org/drawingml/2006/table">
            <a:tbl>
              <a:tblPr/>
              <a:tblGrid>
                <a:gridCol w="5286412"/>
                <a:gridCol w="5286412"/>
              </a:tblGrid>
              <a:tr h="0">
                <a:tc>
                  <a:txBody>
                    <a:bodyPr/>
                    <a:lstStyle/>
                    <a:p>
                      <a:pPr algn="ctr">
                        <a:lnSpc>
                          <a:spcPct val="115000"/>
                        </a:lnSpc>
                        <a:spcAft>
                          <a:spcPts val="0"/>
                        </a:spcAft>
                      </a:pPr>
                      <a:r>
                        <a:rPr lang="fr-FR" sz="1400" b="1" dirty="0">
                          <a:latin typeface="Calibri"/>
                          <a:ea typeface="Calibri"/>
                          <a:cs typeface="Arial"/>
                        </a:rPr>
                        <a:t>Avantages</a:t>
                      </a:r>
                      <a:endParaRPr lang="fr-FR"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fr-FR" sz="1400" b="1" dirty="0">
                          <a:latin typeface="Calibri"/>
                          <a:ea typeface="Calibri"/>
                          <a:cs typeface="Arial"/>
                        </a:rPr>
                        <a:t>Inconvénients</a:t>
                      </a:r>
                      <a:endParaRPr lang="fr-FR"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lnSpc>
                          <a:spcPct val="115000"/>
                        </a:lnSpc>
                        <a:spcAft>
                          <a:spcPts val="600"/>
                        </a:spcAft>
                      </a:pPr>
                      <a:r>
                        <a:rPr lang="fr-FR" sz="1400" b="1" dirty="0">
                          <a:solidFill>
                            <a:srgbClr val="2D3748"/>
                          </a:solidFill>
                          <a:latin typeface="Segoe UI"/>
                          <a:ea typeface="Times New Roman"/>
                          <a:cs typeface="Arial"/>
                        </a:rPr>
                        <a:t>Clarté et transparence</a:t>
                      </a:r>
                      <a:r>
                        <a:rPr lang="fr-FR" sz="1400" dirty="0">
                          <a:solidFill>
                            <a:srgbClr val="2D3748"/>
                          </a:solidFill>
                          <a:latin typeface="Segoe UI"/>
                          <a:ea typeface="Times New Roman"/>
                          <a:cs typeface="Arial"/>
                        </a:rPr>
                        <a:t> :</a:t>
                      </a:r>
                      <a:endParaRPr lang="fr-FR" sz="1400" dirty="0">
                        <a:latin typeface="Calibri"/>
                        <a:ea typeface="Calibri"/>
                        <a:cs typeface="Arial"/>
                      </a:endParaRPr>
                    </a:p>
                    <a:p>
                      <a:pPr marL="742950" lvl="1" indent="-285750" algn="just">
                        <a:lnSpc>
                          <a:spcPct val="115000"/>
                        </a:lnSpc>
                        <a:spcAft>
                          <a:spcPts val="360"/>
                        </a:spcAft>
                        <a:buSzPts val="1000"/>
                        <a:buFont typeface="Symbol"/>
                        <a:buChar char=""/>
                      </a:pPr>
                      <a:r>
                        <a:rPr lang="fr-FR" sz="1400" dirty="0">
                          <a:solidFill>
                            <a:srgbClr val="2D3748"/>
                          </a:solidFill>
                          <a:latin typeface="Segoe UI"/>
                          <a:ea typeface="Times New Roman"/>
                          <a:cs typeface="Arial"/>
                        </a:rPr>
                        <a:t>Les règles et les processus clairement définis permettent à tous les membres de l’organisation de comprendre leurs rôles et responsabilités, ce qui favorise la transparence dans la prise de décision.</a:t>
                      </a:r>
                      <a:endParaRPr lang="fr-FR" sz="1400" dirty="0">
                        <a:latin typeface="Calibri"/>
                        <a:ea typeface="Calibri"/>
                        <a:cs typeface="Arial"/>
                      </a:endParaRPr>
                    </a:p>
                    <a:p>
                      <a:pPr algn="just">
                        <a:lnSpc>
                          <a:spcPct val="115000"/>
                        </a:lnSpc>
                        <a:spcAft>
                          <a:spcPts val="600"/>
                        </a:spcAft>
                      </a:pPr>
                      <a:r>
                        <a:rPr lang="fr-FR" sz="1400" b="1" dirty="0">
                          <a:solidFill>
                            <a:srgbClr val="2D3748"/>
                          </a:solidFill>
                          <a:latin typeface="Segoe UI"/>
                          <a:ea typeface="Times New Roman"/>
                          <a:cs typeface="Arial"/>
                        </a:rPr>
                        <a:t>Responsabilité</a:t>
                      </a:r>
                      <a:r>
                        <a:rPr lang="fr-FR" sz="1400" dirty="0">
                          <a:solidFill>
                            <a:srgbClr val="2D3748"/>
                          </a:solidFill>
                          <a:latin typeface="Segoe UI"/>
                          <a:ea typeface="Times New Roman"/>
                          <a:cs typeface="Arial"/>
                        </a:rPr>
                        <a:t> :</a:t>
                      </a:r>
                      <a:endParaRPr lang="fr-FR" sz="1400" dirty="0">
                        <a:latin typeface="Calibri"/>
                        <a:ea typeface="Calibri"/>
                        <a:cs typeface="Arial"/>
                      </a:endParaRPr>
                    </a:p>
                    <a:p>
                      <a:pPr marL="742950" lvl="1" indent="-285750" algn="just">
                        <a:lnSpc>
                          <a:spcPct val="115000"/>
                        </a:lnSpc>
                        <a:spcAft>
                          <a:spcPts val="360"/>
                        </a:spcAft>
                        <a:buSzPts val="1000"/>
                        <a:buFont typeface="Symbol"/>
                        <a:buChar char=""/>
                      </a:pPr>
                      <a:r>
                        <a:rPr lang="fr-FR" sz="1400" dirty="0">
                          <a:solidFill>
                            <a:srgbClr val="2D3748"/>
                          </a:solidFill>
                          <a:latin typeface="Segoe UI"/>
                          <a:ea typeface="Times New Roman"/>
                          <a:cs typeface="Arial"/>
                        </a:rPr>
                        <a:t>Avec un cadre constitutionnel, les acteurs de l’organisation sont tenus responsables de leurs actions. Cela crée un environnement de confiance où chacun sait qu’il doit rendre des comptes.</a:t>
                      </a:r>
                      <a:endParaRPr lang="fr-FR"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600"/>
                        </a:spcAft>
                      </a:pPr>
                      <a:r>
                        <a:rPr lang="fr-FR" sz="1400" b="1" dirty="0">
                          <a:solidFill>
                            <a:srgbClr val="2D3748"/>
                          </a:solidFill>
                          <a:latin typeface="Segoe UI"/>
                          <a:ea typeface="Times New Roman"/>
                          <a:cs typeface="Arial"/>
                        </a:rPr>
                        <a:t>Rigidité</a:t>
                      </a:r>
                      <a:r>
                        <a:rPr lang="fr-FR" sz="1400" dirty="0">
                          <a:solidFill>
                            <a:srgbClr val="2D3748"/>
                          </a:solidFill>
                          <a:latin typeface="Segoe UI"/>
                          <a:ea typeface="Times New Roman"/>
                          <a:cs typeface="Arial"/>
                        </a:rPr>
                        <a:t> :</a:t>
                      </a:r>
                      <a:endParaRPr lang="fr-FR" sz="1400" dirty="0">
                        <a:latin typeface="Calibri"/>
                        <a:ea typeface="Calibri"/>
                        <a:cs typeface="Arial"/>
                      </a:endParaRPr>
                    </a:p>
                    <a:p>
                      <a:pPr marL="742950" lvl="1" indent="-285750" algn="just">
                        <a:lnSpc>
                          <a:spcPct val="115000"/>
                        </a:lnSpc>
                        <a:spcAft>
                          <a:spcPts val="360"/>
                        </a:spcAft>
                        <a:buSzPts val="1000"/>
                        <a:buFont typeface="Symbol"/>
                        <a:buChar char=""/>
                      </a:pPr>
                      <a:r>
                        <a:rPr lang="fr-FR" sz="1400" dirty="0">
                          <a:solidFill>
                            <a:srgbClr val="2D3748"/>
                          </a:solidFill>
                          <a:latin typeface="Segoe UI"/>
                          <a:ea typeface="Times New Roman"/>
                          <a:cs typeface="Arial"/>
                        </a:rPr>
                        <a:t>La structure rigide des règles et des procédures peut rendre l’organisation moins flexible et moins capable de s’adapter rapidement aux changements de l’environnement externe.</a:t>
                      </a:r>
                      <a:endParaRPr lang="fr-FR" sz="1400" dirty="0">
                        <a:latin typeface="Calibri"/>
                        <a:ea typeface="Calibri"/>
                        <a:cs typeface="Arial"/>
                      </a:endParaRPr>
                    </a:p>
                    <a:p>
                      <a:pPr>
                        <a:lnSpc>
                          <a:spcPct val="115000"/>
                        </a:lnSpc>
                        <a:spcAft>
                          <a:spcPts val="600"/>
                        </a:spcAft>
                      </a:pPr>
                      <a:r>
                        <a:rPr lang="fr-FR" sz="1400" b="1" dirty="0">
                          <a:solidFill>
                            <a:srgbClr val="2D3748"/>
                          </a:solidFill>
                          <a:latin typeface="Segoe UI"/>
                          <a:ea typeface="Times New Roman"/>
                          <a:cs typeface="Arial"/>
                        </a:rPr>
                        <a:t>Bureaucratie</a:t>
                      </a:r>
                      <a:r>
                        <a:rPr lang="fr-FR" sz="1400" dirty="0">
                          <a:solidFill>
                            <a:srgbClr val="2D3748"/>
                          </a:solidFill>
                          <a:latin typeface="Segoe UI"/>
                          <a:ea typeface="Times New Roman"/>
                          <a:cs typeface="Arial"/>
                        </a:rPr>
                        <a:t> :</a:t>
                      </a:r>
                      <a:endParaRPr lang="fr-FR" sz="1400" dirty="0">
                        <a:latin typeface="Calibri"/>
                        <a:ea typeface="Calibri"/>
                        <a:cs typeface="Arial"/>
                      </a:endParaRPr>
                    </a:p>
                    <a:p>
                      <a:pPr marL="742950" lvl="1" indent="-285750" algn="just">
                        <a:lnSpc>
                          <a:spcPct val="115000"/>
                        </a:lnSpc>
                        <a:spcAft>
                          <a:spcPts val="360"/>
                        </a:spcAft>
                        <a:buSzPts val="1000"/>
                        <a:buFont typeface="Symbol"/>
                        <a:buChar char=""/>
                      </a:pPr>
                      <a:r>
                        <a:rPr lang="fr-FR" sz="1400" dirty="0">
                          <a:solidFill>
                            <a:srgbClr val="2D3748"/>
                          </a:solidFill>
                          <a:latin typeface="Segoe UI"/>
                          <a:ea typeface="Times New Roman"/>
                          <a:cs typeface="Arial"/>
                        </a:rPr>
                        <a:t>L’accent mis sur les règles et les procédures peut conduire à une bureaucratie excessive, ralentissant le processus de prise de décision et la capacité d’innovation.</a:t>
                      </a:r>
                      <a:endParaRPr lang="fr-FR"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graphicFrame>
        <p:nvGraphicFramePr>
          <p:cNvPr id="3" name="Tableau 2"/>
          <p:cNvGraphicFramePr>
            <a:graphicFrameLocks noGrp="1"/>
          </p:cNvGraphicFramePr>
          <p:nvPr/>
        </p:nvGraphicFramePr>
        <p:xfrm>
          <a:off x="1023902" y="1758822"/>
          <a:ext cx="10072758" cy="3147568"/>
        </p:xfrm>
        <a:graphic>
          <a:graphicData uri="http://schemas.openxmlformats.org/drawingml/2006/table">
            <a:tbl>
              <a:tblPr/>
              <a:tblGrid>
                <a:gridCol w="5036379"/>
                <a:gridCol w="5036379"/>
              </a:tblGrid>
              <a:tr h="0">
                <a:tc>
                  <a:txBody>
                    <a:bodyPr/>
                    <a:lstStyle/>
                    <a:p>
                      <a:pPr algn="ctr">
                        <a:lnSpc>
                          <a:spcPct val="115000"/>
                        </a:lnSpc>
                        <a:spcAft>
                          <a:spcPts val="0"/>
                        </a:spcAft>
                      </a:pPr>
                      <a:r>
                        <a:rPr lang="fr-FR" sz="1400" b="1" dirty="0">
                          <a:latin typeface="Calibri"/>
                          <a:ea typeface="Calibri"/>
                          <a:cs typeface="Arial"/>
                        </a:rPr>
                        <a:t>Avantages</a:t>
                      </a:r>
                      <a:endParaRPr lang="fr-FR"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fr-FR" sz="1400" b="1" dirty="0">
                          <a:latin typeface="Calibri"/>
                          <a:ea typeface="Calibri"/>
                          <a:cs typeface="Arial"/>
                        </a:rPr>
                        <a:t>Inconvénients</a:t>
                      </a:r>
                      <a:endParaRPr lang="fr-FR"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lnSpc>
                          <a:spcPct val="115000"/>
                        </a:lnSpc>
                        <a:spcAft>
                          <a:spcPts val="600"/>
                        </a:spcAft>
                      </a:pPr>
                      <a:r>
                        <a:rPr lang="fr-FR" sz="1400" b="1" dirty="0">
                          <a:solidFill>
                            <a:srgbClr val="2D3748"/>
                          </a:solidFill>
                          <a:latin typeface="Segoe UI"/>
                          <a:ea typeface="Times New Roman"/>
                          <a:cs typeface="Arial"/>
                        </a:rPr>
                        <a:t>Stabilité</a:t>
                      </a:r>
                      <a:r>
                        <a:rPr lang="fr-FR" sz="1400" dirty="0">
                          <a:solidFill>
                            <a:srgbClr val="2D3748"/>
                          </a:solidFill>
                          <a:latin typeface="Segoe UI"/>
                          <a:ea typeface="Times New Roman"/>
                          <a:cs typeface="Arial"/>
                        </a:rPr>
                        <a:t> :</a:t>
                      </a:r>
                      <a:endParaRPr lang="fr-FR" sz="1400" dirty="0">
                        <a:latin typeface="Calibri"/>
                        <a:ea typeface="Calibri"/>
                        <a:cs typeface="Arial"/>
                      </a:endParaRPr>
                    </a:p>
                    <a:p>
                      <a:pPr marL="742950" lvl="1" indent="-285750" algn="just">
                        <a:lnSpc>
                          <a:spcPct val="115000"/>
                        </a:lnSpc>
                        <a:spcAft>
                          <a:spcPts val="360"/>
                        </a:spcAft>
                        <a:buSzPts val="1000"/>
                        <a:buFont typeface="Symbol"/>
                        <a:buChar char=""/>
                      </a:pPr>
                      <a:r>
                        <a:rPr lang="fr-FR" sz="1400" dirty="0">
                          <a:solidFill>
                            <a:srgbClr val="2D3748"/>
                          </a:solidFill>
                          <a:latin typeface="Segoe UI"/>
                          <a:ea typeface="Times New Roman"/>
                          <a:cs typeface="Arial"/>
                        </a:rPr>
                        <a:t>Les principes constitutionnels fournissent une stabilité organisationnelle, car ils ne changent pas fréquemment. Cela permet aux employés de se concentrer sur leurs tâches sans craindre des changements arbitraires.</a:t>
                      </a:r>
                      <a:endParaRPr lang="fr-FR" sz="1400" dirty="0">
                        <a:latin typeface="Calibri"/>
                        <a:ea typeface="Calibri"/>
                        <a:cs typeface="Arial"/>
                      </a:endParaRPr>
                    </a:p>
                    <a:p>
                      <a:pPr algn="just">
                        <a:lnSpc>
                          <a:spcPct val="115000"/>
                        </a:lnSpc>
                        <a:spcAft>
                          <a:spcPts val="600"/>
                        </a:spcAft>
                      </a:pPr>
                      <a:r>
                        <a:rPr lang="fr-FR" sz="1400" b="1" dirty="0">
                          <a:solidFill>
                            <a:srgbClr val="2D3748"/>
                          </a:solidFill>
                          <a:latin typeface="Segoe UI"/>
                          <a:ea typeface="Times New Roman"/>
                          <a:cs typeface="Arial"/>
                        </a:rPr>
                        <a:t>Protection des droits</a:t>
                      </a:r>
                      <a:r>
                        <a:rPr lang="fr-FR" sz="1400" dirty="0">
                          <a:solidFill>
                            <a:srgbClr val="2D3748"/>
                          </a:solidFill>
                          <a:latin typeface="Segoe UI"/>
                          <a:ea typeface="Times New Roman"/>
                          <a:cs typeface="Arial"/>
                        </a:rPr>
                        <a:t> :</a:t>
                      </a:r>
                      <a:endParaRPr lang="fr-FR" sz="1400" dirty="0">
                        <a:latin typeface="Calibri"/>
                        <a:ea typeface="Calibri"/>
                        <a:cs typeface="Arial"/>
                      </a:endParaRPr>
                    </a:p>
                    <a:p>
                      <a:pPr marL="742950" lvl="1" indent="-285750" algn="just">
                        <a:lnSpc>
                          <a:spcPct val="115000"/>
                        </a:lnSpc>
                        <a:spcAft>
                          <a:spcPts val="360"/>
                        </a:spcAft>
                        <a:buSzPts val="1000"/>
                        <a:buFont typeface="Symbol"/>
                        <a:buChar char=""/>
                      </a:pPr>
                      <a:r>
                        <a:rPr lang="fr-FR" sz="1400" dirty="0">
                          <a:solidFill>
                            <a:srgbClr val="2D3748"/>
                          </a:solidFill>
                          <a:latin typeface="Segoe UI"/>
                          <a:ea typeface="Times New Roman"/>
                          <a:cs typeface="Arial"/>
                        </a:rPr>
                        <a:t>Un cadre constitutionnel peut inclure des protections pour les droits des employés et des parties prenantes, garantissant ainsi un environnement de travail équitable.</a:t>
                      </a:r>
                      <a:endParaRPr lang="fr-FR"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600"/>
                        </a:spcAft>
                      </a:pPr>
                      <a:r>
                        <a:rPr lang="fr-FR" sz="1400" b="1" dirty="0">
                          <a:solidFill>
                            <a:srgbClr val="2D3748"/>
                          </a:solidFill>
                          <a:latin typeface="Segoe UI"/>
                          <a:ea typeface="Times New Roman"/>
                          <a:cs typeface="Arial"/>
                        </a:rPr>
                        <a:t>Complexité</a:t>
                      </a:r>
                      <a:r>
                        <a:rPr lang="fr-FR" sz="1400" dirty="0">
                          <a:solidFill>
                            <a:srgbClr val="2D3748"/>
                          </a:solidFill>
                          <a:latin typeface="Segoe UI"/>
                          <a:ea typeface="Times New Roman"/>
                          <a:cs typeface="Arial"/>
                        </a:rPr>
                        <a:t> :</a:t>
                      </a:r>
                      <a:endParaRPr lang="fr-FR" sz="1400" dirty="0">
                        <a:latin typeface="Calibri"/>
                        <a:ea typeface="Calibri"/>
                        <a:cs typeface="Arial"/>
                      </a:endParaRPr>
                    </a:p>
                    <a:p>
                      <a:pPr marL="742950" lvl="1" indent="-285750" algn="just">
                        <a:lnSpc>
                          <a:spcPct val="115000"/>
                        </a:lnSpc>
                        <a:spcAft>
                          <a:spcPts val="360"/>
                        </a:spcAft>
                        <a:buSzPts val="1000"/>
                        <a:buFont typeface="Symbol"/>
                        <a:buChar char=""/>
                      </a:pPr>
                      <a:r>
                        <a:rPr lang="fr-FR" sz="1400" dirty="0">
                          <a:solidFill>
                            <a:srgbClr val="2D3748"/>
                          </a:solidFill>
                          <a:latin typeface="Segoe UI"/>
                          <a:ea typeface="Times New Roman"/>
                          <a:cs typeface="Arial"/>
                        </a:rPr>
                        <a:t>La mise en place et le maintien d’un système de management constitutionnel peuvent être complexes et nécessiter des ressources importantes pour assurer la conformité et la formation.</a:t>
                      </a:r>
                      <a:endParaRPr lang="fr-FR" sz="1400" dirty="0">
                        <a:latin typeface="Calibri"/>
                        <a:ea typeface="Calibri"/>
                        <a:cs typeface="Arial"/>
                      </a:endParaRPr>
                    </a:p>
                    <a:p>
                      <a:pPr>
                        <a:lnSpc>
                          <a:spcPct val="115000"/>
                        </a:lnSpc>
                        <a:spcAft>
                          <a:spcPts val="600"/>
                        </a:spcAft>
                      </a:pPr>
                      <a:r>
                        <a:rPr lang="fr-FR" sz="1400" b="1" dirty="0">
                          <a:solidFill>
                            <a:srgbClr val="2D3748"/>
                          </a:solidFill>
                          <a:latin typeface="Segoe UI"/>
                          <a:ea typeface="Times New Roman"/>
                          <a:cs typeface="Arial"/>
                        </a:rPr>
                        <a:t>Résistance au changement</a:t>
                      </a:r>
                      <a:r>
                        <a:rPr lang="fr-FR" sz="1400" dirty="0">
                          <a:solidFill>
                            <a:srgbClr val="2D3748"/>
                          </a:solidFill>
                          <a:latin typeface="Segoe UI"/>
                          <a:ea typeface="Times New Roman"/>
                          <a:cs typeface="Arial"/>
                        </a:rPr>
                        <a:t> :</a:t>
                      </a:r>
                      <a:endParaRPr lang="fr-FR" sz="1400" dirty="0">
                        <a:latin typeface="Calibri"/>
                        <a:ea typeface="Calibri"/>
                        <a:cs typeface="Arial"/>
                      </a:endParaRPr>
                    </a:p>
                    <a:p>
                      <a:pPr marL="742950" lvl="1" indent="-285750" algn="just">
                        <a:lnSpc>
                          <a:spcPct val="115000"/>
                        </a:lnSpc>
                        <a:spcAft>
                          <a:spcPts val="360"/>
                        </a:spcAft>
                        <a:buSzPts val="1000"/>
                        <a:buFont typeface="Symbol"/>
                        <a:buChar char=""/>
                        <a:tabLst>
                          <a:tab pos="226060" algn="l"/>
                        </a:tabLst>
                      </a:pPr>
                      <a:r>
                        <a:rPr lang="fr-FR" sz="1400" dirty="0">
                          <a:solidFill>
                            <a:srgbClr val="2D3748"/>
                          </a:solidFill>
                          <a:latin typeface="Segoe UI"/>
                          <a:ea typeface="Times New Roman"/>
                          <a:cs typeface="Arial"/>
                        </a:rPr>
                        <a:t>Les employés peuvent être réticents à adopter de nouveaux processus ou à modifier les règles établies, même si cela est nécessaire pour l’amélioration.</a:t>
                      </a:r>
                      <a:endParaRPr lang="fr-FR"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952464" y="1214422"/>
            <a:ext cx="10358510" cy="37856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endParaRPr lang="fr-FR" sz="2000" b="1" dirty="0" smtClean="0">
              <a:solidFill>
                <a:schemeClr val="accent5">
                  <a:lumMod val="75000"/>
                </a:schemeClr>
              </a:solidFill>
              <a:latin typeface="Arial" pitchFamily="34" charset="0"/>
              <a:ea typeface="Times New Roman" pitchFamily="18" charset="0"/>
              <a:cs typeface="Arial" pitchFamily="34" charset="0"/>
            </a:endParaRPr>
          </a:p>
          <a:p>
            <a:pPr algn="just"/>
            <a:r>
              <a:rPr lang="fr-FR" sz="2000" b="1" dirty="0" smtClean="0">
                <a:solidFill>
                  <a:schemeClr val="accent5">
                    <a:lumMod val="75000"/>
                  </a:schemeClr>
                </a:solidFill>
                <a:latin typeface="Arial" pitchFamily="34" charset="0"/>
                <a:ea typeface="Times New Roman" pitchFamily="18" charset="0"/>
                <a:cs typeface="Arial" pitchFamily="34" charset="0"/>
              </a:rPr>
              <a:t>3- Le Management Cellulaire:</a:t>
            </a:r>
          </a:p>
          <a:p>
            <a:pPr algn="just"/>
            <a:endParaRPr lang="fr-FR" sz="2000" dirty="0" smtClean="0">
              <a:solidFill>
                <a:schemeClr val="dk1"/>
              </a:solidFill>
              <a:latin typeface="Arial" pitchFamily="34" charset="0"/>
              <a:ea typeface="Times New Roman" pitchFamily="18" charset="0"/>
              <a:cs typeface="Arial" pitchFamily="34" charset="0"/>
            </a:endParaRPr>
          </a:p>
          <a:p>
            <a:pPr algn="just"/>
            <a:r>
              <a:rPr lang="fr-FR" sz="2000" dirty="0" smtClean="0">
                <a:solidFill>
                  <a:schemeClr val="dk1"/>
                </a:solidFill>
                <a:latin typeface="Arial" pitchFamily="34" charset="0"/>
                <a:ea typeface="Times New Roman" pitchFamily="18" charset="0"/>
                <a:cs typeface="Arial" pitchFamily="34" charset="0"/>
              </a:rPr>
              <a:t>• Gestion d’une entreprise sans hiérarchie:</a:t>
            </a:r>
          </a:p>
          <a:p>
            <a:pPr indent="812800" algn="just"/>
            <a:r>
              <a:rPr lang="fr-FR" sz="2000" dirty="0" smtClean="0">
                <a:solidFill>
                  <a:schemeClr val="dk1"/>
                </a:solidFill>
                <a:latin typeface="Arial" pitchFamily="34" charset="0"/>
                <a:ea typeface="Times New Roman" pitchFamily="18" charset="0"/>
                <a:cs typeface="Arial" pitchFamily="34" charset="0"/>
              </a:rPr>
              <a:t>• Management sans managers</a:t>
            </a:r>
          </a:p>
          <a:p>
            <a:pPr indent="812800" algn="just"/>
            <a:r>
              <a:rPr lang="fr-FR" sz="2000" dirty="0" smtClean="0">
                <a:solidFill>
                  <a:schemeClr val="dk1"/>
                </a:solidFill>
                <a:latin typeface="Arial" pitchFamily="34" charset="0"/>
                <a:ea typeface="Times New Roman" pitchFamily="18" charset="0"/>
                <a:cs typeface="Arial" pitchFamily="34" charset="0"/>
              </a:rPr>
              <a:t>• Tous les employés sont sur un pied d'égalité</a:t>
            </a:r>
          </a:p>
          <a:p>
            <a:pPr indent="812800" algn="just"/>
            <a:endParaRPr lang="fr-FR" sz="2000" dirty="0" smtClean="0">
              <a:solidFill>
                <a:schemeClr val="dk1"/>
              </a:solidFill>
              <a:latin typeface="Arial" pitchFamily="34" charset="0"/>
              <a:ea typeface="Times New Roman" pitchFamily="18" charset="0"/>
              <a:cs typeface="Arial" pitchFamily="34" charset="0"/>
            </a:endParaRPr>
          </a:p>
          <a:p>
            <a:pPr algn="just"/>
            <a:r>
              <a:rPr lang="fr-FR" sz="2000" dirty="0" smtClean="0">
                <a:solidFill>
                  <a:schemeClr val="dk1"/>
                </a:solidFill>
                <a:latin typeface="Arial" pitchFamily="34" charset="0"/>
                <a:ea typeface="Times New Roman" pitchFamily="18" charset="0"/>
                <a:cs typeface="Arial" pitchFamily="34" charset="0"/>
              </a:rPr>
              <a:t>• Les recrutements se font de manière collaborative et une personne choisie par l'équipe est nommée en qualité de référent</a:t>
            </a:r>
          </a:p>
          <a:p>
            <a:pPr algn="just"/>
            <a:r>
              <a:rPr lang="fr-FR" sz="2000" dirty="0" smtClean="0">
                <a:solidFill>
                  <a:schemeClr val="dk1"/>
                </a:solidFill>
                <a:latin typeface="Arial" pitchFamily="34" charset="0"/>
                <a:ea typeface="Times New Roman" pitchFamily="18" charset="0"/>
                <a:cs typeface="Arial" pitchFamily="34" charset="0"/>
              </a:rPr>
              <a:t>• Ce nouveau management permettrait notamment aux différents employés de gagner en responsabilisation et prise d'initiative</a:t>
            </a:r>
          </a:p>
          <a:p>
            <a:pPr algn="just"/>
            <a:endParaRPr lang="fr-FR" sz="2000" dirty="0" smtClean="0">
              <a:solidFill>
                <a:schemeClr val="dk1"/>
              </a:solidFill>
              <a:latin typeface="Arial" pitchFamily="34" charset="0"/>
              <a:ea typeface="Times New Roman" pitchFamily="18" charset="0"/>
              <a:cs typeface="Arial" pitchFamily="34" charset="0"/>
            </a:endParaRP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809588" y="2143116"/>
            <a:ext cx="10501386" cy="193899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dirty="0" smtClean="0">
                <a:latin typeface="Arial" pitchFamily="34" charset="0"/>
                <a:ea typeface="Times New Roman" pitchFamily="18" charset="0"/>
                <a:cs typeface="Arial" pitchFamily="34" charset="0"/>
              </a:rPr>
              <a:t>En somme, </a:t>
            </a:r>
            <a:r>
              <a:rPr lang="fr-FR" sz="2000" dirty="0" smtClean="0">
                <a:solidFill>
                  <a:schemeClr val="dk1"/>
                </a:solidFill>
                <a:latin typeface="Arial" pitchFamily="34" charset="0"/>
                <a:ea typeface="Times New Roman" pitchFamily="18" charset="0"/>
                <a:cs typeface="Arial" pitchFamily="34" charset="0"/>
              </a:rPr>
              <a:t>le management cellulaire est un modèle organisationnel qui repose sur la création de petites équipes autonomes, appelées « cellules », qui sont responsables de la réalisation de projets ou de tâches spécifiques. Chaque cellule fonctionne comme une mini-organisation, avec son propre ensemble de compétences, de ressources et d’autonomie décisionnelle. Voici un aperçu des avantages et des inconvénients du management cellulaire, accompagné d’un exemple concret.</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1"/>
          <p:cNvSpPr>
            <a:spLocks noChangeArrowheads="1"/>
          </p:cNvSpPr>
          <p:nvPr/>
        </p:nvSpPr>
        <p:spPr bwMode="auto">
          <a:xfrm>
            <a:off x="3952860" y="1357298"/>
            <a:ext cx="7215238" cy="61555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225425" algn="l"/>
              </a:tabLst>
            </a:pPr>
            <a:r>
              <a:rPr lang="fr-FR" sz="1600" b="1" dirty="0" smtClean="0">
                <a:solidFill>
                  <a:schemeClr val="accent6">
                    <a:lumMod val="75000"/>
                  </a:schemeClr>
                </a:solidFill>
                <a:latin typeface="Calibri" pitchFamily="34" charset="0"/>
                <a:ea typeface="Calibri" pitchFamily="34" charset="0"/>
                <a:cs typeface="Arial" pitchFamily="34" charset="0"/>
              </a:rPr>
              <a:t>Avantages et inconvénients du management cellulaire</a:t>
            </a:r>
          </a:p>
          <a:p>
            <a:pPr marL="0" marR="0" lvl="0" indent="0" algn="l" defTabSz="914400" rtl="0" eaLnBrk="0" fontAlgn="base" latinLnBrk="0" hangingPunct="0">
              <a:lnSpc>
                <a:spcPct val="100000"/>
              </a:lnSpc>
              <a:spcBef>
                <a:spcPct val="0"/>
              </a:spcBef>
              <a:spcAft>
                <a:spcPct val="0"/>
              </a:spcAft>
              <a:buClrTx/>
              <a:buSzTx/>
              <a:buFontTx/>
              <a:buNone/>
              <a:tabLst>
                <a:tab pos="225425" algn="l"/>
              </a:tabLst>
            </a:pP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4" name="Tableau 3"/>
          <p:cNvGraphicFramePr>
            <a:graphicFrameLocks noGrp="1"/>
          </p:cNvGraphicFramePr>
          <p:nvPr/>
        </p:nvGraphicFramePr>
        <p:xfrm>
          <a:off x="666712" y="1850834"/>
          <a:ext cx="10858576" cy="3494532"/>
        </p:xfrm>
        <a:graphic>
          <a:graphicData uri="http://schemas.openxmlformats.org/drawingml/2006/table">
            <a:tbl>
              <a:tblPr/>
              <a:tblGrid>
                <a:gridCol w="5429288"/>
                <a:gridCol w="5429288"/>
              </a:tblGrid>
              <a:tr h="0">
                <a:tc>
                  <a:txBody>
                    <a:bodyPr/>
                    <a:lstStyle/>
                    <a:p>
                      <a:pPr algn="ctr">
                        <a:lnSpc>
                          <a:spcPct val="115000"/>
                        </a:lnSpc>
                        <a:spcAft>
                          <a:spcPts val="0"/>
                        </a:spcAft>
                      </a:pPr>
                      <a:r>
                        <a:rPr lang="fr-FR" sz="1400" b="1" dirty="0">
                          <a:latin typeface="Calibri"/>
                          <a:ea typeface="Calibri"/>
                          <a:cs typeface="Arial"/>
                        </a:rPr>
                        <a:t>Avantages</a:t>
                      </a:r>
                      <a:endParaRPr lang="fr-FR"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fr-FR" sz="1400" b="1" dirty="0">
                          <a:latin typeface="Calibri"/>
                          <a:ea typeface="Calibri"/>
                          <a:cs typeface="Arial"/>
                        </a:rPr>
                        <a:t>Inconvénients</a:t>
                      </a:r>
                      <a:endParaRPr lang="fr-FR"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nSpc>
                          <a:spcPct val="115000"/>
                        </a:lnSpc>
                        <a:spcAft>
                          <a:spcPts val="600"/>
                        </a:spcAft>
                      </a:pPr>
                      <a:r>
                        <a:rPr lang="fr-FR" sz="1400" b="1" dirty="0">
                          <a:solidFill>
                            <a:srgbClr val="2D3748"/>
                          </a:solidFill>
                          <a:latin typeface="Segoe UI"/>
                          <a:ea typeface="Times New Roman"/>
                          <a:cs typeface="Arial"/>
                        </a:rPr>
                        <a:t>Autonomie et Responsabilité</a:t>
                      </a:r>
                      <a:r>
                        <a:rPr lang="fr-FR" sz="1400" dirty="0">
                          <a:solidFill>
                            <a:srgbClr val="2D3748"/>
                          </a:solidFill>
                          <a:latin typeface="Segoe UI"/>
                          <a:ea typeface="Times New Roman"/>
                          <a:cs typeface="Arial"/>
                        </a:rPr>
                        <a:t> :</a:t>
                      </a:r>
                      <a:endParaRPr lang="fr-FR" sz="1400" dirty="0">
                        <a:latin typeface="Calibri"/>
                        <a:ea typeface="Calibri"/>
                        <a:cs typeface="Arial"/>
                      </a:endParaRPr>
                    </a:p>
                    <a:p>
                      <a:pPr marL="742950" lvl="1" indent="-285750" algn="just">
                        <a:lnSpc>
                          <a:spcPct val="115000"/>
                        </a:lnSpc>
                        <a:spcAft>
                          <a:spcPts val="360"/>
                        </a:spcAft>
                        <a:buSzPts val="1000"/>
                        <a:buFont typeface="Symbol"/>
                        <a:buChar char=""/>
                      </a:pPr>
                      <a:r>
                        <a:rPr lang="fr-FR" sz="1400" dirty="0">
                          <a:solidFill>
                            <a:srgbClr val="2D3748"/>
                          </a:solidFill>
                          <a:latin typeface="Segoe UI"/>
                          <a:ea typeface="Times New Roman"/>
                          <a:cs typeface="Arial"/>
                        </a:rPr>
                        <a:t>Les cellules disposent d’une grande autonomie pour prendre des décisions, ce qui favorise un sens de la responsabilité et de l’engagement chez les membres de l’équipe.</a:t>
                      </a:r>
                      <a:endParaRPr lang="fr-FR" sz="1400" dirty="0">
                        <a:latin typeface="Calibri"/>
                        <a:ea typeface="Calibri"/>
                        <a:cs typeface="Arial"/>
                      </a:endParaRPr>
                    </a:p>
                    <a:p>
                      <a:pPr>
                        <a:lnSpc>
                          <a:spcPct val="115000"/>
                        </a:lnSpc>
                        <a:spcAft>
                          <a:spcPts val="600"/>
                        </a:spcAft>
                      </a:pPr>
                      <a:r>
                        <a:rPr lang="fr-FR" sz="1400" b="1" dirty="0">
                          <a:solidFill>
                            <a:srgbClr val="2D3748"/>
                          </a:solidFill>
                          <a:latin typeface="Segoe UI"/>
                          <a:ea typeface="Times New Roman"/>
                          <a:cs typeface="Arial"/>
                        </a:rPr>
                        <a:t>Flexibilité et Réactivité</a:t>
                      </a:r>
                      <a:r>
                        <a:rPr lang="fr-FR" sz="1400" dirty="0">
                          <a:solidFill>
                            <a:srgbClr val="2D3748"/>
                          </a:solidFill>
                          <a:latin typeface="Segoe UI"/>
                          <a:ea typeface="Times New Roman"/>
                          <a:cs typeface="Arial"/>
                        </a:rPr>
                        <a:t> :</a:t>
                      </a:r>
                      <a:endParaRPr lang="fr-FR" sz="1400" dirty="0">
                        <a:latin typeface="Calibri"/>
                        <a:ea typeface="Calibri"/>
                        <a:cs typeface="Arial"/>
                      </a:endParaRPr>
                    </a:p>
                    <a:p>
                      <a:pPr marL="742950" lvl="1" indent="-285750" algn="just">
                        <a:lnSpc>
                          <a:spcPct val="115000"/>
                        </a:lnSpc>
                        <a:spcAft>
                          <a:spcPts val="360"/>
                        </a:spcAft>
                        <a:buSzPts val="1000"/>
                        <a:buFont typeface="Symbol"/>
                        <a:buChar char=""/>
                      </a:pPr>
                      <a:r>
                        <a:rPr lang="fr-FR" sz="1400" dirty="0">
                          <a:solidFill>
                            <a:srgbClr val="2D3748"/>
                          </a:solidFill>
                          <a:latin typeface="Segoe UI"/>
                          <a:ea typeface="Times New Roman"/>
                          <a:cs typeface="Arial"/>
                        </a:rPr>
                        <a:t>Les cellules peuvent s’adapter rapidement aux changements et aux besoins du marché, car elles sont plus petites et peuvent prendre des décisions sans passer par plusieurs niveaux de hiérarchie</a:t>
                      </a:r>
                      <a:r>
                        <a:rPr lang="fr-FR" sz="1400" dirty="0" smtClean="0">
                          <a:solidFill>
                            <a:srgbClr val="2D3748"/>
                          </a:solidFill>
                          <a:latin typeface="Segoe UI"/>
                          <a:ea typeface="Times New Roman"/>
                          <a:cs typeface="Arial"/>
                        </a:rPr>
                        <a:t>.</a:t>
                      </a:r>
                    </a:p>
                    <a:p>
                      <a:pPr marL="742950" lvl="1" indent="-285750" algn="just">
                        <a:lnSpc>
                          <a:spcPct val="115000"/>
                        </a:lnSpc>
                        <a:spcAft>
                          <a:spcPts val="360"/>
                        </a:spcAft>
                        <a:buSzPts val="1000"/>
                        <a:buFont typeface="Symbol"/>
                        <a:buChar char=""/>
                      </a:pPr>
                      <a:endParaRPr lang="fr-FR" sz="1400" dirty="0" smtClean="0">
                        <a:solidFill>
                          <a:srgbClr val="2D3748"/>
                        </a:solidFill>
                        <a:latin typeface="Segoe UI"/>
                        <a:ea typeface="Calibri"/>
                        <a:cs typeface="Arial"/>
                      </a:endParaRPr>
                    </a:p>
                    <a:p>
                      <a:pPr marL="742950" lvl="1" indent="-285750" algn="just">
                        <a:lnSpc>
                          <a:spcPct val="115000"/>
                        </a:lnSpc>
                        <a:spcAft>
                          <a:spcPts val="360"/>
                        </a:spcAft>
                        <a:buSzPts val="1000"/>
                        <a:buFont typeface="Symbol"/>
                        <a:buNone/>
                      </a:pPr>
                      <a:endParaRPr lang="fr-FR"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600"/>
                        </a:spcAft>
                      </a:pPr>
                      <a:r>
                        <a:rPr lang="fr-FR" sz="1400" b="1" dirty="0">
                          <a:solidFill>
                            <a:srgbClr val="2D3748"/>
                          </a:solidFill>
                          <a:latin typeface="Segoe UI"/>
                          <a:ea typeface="Times New Roman"/>
                          <a:cs typeface="Arial"/>
                        </a:rPr>
                        <a:t>Ressources Limitées</a:t>
                      </a:r>
                      <a:r>
                        <a:rPr lang="fr-FR" sz="1400" dirty="0">
                          <a:solidFill>
                            <a:srgbClr val="2D3748"/>
                          </a:solidFill>
                          <a:latin typeface="Segoe UI"/>
                          <a:ea typeface="Times New Roman"/>
                          <a:cs typeface="Arial"/>
                        </a:rPr>
                        <a:t> :</a:t>
                      </a:r>
                      <a:endParaRPr lang="fr-FR" sz="1400" dirty="0">
                        <a:latin typeface="Calibri"/>
                        <a:ea typeface="Calibri"/>
                        <a:cs typeface="Arial"/>
                      </a:endParaRPr>
                    </a:p>
                    <a:p>
                      <a:pPr marL="742950" lvl="1" indent="-285750" algn="just">
                        <a:lnSpc>
                          <a:spcPct val="115000"/>
                        </a:lnSpc>
                        <a:spcAft>
                          <a:spcPts val="360"/>
                        </a:spcAft>
                        <a:buSzPts val="1000"/>
                        <a:buFont typeface="Symbol"/>
                        <a:buChar char=""/>
                      </a:pPr>
                      <a:r>
                        <a:rPr lang="fr-FR" sz="1400" dirty="0">
                          <a:solidFill>
                            <a:srgbClr val="2D3748"/>
                          </a:solidFill>
                          <a:latin typeface="Segoe UI"/>
                          <a:ea typeface="Times New Roman"/>
                          <a:cs typeface="Arial"/>
                        </a:rPr>
                        <a:t>Les cellules peuvent manquer de ressources, que ce soit en termes de personnel, de budget ou d’outils, ce qui peut limiter leur efficacité.</a:t>
                      </a:r>
                      <a:endParaRPr lang="fr-FR" sz="1400" dirty="0">
                        <a:latin typeface="Calibri"/>
                        <a:ea typeface="Calibri"/>
                        <a:cs typeface="Arial"/>
                      </a:endParaRPr>
                    </a:p>
                    <a:p>
                      <a:pPr>
                        <a:lnSpc>
                          <a:spcPct val="115000"/>
                        </a:lnSpc>
                        <a:spcAft>
                          <a:spcPts val="600"/>
                        </a:spcAft>
                      </a:pPr>
                      <a:r>
                        <a:rPr lang="fr-FR" sz="1400" b="1" dirty="0">
                          <a:solidFill>
                            <a:srgbClr val="2D3748"/>
                          </a:solidFill>
                          <a:latin typeface="Segoe UI"/>
                          <a:ea typeface="Times New Roman"/>
                          <a:cs typeface="Arial"/>
                        </a:rPr>
                        <a:t>Isolement</a:t>
                      </a:r>
                      <a:r>
                        <a:rPr lang="fr-FR" sz="1400" dirty="0">
                          <a:solidFill>
                            <a:srgbClr val="2D3748"/>
                          </a:solidFill>
                          <a:latin typeface="Segoe UI"/>
                          <a:ea typeface="Times New Roman"/>
                          <a:cs typeface="Arial"/>
                        </a:rPr>
                        <a:t> :</a:t>
                      </a:r>
                      <a:endParaRPr lang="fr-FR" sz="1400" dirty="0">
                        <a:latin typeface="Calibri"/>
                        <a:ea typeface="Calibri"/>
                        <a:cs typeface="Arial"/>
                      </a:endParaRPr>
                    </a:p>
                    <a:p>
                      <a:pPr marL="742950" lvl="1" indent="-285750" algn="just">
                        <a:lnSpc>
                          <a:spcPct val="115000"/>
                        </a:lnSpc>
                        <a:spcAft>
                          <a:spcPts val="360"/>
                        </a:spcAft>
                        <a:buSzPts val="1000"/>
                        <a:buFont typeface="Symbol"/>
                        <a:buChar char=""/>
                        <a:tabLst>
                          <a:tab pos="226060" algn="l"/>
                        </a:tabLst>
                      </a:pPr>
                      <a:r>
                        <a:rPr lang="fr-FR" sz="1400" dirty="0">
                          <a:solidFill>
                            <a:srgbClr val="2D3748"/>
                          </a:solidFill>
                          <a:latin typeface="Segoe UI"/>
                          <a:ea typeface="Times New Roman"/>
                          <a:cs typeface="Arial"/>
                        </a:rPr>
                        <a:t>Les cellules peuvent devenir trop autonomes et perdre de vue les objectifs globaux de l’organisation, ce qui peut conduire à un manque de coordination entre les différentes cellules.</a:t>
                      </a:r>
                      <a:endParaRPr lang="fr-FR"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graphicFrame>
        <p:nvGraphicFramePr>
          <p:cNvPr id="3" name="Tableau 2"/>
          <p:cNvGraphicFramePr>
            <a:graphicFrameLocks noGrp="1"/>
          </p:cNvGraphicFramePr>
          <p:nvPr/>
        </p:nvGraphicFramePr>
        <p:xfrm>
          <a:off x="666712" y="1142984"/>
          <a:ext cx="10429948" cy="4010660"/>
        </p:xfrm>
        <a:graphic>
          <a:graphicData uri="http://schemas.openxmlformats.org/drawingml/2006/table">
            <a:tbl>
              <a:tblPr/>
              <a:tblGrid>
                <a:gridCol w="5214974"/>
                <a:gridCol w="5214974"/>
              </a:tblGrid>
              <a:tr h="0">
                <a:tc>
                  <a:txBody>
                    <a:bodyPr/>
                    <a:lstStyle/>
                    <a:p>
                      <a:pPr algn="ctr">
                        <a:lnSpc>
                          <a:spcPct val="115000"/>
                        </a:lnSpc>
                        <a:spcAft>
                          <a:spcPts val="0"/>
                        </a:spcAft>
                      </a:pPr>
                      <a:r>
                        <a:rPr lang="fr-FR" sz="1400" b="1" dirty="0">
                          <a:latin typeface="Calibri"/>
                          <a:ea typeface="Calibri"/>
                          <a:cs typeface="Arial"/>
                        </a:rPr>
                        <a:t>Avantages</a:t>
                      </a:r>
                      <a:endParaRPr lang="fr-FR"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fr-FR" sz="1400" b="1" dirty="0">
                          <a:latin typeface="Calibri"/>
                          <a:ea typeface="Calibri"/>
                          <a:cs typeface="Arial"/>
                        </a:rPr>
                        <a:t>Inconvénients</a:t>
                      </a:r>
                      <a:endParaRPr lang="fr-FR"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nSpc>
                          <a:spcPct val="115000"/>
                        </a:lnSpc>
                        <a:spcAft>
                          <a:spcPts val="600"/>
                        </a:spcAft>
                      </a:pPr>
                      <a:r>
                        <a:rPr lang="fr-FR" sz="1400" b="1" dirty="0">
                          <a:solidFill>
                            <a:srgbClr val="2D3748"/>
                          </a:solidFill>
                          <a:latin typeface="Segoe UI"/>
                          <a:ea typeface="Times New Roman"/>
                          <a:cs typeface="Arial"/>
                        </a:rPr>
                        <a:t>Innovation et Créativité</a:t>
                      </a:r>
                      <a:r>
                        <a:rPr lang="fr-FR" sz="1400" dirty="0">
                          <a:solidFill>
                            <a:srgbClr val="2D3748"/>
                          </a:solidFill>
                          <a:latin typeface="Segoe UI"/>
                          <a:ea typeface="Times New Roman"/>
                          <a:cs typeface="Arial"/>
                        </a:rPr>
                        <a:t> :</a:t>
                      </a:r>
                      <a:endParaRPr lang="fr-FR" sz="1400" dirty="0">
                        <a:latin typeface="Calibri"/>
                        <a:ea typeface="Calibri"/>
                        <a:cs typeface="Arial"/>
                      </a:endParaRPr>
                    </a:p>
                    <a:p>
                      <a:pPr marL="742950" lvl="1" indent="-285750" algn="just">
                        <a:lnSpc>
                          <a:spcPct val="115000"/>
                        </a:lnSpc>
                        <a:spcAft>
                          <a:spcPts val="360"/>
                        </a:spcAft>
                        <a:buSzPts val="1000"/>
                        <a:buFont typeface="Symbol"/>
                        <a:buChar char=""/>
                      </a:pPr>
                      <a:r>
                        <a:rPr lang="fr-FR" sz="1400" dirty="0">
                          <a:solidFill>
                            <a:srgbClr val="2D3748"/>
                          </a:solidFill>
                          <a:latin typeface="Segoe UI"/>
                          <a:ea typeface="Times New Roman"/>
                          <a:cs typeface="Arial"/>
                        </a:rPr>
                        <a:t>En travaillant en équipes réduites, les membres peuvent collaborer plus étroitement, ce qui stimule la créativité et l’innovation. Les idées peuvent être partagées et testées rapidement.</a:t>
                      </a:r>
                      <a:endParaRPr lang="fr-FR" sz="1400" dirty="0">
                        <a:latin typeface="Calibri"/>
                        <a:ea typeface="Calibri"/>
                        <a:cs typeface="Arial"/>
                      </a:endParaRPr>
                    </a:p>
                    <a:p>
                      <a:pPr>
                        <a:lnSpc>
                          <a:spcPct val="115000"/>
                        </a:lnSpc>
                        <a:spcAft>
                          <a:spcPts val="600"/>
                        </a:spcAft>
                      </a:pPr>
                      <a:r>
                        <a:rPr lang="fr-FR" sz="1400" b="1" dirty="0">
                          <a:solidFill>
                            <a:srgbClr val="2D3748"/>
                          </a:solidFill>
                          <a:latin typeface="Segoe UI"/>
                          <a:ea typeface="Times New Roman"/>
                          <a:cs typeface="Arial"/>
                        </a:rPr>
                        <a:t>Communication Améliorée</a:t>
                      </a:r>
                      <a:r>
                        <a:rPr lang="fr-FR" sz="1400" dirty="0">
                          <a:solidFill>
                            <a:srgbClr val="2D3748"/>
                          </a:solidFill>
                          <a:latin typeface="Segoe UI"/>
                          <a:ea typeface="Times New Roman"/>
                          <a:cs typeface="Arial"/>
                        </a:rPr>
                        <a:t> :</a:t>
                      </a:r>
                      <a:endParaRPr lang="fr-FR" sz="1400" dirty="0">
                        <a:latin typeface="Calibri"/>
                        <a:ea typeface="Calibri"/>
                        <a:cs typeface="Arial"/>
                      </a:endParaRPr>
                    </a:p>
                    <a:p>
                      <a:pPr marL="742950" lvl="1" indent="-285750" algn="just">
                        <a:lnSpc>
                          <a:spcPct val="115000"/>
                        </a:lnSpc>
                        <a:spcAft>
                          <a:spcPts val="360"/>
                        </a:spcAft>
                        <a:buSzPts val="1000"/>
                        <a:buFont typeface="Symbol"/>
                        <a:buChar char=""/>
                      </a:pPr>
                      <a:r>
                        <a:rPr lang="fr-FR" sz="1400" dirty="0">
                          <a:solidFill>
                            <a:srgbClr val="2D3748"/>
                          </a:solidFill>
                          <a:latin typeface="Segoe UI"/>
                          <a:ea typeface="Times New Roman"/>
                          <a:cs typeface="Arial"/>
                        </a:rPr>
                        <a:t>La taille réduite des cellules facilite la communication et la collaboration, réduisant ainsi les malentendus et accélérant le flux d’informations.</a:t>
                      </a:r>
                      <a:endParaRPr lang="fr-FR" sz="1400" dirty="0">
                        <a:latin typeface="Calibri"/>
                        <a:ea typeface="Calibri"/>
                        <a:cs typeface="Arial"/>
                      </a:endParaRPr>
                    </a:p>
                    <a:p>
                      <a:pPr>
                        <a:lnSpc>
                          <a:spcPct val="115000"/>
                        </a:lnSpc>
                        <a:spcAft>
                          <a:spcPts val="600"/>
                        </a:spcAft>
                      </a:pPr>
                      <a:r>
                        <a:rPr lang="fr-FR" sz="1400" b="1" dirty="0">
                          <a:solidFill>
                            <a:srgbClr val="2D3748"/>
                          </a:solidFill>
                          <a:latin typeface="Segoe UI"/>
                          <a:ea typeface="Times New Roman"/>
                          <a:cs typeface="Arial"/>
                        </a:rPr>
                        <a:t>Motivation des Employés</a:t>
                      </a:r>
                      <a:r>
                        <a:rPr lang="fr-FR" sz="1400" dirty="0">
                          <a:solidFill>
                            <a:srgbClr val="2D3748"/>
                          </a:solidFill>
                          <a:latin typeface="Segoe UI"/>
                          <a:ea typeface="Times New Roman"/>
                          <a:cs typeface="Arial"/>
                        </a:rPr>
                        <a:t> :</a:t>
                      </a:r>
                      <a:endParaRPr lang="fr-FR" sz="1400" dirty="0">
                        <a:latin typeface="Calibri"/>
                        <a:ea typeface="Calibri"/>
                        <a:cs typeface="Arial"/>
                      </a:endParaRPr>
                    </a:p>
                    <a:p>
                      <a:pPr marL="742950" lvl="1" indent="-285750" algn="just">
                        <a:lnSpc>
                          <a:spcPct val="115000"/>
                        </a:lnSpc>
                        <a:spcAft>
                          <a:spcPts val="360"/>
                        </a:spcAft>
                        <a:buSzPts val="1000"/>
                        <a:buFont typeface="Symbol"/>
                        <a:buChar char=""/>
                      </a:pPr>
                      <a:r>
                        <a:rPr lang="fr-FR" sz="1400" dirty="0">
                          <a:solidFill>
                            <a:srgbClr val="2D3748"/>
                          </a:solidFill>
                          <a:latin typeface="Segoe UI"/>
                          <a:ea typeface="Times New Roman"/>
                          <a:cs typeface="Arial"/>
                        </a:rPr>
                        <a:t>L’autonomie et la responsabilité permettent aux employés de se sentir valorisés et motivés, ce qui peut améliorer la satisfaction au travail et réduire le turnover.</a:t>
                      </a:r>
                      <a:endParaRPr lang="fr-FR"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600"/>
                        </a:spcAft>
                      </a:pPr>
                      <a:r>
                        <a:rPr lang="fr-FR" sz="1400" b="1" dirty="0">
                          <a:solidFill>
                            <a:srgbClr val="2D3748"/>
                          </a:solidFill>
                          <a:latin typeface="Segoe UI"/>
                          <a:ea typeface="Times New Roman"/>
                          <a:cs typeface="Arial"/>
                        </a:rPr>
                        <a:t>Difficulté à Maintenir une Vision Commune</a:t>
                      </a:r>
                      <a:r>
                        <a:rPr lang="fr-FR" sz="1400" dirty="0">
                          <a:solidFill>
                            <a:srgbClr val="2D3748"/>
                          </a:solidFill>
                          <a:latin typeface="Segoe UI"/>
                          <a:ea typeface="Times New Roman"/>
                          <a:cs typeface="Arial"/>
                        </a:rPr>
                        <a:t> :</a:t>
                      </a:r>
                      <a:endParaRPr lang="fr-FR" sz="1400" dirty="0">
                        <a:latin typeface="Calibri"/>
                        <a:ea typeface="Calibri"/>
                        <a:cs typeface="Arial"/>
                      </a:endParaRPr>
                    </a:p>
                    <a:p>
                      <a:pPr marL="742950" lvl="1" indent="-285750" algn="just">
                        <a:lnSpc>
                          <a:spcPct val="115000"/>
                        </a:lnSpc>
                        <a:spcAft>
                          <a:spcPts val="360"/>
                        </a:spcAft>
                        <a:buSzPts val="1000"/>
                        <a:buFont typeface="Symbol"/>
                        <a:buChar char=""/>
                      </a:pPr>
                      <a:r>
                        <a:rPr lang="fr-FR" sz="1400" dirty="0">
                          <a:solidFill>
                            <a:srgbClr val="2D3748"/>
                          </a:solidFill>
                          <a:latin typeface="Segoe UI"/>
                          <a:ea typeface="Times New Roman"/>
                          <a:cs typeface="Arial"/>
                        </a:rPr>
                        <a:t>Avec plusieurs cellules travaillant sur des projets différents, il peut être difficile de maintenir une vision commune et une cohérence stratégique.</a:t>
                      </a:r>
                      <a:endParaRPr lang="fr-FR" sz="1400" dirty="0">
                        <a:latin typeface="Calibri"/>
                        <a:ea typeface="Calibri"/>
                        <a:cs typeface="Arial"/>
                      </a:endParaRPr>
                    </a:p>
                    <a:p>
                      <a:pPr>
                        <a:lnSpc>
                          <a:spcPct val="115000"/>
                        </a:lnSpc>
                        <a:spcAft>
                          <a:spcPts val="600"/>
                        </a:spcAft>
                      </a:pPr>
                      <a:r>
                        <a:rPr lang="fr-FR" sz="1400" b="1" dirty="0">
                          <a:solidFill>
                            <a:srgbClr val="2D3748"/>
                          </a:solidFill>
                          <a:latin typeface="Segoe UI"/>
                          <a:ea typeface="Times New Roman"/>
                          <a:cs typeface="Arial"/>
                        </a:rPr>
                        <a:t>Conflits Internes</a:t>
                      </a:r>
                      <a:r>
                        <a:rPr lang="fr-FR" sz="1400" dirty="0">
                          <a:solidFill>
                            <a:srgbClr val="2D3748"/>
                          </a:solidFill>
                          <a:latin typeface="Segoe UI"/>
                          <a:ea typeface="Times New Roman"/>
                          <a:cs typeface="Arial"/>
                        </a:rPr>
                        <a:t> :</a:t>
                      </a:r>
                      <a:endParaRPr lang="fr-FR" sz="1400" dirty="0">
                        <a:latin typeface="Calibri"/>
                        <a:ea typeface="Calibri"/>
                        <a:cs typeface="Arial"/>
                      </a:endParaRPr>
                    </a:p>
                    <a:p>
                      <a:pPr marL="742950" lvl="1" indent="-285750" algn="just">
                        <a:lnSpc>
                          <a:spcPct val="115000"/>
                        </a:lnSpc>
                        <a:spcAft>
                          <a:spcPts val="360"/>
                        </a:spcAft>
                        <a:buSzPts val="1000"/>
                        <a:buFont typeface="Symbol"/>
                        <a:buChar char=""/>
                      </a:pPr>
                      <a:r>
                        <a:rPr lang="fr-FR" sz="1400" dirty="0">
                          <a:solidFill>
                            <a:srgbClr val="2D3748"/>
                          </a:solidFill>
                          <a:latin typeface="Segoe UI"/>
                          <a:ea typeface="Times New Roman"/>
                          <a:cs typeface="Arial"/>
                        </a:rPr>
                        <a:t>Les cellules peuvent entrer en conflit les unes avec les autres, notamment en ce qui concerne la répartition des ressources ou des priorités de projet.</a:t>
                      </a:r>
                      <a:endParaRPr lang="fr-FR" sz="1400" dirty="0">
                        <a:latin typeface="Calibri"/>
                        <a:ea typeface="Calibri"/>
                        <a:cs typeface="Arial"/>
                      </a:endParaRPr>
                    </a:p>
                    <a:p>
                      <a:pPr>
                        <a:lnSpc>
                          <a:spcPct val="115000"/>
                        </a:lnSpc>
                        <a:spcAft>
                          <a:spcPts val="600"/>
                        </a:spcAft>
                      </a:pPr>
                      <a:r>
                        <a:rPr lang="fr-FR" sz="1400" b="1" dirty="0">
                          <a:solidFill>
                            <a:srgbClr val="2D3748"/>
                          </a:solidFill>
                          <a:latin typeface="Segoe UI"/>
                          <a:ea typeface="Times New Roman"/>
                          <a:cs typeface="Arial"/>
                        </a:rPr>
                        <a:t>Formation et Gestion</a:t>
                      </a:r>
                      <a:r>
                        <a:rPr lang="fr-FR" sz="1400" dirty="0">
                          <a:solidFill>
                            <a:srgbClr val="2D3748"/>
                          </a:solidFill>
                          <a:latin typeface="Segoe UI"/>
                          <a:ea typeface="Times New Roman"/>
                          <a:cs typeface="Arial"/>
                        </a:rPr>
                        <a:t> :</a:t>
                      </a:r>
                      <a:endParaRPr lang="fr-FR" sz="1400" dirty="0">
                        <a:latin typeface="Calibri"/>
                        <a:ea typeface="Calibri"/>
                        <a:cs typeface="Arial"/>
                      </a:endParaRPr>
                    </a:p>
                    <a:p>
                      <a:pPr marL="742950" lvl="1" indent="-285750" algn="just">
                        <a:lnSpc>
                          <a:spcPct val="115000"/>
                        </a:lnSpc>
                        <a:spcAft>
                          <a:spcPts val="360"/>
                        </a:spcAft>
                        <a:buSzPts val="1000"/>
                        <a:buFont typeface="Symbol"/>
                        <a:buChar char=""/>
                      </a:pPr>
                      <a:r>
                        <a:rPr lang="fr-FR" sz="1400" dirty="0">
                          <a:solidFill>
                            <a:srgbClr val="2D3748"/>
                          </a:solidFill>
                          <a:latin typeface="Segoe UI"/>
                          <a:ea typeface="Times New Roman"/>
                          <a:cs typeface="Arial"/>
                        </a:rPr>
                        <a:t>La mise en place d’un management cellulaire nécessite une formation adéquate des membres des cellules, ainsi qu’une gestion efficace pour garantir que les objectifs globaux de l’entreprise soient respectés.</a:t>
                      </a:r>
                      <a:endParaRPr lang="fr-FR"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881026" y="1142984"/>
            <a:ext cx="10644262" cy="440120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b="1" dirty="0" smtClean="0">
                <a:solidFill>
                  <a:schemeClr val="accent1"/>
                </a:solidFill>
                <a:latin typeface="Arial" pitchFamily="34" charset="0"/>
                <a:ea typeface="Times New Roman" pitchFamily="18" charset="0"/>
                <a:cs typeface="Arial" pitchFamily="34" charset="0"/>
              </a:rPr>
              <a:t>Exemple : Une entreprise de développement de logiciels</a:t>
            </a:r>
          </a:p>
          <a:p>
            <a:pPr algn="just"/>
            <a:endParaRPr lang="fr-FR" sz="2000" dirty="0" smtClean="0">
              <a:solidFill>
                <a:schemeClr val="dk1"/>
              </a:solidFill>
              <a:latin typeface="Arial" pitchFamily="34" charset="0"/>
              <a:ea typeface="Times New Roman" pitchFamily="18" charset="0"/>
              <a:cs typeface="Arial" pitchFamily="34" charset="0"/>
            </a:endParaRPr>
          </a:p>
          <a:p>
            <a:pPr algn="just"/>
            <a:r>
              <a:rPr lang="fr-FR" sz="2000" dirty="0" smtClean="0">
                <a:solidFill>
                  <a:schemeClr val="dk1"/>
                </a:solidFill>
                <a:latin typeface="Arial" pitchFamily="34" charset="0"/>
                <a:ea typeface="Times New Roman" pitchFamily="18" charset="0"/>
                <a:cs typeface="Arial" pitchFamily="34" charset="0"/>
              </a:rPr>
              <a:t>Imaginons une entreprise de développement de logiciels qui adopte le management cellulaire. Cette entreprise crée plusieurs cellules, chacune responsable de différents aspects d’un projet logiciel, telles que le développement, l’assurance qualité, et le design de l’interface utilisateur.</a:t>
            </a:r>
          </a:p>
          <a:p>
            <a:pPr algn="just"/>
            <a:endParaRPr lang="fr-FR" sz="2000" dirty="0" smtClean="0">
              <a:solidFill>
                <a:schemeClr val="dk1"/>
              </a:solidFill>
              <a:latin typeface="Arial" pitchFamily="34" charset="0"/>
              <a:ea typeface="Times New Roman" pitchFamily="18" charset="0"/>
              <a:cs typeface="Arial" pitchFamily="34" charset="0"/>
            </a:endParaRPr>
          </a:p>
          <a:p>
            <a:pPr algn="just"/>
            <a:r>
              <a:rPr lang="fr-FR" sz="2000" b="1" dirty="0" smtClean="0">
                <a:solidFill>
                  <a:schemeClr val="dk1"/>
                </a:solidFill>
                <a:latin typeface="Arial" pitchFamily="34" charset="0"/>
                <a:ea typeface="Times New Roman" pitchFamily="18" charset="0"/>
                <a:cs typeface="Arial" pitchFamily="34" charset="0"/>
              </a:rPr>
              <a:t>Avantages observés :</a:t>
            </a:r>
          </a:p>
          <a:p>
            <a:pPr algn="just"/>
            <a:r>
              <a:rPr lang="fr-FR" sz="2000" dirty="0" smtClean="0">
                <a:solidFill>
                  <a:schemeClr val="dk1"/>
                </a:solidFill>
                <a:latin typeface="Arial" pitchFamily="34" charset="0"/>
                <a:ea typeface="Times New Roman" pitchFamily="18" charset="0"/>
                <a:cs typeface="Arial" pitchFamily="34" charset="0"/>
              </a:rPr>
              <a:t>Chaque cellule peut travailler de manière autonome, prenant des décisions rapides sur les fonctionnalités à inclure dans le logiciel, ce qui accélère le processus de développement.</a:t>
            </a:r>
          </a:p>
          <a:p>
            <a:pPr algn="just"/>
            <a:r>
              <a:rPr lang="fr-FR" sz="2000" dirty="0" smtClean="0">
                <a:solidFill>
                  <a:schemeClr val="dk1"/>
                </a:solidFill>
                <a:latin typeface="Arial" pitchFamily="34" charset="0"/>
                <a:ea typeface="Times New Roman" pitchFamily="18" charset="0"/>
                <a:cs typeface="Arial" pitchFamily="34" charset="0"/>
              </a:rPr>
              <a:t>La collaboration étroite au sein de chaque cellule favorise l’innovation, et les membres peuvent facilement partager leurs idées, ce qui conduit à des améliorations significatives du produit.</a:t>
            </a:r>
          </a:p>
          <a:p>
            <a:pPr algn="just"/>
            <a:endParaRPr lang="fr-FR" sz="2000" dirty="0" smtClean="0">
              <a:solidFill>
                <a:schemeClr val="dk1"/>
              </a:solidFill>
              <a:latin typeface="Arial" pitchFamily="34" charset="0"/>
              <a:ea typeface="Times New Roman" pitchFamily="18" charset="0"/>
              <a:cs typeface="Arial" pitchFamily="34" charset="0"/>
            </a:endParaRP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809588" y="1028343"/>
            <a:ext cx="10715700" cy="409342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endParaRPr lang="fr-FR" sz="2000" dirty="0" smtClean="0">
              <a:solidFill>
                <a:schemeClr val="dk1"/>
              </a:solidFill>
              <a:latin typeface="Arial" pitchFamily="34" charset="0"/>
              <a:ea typeface="Times New Roman" pitchFamily="18" charset="0"/>
              <a:cs typeface="Arial" pitchFamily="34" charset="0"/>
            </a:endParaRPr>
          </a:p>
          <a:p>
            <a:pPr algn="just"/>
            <a:r>
              <a:rPr lang="fr-FR" sz="2000" b="1" dirty="0" smtClean="0">
                <a:solidFill>
                  <a:schemeClr val="dk1"/>
                </a:solidFill>
                <a:latin typeface="Arial" pitchFamily="34" charset="0"/>
                <a:ea typeface="Times New Roman" pitchFamily="18" charset="0"/>
                <a:cs typeface="Arial" pitchFamily="34" charset="0"/>
              </a:rPr>
              <a:t>Inconvénients rencontrés :</a:t>
            </a:r>
          </a:p>
          <a:p>
            <a:pPr algn="just"/>
            <a:r>
              <a:rPr lang="fr-FR" sz="2000" dirty="0" smtClean="0">
                <a:solidFill>
                  <a:schemeClr val="dk1"/>
                </a:solidFill>
                <a:latin typeface="Arial" pitchFamily="34" charset="0"/>
                <a:ea typeface="Times New Roman" pitchFamily="18" charset="0"/>
                <a:cs typeface="Arial" pitchFamily="34" charset="0"/>
              </a:rPr>
              <a:t>Il arrive que certaines cellules développent des fonctionnalités qui ne s’intègrent pas bien avec celles des autres cellules, entraînant des problèmes d’intégration à la fin du projet.</a:t>
            </a:r>
          </a:p>
          <a:p>
            <a:pPr algn="just"/>
            <a:r>
              <a:rPr lang="fr-FR" sz="2000" dirty="0" smtClean="0">
                <a:solidFill>
                  <a:schemeClr val="dk1"/>
                </a:solidFill>
                <a:latin typeface="Arial" pitchFamily="34" charset="0"/>
                <a:ea typeface="Times New Roman" pitchFamily="18" charset="0"/>
                <a:cs typeface="Arial" pitchFamily="34" charset="0"/>
              </a:rPr>
              <a:t>La direction doit constamment s’assurer que toutes les cellules restent alignées avec la vision stratégique de l’entreprise, ce qui peut être un défi en raison de l’autonomie accordée à chaque cellule.</a:t>
            </a:r>
          </a:p>
          <a:p>
            <a:pPr algn="just"/>
            <a:endParaRPr lang="fr-FR" sz="2000" dirty="0" smtClean="0">
              <a:solidFill>
                <a:schemeClr val="dk1"/>
              </a:solidFill>
              <a:latin typeface="Arial" pitchFamily="34" charset="0"/>
              <a:ea typeface="Times New Roman" pitchFamily="18" charset="0"/>
              <a:cs typeface="Arial" pitchFamily="34" charset="0"/>
            </a:endParaRPr>
          </a:p>
          <a:p>
            <a:pPr algn="just"/>
            <a:r>
              <a:rPr lang="fr-FR" sz="2000" dirty="0" smtClean="0">
                <a:solidFill>
                  <a:schemeClr val="dk1"/>
                </a:solidFill>
                <a:latin typeface="Arial" pitchFamily="34" charset="0"/>
                <a:ea typeface="Times New Roman" pitchFamily="18" charset="0"/>
                <a:cs typeface="Arial" pitchFamily="34" charset="0"/>
              </a:rPr>
              <a:t>En conclusion, le management cellulaire peut offrir une grande flexibilité, une innovation accrue et une motivation des employés, mais il présente également des défis liés à la coordination, aux ressources et à la vision d’ensemble. Pour que ce modèle soit efficace, il est crucial d’établir des mécanismes de communication et de collaboration robustes, tout en veillant à ce que les cellules restent alignées sur les objectifs stratégiques de l’organisation.</a:t>
            </a: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4" name="Rectangle 3"/>
          <p:cNvSpPr/>
          <p:nvPr/>
        </p:nvSpPr>
        <p:spPr>
          <a:xfrm>
            <a:off x="952464" y="1071546"/>
            <a:ext cx="3727431" cy="369332"/>
          </a:xfrm>
          <a:prstGeom prst="rect">
            <a:avLst/>
          </a:prstGeom>
        </p:spPr>
        <p:txBody>
          <a:bodyPr wrap="none">
            <a:spAutoFit/>
          </a:bodyPr>
          <a:lstStyle/>
          <a:p>
            <a:r>
              <a:rPr lang="fr-FR" b="1" dirty="0" smtClean="0">
                <a:solidFill>
                  <a:srgbClr val="C00000"/>
                </a:solidFill>
              </a:rPr>
              <a:t>III- LE MANAGEMENT ET LEADERSHIP</a:t>
            </a:r>
            <a:endParaRPr lang="fr-FR" b="1" dirty="0">
              <a:solidFill>
                <a:srgbClr val="C00000"/>
              </a:solidFill>
            </a:endParaRPr>
          </a:p>
        </p:txBody>
      </p:sp>
      <p:sp>
        <p:nvSpPr>
          <p:cNvPr id="5" name="Rectangle 4"/>
          <p:cNvSpPr/>
          <p:nvPr/>
        </p:nvSpPr>
        <p:spPr>
          <a:xfrm>
            <a:off x="571500" y="1428736"/>
            <a:ext cx="9953656" cy="400110"/>
          </a:xfrm>
          <a:prstGeom prst="rect">
            <a:avLst/>
          </a:prstGeom>
        </p:spPr>
        <p:txBody>
          <a:bodyPr wrap="square">
            <a:spAutoFit/>
          </a:bodyPr>
          <a:lstStyle/>
          <a:p>
            <a:pPr algn="just"/>
            <a:r>
              <a:rPr lang="fr-FR" sz="2000" b="1" i="1" dirty="0" smtClean="0">
                <a:solidFill>
                  <a:srgbClr val="00B050"/>
                </a:solidFill>
                <a:latin typeface="Arial" pitchFamily="34" charset="0"/>
                <a:cs typeface="Arial" pitchFamily="34" charset="0"/>
              </a:rPr>
              <a:t>1- Importance du management et du leadership dans le monde professionnel</a:t>
            </a:r>
            <a:endParaRPr lang="fr-FR" sz="2000" b="1" i="1" dirty="0">
              <a:solidFill>
                <a:srgbClr val="00B050"/>
              </a:solidFill>
              <a:latin typeface="Arial" pitchFamily="34" charset="0"/>
              <a:cs typeface="Arial" pitchFamily="34" charset="0"/>
            </a:endParaRPr>
          </a:p>
        </p:txBody>
      </p:sp>
      <p:sp>
        <p:nvSpPr>
          <p:cNvPr id="6" name="Rectangle 5"/>
          <p:cNvSpPr/>
          <p:nvPr/>
        </p:nvSpPr>
        <p:spPr>
          <a:xfrm>
            <a:off x="809588" y="1857364"/>
            <a:ext cx="10715700" cy="406265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dirty="0" smtClean="0">
                <a:latin typeface="Arial" pitchFamily="34" charset="0"/>
                <a:ea typeface="Times New Roman" pitchFamily="18" charset="0"/>
                <a:cs typeface="Arial" pitchFamily="34" charset="0"/>
              </a:rPr>
              <a:t>Le management et le leadership, bien que distincts, sont des éléments cruciaux dans le contexte entrepreneurial. Le management implique la planification, l'organisation et la coordination des ressources pour atteindre des objectifs spécifiques. Les gestionnaires supervisent les opérations quotidiennes, s'assurant que les tâches sont accomplies efficacement. </a:t>
            </a:r>
          </a:p>
          <a:p>
            <a:pPr algn="just"/>
            <a:endParaRPr lang="fr-FR" sz="800" dirty="0" smtClean="0">
              <a:latin typeface="Arial" pitchFamily="34" charset="0"/>
              <a:ea typeface="Times New Roman" pitchFamily="18" charset="0"/>
              <a:cs typeface="Arial" pitchFamily="34" charset="0"/>
            </a:endParaRPr>
          </a:p>
          <a:p>
            <a:pPr algn="just"/>
            <a:r>
              <a:rPr lang="fr-FR" sz="2000" dirty="0" smtClean="0">
                <a:latin typeface="Arial" pitchFamily="34" charset="0"/>
                <a:ea typeface="Times New Roman" pitchFamily="18" charset="0"/>
                <a:cs typeface="Arial" pitchFamily="34" charset="0"/>
              </a:rPr>
              <a:t>En revanche, le leadership concerne l'inspiration, la vision et la motivation. Les leaders motivent les membres de l'équipe, favorisent l'innovation et créent un environnement propice à la croissance. Bien que ces concepts aient des aspects uniques, une intégration harmonieuse est souvent essentielle. Les bons gestionnaires incorporent des compétences de leadership pour stimuler l'équipe, tandis que les leaders s'appuient sur des compétences en gestion pour concrétiser leurs visions. Une combinaison équilibrée de management et de leadership favorise l'efficacité opérationnelle, la créativité et le succès organisationnel global.</a:t>
            </a: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graphicFrame>
        <p:nvGraphicFramePr>
          <p:cNvPr id="3" name="Tableau 2"/>
          <p:cNvGraphicFramePr>
            <a:graphicFrameLocks noGrp="1"/>
          </p:cNvGraphicFramePr>
          <p:nvPr/>
        </p:nvGraphicFramePr>
        <p:xfrm>
          <a:off x="1023902" y="1518665"/>
          <a:ext cx="10429948" cy="3855720"/>
        </p:xfrm>
        <a:graphic>
          <a:graphicData uri="http://schemas.openxmlformats.org/drawingml/2006/table">
            <a:tbl>
              <a:tblPr/>
              <a:tblGrid>
                <a:gridCol w="5214974"/>
                <a:gridCol w="5214974"/>
              </a:tblGrid>
              <a:tr h="0">
                <a:tc>
                  <a:txBody>
                    <a:bodyPr/>
                    <a:lstStyle/>
                    <a:p>
                      <a:pPr algn="ctr">
                        <a:lnSpc>
                          <a:spcPct val="115000"/>
                        </a:lnSpc>
                        <a:spcAft>
                          <a:spcPts val="0"/>
                        </a:spcAft>
                      </a:pPr>
                      <a:r>
                        <a:rPr lang="fr-FR" sz="2200" b="1" dirty="0">
                          <a:latin typeface="Gotham-Bold"/>
                          <a:ea typeface="Calibri"/>
                          <a:cs typeface="Gotham-Bold"/>
                        </a:rPr>
                        <a:t>Management</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0"/>
                        </a:spcAft>
                      </a:pPr>
                      <a:r>
                        <a:rPr lang="fr-FR" sz="2200" b="1" dirty="0">
                          <a:latin typeface="Gotham-Bold"/>
                          <a:ea typeface="Calibri"/>
                          <a:cs typeface="Gotham-Bold"/>
                        </a:rPr>
                        <a:t>Leadership</a:t>
                      </a:r>
                      <a:endParaRPr lang="fr-FR" sz="11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r>
              <a:tr h="0">
                <a:tc>
                  <a:txBody>
                    <a:bodyPr/>
                    <a:lstStyle/>
                    <a:p>
                      <a:pPr algn="just">
                        <a:lnSpc>
                          <a:spcPct val="115000"/>
                        </a:lnSpc>
                        <a:spcAft>
                          <a:spcPts val="0"/>
                        </a:spcAft>
                      </a:pPr>
                      <a:r>
                        <a:rPr lang="fr-FR" sz="1800" dirty="0">
                          <a:latin typeface="Gotham-Book"/>
                          <a:ea typeface="Calibri"/>
                          <a:cs typeface="Gotham-Book"/>
                        </a:rPr>
                        <a:t>Le management se concentre sur la planification, l'organisation et l'exécution des tâches, en veillant à ce que les objectifs opérationnels soient atteints.</a:t>
                      </a:r>
                      <a:endParaRPr lang="fr-FR" sz="18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15000"/>
                        </a:lnSpc>
                        <a:spcAft>
                          <a:spcPts val="0"/>
                        </a:spcAft>
                      </a:pPr>
                      <a:r>
                        <a:rPr lang="fr-FR" sz="1800" dirty="0">
                          <a:latin typeface="Gotham-Book"/>
                          <a:ea typeface="Calibri"/>
                          <a:cs typeface="Gotham-Book"/>
                        </a:rPr>
                        <a:t>Le leadership se concentre sur les individus, en inspirant, motivant et guidant les membres de l'équipe pour atteindre des objectifs communs.</a:t>
                      </a:r>
                      <a:endParaRPr lang="fr-FR" sz="18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r>
              <a:tr h="252730">
                <a:tc>
                  <a:txBody>
                    <a:bodyPr/>
                    <a:lstStyle/>
                    <a:p>
                      <a:pPr algn="just">
                        <a:lnSpc>
                          <a:spcPct val="115000"/>
                        </a:lnSpc>
                        <a:spcAft>
                          <a:spcPts val="0"/>
                        </a:spcAft>
                      </a:pPr>
                      <a:r>
                        <a:rPr lang="fr-FR" sz="1800" dirty="0">
                          <a:latin typeface="Gotham-Book"/>
                          <a:ea typeface="Calibri"/>
                          <a:cs typeface="Gotham-Book"/>
                        </a:rPr>
                        <a:t>Les gestionnaires sont impliqués dans la gestion quotidienne des processus, la coordination des ressources et la résolution de</a:t>
                      </a:r>
                      <a:endParaRPr lang="fr-FR" sz="1800" dirty="0">
                        <a:latin typeface="Calibri"/>
                        <a:ea typeface="Calibri"/>
                        <a:cs typeface="Arial"/>
                      </a:endParaRPr>
                    </a:p>
                    <a:p>
                      <a:pPr algn="just">
                        <a:lnSpc>
                          <a:spcPct val="115000"/>
                        </a:lnSpc>
                        <a:spcAft>
                          <a:spcPts val="360"/>
                        </a:spcAft>
                      </a:pPr>
                      <a:r>
                        <a:rPr lang="fr-FR" sz="1800" dirty="0">
                          <a:latin typeface="Gotham-Book"/>
                          <a:ea typeface="Calibri"/>
                          <a:cs typeface="Gotham-Book"/>
                        </a:rPr>
                        <a:t>problèmes opérationnels.</a:t>
                      </a:r>
                      <a:endParaRPr lang="fr-FR" sz="18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15000"/>
                        </a:lnSpc>
                        <a:spcAft>
                          <a:spcPts val="0"/>
                        </a:spcAft>
                      </a:pPr>
                      <a:r>
                        <a:rPr lang="fr-FR" sz="1800" dirty="0">
                          <a:latin typeface="Gotham-Book"/>
                          <a:ea typeface="Calibri"/>
                          <a:cs typeface="Gotham-Book"/>
                        </a:rPr>
                        <a:t>Les leaders créent une vision à long terme, inspirant l'équipe à travailler vers un objectif commun et à anticiper l'avenir.</a:t>
                      </a:r>
                      <a:endParaRPr lang="fr-FR" sz="18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r>
              <a:tr h="0">
                <a:tc>
                  <a:txBody>
                    <a:bodyPr/>
                    <a:lstStyle/>
                    <a:p>
                      <a:pPr algn="just">
                        <a:lnSpc>
                          <a:spcPct val="115000"/>
                        </a:lnSpc>
                        <a:spcAft>
                          <a:spcPts val="0"/>
                        </a:spcAft>
                      </a:pPr>
                      <a:r>
                        <a:rPr lang="fr-FR" sz="1800" dirty="0">
                          <a:latin typeface="Gotham-Book"/>
                          <a:ea typeface="Calibri"/>
                          <a:cs typeface="Gotham-Book"/>
                        </a:rPr>
                        <a:t>Les managers détiennent souvent une autorité formelle basée sur leur position hiérarchique dans l'organisation</a:t>
                      </a:r>
                      <a:endParaRPr lang="fr-FR" sz="18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15000"/>
                        </a:lnSpc>
                        <a:spcAft>
                          <a:spcPts val="0"/>
                        </a:spcAft>
                      </a:pPr>
                      <a:r>
                        <a:rPr lang="fr-FR" sz="1800" dirty="0">
                          <a:latin typeface="Gotham-Book"/>
                          <a:ea typeface="Calibri"/>
                          <a:cs typeface="Gotham-Book"/>
                        </a:rPr>
                        <a:t>Les leaders gagnent de l'influence par leur capacité à inspirer et à motiver, indépendamment de leur position hiérarchique.</a:t>
                      </a:r>
                      <a:endParaRPr lang="fr-FR" sz="18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r>
            </a:tbl>
          </a:graphicData>
        </a:graphic>
      </p:graphicFrame>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graphicFrame>
        <p:nvGraphicFramePr>
          <p:cNvPr id="3" name="Tableau 2"/>
          <p:cNvGraphicFramePr>
            <a:graphicFrameLocks noGrp="1"/>
          </p:cNvGraphicFramePr>
          <p:nvPr/>
        </p:nvGraphicFramePr>
        <p:xfrm>
          <a:off x="1095340" y="1350128"/>
          <a:ext cx="10215634" cy="2909316"/>
        </p:xfrm>
        <a:graphic>
          <a:graphicData uri="http://schemas.openxmlformats.org/drawingml/2006/table">
            <a:tbl>
              <a:tblPr/>
              <a:tblGrid>
                <a:gridCol w="5107817"/>
                <a:gridCol w="5107817"/>
              </a:tblGrid>
              <a:tr h="0">
                <a:tc>
                  <a:txBody>
                    <a:bodyPr/>
                    <a:lstStyle/>
                    <a:p>
                      <a:pPr algn="ctr">
                        <a:lnSpc>
                          <a:spcPct val="115000"/>
                        </a:lnSpc>
                        <a:spcAft>
                          <a:spcPts val="0"/>
                        </a:spcAft>
                      </a:pPr>
                      <a:r>
                        <a:rPr lang="fr-FR" sz="2200" b="1" dirty="0" smtClean="0">
                          <a:solidFill>
                            <a:schemeClr val="tx1"/>
                          </a:solidFill>
                          <a:latin typeface="Gotham-Bold"/>
                          <a:ea typeface="Calibri"/>
                          <a:cs typeface="Gotham-Bold"/>
                        </a:rPr>
                        <a:t>Management</a:t>
                      </a:r>
                      <a:endParaRPr lang="fr-FR" sz="2200" b="1" dirty="0">
                        <a:solidFill>
                          <a:schemeClr val="tx1"/>
                        </a:solidFill>
                        <a:latin typeface="Gotham-Bold"/>
                        <a:ea typeface="Calibri"/>
                        <a:cs typeface="Gotham-Bold"/>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15000"/>
                        </a:lnSpc>
                        <a:spcAft>
                          <a:spcPts val="0"/>
                        </a:spcAft>
                      </a:pPr>
                      <a:r>
                        <a:rPr lang="fr-FR" sz="2200" b="1" dirty="0" smtClean="0">
                          <a:solidFill>
                            <a:schemeClr val="tx1"/>
                          </a:solidFill>
                          <a:latin typeface="Gotham-Bold"/>
                          <a:ea typeface="Calibri"/>
                          <a:cs typeface="Gotham-Bold"/>
                        </a:rPr>
                        <a:t>Leadership</a:t>
                      </a:r>
                      <a:endParaRPr lang="fr-FR" sz="2200" b="1" dirty="0">
                        <a:solidFill>
                          <a:schemeClr val="tx1"/>
                        </a:solidFill>
                        <a:latin typeface="Gotham-Bold"/>
                        <a:ea typeface="Calibri"/>
                        <a:cs typeface="Gotham-Bold"/>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r>
              <a:tr h="0">
                <a:tc>
                  <a:txBody>
                    <a:bodyPr/>
                    <a:lstStyle/>
                    <a:p>
                      <a:pPr algn="just">
                        <a:lnSpc>
                          <a:spcPct val="115000"/>
                        </a:lnSpc>
                        <a:spcAft>
                          <a:spcPts val="0"/>
                        </a:spcAft>
                      </a:pPr>
                      <a:r>
                        <a:rPr lang="fr-FR" sz="1800" dirty="0">
                          <a:solidFill>
                            <a:schemeClr val="tx1"/>
                          </a:solidFill>
                          <a:latin typeface="Gotham-Book"/>
                          <a:ea typeface="Calibri"/>
                          <a:cs typeface="Gotham-Book"/>
                        </a:rPr>
                        <a:t>Les gestionnaires sont souvent impliqués dans la résolution de problèmes quotidiens pour assurer le bon fonctionnement de l'organisation.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15000"/>
                        </a:lnSpc>
                        <a:spcAft>
                          <a:spcPts val="0"/>
                        </a:spcAft>
                      </a:pPr>
                      <a:r>
                        <a:rPr lang="fr-FR" sz="1800" dirty="0">
                          <a:solidFill>
                            <a:schemeClr val="tx1"/>
                          </a:solidFill>
                          <a:latin typeface="Gotham-Book"/>
                          <a:ea typeface="Calibri"/>
                          <a:cs typeface="Gotham-Book"/>
                        </a:rPr>
                        <a:t>Les leaders catalysent le changement en promouvant l'innovation, en encourageant de nouvelles idées et en faisant évoluer la vision de l'entreprise.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r>
              <a:tr h="45724">
                <a:tc>
                  <a:txBody>
                    <a:bodyPr/>
                    <a:lstStyle/>
                    <a:p>
                      <a:pPr algn="just">
                        <a:lnSpc>
                          <a:spcPct val="115000"/>
                        </a:lnSpc>
                        <a:spcAft>
                          <a:spcPts val="0"/>
                        </a:spcAft>
                      </a:pPr>
                      <a:r>
                        <a:rPr lang="fr-FR" sz="1800" dirty="0">
                          <a:solidFill>
                            <a:schemeClr val="tx1"/>
                          </a:solidFill>
                          <a:latin typeface="Gotham-Book"/>
                          <a:ea typeface="Calibri"/>
                          <a:cs typeface="Gotham-Book"/>
                        </a:rPr>
                        <a:t>Le management se concentre souvent sur des objectifs à court terme, assurant la réalisation quotidienne des missions et des objectifs spécifiques..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15000"/>
                        </a:lnSpc>
                        <a:spcAft>
                          <a:spcPts val="0"/>
                        </a:spcAft>
                      </a:pPr>
                      <a:r>
                        <a:rPr lang="fr-FR" sz="1800" dirty="0">
                          <a:solidFill>
                            <a:schemeClr val="tx1"/>
                          </a:solidFill>
                          <a:latin typeface="Gotham-Book"/>
                          <a:ea typeface="Calibri"/>
                          <a:cs typeface="Gotham-Book"/>
                        </a:rPr>
                        <a:t>Le leadership adopte une perspective à plus long terme, cherchant à créer une orientation stratégique et à guider l'entreprise vers un avenir durable et prospère.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r>
            </a:tbl>
          </a:graphicData>
        </a:graphic>
      </p:graphicFrame>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881026" y="1071546"/>
            <a:ext cx="10644262" cy="440120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b="1" dirty="0" smtClean="0">
                <a:solidFill>
                  <a:schemeClr val="accent1"/>
                </a:solidFill>
                <a:latin typeface="Arial" pitchFamily="34" charset="0"/>
                <a:ea typeface="Times New Roman" pitchFamily="18" charset="0"/>
                <a:cs typeface="Arial" pitchFamily="34" charset="0"/>
              </a:rPr>
              <a:t>Exemple  illustrant la différence entre management et leadership</a:t>
            </a:r>
          </a:p>
          <a:p>
            <a:pPr algn="just"/>
            <a:endParaRPr lang="fr-FR" sz="2000" dirty="0" smtClean="0">
              <a:solidFill>
                <a:schemeClr val="dk1"/>
              </a:solidFill>
              <a:latin typeface="Arial" pitchFamily="34" charset="0"/>
              <a:ea typeface="Times New Roman" pitchFamily="18" charset="0"/>
              <a:cs typeface="Arial" pitchFamily="34" charset="0"/>
            </a:endParaRPr>
          </a:p>
          <a:p>
            <a:pPr algn="just"/>
            <a:r>
              <a:rPr lang="fr-FR" sz="2000" dirty="0" smtClean="0">
                <a:solidFill>
                  <a:schemeClr val="dk1"/>
                </a:solidFill>
                <a:latin typeface="Arial" pitchFamily="34" charset="0"/>
                <a:ea typeface="Times New Roman" pitchFamily="18" charset="0"/>
                <a:cs typeface="Arial" pitchFamily="34" charset="0"/>
              </a:rPr>
              <a:t>Imaginons une petite entreprise technologique nommée </a:t>
            </a:r>
            <a:r>
              <a:rPr lang="fr-FR" sz="2000" dirty="0" err="1" smtClean="0">
                <a:solidFill>
                  <a:schemeClr val="dk1"/>
                </a:solidFill>
                <a:latin typeface="Arial" pitchFamily="34" charset="0"/>
                <a:ea typeface="Times New Roman" pitchFamily="18" charset="0"/>
                <a:cs typeface="Arial" pitchFamily="34" charset="0"/>
              </a:rPr>
              <a:t>TechInnov</a:t>
            </a:r>
            <a:r>
              <a:rPr lang="fr-FR" sz="2000" dirty="0" smtClean="0">
                <a:solidFill>
                  <a:schemeClr val="dk1"/>
                </a:solidFill>
                <a:latin typeface="Arial" pitchFamily="34" charset="0"/>
                <a:ea typeface="Times New Roman" pitchFamily="18" charset="0"/>
                <a:cs typeface="Arial" pitchFamily="34" charset="0"/>
              </a:rPr>
              <a:t>, spécialisée dans le développement d’applications mobiles. L’entreprise a une équipe de développeurs, de designers et de responsables marketing.</a:t>
            </a:r>
          </a:p>
          <a:p>
            <a:pPr algn="just"/>
            <a:endParaRPr lang="fr-FR" sz="2000" dirty="0" smtClean="0">
              <a:solidFill>
                <a:schemeClr val="dk1"/>
              </a:solidFill>
              <a:latin typeface="Arial" pitchFamily="34" charset="0"/>
              <a:ea typeface="Times New Roman" pitchFamily="18" charset="0"/>
              <a:cs typeface="Arial" pitchFamily="34" charset="0"/>
            </a:endParaRPr>
          </a:p>
          <a:p>
            <a:pPr algn="just"/>
            <a:r>
              <a:rPr lang="fr-FR" sz="2000" b="1" dirty="0" smtClean="0">
                <a:solidFill>
                  <a:srgbClr val="FFC000"/>
                </a:solidFill>
                <a:latin typeface="Arial" pitchFamily="34" charset="0"/>
                <a:ea typeface="Times New Roman" pitchFamily="18" charset="0"/>
                <a:cs typeface="Arial" pitchFamily="34" charset="0"/>
              </a:rPr>
              <a:t>Le manager</a:t>
            </a:r>
            <a:r>
              <a:rPr lang="fr-FR" sz="2000" dirty="0" smtClean="0">
                <a:solidFill>
                  <a:schemeClr val="dk1"/>
                </a:solidFill>
                <a:latin typeface="Arial" pitchFamily="34" charset="0"/>
                <a:ea typeface="Times New Roman" pitchFamily="18" charset="0"/>
                <a:cs typeface="Arial" pitchFamily="34" charset="0"/>
              </a:rPr>
              <a:t> de l’équipe, Sarah, est responsable de la gestion quotidienne des opérations. Elle se concentre sur les aspects organisationnels et opérationnels du projet de lancement de l’application :</a:t>
            </a:r>
          </a:p>
          <a:p>
            <a:pPr algn="just"/>
            <a:endParaRPr lang="fr-FR" sz="2000" dirty="0" smtClean="0">
              <a:solidFill>
                <a:schemeClr val="dk1"/>
              </a:solidFill>
              <a:latin typeface="Arial" pitchFamily="34" charset="0"/>
              <a:ea typeface="Times New Roman" pitchFamily="18" charset="0"/>
              <a:cs typeface="Arial" pitchFamily="34" charset="0"/>
            </a:endParaRPr>
          </a:p>
          <a:p>
            <a:pPr algn="just"/>
            <a:r>
              <a:rPr lang="fr-FR" sz="2000" b="1" dirty="0" smtClean="0">
                <a:solidFill>
                  <a:schemeClr val="dk1"/>
                </a:solidFill>
                <a:latin typeface="Arial" pitchFamily="34" charset="0"/>
                <a:ea typeface="Times New Roman" pitchFamily="18" charset="0"/>
                <a:cs typeface="Arial" pitchFamily="34" charset="0"/>
              </a:rPr>
              <a:t>Planification :</a:t>
            </a:r>
            <a:r>
              <a:rPr lang="fr-FR" sz="2000" dirty="0" smtClean="0">
                <a:solidFill>
                  <a:schemeClr val="dk1"/>
                </a:solidFill>
                <a:latin typeface="Arial" pitchFamily="34" charset="0"/>
                <a:ea typeface="Times New Roman" pitchFamily="18" charset="0"/>
                <a:cs typeface="Arial" pitchFamily="34" charset="0"/>
              </a:rPr>
              <a:t> Sarah établit un calendrier détaillé des tâches, définit des délais et attribue des responsabilités spécifiques à chaque membre de l’équipe. Elle s’assure que chaque développeur sait ce qu’il doit faire et quand.</a:t>
            </a:r>
          </a:p>
          <a:p>
            <a:pPr algn="just"/>
            <a:endParaRPr lang="fr-FR" sz="2000" dirty="0" smtClean="0">
              <a:solidFill>
                <a:schemeClr val="dk1"/>
              </a:solidFill>
              <a:latin typeface="Arial" pitchFamily="34" charset="0"/>
              <a:ea typeface="Times New Roman" pitchFamily="18" charset="0"/>
              <a:cs typeface="Arial" pitchFamily="34" charset="0"/>
            </a:endParaRP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809588" y="1142984"/>
            <a:ext cx="10715700" cy="452431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b="1" dirty="0" smtClean="0">
                <a:latin typeface="Arial" pitchFamily="34" charset="0"/>
                <a:ea typeface="Times New Roman" pitchFamily="18" charset="0"/>
                <a:cs typeface="Arial" pitchFamily="34" charset="0"/>
              </a:rPr>
              <a:t>Contrôle</a:t>
            </a:r>
            <a:r>
              <a:rPr lang="fr-FR" sz="2000" dirty="0" smtClean="0">
                <a:latin typeface="Arial" pitchFamily="34" charset="0"/>
                <a:ea typeface="Times New Roman" pitchFamily="18" charset="0"/>
                <a:cs typeface="Arial" pitchFamily="34" charset="0"/>
              </a:rPr>
              <a:t> : Elle organise des réunions hebdomadaires pour suivre l’avancement du projet, vérifier que les délais sont respectés et résoudre les problèmes logistiques. Si un membre de l’équipe n’atteint pas ses objectifs, elle intervient pour comprendre les raisons et apporter des solutions.</a:t>
            </a:r>
          </a:p>
          <a:p>
            <a:pPr algn="just"/>
            <a:endParaRPr lang="fr-FR" sz="2000" dirty="0" smtClean="0">
              <a:latin typeface="Arial" pitchFamily="34" charset="0"/>
              <a:ea typeface="Times New Roman" pitchFamily="18" charset="0"/>
              <a:cs typeface="Arial" pitchFamily="34" charset="0"/>
            </a:endParaRPr>
          </a:p>
          <a:p>
            <a:pPr algn="just"/>
            <a:r>
              <a:rPr lang="fr-FR" sz="2000" b="1" dirty="0" smtClean="0">
                <a:latin typeface="Arial" pitchFamily="34" charset="0"/>
                <a:ea typeface="Times New Roman" pitchFamily="18" charset="0"/>
                <a:cs typeface="Arial" pitchFamily="34" charset="0"/>
              </a:rPr>
              <a:t>Évaluation des performances </a:t>
            </a:r>
            <a:r>
              <a:rPr lang="fr-FR" sz="2000" dirty="0" smtClean="0">
                <a:latin typeface="Arial" pitchFamily="34" charset="0"/>
                <a:ea typeface="Times New Roman" pitchFamily="18" charset="0"/>
                <a:cs typeface="Arial" pitchFamily="34" charset="0"/>
              </a:rPr>
              <a:t>: À la fin du projet, Sarah évalue les performances de chaque membre de l’équipe, en se basant sur des indicateurs de performance et des résultats quantifiables.</a:t>
            </a:r>
          </a:p>
          <a:p>
            <a:pPr algn="just"/>
            <a:endParaRPr lang="fr-FR" sz="800" dirty="0" smtClean="0">
              <a:latin typeface="Arial" pitchFamily="34" charset="0"/>
              <a:ea typeface="Times New Roman" pitchFamily="18" charset="0"/>
              <a:cs typeface="Arial" pitchFamily="34" charset="0"/>
            </a:endParaRPr>
          </a:p>
          <a:p>
            <a:pPr algn="just"/>
            <a:r>
              <a:rPr lang="fr-FR" sz="2000" b="1" dirty="0" smtClean="0">
                <a:solidFill>
                  <a:srgbClr val="FFC000"/>
                </a:solidFill>
                <a:latin typeface="Arial" pitchFamily="34" charset="0"/>
                <a:ea typeface="Times New Roman" pitchFamily="18" charset="0"/>
                <a:cs typeface="Arial" pitchFamily="34" charset="0"/>
              </a:rPr>
              <a:t>Leadership</a:t>
            </a:r>
          </a:p>
          <a:p>
            <a:pPr algn="just"/>
            <a:r>
              <a:rPr lang="fr-FR" sz="2000" dirty="0" smtClean="0">
                <a:latin typeface="Arial" pitchFamily="34" charset="0"/>
                <a:ea typeface="Times New Roman" pitchFamily="18" charset="0"/>
                <a:cs typeface="Arial" pitchFamily="34" charset="0"/>
              </a:rPr>
              <a:t>Le leader de l’équipe, Max, joue un rôle différent dans le processus. Bien qu’il soit également un développeur senior, il inspire et motive l’équipe à aller au-delà des attentes :</a:t>
            </a:r>
          </a:p>
          <a:p>
            <a:pPr algn="just"/>
            <a:r>
              <a:rPr lang="fr-FR" sz="2000" dirty="0" smtClean="0">
                <a:latin typeface="Arial" pitchFamily="34" charset="0"/>
                <a:ea typeface="Times New Roman" pitchFamily="18" charset="0"/>
                <a:cs typeface="Arial" pitchFamily="34" charset="0"/>
              </a:rPr>
              <a:t>Vision : Max a une vision claire de ce que l’application devrait être et comment elle peut améliorer la vie des utilisateurs. Il partage cette vision avec l’équipe, les encourageant à penser au-delà des fonctionnalités techniques pour se concentrer sur l’expérience utilisateur.</a:t>
            </a:r>
            <a:endParaRPr lang="fr-FR" b="1" dirty="0" smtClean="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952464" y="1028343"/>
            <a:ext cx="10429948" cy="440120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b="1" dirty="0" smtClean="0">
                <a:solidFill>
                  <a:schemeClr val="dk1"/>
                </a:solidFill>
                <a:latin typeface="Arial" pitchFamily="34" charset="0"/>
                <a:ea typeface="Times New Roman" pitchFamily="18" charset="0"/>
                <a:cs typeface="Arial" pitchFamily="34" charset="0"/>
              </a:rPr>
              <a:t>Motivation</a:t>
            </a:r>
            <a:r>
              <a:rPr lang="fr-FR" sz="2000" dirty="0" smtClean="0">
                <a:solidFill>
                  <a:schemeClr val="dk1"/>
                </a:solidFill>
                <a:latin typeface="Arial" pitchFamily="34" charset="0"/>
                <a:ea typeface="Times New Roman" pitchFamily="18" charset="0"/>
                <a:cs typeface="Arial" pitchFamily="34" charset="0"/>
              </a:rPr>
              <a:t> : Lors des réunions, Max encourage les membres de l’équipe à partager leurs idées et à exprimer leurs préoccupations. Il crée un environnement où chacun se sent à l’aise de proposer des innovations ou d’apporter des améliorations à l’application.</a:t>
            </a:r>
          </a:p>
          <a:p>
            <a:pPr algn="just"/>
            <a:r>
              <a:rPr lang="fr-FR" sz="2000" b="1" dirty="0" smtClean="0">
                <a:latin typeface="Arial" pitchFamily="34" charset="0"/>
                <a:ea typeface="Times New Roman" pitchFamily="18" charset="0"/>
                <a:cs typeface="Arial" pitchFamily="34" charset="0"/>
              </a:rPr>
              <a:t>Influence et Empathie </a:t>
            </a:r>
            <a:r>
              <a:rPr lang="fr-FR" sz="2000" dirty="0" smtClean="0">
                <a:solidFill>
                  <a:schemeClr val="dk1"/>
                </a:solidFill>
                <a:latin typeface="Arial" pitchFamily="34" charset="0"/>
                <a:ea typeface="Times New Roman" pitchFamily="18" charset="0"/>
                <a:cs typeface="Arial" pitchFamily="34" charset="0"/>
              </a:rPr>
              <a:t>: Max prend le temps de comprendre les défis individuels de chaque membre de l’équipe. S’il remarque qu’un collègue est stressé par la charge de travail, il propose de l’aider ou de redistribuer certaines tâches pour alléger la pression.</a:t>
            </a:r>
          </a:p>
          <a:p>
            <a:pPr algn="just"/>
            <a:endParaRPr lang="fr-FR" sz="2000" dirty="0" smtClean="0">
              <a:solidFill>
                <a:schemeClr val="dk1"/>
              </a:solidFill>
              <a:latin typeface="Arial" pitchFamily="34" charset="0"/>
              <a:ea typeface="Times New Roman" pitchFamily="18" charset="0"/>
              <a:cs typeface="Arial" pitchFamily="34" charset="0"/>
            </a:endParaRPr>
          </a:p>
          <a:p>
            <a:pPr algn="just"/>
            <a:r>
              <a:rPr lang="fr-FR" sz="2000" dirty="0" smtClean="0">
                <a:solidFill>
                  <a:srgbClr val="FFC000"/>
                </a:solidFill>
                <a:latin typeface="Arial" pitchFamily="34" charset="0"/>
                <a:ea typeface="Times New Roman" pitchFamily="18" charset="0"/>
                <a:cs typeface="Arial" pitchFamily="34" charset="0"/>
              </a:rPr>
              <a:t>Résumé des Différences</a:t>
            </a:r>
          </a:p>
          <a:p>
            <a:pPr algn="just"/>
            <a:r>
              <a:rPr lang="fr-FR" sz="2000" dirty="0" smtClean="0">
                <a:solidFill>
                  <a:schemeClr val="dk1"/>
                </a:solidFill>
                <a:latin typeface="Arial" pitchFamily="34" charset="0"/>
                <a:ea typeface="Times New Roman" pitchFamily="18" charset="0"/>
                <a:cs typeface="Arial" pitchFamily="34" charset="0"/>
              </a:rPr>
              <a:t>Management (Sarah) : Se concentre sur l’organisation, la planification, le contrôle et l’évaluation des performances. Elle s’assure que le projet reste sur la bonne voie et que chaque membre de l’équipe respecte ses responsabilités.</a:t>
            </a:r>
          </a:p>
          <a:p>
            <a:pPr algn="just"/>
            <a:r>
              <a:rPr lang="fr-FR" sz="2000" dirty="0" smtClean="0">
                <a:solidFill>
                  <a:schemeClr val="dk1"/>
                </a:solidFill>
                <a:latin typeface="Arial" pitchFamily="34" charset="0"/>
                <a:ea typeface="Times New Roman" pitchFamily="18" charset="0"/>
                <a:cs typeface="Arial" pitchFamily="34" charset="0"/>
              </a:rPr>
              <a:t>Leadership (Max) : Se concentre sur l’inspiration, la motivation et la vision. Il encourage l’innovation et crée un environnement positif qui permet à l’équipe de s’épanouir et de donner le meilleur d’elle-même.</a:t>
            </a: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à coins arrondis 2"/>
          <p:cNvSpPr/>
          <p:nvPr/>
        </p:nvSpPr>
        <p:spPr>
          <a:xfrm>
            <a:off x="2524100" y="1714488"/>
            <a:ext cx="7215238" cy="2826306"/>
          </a:xfrm>
          <a:prstGeom prst="round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b="1" dirty="0" smtClean="0">
                <a:solidFill>
                  <a:schemeClr val="dk1"/>
                </a:solidFill>
                <a:latin typeface="Arial" pitchFamily="34" charset="0"/>
                <a:ea typeface="Times New Roman" pitchFamily="18" charset="0"/>
                <a:cs typeface="Arial" pitchFamily="34" charset="0"/>
              </a:rPr>
              <a:t>Dans une petite entreprise technologique comme </a:t>
            </a:r>
            <a:r>
              <a:rPr lang="fr-FR" sz="2000" b="1" dirty="0" err="1" smtClean="0">
                <a:solidFill>
                  <a:schemeClr val="dk1"/>
                </a:solidFill>
                <a:latin typeface="Arial" pitchFamily="34" charset="0"/>
                <a:ea typeface="Times New Roman" pitchFamily="18" charset="0"/>
                <a:cs typeface="Arial" pitchFamily="34" charset="0"/>
              </a:rPr>
              <a:t>TechInnov</a:t>
            </a:r>
            <a:r>
              <a:rPr lang="fr-FR" sz="2000" b="1" dirty="0" smtClean="0">
                <a:solidFill>
                  <a:schemeClr val="dk1"/>
                </a:solidFill>
                <a:latin typeface="Arial" pitchFamily="34" charset="0"/>
                <a:ea typeface="Times New Roman" pitchFamily="18" charset="0"/>
                <a:cs typeface="Arial" pitchFamily="34" charset="0"/>
              </a:rPr>
              <a:t>, le management et le leadership sont tous deux essentiels. Le management assure que les opérations se déroulent efficacement, tandis que le leadership inspire et motive l’équipe à innover et à atteindre des niveaux de performance élevés. Les deux rôles, bien que distincts, se complètent pour créer une dynamique d’équipe réussie et productive.</a:t>
            </a: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309654" y="1214422"/>
            <a:ext cx="4358886" cy="400110"/>
          </a:xfrm>
          <a:prstGeom prst="rect">
            <a:avLst/>
          </a:prstGeom>
        </p:spPr>
        <p:txBody>
          <a:bodyPr wrap="none">
            <a:spAutoFit/>
          </a:bodyPr>
          <a:lstStyle/>
          <a:p>
            <a:r>
              <a:rPr lang="fr-FR" sz="2000" b="1" i="1" dirty="0" smtClean="0">
                <a:solidFill>
                  <a:srgbClr val="00B050"/>
                </a:solidFill>
                <a:latin typeface="Arial" pitchFamily="34" charset="0"/>
                <a:cs typeface="Arial" pitchFamily="34" charset="0"/>
              </a:rPr>
              <a:t>2- Les compétences de leadership</a:t>
            </a:r>
          </a:p>
        </p:txBody>
      </p:sp>
      <p:sp>
        <p:nvSpPr>
          <p:cNvPr id="4" name="Rectangle 3"/>
          <p:cNvSpPr/>
          <p:nvPr/>
        </p:nvSpPr>
        <p:spPr>
          <a:xfrm>
            <a:off x="1023902" y="2000240"/>
            <a:ext cx="10501386" cy="286232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endParaRPr lang="fr-FR" sz="2000" dirty="0" smtClean="0">
              <a:solidFill>
                <a:schemeClr val="dk1"/>
              </a:solidFill>
              <a:latin typeface="Arial" pitchFamily="34" charset="0"/>
              <a:ea typeface="Times New Roman" pitchFamily="18" charset="0"/>
              <a:cs typeface="Arial" pitchFamily="34" charset="0"/>
            </a:endParaRPr>
          </a:p>
          <a:p>
            <a:pPr algn="just"/>
            <a:endParaRPr lang="fr-FR" sz="2000" dirty="0" smtClean="0">
              <a:latin typeface="Arial" pitchFamily="34" charset="0"/>
              <a:ea typeface="Times New Roman" pitchFamily="18" charset="0"/>
              <a:cs typeface="Arial" pitchFamily="34" charset="0"/>
            </a:endParaRPr>
          </a:p>
          <a:p>
            <a:pPr algn="just"/>
            <a:r>
              <a:rPr lang="fr-FR" sz="2000" dirty="0" smtClean="0">
                <a:solidFill>
                  <a:schemeClr val="dk1"/>
                </a:solidFill>
                <a:latin typeface="Arial" pitchFamily="34" charset="0"/>
                <a:ea typeface="Times New Roman" pitchFamily="18" charset="0"/>
                <a:cs typeface="Arial" pitchFamily="34" charset="0"/>
              </a:rPr>
              <a:t>Le leadership transcende la simple gestion. Il incarne la capacité à inspirer, guider et influencer positivement les autres. Le leadership n'est pas statique ; il évolue avec le temps et l'expérience. Les programmes de formation en leadership offrent aux participants l'occasion de développer et d'affiner ces compétences, en fournissant des conseils pratiques, des études de cas et des exercices interactifs pour renforcer leur leadership.</a:t>
            </a:r>
          </a:p>
          <a:p>
            <a:pPr algn="just"/>
            <a:endParaRPr lang="fr-FR" sz="2000" dirty="0" smtClean="0">
              <a:latin typeface="Arial" pitchFamily="34" charset="0"/>
              <a:ea typeface="Times New Roman" pitchFamily="18" charset="0"/>
              <a:cs typeface="Arial" pitchFamily="34" charset="0"/>
            </a:endParaRPr>
          </a:p>
          <a:p>
            <a:pPr algn="just"/>
            <a:endParaRPr lang="fr-FR" sz="2000" dirty="0" smtClean="0">
              <a:solidFill>
                <a:schemeClr val="dk1"/>
              </a:solidFill>
              <a:latin typeface="Arial" pitchFamily="34" charset="0"/>
              <a:ea typeface="Times New Roman" pitchFamily="18" charset="0"/>
              <a:cs typeface="Arial" pitchFamily="34" charset="0"/>
            </a:endParaRP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1595406" y="1000108"/>
            <a:ext cx="4857784" cy="400110"/>
          </a:xfrm>
          <a:prstGeom prst="rect">
            <a:avLst/>
          </a:prstGeom>
        </p:spPr>
        <p:txBody>
          <a:bodyPr wrap="square">
            <a:spAutoFit/>
          </a:bodyPr>
          <a:lstStyle/>
          <a:p>
            <a:r>
              <a:rPr lang="fr-FR" sz="2000" b="1" i="1" dirty="0" smtClean="0">
                <a:solidFill>
                  <a:srgbClr val="00B050"/>
                </a:solidFill>
                <a:latin typeface="Arial" pitchFamily="34" charset="0"/>
                <a:cs typeface="Arial" pitchFamily="34" charset="0"/>
              </a:rPr>
              <a:t>3- Caractéristiques d'un bon leader</a:t>
            </a:r>
          </a:p>
        </p:txBody>
      </p:sp>
      <p:sp>
        <p:nvSpPr>
          <p:cNvPr id="4" name="Rectangle 3"/>
          <p:cNvSpPr/>
          <p:nvPr/>
        </p:nvSpPr>
        <p:spPr>
          <a:xfrm>
            <a:off x="809588" y="1643050"/>
            <a:ext cx="10644262" cy="378565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b="1" dirty="0" smtClean="0">
                <a:solidFill>
                  <a:schemeClr val="dk1"/>
                </a:solidFill>
                <a:latin typeface="Arial" pitchFamily="34" charset="0"/>
                <a:ea typeface="Times New Roman" pitchFamily="18" charset="0"/>
                <a:cs typeface="Arial" pitchFamily="34" charset="0"/>
              </a:rPr>
              <a:t>Vision stratégique </a:t>
            </a:r>
            <a:r>
              <a:rPr lang="fr-FR" sz="2000" dirty="0" smtClean="0">
                <a:solidFill>
                  <a:schemeClr val="dk1"/>
                </a:solidFill>
                <a:latin typeface="Arial" pitchFamily="34" charset="0"/>
                <a:ea typeface="Times New Roman" pitchFamily="18" charset="0"/>
                <a:cs typeface="Arial" pitchFamily="34" charset="0"/>
              </a:rPr>
              <a:t>: Les leaders ont une vision claire de l'avenir et peuvent communiquer</a:t>
            </a:r>
          </a:p>
          <a:p>
            <a:pPr algn="just"/>
            <a:r>
              <a:rPr lang="fr-FR" sz="2000" dirty="0" smtClean="0">
                <a:solidFill>
                  <a:schemeClr val="dk1"/>
                </a:solidFill>
                <a:latin typeface="Arial" pitchFamily="34" charset="0"/>
                <a:ea typeface="Times New Roman" pitchFamily="18" charset="0"/>
                <a:cs typeface="Arial" pitchFamily="34" charset="0"/>
              </a:rPr>
              <a:t>cette vision de manière à inspirer les autres.</a:t>
            </a:r>
          </a:p>
          <a:p>
            <a:pPr algn="just"/>
            <a:r>
              <a:rPr lang="fr-FR" sz="2000" b="1" dirty="0" smtClean="0">
                <a:solidFill>
                  <a:schemeClr val="dk1"/>
                </a:solidFill>
                <a:latin typeface="Arial" pitchFamily="34" charset="0"/>
                <a:ea typeface="Times New Roman" pitchFamily="18" charset="0"/>
                <a:cs typeface="Arial" pitchFamily="34" charset="0"/>
              </a:rPr>
              <a:t>Empathie :</a:t>
            </a:r>
            <a:r>
              <a:rPr lang="fr-FR" sz="2000" dirty="0" smtClean="0">
                <a:solidFill>
                  <a:schemeClr val="dk1"/>
                </a:solidFill>
                <a:latin typeface="Arial" pitchFamily="34" charset="0"/>
                <a:ea typeface="Times New Roman" pitchFamily="18" charset="0"/>
                <a:cs typeface="Arial" pitchFamily="34" charset="0"/>
              </a:rPr>
              <a:t> Comprendre les besoins et les préoccupations des membres de l'équipe renforce la confiance et favorise une culture de collaboration.</a:t>
            </a:r>
          </a:p>
          <a:p>
            <a:pPr algn="just"/>
            <a:r>
              <a:rPr lang="fr-FR" sz="2000" b="1" dirty="0" smtClean="0">
                <a:solidFill>
                  <a:schemeClr val="dk1"/>
                </a:solidFill>
                <a:latin typeface="Arial" pitchFamily="34" charset="0"/>
                <a:ea typeface="Times New Roman" pitchFamily="18" charset="0"/>
                <a:cs typeface="Arial" pitchFamily="34" charset="0"/>
              </a:rPr>
              <a:t>Prise de risque calculée </a:t>
            </a:r>
            <a:r>
              <a:rPr lang="fr-FR" sz="2000" dirty="0" smtClean="0">
                <a:solidFill>
                  <a:schemeClr val="dk1"/>
                </a:solidFill>
                <a:latin typeface="Arial" pitchFamily="34" charset="0"/>
                <a:ea typeface="Times New Roman" pitchFamily="18" charset="0"/>
                <a:cs typeface="Arial" pitchFamily="34" charset="0"/>
              </a:rPr>
              <a:t>: Les leaders sont prêts à sortir de leur zone de confort, prenant des décisions audacieuses pour le bien de l'organisation.</a:t>
            </a:r>
          </a:p>
          <a:p>
            <a:pPr algn="just"/>
            <a:r>
              <a:rPr lang="fr-FR" sz="2000" b="1" dirty="0" smtClean="0">
                <a:solidFill>
                  <a:schemeClr val="dk1"/>
                </a:solidFill>
                <a:latin typeface="Arial" pitchFamily="34" charset="0"/>
                <a:ea typeface="Times New Roman" pitchFamily="18" charset="0"/>
                <a:cs typeface="Arial" pitchFamily="34" charset="0"/>
              </a:rPr>
              <a:t>Communication persuasive </a:t>
            </a:r>
            <a:r>
              <a:rPr lang="fr-FR" sz="2000" dirty="0" smtClean="0">
                <a:solidFill>
                  <a:schemeClr val="dk1"/>
                </a:solidFill>
                <a:latin typeface="Arial" pitchFamily="34" charset="0"/>
                <a:ea typeface="Times New Roman" pitchFamily="18" charset="0"/>
                <a:cs typeface="Arial" pitchFamily="34" charset="0"/>
              </a:rPr>
              <a:t>: La capacité à communiquer de manière claire et convaincante motive l'équipe à atteindre des objectifs communs.</a:t>
            </a:r>
          </a:p>
          <a:p>
            <a:pPr algn="just"/>
            <a:r>
              <a:rPr lang="fr-FR" sz="2000" b="1" dirty="0" smtClean="0">
                <a:solidFill>
                  <a:schemeClr val="dk1"/>
                </a:solidFill>
                <a:latin typeface="Arial" pitchFamily="34" charset="0"/>
                <a:ea typeface="Times New Roman" pitchFamily="18" charset="0"/>
                <a:cs typeface="Arial" pitchFamily="34" charset="0"/>
              </a:rPr>
              <a:t>Capacité à déléguer </a:t>
            </a:r>
            <a:r>
              <a:rPr lang="fr-FR" sz="2000" dirty="0" smtClean="0">
                <a:solidFill>
                  <a:schemeClr val="dk1"/>
                </a:solidFill>
                <a:latin typeface="Arial" pitchFamily="34" charset="0"/>
                <a:ea typeface="Times New Roman" pitchFamily="18" charset="0"/>
                <a:cs typeface="Arial" pitchFamily="34" charset="0"/>
              </a:rPr>
              <a:t>: Savoir déléguer efficacement confère la responsabilité tout  en développant les compétences des membres de l'équipe.</a:t>
            </a:r>
          </a:p>
          <a:p>
            <a:pPr algn="just"/>
            <a:r>
              <a:rPr lang="fr-FR" sz="2000" b="1" dirty="0" smtClean="0">
                <a:solidFill>
                  <a:schemeClr val="dk1"/>
                </a:solidFill>
                <a:latin typeface="Arial" pitchFamily="34" charset="0"/>
                <a:ea typeface="Times New Roman" pitchFamily="18" charset="0"/>
                <a:cs typeface="Arial" pitchFamily="34" charset="0"/>
              </a:rPr>
              <a:t>Résilience :</a:t>
            </a:r>
            <a:r>
              <a:rPr lang="fr-FR" sz="2000" dirty="0" smtClean="0">
                <a:solidFill>
                  <a:schemeClr val="dk1"/>
                </a:solidFill>
                <a:latin typeface="Arial" pitchFamily="34" charset="0"/>
                <a:ea typeface="Times New Roman" pitchFamily="18" charset="0"/>
                <a:cs typeface="Arial" pitchFamily="34" charset="0"/>
              </a:rPr>
              <a:t> Faire preuve de résilience face aux défis inspire la confiance et encourage l'engagement dans l'adversité.</a:t>
            </a: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47724" y="992029"/>
            <a:ext cx="10677525" cy="526297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dirty="0" smtClean="0">
                <a:solidFill>
                  <a:srgbClr val="000000"/>
                </a:solidFill>
                <a:latin typeface="Arial" pitchFamily="34" charset="0"/>
                <a:ea typeface="Calibri" pitchFamily="34" charset="0"/>
                <a:cs typeface="Century Gothic" pitchFamily="34" charset="0"/>
              </a:rPr>
              <a:t>Le module “Management et entrepreneuriat (start-up)” offre une perspective exhaustive sur les différentes facettes de l’entrepreneuriat et du management, soulignant l’importance d’une culture entrepreneuriale solide. </a:t>
            </a:r>
          </a:p>
          <a:p>
            <a:pPr algn="just"/>
            <a:endParaRPr lang="fr-FR" sz="800" dirty="0" smtClean="0">
              <a:solidFill>
                <a:srgbClr val="000000"/>
              </a:solidFill>
              <a:latin typeface="Arial" pitchFamily="34" charset="0"/>
              <a:ea typeface="Calibri" pitchFamily="34" charset="0"/>
              <a:cs typeface="Century Gothic" pitchFamily="34" charset="0"/>
            </a:endParaRPr>
          </a:p>
          <a:p>
            <a:pPr algn="just"/>
            <a:r>
              <a:rPr lang="fr-FR" sz="2000" dirty="0" smtClean="0">
                <a:solidFill>
                  <a:srgbClr val="000000"/>
                </a:solidFill>
                <a:latin typeface="Arial" pitchFamily="34" charset="0"/>
                <a:ea typeface="Calibri" pitchFamily="34" charset="0"/>
                <a:cs typeface="Century Gothic" pitchFamily="34" charset="0"/>
              </a:rPr>
              <a:t>Le premier chapitre, axé sur la découverte de l’entrepreneuriat et le potentiel individuel, pose les bases d’une réflexion personnelle essentielle pour tout entrepreneur. En comprenant leurs propres capacités et aspirations, les futurs entrepreneurs peuvent mieux naviguer dans le paysage complexe de la création d’entreprise.</a:t>
            </a:r>
          </a:p>
          <a:p>
            <a:pPr algn="just"/>
            <a:endParaRPr lang="fr-FR" sz="800" dirty="0" smtClean="0">
              <a:solidFill>
                <a:srgbClr val="000000"/>
              </a:solidFill>
              <a:latin typeface="Arial" pitchFamily="34" charset="0"/>
              <a:ea typeface="Calibri" pitchFamily="34" charset="0"/>
              <a:cs typeface="Century Gothic" pitchFamily="34" charset="0"/>
            </a:endParaRPr>
          </a:p>
          <a:p>
            <a:pPr algn="just"/>
            <a:r>
              <a:rPr lang="fr-FR" sz="2000" dirty="0" smtClean="0">
                <a:solidFill>
                  <a:srgbClr val="000000"/>
                </a:solidFill>
                <a:latin typeface="Arial" pitchFamily="34" charset="0"/>
                <a:ea typeface="Calibri" pitchFamily="34" charset="0"/>
                <a:cs typeface="Century Gothic" pitchFamily="34" charset="0"/>
              </a:rPr>
              <a:t>Les fondamentaux de l’entrepreneuriat, abordés dans le deuxième chapitre, mettent en lumière la créativité, l’innovation et les soft </a:t>
            </a:r>
            <a:r>
              <a:rPr lang="fr-FR" sz="2000" dirty="0" err="1" smtClean="0">
                <a:solidFill>
                  <a:srgbClr val="000000"/>
                </a:solidFill>
                <a:latin typeface="Arial" pitchFamily="34" charset="0"/>
                <a:ea typeface="Calibri" pitchFamily="34" charset="0"/>
                <a:cs typeface="Century Gothic" pitchFamily="34" charset="0"/>
              </a:rPr>
              <a:t>skills</a:t>
            </a:r>
            <a:r>
              <a:rPr lang="fr-FR" sz="2000" dirty="0" smtClean="0">
                <a:solidFill>
                  <a:srgbClr val="000000"/>
                </a:solidFill>
                <a:latin typeface="Arial" pitchFamily="34" charset="0"/>
                <a:ea typeface="Calibri" pitchFamily="34" charset="0"/>
                <a:cs typeface="Century Gothic" pitchFamily="34" charset="0"/>
              </a:rPr>
              <a:t> comme des piliers incontournables pour réussir dans un environnement en constante évolution. Ces compétences ne se limitent pas à des capacités techniques, mais englobent également des aptitudes interpersonnelles cruciales qui favorisent la collaboration et le leadership.</a:t>
            </a:r>
          </a:p>
          <a:p>
            <a:pPr algn="just"/>
            <a:endParaRPr lang="fr-FR" sz="800" dirty="0" smtClean="0">
              <a:solidFill>
                <a:srgbClr val="000000"/>
              </a:solidFill>
              <a:latin typeface="Arial" pitchFamily="34" charset="0"/>
              <a:ea typeface="Calibri" pitchFamily="34" charset="0"/>
              <a:cs typeface="Century Gothic" pitchFamily="34" charset="0"/>
            </a:endParaRPr>
          </a:p>
          <a:p>
            <a:pPr algn="just"/>
            <a:r>
              <a:rPr lang="fr-FR" sz="2000" dirty="0" smtClean="0">
                <a:solidFill>
                  <a:srgbClr val="000000"/>
                </a:solidFill>
                <a:latin typeface="Arial" pitchFamily="34" charset="0"/>
                <a:ea typeface="Calibri" pitchFamily="34" charset="0"/>
                <a:cs typeface="Century Gothic" pitchFamily="34" charset="0"/>
              </a:rPr>
              <a:t>Le troisième chapitre traite des facteurs de réussite entrepreneuriale, rappelant que le succès ne dépend pas uniquement de l’idée ou du produit, mais également de l’état d’esprit et de la détermination de l’entrepreneur. </a:t>
            </a:r>
          </a:p>
        </p:txBody>
      </p:sp>
      <p:sp>
        <p:nvSpPr>
          <p:cNvPr id="5" name="Espace réservé du contenu 1"/>
          <p:cNvSpPr txBox="1">
            <a:spLocks/>
          </p:cNvSpPr>
          <p:nvPr/>
        </p:nvSpPr>
        <p:spPr>
          <a:xfrm>
            <a:off x="982807" y="350319"/>
            <a:ext cx="10618677" cy="558583"/>
          </a:xfrm>
          <a:prstGeom prst="rect">
            <a:avLst/>
          </a:prstGeom>
        </p:spPr>
        <p:txBody>
          <a:bodyPr vert="horz" wrap="square" lIns="68580" tIns="34291" rIns="68580" bIns="34291" rtlCol="0">
            <a:noAutofit/>
          </a:bodyPr>
          <a:lstStyle>
            <a:defPPr>
              <a:defRPr lang="fr-FR"/>
            </a:defPPr>
            <a:lvl1pPr marL="0" algn="l"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a-DK" sz="2400" b="1" dirty="0">
                <a:solidFill>
                  <a:srgbClr val="D2AB67"/>
                </a:solidFill>
                <a:latin typeface="New Century Schoolbook"/>
                <a:ea typeface="+mj-ea"/>
                <a:cs typeface="New Century Schoolbook"/>
              </a:rPr>
              <a:t>CONCLUSION</a:t>
            </a:r>
          </a:p>
          <a:p>
            <a:endParaRPr lang="fr-FR" sz="3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C:\Users\ma.mejri\Desktop\téléchargement (1).png"/>
          <p:cNvPicPr/>
          <p:nvPr/>
        </p:nvPicPr>
        <p:blipFill>
          <a:blip r:embed="rId2"/>
          <a:srcRect/>
          <a:stretch>
            <a:fillRect/>
          </a:stretch>
        </p:blipFill>
        <p:spPr bwMode="auto">
          <a:xfrm>
            <a:off x="951593" y="478972"/>
            <a:ext cx="1127578" cy="435429"/>
          </a:xfrm>
          <a:prstGeom prst="rect">
            <a:avLst/>
          </a:prstGeom>
          <a:noFill/>
          <a:ln w="9525">
            <a:noFill/>
            <a:miter lim="800000"/>
            <a:headEnd/>
            <a:tailEnd/>
          </a:ln>
        </p:spPr>
      </p:pic>
      <p:sp>
        <p:nvSpPr>
          <p:cNvPr id="3" name="Rectangle 2"/>
          <p:cNvSpPr/>
          <p:nvPr/>
        </p:nvSpPr>
        <p:spPr>
          <a:xfrm>
            <a:off x="866775" y="1166843"/>
            <a:ext cx="10515600" cy="495520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fr-FR" sz="2000" dirty="0" smtClean="0">
                <a:solidFill>
                  <a:srgbClr val="000000"/>
                </a:solidFill>
                <a:latin typeface="Arial" pitchFamily="34" charset="0"/>
                <a:ea typeface="Calibri" pitchFamily="34" charset="0"/>
                <a:cs typeface="Century Gothic" pitchFamily="34" charset="0"/>
              </a:rPr>
              <a:t>Par ailleurs, le quatrième chapitre présente les étapes cruciales de création d’une entreprise, soulignant l’importance d’une planification rigoureuse et d’une exécution stratégique.</a:t>
            </a:r>
          </a:p>
          <a:p>
            <a:pPr algn="just"/>
            <a:endParaRPr lang="fr-FR" sz="800" dirty="0" smtClean="0">
              <a:solidFill>
                <a:srgbClr val="000000"/>
              </a:solidFill>
              <a:latin typeface="Arial" pitchFamily="34" charset="0"/>
              <a:ea typeface="Calibri" pitchFamily="34" charset="0"/>
              <a:cs typeface="Century Gothic" pitchFamily="34" charset="0"/>
            </a:endParaRPr>
          </a:p>
          <a:p>
            <a:pPr algn="just"/>
            <a:r>
              <a:rPr lang="fr-FR" sz="2000" dirty="0" smtClean="0">
                <a:solidFill>
                  <a:srgbClr val="000000"/>
                </a:solidFill>
                <a:latin typeface="Arial" pitchFamily="34" charset="0"/>
                <a:ea typeface="Calibri" pitchFamily="34" charset="0"/>
                <a:cs typeface="Century Gothic" pitchFamily="34" charset="0"/>
              </a:rPr>
              <a:t>Enfin, le cinquième chapitre se concentre sur le management, définissant ses différentes formes et les qualités essentielles d’un bon manager. Le management d’équipe et la communication sont également mis en avant, illustrant que la réussite d’une start-up repose souvent sur la capacité à fédérer une équipe autour d’une vision commune.</a:t>
            </a:r>
          </a:p>
          <a:p>
            <a:pPr algn="just"/>
            <a:endParaRPr lang="fr-FR" sz="800" dirty="0" smtClean="0">
              <a:solidFill>
                <a:srgbClr val="000000"/>
              </a:solidFill>
              <a:latin typeface="Arial" pitchFamily="34" charset="0"/>
              <a:ea typeface="Calibri" pitchFamily="34" charset="0"/>
              <a:cs typeface="Century Gothic" pitchFamily="34" charset="0"/>
            </a:endParaRPr>
          </a:p>
          <a:p>
            <a:pPr algn="just"/>
            <a:r>
              <a:rPr lang="fr-FR" sz="2000" b="1" dirty="0" smtClean="0">
                <a:solidFill>
                  <a:srgbClr val="000000"/>
                </a:solidFill>
                <a:latin typeface="Arial" pitchFamily="34" charset="0"/>
                <a:ea typeface="Calibri" pitchFamily="34" charset="0"/>
                <a:cs typeface="Century Gothic" pitchFamily="34" charset="0"/>
              </a:rPr>
              <a:t>En somme</a:t>
            </a:r>
            <a:r>
              <a:rPr lang="fr-FR" sz="2000" dirty="0" smtClean="0">
                <a:solidFill>
                  <a:srgbClr val="000000"/>
                </a:solidFill>
                <a:latin typeface="Arial" pitchFamily="34" charset="0"/>
                <a:ea typeface="Calibri" pitchFamily="34" charset="0"/>
                <a:cs typeface="Century Gothic" pitchFamily="34" charset="0"/>
              </a:rPr>
              <a:t>, ce module démontre que l’entrepreneuriat et le management sont des domaines interconnectés, nécessitant une approche holistique qui intègre la connaissance de soi, l’innovation, la créativité, et des compétences managériales solides. Pour les aspirants entrepreneurs, cette combinaison de compétences et de connaissances est essentielle pour naviguer avec succès dans le monde dynamique des </a:t>
            </a:r>
            <a:r>
              <a:rPr lang="fr-FR" sz="2000" dirty="0" err="1" smtClean="0">
                <a:solidFill>
                  <a:srgbClr val="000000"/>
                </a:solidFill>
                <a:latin typeface="Arial" pitchFamily="34" charset="0"/>
                <a:ea typeface="Calibri" pitchFamily="34" charset="0"/>
                <a:cs typeface="Century Gothic" pitchFamily="34" charset="0"/>
              </a:rPr>
              <a:t>start-ups</a:t>
            </a:r>
            <a:r>
              <a:rPr lang="fr-FR" sz="2000" dirty="0" smtClean="0">
                <a:solidFill>
                  <a:srgbClr val="000000"/>
                </a:solidFill>
                <a:latin typeface="Arial" pitchFamily="34" charset="0"/>
                <a:ea typeface="Calibri" pitchFamily="34" charset="0"/>
                <a:cs typeface="Century Gothic" pitchFamily="34" charset="0"/>
              </a:rPr>
              <a:t>.</a:t>
            </a:r>
          </a:p>
          <a:p>
            <a:pPr algn="just"/>
            <a:endParaRPr lang="fr-FR" sz="2000" dirty="0" smtClean="0">
              <a:solidFill>
                <a:srgbClr val="000000"/>
              </a:solidFill>
              <a:latin typeface="Arial" pitchFamily="34" charset="0"/>
              <a:ea typeface="Calibri" pitchFamily="34" charset="0"/>
              <a:cs typeface="Century Gothic" pitchFamily="34" charset="0"/>
            </a:endParaRPr>
          </a:p>
          <a:p>
            <a:pPr algn="just"/>
            <a:endParaRPr lang="fr-FR" sz="2000" dirty="0" smtClean="0">
              <a:solidFill>
                <a:srgbClr val="000000"/>
              </a:solidFill>
              <a:latin typeface="Arial" pitchFamily="34" charset="0"/>
              <a:ea typeface="Calibri" pitchFamily="34" charset="0"/>
              <a:cs typeface="Century Gothic" pitchFamily="34" charset="0"/>
            </a:endParaRPr>
          </a:p>
          <a:p>
            <a:pPr algn="just"/>
            <a:endParaRPr lang="fr-FR" sz="2000" dirty="0" smtClean="0">
              <a:solidFill>
                <a:srgbClr val="000000"/>
              </a:solidFill>
              <a:latin typeface="Arial" pitchFamily="34" charset="0"/>
              <a:ea typeface="Calibri" pitchFamily="34" charset="0"/>
              <a:cs typeface="Century Gothic" pitchFamily="34" charset="0"/>
            </a:endParaRPr>
          </a:p>
        </p:txBody>
      </p:sp>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128912</TotalTime>
  <Words>17660</Words>
  <Application>Microsoft Office PowerPoint</Application>
  <PresentationFormat>Personnalisé</PresentationFormat>
  <Paragraphs>2056</Paragraphs>
  <Slides>213</Slides>
  <Notes>2</Notes>
  <HiddenSlides>0</HiddenSlides>
  <MMClips>0</MMClips>
  <ScaleCrop>false</ScaleCrop>
  <HeadingPairs>
    <vt:vector size="4" baseType="variant">
      <vt:variant>
        <vt:lpstr>Thème</vt:lpstr>
      </vt:variant>
      <vt:variant>
        <vt:i4>1</vt:i4>
      </vt:variant>
      <vt:variant>
        <vt:lpstr>Titres des diapositives</vt:lpstr>
      </vt:variant>
      <vt:variant>
        <vt:i4>213</vt:i4>
      </vt:variant>
    </vt:vector>
  </HeadingPairs>
  <TitlesOfParts>
    <vt:vector size="214" baseType="lpstr">
      <vt:lpstr>Thème Office</vt:lpstr>
      <vt:lpstr>Diapositive 1</vt:lpstr>
      <vt:lpstr>Diapositive 2</vt:lpstr>
      <vt:lpstr>Diapositive 3</vt:lpstr>
      <vt:lpstr>Diapositive 4</vt:lpstr>
      <vt:lpstr>Diapositive 5</vt:lpstr>
      <vt:lpstr>Diapositive 6</vt:lpstr>
      <vt:lpstr>Diapositive 7</vt:lpstr>
      <vt:lpstr>Diapositive 8</vt:lpstr>
      <vt:lpstr>Diapositive 9</vt:lpstr>
      <vt:lpstr>Diapositive 10</vt:lpstr>
      <vt:lpstr>Diapositive 11</vt:lpstr>
      <vt:lpstr>Diapositive 12</vt:lpstr>
      <vt:lpstr>Diapositive 13</vt:lpstr>
      <vt:lpstr>Diapositive 14</vt:lpstr>
      <vt:lpstr>Diapositive 15</vt:lpstr>
      <vt:lpstr>Diapositive 16</vt:lpstr>
      <vt:lpstr>Diapositive 17</vt:lpstr>
      <vt:lpstr>Diapositive 18</vt:lpstr>
      <vt:lpstr>Diapositive 19</vt:lpstr>
      <vt:lpstr>Diapositive 20</vt:lpstr>
      <vt:lpstr>Diapositive 21</vt:lpstr>
      <vt:lpstr>Diapositive 22</vt:lpstr>
      <vt:lpstr>Diapositive 23</vt:lpstr>
      <vt:lpstr>Diapositive 24</vt:lpstr>
      <vt:lpstr>Diapositive 25</vt:lpstr>
      <vt:lpstr>Diapositive 26</vt:lpstr>
      <vt:lpstr>Diapositive 27</vt:lpstr>
      <vt:lpstr>Diapositive 28</vt:lpstr>
      <vt:lpstr>Diapositive 29</vt:lpstr>
      <vt:lpstr>Diapositive 30</vt:lpstr>
      <vt:lpstr>Diapositive 31</vt:lpstr>
      <vt:lpstr>Diapositive 32</vt:lpstr>
      <vt:lpstr>Diapositive 33</vt:lpstr>
      <vt:lpstr>Diapositive 34</vt:lpstr>
      <vt:lpstr>Diapositive 35</vt:lpstr>
      <vt:lpstr>Diapositive 36</vt:lpstr>
      <vt:lpstr>Diapositive 37</vt:lpstr>
      <vt:lpstr>Diapositive 38</vt:lpstr>
      <vt:lpstr>Diapositive 39</vt:lpstr>
      <vt:lpstr>Diapositive 40</vt:lpstr>
      <vt:lpstr>Diapositive 41</vt:lpstr>
      <vt:lpstr>Diapositive 42</vt:lpstr>
      <vt:lpstr>Diapositive 43</vt:lpstr>
      <vt:lpstr>Diapositive 44</vt:lpstr>
      <vt:lpstr>Diapositive 45</vt:lpstr>
      <vt:lpstr>Diapositive 46</vt:lpstr>
      <vt:lpstr>Diapositive 47</vt:lpstr>
      <vt:lpstr>Diapositive 48</vt:lpstr>
      <vt:lpstr>Diapositive 49</vt:lpstr>
      <vt:lpstr>Diapositive 50</vt:lpstr>
      <vt:lpstr>Diapositive 51</vt:lpstr>
      <vt:lpstr>Diapositive 52</vt:lpstr>
      <vt:lpstr>Diapositive 53</vt:lpstr>
      <vt:lpstr>Diapositive 54</vt:lpstr>
      <vt:lpstr>Diapositive 55</vt:lpstr>
      <vt:lpstr>Diapositive 56</vt:lpstr>
      <vt:lpstr>Diapositive 57</vt:lpstr>
      <vt:lpstr>Diapositive 58</vt:lpstr>
      <vt:lpstr>Diapositive 59</vt:lpstr>
      <vt:lpstr>Diapositive 60</vt:lpstr>
      <vt:lpstr>Diapositive 61</vt:lpstr>
      <vt:lpstr>Diapositive 62</vt:lpstr>
      <vt:lpstr>Diapositive 63</vt:lpstr>
      <vt:lpstr>Diapositive 64</vt:lpstr>
      <vt:lpstr>Diapositive 65</vt:lpstr>
      <vt:lpstr>Diapositive 66</vt:lpstr>
      <vt:lpstr>Diapositive 67</vt:lpstr>
      <vt:lpstr>Diapositive 68</vt:lpstr>
      <vt:lpstr>Diapositive 69</vt:lpstr>
      <vt:lpstr>Diapositive 70</vt:lpstr>
      <vt:lpstr>Diapositive 71</vt:lpstr>
      <vt:lpstr>Diapositive 72</vt:lpstr>
      <vt:lpstr>Diapositive 73</vt:lpstr>
      <vt:lpstr>Diapositive 74</vt:lpstr>
      <vt:lpstr>Diapositive 75</vt:lpstr>
      <vt:lpstr>Diapositive 76</vt:lpstr>
      <vt:lpstr>Diapositive 77</vt:lpstr>
      <vt:lpstr>Diapositive 78</vt:lpstr>
      <vt:lpstr>Diapositive 79</vt:lpstr>
      <vt:lpstr>Diapositive 80</vt:lpstr>
      <vt:lpstr>Diapositive 81</vt:lpstr>
      <vt:lpstr>Diapositive 82</vt:lpstr>
      <vt:lpstr>Diapositive 83</vt:lpstr>
      <vt:lpstr>Diapositive 84</vt:lpstr>
      <vt:lpstr>Diapositive 85</vt:lpstr>
      <vt:lpstr>Diapositive 86</vt:lpstr>
      <vt:lpstr>Diapositive 87</vt:lpstr>
      <vt:lpstr>Diapositive 88</vt:lpstr>
      <vt:lpstr>Diapositive 89</vt:lpstr>
      <vt:lpstr>Diapositive 90</vt:lpstr>
      <vt:lpstr>Diapositive 91</vt:lpstr>
      <vt:lpstr>Diapositive 92</vt:lpstr>
      <vt:lpstr>Diapositive 93</vt:lpstr>
      <vt:lpstr>Diapositive 94</vt:lpstr>
      <vt:lpstr>Diapositive 95</vt:lpstr>
      <vt:lpstr>Diapositive 96</vt:lpstr>
      <vt:lpstr>Diapositive 97</vt:lpstr>
      <vt:lpstr>Diapositive 98</vt:lpstr>
      <vt:lpstr>Diapositive 99</vt:lpstr>
      <vt:lpstr>Diapositive 100</vt:lpstr>
      <vt:lpstr>Diapositive 101</vt:lpstr>
      <vt:lpstr>Diapositive 102</vt:lpstr>
      <vt:lpstr>Diapositive 103</vt:lpstr>
      <vt:lpstr>Diapositive 104</vt:lpstr>
      <vt:lpstr>Diapositive 105</vt:lpstr>
      <vt:lpstr>Diapositive 106</vt:lpstr>
      <vt:lpstr>Diapositive 107</vt:lpstr>
      <vt:lpstr>Diapositive 108</vt:lpstr>
      <vt:lpstr>Diapositive 109</vt:lpstr>
      <vt:lpstr>Diapositive 110</vt:lpstr>
      <vt:lpstr>Diapositive 111</vt:lpstr>
      <vt:lpstr>Diapositive 112</vt:lpstr>
      <vt:lpstr>Diapositive 113</vt:lpstr>
      <vt:lpstr>Diapositive 114</vt:lpstr>
      <vt:lpstr>Diapositive 115</vt:lpstr>
      <vt:lpstr>Diapositive 116</vt:lpstr>
      <vt:lpstr>Diapositive 117</vt:lpstr>
      <vt:lpstr>Diapositive 118</vt:lpstr>
      <vt:lpstr>Diapositive 119</vt:lpstr>
      <vt:lpstr>Diapositive 120</vt:lpstr>
      <vt:lpstr>Diapositive 121</vt:lpstr>
      <vt:lpstr>Diapositive 122</vt:lpstr>
      <vt:lpstr>Diapositive 123</vt:lpstr>
      <vt:lpstr>Diapositive 124</vt:lpstr>
      <vt:lpstr>Diapositive 125</vt:lpstr>
      <vt:lpstr>Diapositive 126</vt:lpstr>
      <vt:lpstr>Diapositive 127</vt:lpstr>
      <vt:lpstr>Diapositive 128</vt:lpstr>
      <vt:lpstr>Diapositive 129</vt:lpstr>
      <vt:lpstr>Diapositive 130</vt:lpstr>
      <vt:lpstr>Diapositive 131</vt:lpstr>
      <vt:lpstr>Diapositive 132</vt:lpstr>
      <vt:lpstr>Diapositive 133</vt:lpstr>
      <vt:lpstr>Diapositive 134</vt:lpstr>
      <vt:lpstr>Diapositive 135</vt:lpstr>
      <vt:lpstr>Diapositive 136</vt:lpstr>
      <vt:lpstr>Diapositive 137</vt:lpstr>
      <vt:lpstr>Diapositive 138</vt:lpstr>
      <vt:lpstr>Diapositive 139</vt:lpstr>
      <vt:lpstr>Diapositive 140</vt:lpstr>
      <vt:lpstr>Diapositive 141</vt:lpstr>
      <vt:lpstr>Diapositive 142</vt:lpstr>
      <vt:lpstr>Diapositive 143</vt:lpstr>
      <vt:lpstr>Diapositive 144</vt:lpstr>
      <vt:lpstr>Diapositive 145</vt:lpstr>
      <vt:lpstr>Diapositive 146</vt:lpstr>
      <vt:lpstr>Diapositive 147</vt:lpstr>
      <vt:lpstr>Diapositive 148</vt:lpstr>
      <vt:lpstr>Diapositive 149</vt:lpstr>
      <vt:lpstr>Diapositive 150</vt:lpstr>
      <vt:lpstr>Diapositive 151</vt:lpstr>
      <vt:lpstr>Diapositive 152</vt:lpstr>
      <vt:lpstr>Diapositive 153</vt:lpstr>
      <vt:lpstr>Diapositive 154</vt:lpstr>
      <vt:lpstr>Diapositive 155</vt:lpstr>
      <vt:lpstr>Diapositive 156</vt:lpstr>
      <vt:lpstr>Diapositive 157</vt:lpstr>
      <vt:lpstr>Diapositive 158</vt:lpstr>
      <vt:lpstr>Diapositive 159</vt:lpstr>
      <vt:lpstr>Diapositive 160</vt:lpstr>
      <vt:lpstr>Diapositive 161</vt:lpstr>
      <vt:lpstr>Diapositive 162</vt:lpstr>
      <vt:lpstr>Diapositive 163</vt:lpstr>
      <vt:lpstr>Diapositive 164</vt:lpstr>
      <vt:lpstr>Diapositive 165</vt:lpstr>
      <vt:lpstr>Diapositive 166</vt:lpstr>
      <vt:lpstr>Diapositive 167</vt:lpstr>
      <vt:lpstr>Diapositive 168</vt:lpstr>
      <vt:lpstr>Diapositive 169</vt:lpstr>
      <vt:lpstr>Diapositive 170</vt:lpstr>
      <vt:lpstr>Diapositive 171</vt:lpstr>
      <vt:lpstr>Diapositive 172</vt:lpstr>
      <vt:lpstr>Diapositive 173</vt:lpstr>
      <vt:lpstr>Diapositive 174</vt:lpstr>
      <vt:lpstr>Diapositive 175</vt:lpstr>
      <vt:lpstr>Diapositive 176</vt:lpstr>
      <vt:lpstr>Diapositive 177</vt:lpstr>
      <vt:lpstr>Diapositive 178</vt:lpstr>
      <vt:lpstr>Diapositive 179</vt:lpstr>
      <vt:lpstr>Diapositive 180</vt:lpstr>
      <vt:lpstr>Diapositive 181</vt:lpstr>
      <vt:lpstr>Diapositive 182</vt:lpstr>
      <vt:lpstr>Diapositive 183</vt:lpstr>
      <vt:lpstr>Diapositive 184</vt:lpstr>
      <vt:lpstr>Diapositive 185</vt:lpstr>
      <vt:lpstr>Diapositive 186</vt:lpstr>
      <vt:lpstr>Diapositive 187</vt:lpstr>
      <vt:lpstr>Diapositive 188</vt:lpstr>
      <vt:lpstr>Diapositive 189</vt:lpstr>
      <vt:lpstr>Diapositive 190</vt:lpstr>
      <vt:lpstr>Diapositive 191</vt:lpstr>
      <vt:lpstr>Diapositive 192</vt:lpstr>
      <vt:lpstr>Diapositive 193</vt:lpstr>
      <vt:lpstr>Diapositive 194</vt:lpstr>
      <vt:lpstr>Diapositive 195</vt:lpstr>
      <vt:lpstr>Diapositive 196</vt:lpstr>
      <vt:lpstr>Diapositive 197</vt:lpstr>
      <vt:lpstr>Diapositive 198</vt:lpstr>
      <vt:lpstr>Diapositive 199</vt:lpstr>
      <vt:lpstr>Diapositive 200</vt:lpstr>
      <vt:lpstr>Diapositive 201</vt:lpstr>
      <vt:lpstr>Diapositive 202</vt:lpstr>
      <vt:lpstr>Diapositive 203</vt:lpstr>
      <vt:lpstr>Diapositive 204</vt:lpstr>
      <vt:lpstr>Diapositive 205</vt:lpstr>
      <vt:lpstr>Diapositive 206</vt:lpstr>
      <vt:lpstr>Diapositive 207</vt:lpstr>
      <vt:lpstr>Diapositive 208</vt:lpstr>
      <vt:lpstr>Diapositive 209</vt:lpstr>
      <vt:lpstr>Diapositive 210</vt:lpstr>
      <vt:lpstr>Diapositive 211</vt:lpstr>
      <vt:lpstr>Diapositive 212</vt:lpstr>
      <vt:lpstr>Diapositive 213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Habiletés Managériales</dc:title>
  <dc:creator>NES MSA</dc:creator>
  <cp:lastModifiedBy>ma.mejri</cp:lastModifiedBy>
  <cp:revision>243</cp:revision>
  <dcterms:created xsi:type="dcterms:W3CDTF">2020-09-11T07:22:07Z</dcterms:created>
  <dcterms:modified xsi:type="dcterms:W3CDTF">2025-11-16T22:42:30Z</dcterms:modified>
</cp:coreProperties>
</file>